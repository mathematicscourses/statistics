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2"/>
  </p:sldMasterIdLst>
  <p:notesMasterIdLst>
    <p:notesMasterId r:id="rId28"/>
  </p:notesMasterIdLst>
  <p:handoutMasterIdLst>
    <p:handoutMasterId r:id="rId29"/>
  </p:handoutMasterIdLst>
  <p:sldIdLst>
    <p:sldId id="258" r:id="rId3"/>
    <p:sldId id="259" r:id="rId4"/>
    <p:sldId id="270" r:id="rId5"/>
    <p:sldId id="271" r:id="rId6"/>
    <p:sldId id="272" r:id="rId7"/>
    <p:sldId id="273" r:id="rId8"/>
    <p:sldId id="274" r:id="rId9"/>
    <p:sldId id="275" r:id="rId10"/>
    <p:sldId id="276" r:id="rId11"/>
    <p:sldId id="277" r:id="rId12"/>
    <p:sldId id="278" r:id="rId13"/>
    <p:sldId id="297" r:id="rId14"/>
    <p:sldId id="281" r:id="rId15"/>
    <p:sldId id="293" r:id="rId16"/>
    <p:sldId id="294" r:id="rId17"/>
    <p:sldId id="295" r:id="rId18"/>
    <p:sldId id="296" r:id="rId19"/>
    <p:sldId id="298" r:id="rId20"/>
    <p:sldId id="299" r:id="rId21"/>
    <p:sldId id="282" r:id="rId22"/>
    <p:sldId id="283" r:id="rId23"/>
    <p:sldId id="284" r:id="rId24"/>
    <p:sldId id="300" r:id="rId25"/>
    <p:sldId id="301" r:id="rId26"/>
    <p:sldId id="292"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6" d="100"/>
          <a:sy n="116" d="100"/>
        </p:scale>
        <p:origin x="336" y="96"/>
      </p:cViewPr>
      <p:guideLst/>
    </p:cSldViewPr>
  </p:slideViewPr>
  <p:notesTextViewPr>
    <p:cViewPr>
      <p:scale>
        <a:sx n="1" d="1"/>
        <a:sy n="1" d="1"/>
      </p:scale>
      <p:origin x="0" y="0"/>
    </p:cViewPr>
  </p:notesTextViewPr>
  <p:notesViewPr>
    <p:cSldViewPr snapToGrid="0">
      <p:cViewPr varScale="1">
        <p:scale>
          <a:sx n="65" d="100"/>
          <a:sy n="65" d="100"/>
        </p:scale>
        <p:origin x="1776" y="4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ableStyles" Target="tableStyles.xml"/><Relationship Id="rId2" Type="http://schemas.openxmlformats.org/officeDocument/2006/relationships/slideMaster" Target="slideMasters/slideMaster1.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2E1ECB5-9450-48C1-BC8B-02C838CDE6B9}" type="datetimeFigureOut">
              <a:rPr lang="en-US"/>
              <a:t>3/11/2016</a:t>
            </a:fld>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5F2BE9C-E2E4-43F3-8D67-E9DB812BB9B7}" type="slidenum">
              <a:rPr/>
              <a:t>‹#›</a:t>
            </a:fld>
            <a:endParaRPr/>
          </a:p>
        </p:txBody>
      </p:sp>
    </p:spTree>
    <p:extLst>
      <p:ext uri="{BB962C8B-B14F-4D97-AF65-F5344CB8AC3E}">
        <p14:creationId xmlns:p14="http://schemas.microsoft.com/office/powerpoint/2010/main" val="247757944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6EE0964-1A1C-492A-8ABB-97C526CFCDFB}" type="datetimeFigureOut">
              <a:rPr lang="en-US"/>
              <a:t>3/11/2016</a:t>
            </a:fld>
            <a:endParaRP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a:t>Click to edit Master text styles</a:t>
            </a:r>
          </a:p>
          <a:p>
            <a:pPr lvl="1"/>
            <a:r>
              <a:rPr/>
              <a:t>Second level</a:t>
            </a:r>
          </a:p>
          <a:p>
            <a:pPr lvl="2"/>
            <a:r>
              <a:rPr/>
              <a:t>Third level</a:t>
            </a:r>
          </a:p>
          <a:p>
            <a:pPr lvl="3"/>
            <a:r>
              <a:rPr/>
              <a:t>Fourth level</a:t>
            </a:r>
          </a:p>
          <a:p>
            <a:pPr lvl="4"/>
            <a:r>
              <a:rPr/>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B06ED93-11B9-488C-8E71-3FBEB8F36D49}" type="slidenum">
              <a:rPr/>
              <a:t>‹#›</a:t>
            </a:fld>
            <a:endParaRPr/>
          </a:p>
        </p:txBody>
      </p:sp>
    </p:spTree>
    <p:extLst>
      <p:ext uri="{BB962C8B-B14F-4D97-AF65-F5344CB8AC3E}">
        <p14:creationId xmlns:p14="http://schemas.microsoft.com/office/powerpoint/2010/main" val="41946356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bwMode="black">
          <a:xfrm>
            <a:off x="1905000" y="1464287"/>
            <a:ext cx="8382000" cy="2729554"/>
          </a:xfrm>
        </p:spPr>
        <p:txBody>
          <a:bodyPr tIns="0" bIns="0" anchor="b"/>
          <a:lstStyle>
            <a:lvl1pPr algn="l">
              <a:defRPr sz="6000" b="1">
                <a:solidFill>
                  <a:schemeClr val="tx2"/>
                </a:solidFill>
              </a:defRPr>
            </a:lvl1pPr>
          </a:lstStyle>
          <a:p>
            <a:r>
              <a:rPr lang="en-US" smtClean="0"/>
              <a:t>Click to edit Master title style</a:t>
            </a:r>
            <a:endParaRPr/>
          </a:p>
        </p:txBody>
      </p:sp>
      <p:sp>
        <p:nvSpPr>
          <p:cNvPr id="3" name="Subtitle 2"/>
          <p:cNvSpPr>
            <a:spLocks noGrp="1"/>
          </p:cNvSpPr>
          <p:nvPr>
            <p:ph type="subTitle" idx="1"/>
          </p:nvPr>
        </p:nvSpPr>
        <p:spPr>
          <a:xfrm>
            <a:off x="1905000" y="4193840"/>
            <a:ext cx="8382000" cy="1108883"/>
          </a:xfrm>
        </p:spPr>
        <p:txBody>
          <a:bodyPr tIns="0" bIns="0"/>
          <a:lstStyle>
            <a:lvl1pPr marL="0" indent="0" algn="l">
              <a:spcBef>
                <a:spcPts val="0"/>
              </a:spcBef>
              <a:buNone/>
              <a:defRPr sz="2400">
                <a:solidFill>
                  <a:schemeClr val="tx1">
                    <a:lumMod val="65000"/>
                    <a:lumOff val="3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a:p>
        </p:txBody>
      </p:sp>
    </p:spTree>
    <p:extLst>
      <p:ext uri="{BB962C8B-B14F-4D97-AF65-F5344CB8AC3E}">
        <p14:creationId xmlns:p14="http://schemas.microsoft.com/office/powerpoint/2010/main" val="17016211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mod="1">
    <p:ext uri="{DCECCB84-F9BA-43D5-87BE-67443E8EF086}">
      <p15:sldGuideLst xmlns:p15="http://schemas.microsoft.com/office/powerpoint/2012/main">
        <p15:guide id="1" pos="1200">
          <p15:clr>
            <a:srgbClr val="5ACBF0"/>
          </p15:clr>
        </p15:guide>
        <p15:guide id="2" pos="6480">
          <p15:clr>
            <a:srgbClr val="5ACBF0"/>
          </p15:clr>
        </p15:guide>
        <p15:guide id="3" orient="horz" pos="2160">
          <p15:clr>
            <a:srgbClr val="5ACBF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p:txBody>
          <a:bodyPr/>
          <a:lstStyle/>
          <a:p>
            <a:fld id="{17DAC9ED-883A-4295-875C-D653C1FCD32D}" type="datetimeFigureOut">
              <a:rPr lang="en-US"/>
              <a:t>3/11/2016</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29927BEA-0E01-4643-B2DE-F82012A02F29}" type="slidenum">
              <a:rPr/>
              <a:t>‹#›</a:t>
            </a:fld>
            <a:endParaRPr/>
          </a:p>
        </p:txBody>
      </p:sp>
    </p:spTree>
    <p:extLst>
      <p:ext uri="{BB962C8B-B14F-4D97-AF65-F5344CB8AC3E}">
        <p14:creationId xmlns:p14="http://schemas.microsoft.com/office/powerpoint/2010/main" val="17751330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bwMode="black">
          <a:xfrm>
            <a:off x="1609724" y="1686073"/>
            <a:ext cx="8982076" cy="2081276"/>
          </a:xfrm>
        </p:spPr>
        <p:txBody>
          <a:bodyPr tIns="0" bIns="0" anchor="b">
            <a:normAutofit/>
          </a:bodyPr>
          <a:lstStyle>
            <a:lvl1pPr>
              <a:defRPr sz="4800" b="1">
                <a:solidFill>
                  <a:schemeClr val="tx2"/>
                </a:solidFill>
              </a:defRPr>
            </a:lvl1pPr>
          </a:lstStyle>
          <a:p>
            <a:r>
              <a:rPr lang="en-US" smtClean="0"/>
              <a:t>Click to edit Master title style</a:t>
            </a:r>
            <a:endParaRPr/>
          </a:p>
        </p:txBody>
      </p:sp>
      <p:sp>
        <p:nvSpPr>
          <p:cNvPr id="3" name="Text Placeholder 2"/>
          <p:cNvSpPr>
            <a:spLocks noGrp="1"/>
          </p:cNvSpPr>
          <p:nvPr>
            <p:ph type="body" idx="1"/>
          </p:nvPr>
        </p:nvSpPr>
        <p:spPr>
          <a:xfrm>
            <a:off x="1609724" y="3767351"/>
            <a:ext cx="8982076" cy="1080448"/>
          </a:xfrm>
        </p:spPr>
        <p:txBody>
          <a:bodyPr tIns="0" bIns="0"/>
          <a:lstStyle>
            <a:lvl1pPr marL="0" indent="0">
              <a:buNone/>
              <a:defRPr sz="2400">
                <a:solidFill>
                  <a:schemeClr val="tx1">
                    <a:lumMod val="65000"/>
                    <a:lumOff val="3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7DAC9ED-883A-4295-875C-D653C1FCD32D}" type="datetimeFigureOut">
              <a:rPr lang="en-US"/>
              <a:t>3/11/2016</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29927BEA-0E01-4643-B2DE-F82012A02F29}" type="slidenum">
              <a:rPr/>
              <a:t>‹#›</a:t>
            </a:fld>
            <a:endParaRPr/>
          </a:p>
        </p:txBody>
      </p:sp>
    </p:spTree>
    <p:extLst>
      <p:ext uri="{BB962C8B-B14F-4D97-AF65-F5344CB8AC3E}">
        <p14:creationId xmlns:p14="http://schemas.microsoft.com/office/powerpoint/2010/main" val="27091673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Alternate Section Header">
    <p:spTree>
      <p:nvGrpSpPr>
        <p:cNvPr id="1" name=""/>
        <p:cNvGrpSpPr/>
        <p:nvPr/>
      </p:nvGrpSpPr>
      <p:grpSpPr>
        <a:xfrm>
          <a:off x="0" y="0"/>
          <a:ext cx="0" cy="0"/>
          <a:chOff x="0" y="0"/>
          <a:chExt cx="0" cy="0"/>
        </a:xfrm>
      </p:grpSpPr>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609724" y="1686073"/>
            <a:ext cx="8982076" cy="2081276"/>
          </a:xfrm>
        </p:spPr>
        <p:txBody>
          <a:bodyPr tIns="0" bIns="0" anchor="b">
            <a:normAutofit/>
          </a:bodyPr>
          <a:lstStyle>
            <a:lvl1pPr>
              <a:defRPr sz="4800" b="1">
                <a:solidFill>
                  <a:schemeClr val="bg1"/>
                </a:solidFill>
              </a:defRPr>
            </a:lvl1pPr>
          </a:lstStyle>
          <a:p>
            <a:r>
              <a:rPr lang="en-US" smtClean="0"/>
              <a:t>Click to edit Master title style</a:t>
            </a:r>
            <a:endParaRPr/>
          </a:p>
        </p:txBody>
      </p:sp>
      <p:sp>
        <p:nvSpPr>
          <p:cNvPr id="3" name="Text Placeholder 2"/>
          <p:cNvSpPr>
            <a:spLocks noGrp="1"/>
          </p:cNvSpPr>
          <p:nvPr>
            <p:ph type="body" idx="1"/>
          </p:nvPr>
        </p:nvSpPr>
        <p:spPr bwMode="white">
          <a:xfrm>
            <a:off x="1609724" y="3767351"/>
            <a:ext cx="8982076" cy="1080448"/>
          </a:xfrm>
        </p:spPr>
        <p:txBody>
          <a:bodyPr tIns="0" bIns="0"/>
          <a:lstStyle>
            <a:lvl1pPr marL="0" indent="0">
              <a:buNone/>
              <a:defRPr sz="2400">
                <a:solidFill>
                  <a:schemeClr val="tx2">
                    <a:lumMod val="20000"/>
                    <a:lumOff val="8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7DAC9ED-883A-4295-875C-D653C1FCD32D}" type="datetimeFigureOut">
              <a:rPr lang="en-US"/>
              <a:t>3/11/2016</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29927BEA-0E01-4643-B2DE-F82012A02F29}" type="slidenum">
              <a:rPr/>
              <a:t>‹#›</a:t>
            </a:fld>
            <a:endParaRPr/>
          </a:p>
        </p:txBody>
      </p:sp>
    </p:spTree>
    <p:extLst>
      <p:ext uri="{BB962C8B-B14F-4D97-AF65-F5344CB8AC3E}">
        <p14:creationId xmlns:p14="http://schemas.microsoft.com/office/powerpoint/2010/main" val="32228392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sz="half" idx="1"/>
          </p:nvPr>
        </p:nvSpPr>
        <p:spPr>
          <a:xfrm>
            <a:off x="1600200" y="2171699"/>
            <a:ext cx="4419600" cy="40052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Content Placeholder 3"/>
          <p:cNvSpPr>
            <a:spLocks noGrp="1"/>
          </p:cNvSpPr>
          <p:nvPr>
            <p:ph sz="half" idx="2"/>
          </p:nvPr>
        </p:nvSpPr>
        <p:spPr>
          <a:xfrm>
            <a:off x="6172200" y="2171699"/>
            <a:ext cx="4419600" cy="40052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Date Placeholder 4"/>
          <p:cNvSpPr>
            <a:spLocks noGrp="1"/>
          </p:cNvSpPr>
          <p:nvPr>
            <p:ph type="dt" sz="half" idx="10"/>
          </p:nvPr>
        </p:nvSpPr>
        <p:spPr/>
        <p:txBody>
          <a:bodyPr/>
          <a:lstStyle/>
          <a:p>
            <a:fld id="{17DAC9ED-883A-4295-875C-D653C1FCD32D}" type="datetimeFigureOut">
              <a:rPr lang="en-US"/>
              <a:t>3/11/2016</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29927BEA-0E01-4643-B2DE-F82012A02F29}" type="slidenum">
              <a:rPr/>
              <a:t>‹#›</a:t>
            </a:fld>
            <a:endParaRPr/>
          </a:p>
        </p:txBody>
      </p:sp>
    </p:spTree>
    <p:extLst>
      <p:ext uri="{BB962C8B-B14F-4D97-AF65-F5344CB8AC3E}">
        <p14:creationId xmlns:p14="http://schemas.microsoft.com/office/powerpoint/2010/main" val="2906707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Text Placeholder 2"/>
          <p:cNvSpPr>
            <a:spLocks noGrp="1"/>
          </p:cNvSpPr>
          <p:nvPr>
            <p:ph type="body" idx="1"/>
          </p:nvPr>
        </p:nvSpPr>
        <p:spPr>
          <a:xfrm>
            <a:off x="1609723" y="1681163"/>
            <a:ext cx="4416552" cy="823912"/>
          </a:xfrm>
        </p:spPr>
        <p:txBody>
          <a:bodyPr anchor="b"/>
          <a:lstStyle>
            <a:lvl1pPr marL="0" indent="0">
              <a:spcBef>
                <a:spcPts val="0"/>
              </a:spcBef>
              <a:buNone/>
              <a:defRPr sz="2400" b="1">
                <a:solidFill>
                  <a:schemeClr val="tx2">
                    <a:lumMod val="5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609723" y="2505075"/>
            <a:ext cx="4416552"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Text Placeholder 4"/>
          <p:cNvSpPr>
            <a:spLocks noGrp="1"/>
          </p:cNvSpPr>
          <p:nvPr>
            <p:ph type="body" sz="quarter" idx="3"/>
          </p:nvPr>
        </p:nvSpPr>
        <p:spPr>
          <a:xfrm>
            <a:off x="6172200" y="1681163"/>
            <a:ext cx="4419600" cy="823912"/>
          </a:xfrm>
        </p:spPr>
        <p:txBody>
          <a:bodyPr anchor="b"/>
          <a:lstStyle>
            <a:lvl1pPr marL="0" indent="0">
              <a:spcBef>
                <a:spcPts val="0"/>
              </a:spcBef>
              <a:buNone/>
              <a:defRPr sz="2400" b="1">
                <a:solidFill>
                  <a:schemeClr val="tx2">
                    <a:lumMod val="5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4419600"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7" name="Date Placeholder 6"/>
          <p:cNvSpPr>
            <a:spLocks noGrp="1"/>
          </p:cNvSpPr>
          <p:nvPr>
            <p:ph type="dt" sz="half" idx="10"/>
          </p:nvPr>
        </p:nvSpPr>
        <p:spPr/>
        <p:txBody>
          <a:bodyPr/>
          <a:lstStyle/>
          <a:p>
            <a:fld id="{17DAC9ED-883A-4295-875C-D653C1FCD32D}" type="datetimeFigureOut">
              <a:rPr lang="en-US"/>
              <a:t>3/11/2016</a:t>
            </a:fld>
            <a:endParaRPr/>
          </a:p>
        </p:txBody>
      </p:sp>
      <p:sp>
        <p:nvSpPr>
          <p:cNvPr id="8" name="Footer Placeholder 7"/>
          <p:cNvSpPr>
            <a:spLocks noGrp="1"/>
          </p:cNvSpPr>
          <p:nvPr>
            <p:ph type="ftr" sz="quarter" idx="11"/>
          </p:nvPr>
        </p:nvSpPr>
        <p:spPr/>
        <p:txBody>
          <a:bodyPr/>
          <a:lstStyle/>
          <a:p>
            <a:endParaRPr/>
          </a:p>
        </p:txBody>
      </p:sp>
      <p:sp>
        <p:nvSpPr>
          <p:cNvPr id="9" name="Slide Number Placeholder 8"/>
          <p:cNvSpPr>
            <a:spLocks noGrp="1"/>
          </p:cNvSpPr>
          <p:nvPr>
            <p:ph type="sldNum" sz="quarter" idx="12"/>
          </p:nvPr>
        </p:nvSpPr>
        <p:spPr/>
        <p:txBody>
          <a:bodyPr/>
          <a:lstStyle/>
          <a:p>
            <a:fld id="{29927BEA-0E01-4643-B2DE-F82012A02F29}" type="slidenum">
              <a:rPr/>
              <a:t>‹#›</a:t>
            </a:fld>
            <a:endParaRPr/>
          </a:p>
        </p:txBody>
      </p:sp>
    </p:spTree>
    <p:extLst>
      <p:ext uri="{BB962C8B-B14F-4D97-AF65-F5344CB8AC3E}">
        <p14:creationId xmlns:p14="http://schemas.microsoft.com/office/powerpoint/2010/main" val="37334758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Date Placeholder 2"/>
          <p:cNvSpPr>
            <a:spLocks noGrp="1"/>
          </p:cNvSpPr>
          <p:nvPr>
            <p:ph type="dt" sz="half" idx="10"/>
          </p:nvPr>
        </p:nvSpPr>
        <p:spPr/>
        <p:txBody>
          <a:bodyPr/>
          <a:lstStyle/>
          <a:p>
            <a:fld id="{17DAC9ED-883A-4295-875C-D653C1FCD32D}" type="datetimeFigureOut">
              <a:rPr lang="en-US"/>
              <a:t>3/11/2016</a:t>
            </a:fld>
            <a:endParaRPr/>
          </a:p>
        </p:txBody>
      </p:sp>
      <p:sp>
        <p:nvSpPr>
          <p:cNvPr id="4" name="Footer Placeholder 3"/>
          <p:cNvSpPr>
            <a:spLocks noGrp="1"/>
          </p:cNvSpPr>
          <p:nvPr>
            <p:ph type="ftr" sz="quarter" idx="11"/>
          </p:nvPr>
        </p:nvSpPr>
        <p:spPr/>
        <p:txBody>
          <a:bodyPr/>
          <a:lstStyle/>
          <a:p>
            <a:endParaRPr/>
          </a:p>
        </p:txBody>
      </p:sp>
      <p:sp>
        <p:nvSpPr>
          <p:cNvPr id="5" name="Slide Number Placeholder 4"/>
          <p:cNvSpPr>
            <a:spLocks noGrp="1"/>
          </p:cNvSpPr>
          <p:nvPr>
            <p:ph type="sldNum" sz="quarter" idx="12"/>
          </p:nvPr>
        </p:nvSpPr>
        <p:spPr/>
        <p:txBody>
          <a:bodyPr/>
          <a:lstStyle/>
          <a:p>
            <a:fld id="{29927BEA-0E01-4643-B2DE-F82012A02F29}" type="slidenum">
              <a:rPr/>
              <a:t>‹#›</a:t>
            </a:fld>
            <a:endParaRPr/>
          </a:p>
        </p:txBody>
      </p:sp>
    </p:spTree>
    <p:extLst>
      <p:ext uri="{BB962C8B-B14F-4D97-AF65-F5344CB8AC3E}">
        <p14:creationId xmlns:p14="http://schemas.microsoft.com/office/powerpoint/2010/main" val="34159680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Blank">
    <p:bg>
      <p:bgRef idx="1001">
        <a:schemeClr val="bg1"/>
      </p:bgRef>
    </p:bg>
    <p:spTree>
      <p:nvGrpSpPr>
        <p:cNvPr id="1" name=""/>
        <p:cNvGrpSpPr/>
        <p:nvPr/>
      </p:nvGrpSpPr>
      <p:grpSpPr>
        <a:xfrm>
          <a:off x="0" y="0"/>
          <a:ext cx="0" cy="0"/>
          <a:chOff x="0" y="0"/>
          <a:chExt cx="0" cy="0"/>
        </a:xfrm>
      </p:grpSpPr>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bwMode="white"/>
        <p:txBody>
          <a:bodyPr/>
          <a:lstStyle>
            <a:lvl1pPr>
              <a:defRPr>
                <a:solidFill>
                  <a:schemeClr val="tx1">
                    <a:lumMod val="65000"/>
                  </a:schemeClr>
                </a:solidFill>
              </a:defRPr>
            </a:lvl1pPr>
          </a:lstStyle>
          <a:p>
            <a:fld id="{17DAC9ED-883A-4295-875C-D653C1FCD32D}" type="datetimeFigureOut">
              <a:rPr lang="en-US"/>
              <a:pPr/>
              <a:t>3/11/2016</a:t>
            </a:fld>
            <a:endParaRPr/>
          </a:p>
        </p:txBody>
      </p:sp>
      <p:sp>
        <p:nvSpPr>
          <p:cNvPr id="3" name="Footer Placeholder 2"/>
          <p:cNvSpPr>
            <a:spLocks noGrp="1"/>
          </p:cNvSpPr>
          <p:nvPr>
            <p:ph type="ftr" sz="quarter" idx="11"/>
          </p:nvPr>
        </p:nvSpPr>
        <p:spPr bwMode="white"/>
        <p:txBody>
          <a:bodyPr/>
          <a:lstStyle>
            <a:lvl1pPr>
              <a:defRPr>
                <a:solidFill>
                  <a:schemeClr val="tx1">
                    <a:lumMod val="65000"/>
                  </a:schemeClr>
                </a:solidFill>
              </a:defRPr>
            </a:lvl1pPr>
          </a:lstStyle>
          <a:p>
            <a:endParaRPr/>
          </a:p>
        </p:txBody>
      </p:sp>
      <p:sp>
        <p:nvSpPr>
          <p:cNvPr id="4" name="Slide Number Placeholder 3"/>
          <p:cNvSpPr>
            <a:spLocks noGrp="1"/>
          </p:cNvSpPr>
          <p:nvPr>
            <p:ph type="sldNum" sz="quarter" idx="12"/>
          </p:nvPr>
        </p:nvSpPr>
        <p:spPr bwMode="white"/>
        <p:txBody>
          <a:bodyPr/>
          <a:lstStyle>
            <a:lvl1pPr>
              <a:defRPr>
                <a:solidFill>
                  <a:schemeClr val="tx1">
                    <a:lumMod val="65000"/>
                  </a:schemeClr>
                </a:solidFill>
              </a:defRPr>
            </a:lvl1pPr>
          </a:lstStyle>
          <a:p>
            <a:fld id="{29927BEA-0E01-4643-B2DE-F82012A02F29}" type="slidenum">
              <a:rPr/>
              <a:pPr/>
              <a:t>‹#›</a:t>
            </a:fld>
            <a:endParaRPr/>
          </a:p>
        </p:txBody>
      </p:sp>
    </p:spTree>
    <p:extLst>
      <p:ext uri="{BB962C8B-B14F-4D97-AF65-F5344CB8AC3E}">
        <p14:creationId xmlns:p14="http://schemas.microsoft.com/office/powerpoint/2010/main" val="4669772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lvl1pPr>
              <a:defRPr sz="3200"/>
            </a:lvl1pPr>
          </a:lstStyle>
          <a:p>
            <a:r>
              <a:rPr lang="en-US" smtClean="0"/>
              <a:t>Click to edit Master title style</a:t>
            </a:r>
            <a:endParaRPr/>
          </a:p>
        </p:txBody>
      </p:sp>
      <p:sp>
        <p:nvSpPr>
          <p:cNvPr id="3" name="Content Placeholder 2"/>
          <p:cNvSpPr>
            <a:spLocks noGrp="1"/>
          </p:cNvSpPr>
          <p:nvPr>
            <p:ph idx="1"/>
          </p:nvPr>
        </p:nvSpPr>
        <p:spPr>
          <a:xfrm>
            <a:off x="1600200" y="2171700"/>
            <a:ext cx="5707038" cy="4000500"/>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Text Placeholder 3"/>
          <p:cNvSpPr>
            <a:spLocks noGrp="1"/>
          </p:cNvSpPr>
          <p:nvPr>
            <p:ph type="body" sz="half" idx="2"/>
          </p:nvPr>
        </p:nvSpPr>
        <p:spPr>
          <a:xfrm>
            <a:off x="7509895" y="2171700"/>
            <a:ext cx="3081905" cy="4000500"/>
          </a:xfrm>
        </p:spPr>
        <p:txBody>
          <a:bodyPr/>
          <a:lstStyle>
            <a:lvl1pPr marL="0" indent="0">
              <a:buNone/>
              <a:defRPr sz="1600">
                <a:solidFill>
                  <a:schemeClr val="tx1">
                    <a:lumMod val="65000"/>
                    <a:lumOff val="3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7DAC9ED-883A-4295-875C-D653C1FCD32D}" type="datetimeFigureOut">
              <a:rPr lang="en-US"/>
              <a:t>3/11/2016</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29927BEA-0E01-4643-B2DE-F82012A02F29}" type="slidenum">
              <a:rPr/>
              <a:t>‹#›</a:t>
            </a:fld>
            <a:endParaRPr/>
          </a:p>
        </p:txBody>
      </p:sp>
    </p:spTree>
    <p:extLst>
      <p:ext uri="{BB962C8B-B14F-4D97-AF65-F5344CB8AC3E}">
        <p14:creationId xmlns:p14="http://schemas.microsoft.com/office/powerpoint/2010/main" val="42551521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lvl1pPr>
              <a:defRPr sz="3200"/>
            </a:lvl1pPr>
          </a:lstStyle>
          <a:p>
            <a:r>
              <a:rPr lang="en-US" smtClean="0"/>
              <a:t>Click to edit Master title style</a:t>
            </a:r>
            <a:endParaRPr/>
          </a:p>
        </p:txBody>
      </p:sp>
      <p:sp>
        <p:nvSpPr>
          <p:cNvPr id="3" name="Picture Placeholder 2"/>
          <p:cNvSpPr>
            <a:spLocks noGrp="1"/>
          </p:cNvSpPr>
          <p:nvPr>
            <p:ph type="pic" idx="1"/>
          </p:nvPr>
        </p:nvSpPr>
        <p:spPr>
          <a:xfrm>
            <a:off x="1600200" y="2171700"/>
            <a:ext cx="5707039" cy="4000500"/>
          </a:xfrm>
          <a:solidFill>
            <a:schemeClr val="bg1">
              <a:lumMod val="75000"/>
            </a:schemeClr>
          </a:solidFill>
          <a:ln w="63500">
            <a:solidFill>
              <a:schemeClr val="tx1">
                <a:lumMod val="50000"/>
              </a:schemeClr>
            </a:solidFill>
            <a:miter lim="800000"/>
          </a:ln>
        </p:spPr>
        <p:txBody>
          <a:bodyPr tIns="914400">
            <a:normAutofit/>
          </a:bodyPr>
          <a:lstStyle>
            <a:lvl1pPr marL="0" indent="0" algn="ctr">
              <a:buNone/>
              <a:defRPr sz="2000">
                <a:solidFill>
                  <a:schemeClr val="tx1">
                    <a:lumMod val="50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a:p>
        </p:txBody>
      </p:sp>
      <p:sp>
        <p:nvSpPr>
          <p:cNvPr id="4" name="Text Placeholder 3"/>
          <p:cNvSpPr>
            <a:spLocks noGrp="1"/>
          </p:cNvSpPr>
          <p:nvPr>
            <p:ph type="body" sz="half" idx="2"/>
          </p:nvPr>
        </p:nvSpPr>
        <p:spPr>
          <a:xfrm>
            <a:off x="7509895" y="2171700"/>
            <a:ext cx="3081905" cy="4000500"/>
          </a:xfrm>
        </p:spPr>
        <p:txBody>
          <a:bodyPr/>
          <a:lstStyle>
            <a:lvl1pPr marL="0" indent="0">
              <a:buNone/>
              <a:defRPr sz="1600">
                <a:solidFill>
                  <a:schemeClr val="tx1">
                    <a:lumMod val="65000"/>
                    <a:lumOff val="3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7DAC9ED-883A-4295-875C-D653C1FCD32D}" type="datetimeFigureOut">
              <a:rPr lang="en-US"/>
              <a:t>3/11/2016</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29927BEA-0E01-4643-B2DE-F82012A02F29}" type="slidenum">
              <a:rPr/>
              <a:t>‹#›</a:t>
            </a:fld>
            <a:endParaRPr/>
          </a:p>
        </p:txBody>
      </p:sp>
    </p:spTree>
    <p:extLst>
      <p:ext uri="{BB962C8B-B14F-4D97-AF65-F5344CB8AC3E}">
        <p14:creationId xmlns:p14="http://schemas.microsoft.com/office/powerpoint/2010/main" val="34793713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p:txBody>
          <a:bodyPr/>
          <a:lstStyle/>
          <a:p>
            <a:fld id="{17DAC9ED-883A-4295-875C-D653C1FCD32D}" type="datetimeFigureOut">
              <a:rPr lang="en-US"/>
              <a:t>3/11/2016</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29927BEA-0E01-4643-B2DE-F82012A02F29}" type="slidenum">
              <a:rPr/>
              <a:t>‹#›</a:t>
            </a:fld>
            <a:endParaRPr/>
          </a:p>
        </p:txBody>
      </p:sp>
    </p:spTree>
    <p:extLst>
      <p:ext uri="{BB962C8B-B14F-4D97-AF65-F5344CB8AC3E}">
        <p14:creationId xmlns:p14="http://schemas.microsoft.com/office/powerpoint/2010/main" val="27279185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 y="428"/>
            <a:ext cx="12192000" cy="6858000"/>
          </a:xfrm>
          <a:prstGeom prst="rect">
            <a:avLst/>
          </a:prstGeom>
        </p:spPr>
      </p:pic>
      <p:sp>
        <p:nvSpPr>
          <p:cNvPr id="2" name="Vertical Title 1"/>
          <p:cNvSpPr>
            <a:spLocks noGrp="1"/>
          </p:cNvSpPr>
          <p:nvPr>
            <p:ph type="title" orient="vert"/>
          </p:nvPr>
        </p:nvSpPr>
        <p:spPr>
          <a:xfrm>
            <a:off x="10591800" y="685799"/>
            <a:ext cx="1409700" cy="5491163"/>
          </a:xfrm>
        </p:spPr>
        <p:txBody>
          <a:bodyPr vert="eaVert"/>
          <a:lstStyle/>
          <a:p>
            <a:r>
              <a:rPr lang="en-US" smtClean="0"/>
              <a:t>Click to edit Master title style</a:t>
            </a:r>
            <a:endParaRPr/>
          </a:p>
        </p:txBody>
      </p:sp>
      <p:sp>
        <p:nvSpPr>
          <p:cNvPr id="3" name="Vertical Text Placeholder 2"/>
          <p:cNvSpPr>
            <a:spLocks noGrp="1"/>
          </p:cNvSpPr>
          <p:nvPr>
            <p:ph type="body" orient="vert" idx="1"/>
          </p:nvPr>
        </p:nvSpPr>
        <p:spPr>
          <a:xfrm>
            <a:off x="838200" y="685799"/>
            <a:ext cx="9038544" cy="5491164"/>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a:xfrm>
            <a:off x="6024627" y="6511119"/>
            <a:ext cx="2651162" cy="275839"/>
          </a:xfrm>
        </p:spPr>
        <p:txBody>
          <a:bodyPr/>
          <a:lstStyle/>
          <a:p>
            <a:fld id="{17DAC9ED-883A-4295-875C-D653C1FCD32D}" type="datetimeFigureOut">
              <a:rPr lang="en-US"/>
              <a:t>3/11/2016</a:t>
            </a:fld>
            <a:endParaRPr/>
          </a:p>
        </p:txBody>
      </p:sp>
      <p:sp>
        <p:nvSpPr>
          <p:cNvPr id="5" name="Footer Placeholder 4"/>
          <p:cNvSpPr>
            <a:spLocks noGrp="1"/>
          </p:cNvSpPr>
          <p:nvPr>
            <p:ph type="ftr" sz="quarter" idx="11"/>
          </p:nvPr>
        </p:nvSpPr>
        <p:spPr>
          <a:xfrm>
            <a:off x="838200" y="6511119"/>
            <a:ext cx="5157725" cy="275839"/>
          </a:xfrm>
        </p:spPr>
        <p:txBody>
          <a:bodyPr/>
          <a:lstStyle/>
          <a:p>
            <a:endParaRPr/>
          </a:p>
        </p:txBody>
      </p:sp>
      <p:sp>
        <p:nvSpPr>
          <p:cNvPr id="6" name="Slide Number Placeholder 5"/>
          <p:cNvSpPr>
            <a:spLocks noGrp="1"/>
          </p:cNvSpPr>
          <p:nvPr>
            <p:ph type="sldNum" sz="quarter" idx="12"/>
          </p:nvPr>
        </p:nvSpPr>
        <p:spPr>
          <a:xfrm>
            <a:off x="8704490" y="6511119"/>
            <a:ext cx="1115786" cy="275839"/>
          </a:xfrm>
        </p:spPr>
        <p:txBody>
          <a:bodyPr/>
          <a:lstStyle/>
          <a:p>
            <a:fld id="{29927BEA-0E01-4643-B2DE-F82012A02F29}" type="slidenum">
              <a:rPr/>
              <a:t>‹#›</a:t>
            </a:fld>
            <a:endParaRPr/>
          </a:p>
        </p:txBody>
      </p:sp>
    </p:spTree>
    <p:extLst>
      <p:ext uri="{BB962C8B-B14F-4D97-AF65-F5344CB8AC3E}">
        <p14:creationId xmlns:p14="http://schemas.microsoft.com/office/powerpoint/2010/main" val="1021873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32">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9" name="Picture 8"/>
          <p:cNvPicPr>
            <a:picLocks noChangeAspect="1"/>
          </p:cNvPicPr>
          <p:nvPr/>
        </p:nvPicPr>
        <p:blipFill>
          <a:blip r:embed="rId14">
            <a:extLst>
              <a:ext uri="{28A0092B-C50C-407E-A947-70E740481C1C}">
                <a14:useLocalDpi xmlns:a14="http://schemas.microsoft.com/office/drawing/2010/main" val="0"/>
              </a:ext>
            </a:extLst>
          </a:blip>
          <a:stretch>
            <a:fillRect/>
          </a:stretch>
        </p:blipFill>
        <p:spPr bwMode="auto">
          <a:xfrm>
            <a:off x="0" y="0"/>
            <a:ext cx="12192000" cy="6858000"/>
          </a:xfrm>
          <a:prstGeom prst="rect">
            <a:avLst/>
          </a:prstGeom>
        </p:spPr>
      </p:pic>
      <p:sp>
        <p:nvSpPr>
          <p:cNvPr id="2" name="Title Placeholder 1"/>
          <p:cNvSpPr>
            <a:spLocks noGrp="1"/>
          </p:cNvSpPr>
          <p:nvPr>
            <p:ph type="title"/>
          </p:nvPr>
        </p:nvSpPr>
        <p:spPr bwMode="white">
          <a:xfrm>
            <a:off x="1600200" y="295562"/>
            <a:ext cx="8991600" cy="1008247"/>
          </a:xfrm>
          <a:prstGeom prst="rect">
            <a:avLst/>
          </a:prstGeom>
        </p:spPr>
        <p:txBody>
          <a:bodyPr vert="horz" lIns="0" tIns="45720" rIns="0" bIns="45720" rtlCol="0" anchor="ctr">
            <a:normAutofit/>
          </a:bodyPr>
          <a:lstStyle/>
          <a:p>
            <a:r>
              <a:rPr lang="en-US" smtClean="0"/>
              <a:t>Click to edit Master title style</a:t>
            </a:r>
            <a:endParaRPr/>
          </a:p>
        </p:txBody>
      </p:sp>
      <p:sp>
        <p:nvSpPr>
          <p:cNvPr id="3" name="Text Placeholder 2"/>
          <p:cNvSpPr>
            <a:spLocks noGrp="1"/>
          </p:cNvSpPr>
          <p:nvPr>
            <p:ph type="body" idx="1"/>
          </p:nvPr>
        </p:nvSpPr>
        <p:spPr>
          <a:xfrm>
            <a:off x="1609725" y="2171700"/>
            <a:ext cx="8991600" cy="4000500"/>
          </a:xfrm>
          <a:prstGeom prst="rect">
            <a:avLst/>
          </a:prstGeom>
        </p:spPr>
        <p:txBody>
          <a:bodyPr vert="horz" lIns="0" tIns="45720" rIns="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2"/>
          </p:nvPr>
        </p:nvSpPr>
        <p:spPr>
          <a:xfrm>
            <a:off x="6796151" y="6511119"/>
            <a:ext cx="2651162" cy="275839"/>
          </a:xfrm>
          <a:prstGeom prst="rect">
            <a:avLst/>
          </a:prstGeom>
        </p:spPr>
        <p:txBody>
          <a:bodyPr vert="horz" lIns="91440" tIns="45720" rIns="91440" bIns="45720" rtlCol="0" anchor="b"/>
          <a:lstStyle>
            <a:lvl1pPr algn="r">
              <a:defRPr sz="800">
                <a:solidFill>
                  <a:schemeClr val="bg1">
                    <a:lumMod val="65000"/>
                  </a:schemeClr>
                </a:solidFill>
              </a:defRPr>
            </a:lvl1pPr>
          </a:lstStyle>
          <a:p>
            <a:fld id="{17DAC9ED-883A-4295-875C-D653C1FCD32D}" type="datetimeFigureOut">
              <a:rPr lang="en-US"/>
              <a:pPr/>
              <a:t>3/11/2016</a:t>
            </a:fld>
            <a:endParaRPr/>
          </a:p>
        </p:txBody>
      </p:sp>
      <p:sp>
        <p:nvSpPr>
          <p:cNvPr id="5" name="Footer Placeholder 4"/>
          <p:cNvSpPr>
            <a:spLocks noGrp="1"/>
          </p:cNvSpPr>
          <p:nvPr>
            <p:ph type="ftr" sz="quarter" idx="3"/>
          </p:nvPr>
        </p:nvSpPr>
        <p:spPr>
          <a:xfrm>
            <a:off x="1609724" y="6511119"/>
            <a:ext cx="5157725" cy="275839"/>
          </a:xfrm>
          <a:prstGeom prst="rect">
            <a:avLst/>
          </a:prstGeom>
        </p:spPr>
        <p:txBody>
          <a:bodyPr vert="horz" lIns="91440" tIns="45720" rIns="91440" bIns="45720" rtlCol="0" anchor="b"/>
          <a:lstStyle>
            <a:lvl1pPr algn="l">
              <a:defRPr sz="800">
                <a:solidFill>
                  <a:schemeClr val="bg1">
                    <a:lumMod val="65000"/>
                  </a:schemeClr>
                </a:solidFill>
              </a:defRPr>
            </a:lvl1pPr>
          </a:lstStyle>
          <a:p>
            <a:endParaRPr/>
          </a:p>
        </p:txBody>
      </p:sp>
      <p:sp>
        <p:nvSpPr>
          <p:cNvPr id="6" name="Slide Number Placeholder 5"/>
          <p:cNvSpPr>
            <a:spLocks noGrp="1"/>
          </p:cNvSpPr>
          <p:nvPr>
            <p:ph type="sldNum" sz="quarter" idx="4"/>
          </p:nvPr>
        </p:nvSpPr>
        <p:spPr>
          <a:xfrm>
            <a:off x="9476014" y="6511119"/>
            <a:ext cx="1115786" cy="275839"/>
          </a:xfrm>
          <a:prstGeom prst="rect">
            <a:avLst/>
          </a:prstGeom>
        </p:spPr>
        <p:txBody>
          <a:bodyPr vert="horz" lIns="91440" tIns="45720" rIns="91440" bIns="45720" rtlCol="0" anchor="b"/>
          <a:lstStyle>
            <a:lvl1pPr algn="r">
              <a:defRPr sz="800">
                <a:solidFill>
                  <a:schemeClr val="bg1">
                    <a:lumMod val="65000"/>
                  </a:schemeClr>
                </a:solidFill>
              </a:defRPr>
            </a:lvl1pPr>
          </a:lstStyle>
          <a:p>
            <a:fld id="{29927BEA-0E01-4643-B2DE-F82012A02F29}" type="slidenum">
              <a:rPr/>
              <a:pPr/>
              <a:t>‹#›</a:t>
            </a:fld>
            <a:endParaRPr/>
          </a:p>
        </p:txBody>
      </p:sp>
    </p:spTree>
    <p:extLst>
      <p:ext uri="{BB962C8B-B14F-4D97-AF65-F5344CB8AC3E}">
        <p14:creationId xmlns:p14="http://schemas.microsoft.com/office/powerpoint/2010/main" val="18052200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60"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3200" kern="1200">
          <a:solidFill>
            <a:schemeClr val="bg1"/>
          </a:solidFill>
          <a:latin typeface="+mj-lt"/>
          <a:ea typeface="+mj-ea"/>
          <a:cs typeface="+mj-cs"/>
        </a:defRPr>
      </a:lvl1pPr>
    </p:titleStyle>
    <p:bodyStyle>
      <a:lvl1pPr marL="210312" indent="-210312" algn="l" defTabSz="914400" rtl="0" eaLnBrk="1" latinLnBrk="0" hangingPunct="1">
        <a:lnSpc>
          <a:spcPct val="100000"/>
        </a:lnSpc>
        <a:spcBef>
          <a:spcPts val="1200"/>
        </a:spcBef>
        <a:buFont typeface="Wingdings" panose="05000000000000000000" pitchFamily="2" charset="2"/>
        <a:buChar char="§"/>
        <a:defRPr sz="2000" kern="1200">
          <a:solidFill>
            <a:schemeClr val="tx2"/>
          </a:solidFill>
          <a:latin typeface="+mn-lt"/>
          <a:ea typeface="+mn-ea"/>
          <a:cs typeface="+mn-cs"/>
        </a:defRPr>
      </a:lvl1pPr>
      <a:lvl2pPr marL="667512" indent="-155448" algn="l" defTabSz="914400" rtl="0" eaLnBrk="1" latinLnBrk="0" hangingPunct="1">
        <a:lnSpc>
          <a:spcPct val="100000"/>
        </a:lnSpc>
        <a:spcBef>
          <a:spcPts val="600"/>
        </a:spcBef>
        <a:buSzPct val="80000"/>
        <a:buFont typeface="Wingdings" panose="05000000000000000000" pitchFamily="2" charset="2"/>
        <a:buChar char="§"/>
        <a:defRPr sz="1800" kern="1200">
          <a:solidFill>
            <a:schemeClr val="tx2"/>
          </a:solidFill>
          <a:latin typeface="+mn-lt"/>
          <a:ea typeface="+mn-ea"/>
          <a:cs typeface="+mn-cs"/>
        </a:defRPr>
      </a:lvl2pPr>
      <a:lvl3pPr marL="1124712" indent="-155448" algn="l" defTabSz="914400" rtl="0" eaLnBrk="1" latinLnBrk="0" hangingPunct="1">
        <a:lnSpc>
          <a:spcPct val="100000"/>
        </a:lnSpc>
        <a:spcBef>
          <a:spcPts val="600"/>
        </a:spcBef>
        <a:buFont typeface="Wingdings" panose="05000000000000000000" pitchFamily="2" charset="2"/>
        <a:buChar char="§"/>
        <a:defRPr sz="1600" kern="1200">
          <a:solidFill>
            <a:schemeClr val="tx2"/>
          </a:solidFill>
          <a:latin typeface="+mn-lt"/>
          <a:ea typeface="+mn-ea"/>
          <a:cs typeface="+mn-cs"/>
        </a:defRPr>
      </a:lvl3pPr>
      <a:lvl4pPr marL="1581912" indent="-155448" algn="l" defTabSz="914400" rtl="0" eaLnBrk="1" latinLnBrk="0" hangingPunct="1">
        <a:lnSpc>
          <a:spcPct val="100000"/>
        </a:lnSpc>
        <a:spcBef>
          <a:spcPts val="600"/>
        </a:spcBef>
        <a:buFont typeface="Wingdings" panose="05000000000000000000" pitchFamily="2" charset="2"/>
        <a:buChar char="§"/>
        <a:defRPr sz="1400" kern="1200">
          <a:solidFill>
            <a:schemeClr val="tx2"/>
          </a:solidFill>
          <a:latin typeface="+mn-lt"/>
          <a:ea typeface="+mn-ea"/>
          <a:cs typeface="+mn-cs"/>
        </a:defRPr>
      </a:lvl4pPr>
      <a:lvl5pPr marL="2039112" indent="-155448" algn="l" defTabSz="914400" rtl="0" eaLnBrk="1" latinLnBrk="0" hangingPunct="1">
        <a:lnSpc>
          <a:spcPct val="100000"/>
        </a:lnSpc>
        <a:spcBef>
          <a:spcPts val="600"/>
        </a:spcBef>
        <a:buSzPct val="80000"/>
        <a:buFont typeface="Wingdings" panose="05000000000000000000" pitchFamily="2" charset="2"/>
        <a:buChar char="§"/>
        <a:defRPr sz="1400" kern="1200">
          <a:solidFill>
            <a:schemeClr val="tx2"/>
          </a:solidFill>
          <a:latin typeface="+mn-lt"/>
          <a:ea typeface="+mn-ea"/>
          <a:cs typeface="+mn-cs"/>
        </a:defRPr>
      </a:lvl5pPr>
      <a:lvl6pPr marL="2496312" indent="-155448" algn="l" defTabSz="914400" rtl="0" eaLnBrk="1" latinLnBrk="0" hangingPunct="1">
        <a:lnSpc>
          <a:spcPct val="100000"/>
        </a:lnSpc>
        <a:spcBef>
          <a:spcPts val="600"/>
        </a:spcBef>
        <a:buSzPct val="80000"/>
        <a:buFont typeface="Wingdings" panose="05000000000000000000" pitchFamily="2" charset="2"/>
        <a:buChar char="§"/>
        <a:defRPr sz="1400" kern="1200">
          <a:solidFill>
            <a:schemeClr val="tx2"/>
          </a:solidFill>
          <a:latin typeface="+mn-lt"/>
          <a:ea typeface="+mn-ea"/>
          <a:cs typeface="+mn-cs"/>
        </a:defRPr>
      </a:lvl6pPr>
      <a:lvl7pPr marL="2953512" indent="-155448" algn="l" defTabSz="914400" rtl="0" eaLnBrk="1" latinLnBrk="0" hangingPunct="1">
        <a:lnSpc>
          <a:spcPct val="100000"/>
        </a:lnSpc>
        <a:spcBef>
          <a:spcPts val="600"/>
        </a:spcBef>
        <a:buSzPct val="80000"/>
        <a:buFont typeface="Wingdings" panose="05000000000000000000" pitchFamily="2" charset="2"/>
        <a:buChar char="§"/>
        <a:defRPr sz="1400" kern="1200">
          <a:solidFill>
            <a:schemeClr val="tx2"/>
          </a:solidFill>
          <a:latin typeface="+mn-lt"/>
          <a:ea typeface="+mn-ea"/>
          <a:cs typeface="+mn-cs"/>
        </a:defRPr>
      </a:lvl7pPr>
      <a:lvl8pPr marL="3410712" indent="-155448" algn="l" defTabSz="914400" rtl="0" eaLnBrk="1" latinLnBrk="0" hangingPunct="1">
        <a:lnSpc>
          <a:spcPct val="100000"/>
        </a:lnSpc>
        <a:spcBef>
          <a:spcPts val="600"/>
        </a:spcBef>
        <a:buSzPct val="80000"/>
        <a:buFont typeface="Wingdings" panose="05000000000000000000" pitchFamily="2" charset="2"/>
        <a:buChar char="§"/>
        <a:defRPr sz="1400" kern="1200">
          <a:solidFill>
            <a:schemeClr val="tx2"/>
          </a:solidFill>
          <a:latin typeface="+mn-lt"/>
          <a:ea typeface="+mn-ea"/>
          <a:cs typeface="+mn-cs"/>
        </a:defRPr>
      </a:lvl8pPr>
      <a:lvl9pPr marL="3867912" indent="-155448" algn="l" defTabSz="914400" rtl="0" eaLnBrk="1" latinLnBrk="0" hangingPunct="1">
        <a:lnSpc>
          <a:spcPct val="100000"/>
        </a:lnSpc>
        <a:spcBef>
          <a:spcPts val="600"/>
        </a:spcBef>
        <a:buSzPct val="80000"/>
        <a:buFont typeface="Wingdings" panose="05000000000000000000" pitchFamily="2" charset="2"/>
        <a:buChar char="§"/>
        <a:defRPr sz="1400" kern="1200" baseline="0">
          <a:solidFill>
            <a:schemeClr val="tx2"/>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1368">
          <p15:clr>
            <a:srgbClr val="F26B43"/>
          </p15:clr>
        </p15:guide>
        <p15:guide id="2" pos="6672">
          <p15:clr>
            <a:srgbClr val="F26B43"/>
          </p15:clr>
        </p15:guide>
        <p15:guide id="3" pos="1008">
          <p15:clr>
            <a:srgbClr val="F26B43"/>
          </p15:clr>
        </p15:guide>
        <p15:guide id="4" orient="horz" pos="3888">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hyperlink" Target="http://www.samuelchukwuemeka.com/"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youtube.com/playlist?action_edit=1&amp;list=PLjyyswMG9g9AvCtD4ts6afKpSa-QVbHeL" TargetMode="External"/><Relationship Id="rId2" Type="http://schemas.openxmlformats.org/officeDocument/2006/relationships/hyperlink" Target="https://www.youtube.com/playlist?feature=edit_ok&amp;list=PLjyyswMG9g9ABGozDjAziFm20IgOQSSyc"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hyperlink" Target="https://www.youtube.com/playlist?action_edit=1&amp;list=PLjyyswMG9g9AvCtD4ts6afKpSa-QVbHeL"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hyperlink" Target="https://www.youtube.com/playlist?action_edit=1&amp;list=PLjyyswMG9g9AvCtD4ts6afKpSa-QVbHeL" TargetMode="Externa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https://www.youtube.com/playlist?feature=edit_ok&amp;list=PLjyyswMG9g9ABGozDjAziFm20IgOQSSyc" TargetMode="External"/><Relationship Id="rId2" Type="http://schemas.openxmlformats.org/officeDocument/2006/relationships/hyperlink" Target="https://www.youtube.com/playlist?action_edit=1&amp;list=PLjyyswMG9g9AvCtD4ts6afKpSa-QVbHeL" TargetMode="Externa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905000" y="1464287"/>
            <a:ext cx="8382000" cy="1649616"/>
          </a:xfrm>
        </p:spPr>
        <p:txBody>
          <a:bodyPr>
            <a:normAutofit/>
          </a:bodyPr>
          <a:lstStyle/>
          <a:p>
            <a:pPr algn="ctr"/>
            <a:r>
              <a:rPr lang="en-US" sz="4800" dirty="0" smtClean="0"/>
              <a:t>Test 2 Study Guide – Part 2</a:t>
            </a:r>
            <a:endParaRPr lang="en-US" sz="4800" dirty="0"/>
          </a:p>
        </p:txBody>
      </p:sp>
      <p:sp>
        <p:nvSpPr>
          <p:cNvPr id="3" name="Subtitle 2"/>
          <p:cNvSpPr>
            <a:spLocks noGrp="1"/>
          </p:cNvSpPr>
          <p:nvPr>
            <p:ph type="subTitle" idx="1"/>
          </p:nvPr>
        </p:nvSpPr>
        <p:spPr>
          <a:xfrm>
            <a:off x="1905000" y="3402227"/>
            <a:ext cx="8382000" cy="2001795"/>
          </a:xfrm>
        </p:spPr>
        <p:txBody>
          <a:bodyPr>
            <a:normAutofit fontScale="92500" lnSpcReduction="10000"/>
          </a:bodyPr>
          <a:lstStyle/>
          <a:p>
            <a:pPr>
              <a:lnSpc>
                <a:spcPct val="200000"/>
              </a:lnSpc>
            </a:pPr>
            <a:r>
              <a:rPr lang="en-US" sz="2800" dirty="0" smtClean="0">
                <a:latin typeface="Vani" panose="020B0502040204020203" pitchFamily="34" charset="0"/>
                <a:cs typeface="Vani" panose="020B0502040204020203" pitchFamily="34" charset="0"/>
              </a:rPr>
              <a:t>Samuel Chukwuemeka</a:t>
            </a:r>
            <a:r>
              <a:rPr lang="en-US" dirty="0">
                <a:latin typeface="Vani" panose="020B0502040204020203" pitchFamily="34" charset="0"/>
                <a:cs typeface="Vani" panose="020B0502040204020203" pitchFamily="34" charset="0"/>
              </a:rPr>
              <a:t>	</a:t>
            </a:r>
            <a:r>
              <a:rPr lang="en-US" dirty="0" smtClean="0">
                <a:latin typeface="Vani" panose="020B0502040204020203" pitchFamily="34" charset="0"/>
                <a:cs typeface="Vani" panose="020B0502040204020203" pitchFamily="34" charset="0"/>
              </a:rPr>
              <a:t>	</a:t>
            </a:r>
            <a:r>
              <a:rPr lang="en-US" sz="2000" dirty="0" smtClean="0">
                <a:latin typeface="Vani" panose="020B0502040204020203" pitchFamily="34" charset="0"/>
                <a:cs typeface="Vani" panose="020B0502040204020203" pitchFamily="34" charset="0"/>
              </a:rPr>
              <a:t>B.Eng., A.A.T, M.Ed., M.S</a:t>
            </a:r>
          </a:p>
          <a:p>
            <a:pPr>
              <a:lnSpc>
                <a:spcPct val="200000"/>
              </a:lnSpc>
            </a:pPr>
            <a:r>
              <a:rPr lang="en-US" sz="1900" dirty="0" smtClean="0">
                <a:latin typeface="Vani" panose="020B0502040204020203" pitchFamily="34" charset="0"/>
                <a:cs typeface="Vani" panose="020B0502040204020203" pitchFamily="34" charset="0"/>
              </a:rPr>
              <a:t>“The Joy of a Teacher is the Success of his Students.” – Samuel Chukwuemeka</a:t>
            </a:r>
          </a:p>
          <a:p>
            <a:pPr>
              <a:lnSpc>
                <a:spcPct val="200000"/>
              </a:lnSpc>
            </a:pPr>
            <a:r>
              <a:rPr lang="en-US" dirty="0" smtClean="0">
                <a:latin typeface="Vani" panose="020B0502040204020203" pitchFamily="34" charset="0"/>
                <a:cs typeface="Vani" panose="020B0502040204020203" pitchFamily="34" charset="0"/>
                <a:hlinkClick r:id="rId2"/>
              </a:rPr>
              <a:t>www.samuelchukwuemeka.com</a:t>
            </a:r>
            <a:endParaRPr lang="en-US" dirty="0">
              <a:latin typeface="Vani" panose="020B0502040204020203" pitchFamily="34" charset="0"/>
              <a:cs typeface="Vani" panose="020B0502040204020203" pitchFamily="34" charset="0"/>
            </a:endParaRPr>
          </a:p>
        </p:txBody>
      </p:sp>
    </p:spTree>
    <p:extLst>
      <p:ext uri="{BB962C8B-B14F-4D97-AF65-F5344CB8AC3E}">
        <p14:creationId xmlns:p14="http://schemas.microsoft.com/office/powerpoint/2010/main" val="36885208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0" y="295562"/>
            <a:ext cx="12192000" cy="1008247"/>
          </a:xfrm>
        </p:spPr>
        <p:txBody>
          <a:bodyPr/>
          <a:lstStyle/>
          <a:p>
            <a:r>
              <a:rPr lang="en-US" dirty="0" smtClean="0"/>
              <a:t>Objectives and Pre-requisites</a:t>
            </a:r>
            <a:endParaRPr dirty="0"/>
          </a:p>
        </p:txBody>
      </p:sp>
      <p:sp>
        <p:nvSpPr>
          <p:cNvPr id="14" name="Content Placeholder 13"/>
          <p:cNvSpPr>
            <a:spLocks noGrp="1"/>
          </p:cNvSpPr>
          <p:nvPr>
            <p:ph idx="1"/>
          </p:nvPr>
        </p:nvSpPr>
        <p:spPr>
          <a:xfrm>
            <a:off x="0" y="1738184"/>
            <a:ext cx="12192000" cy="5119816"/>
          </a:xfrm>
        </p:spPr>
        <p:txBody>
          <a:bodyPr>
            <a:normAutofit lnSpcReduction="10000"/>
          </a:bodyPr>
          <a:lstStyle/>
          <a:p>
            <a:pPr>
              <a:lnSpc>
                <a:spcPct val="170000"/>
              </a:lnSpc>
            </a:pPr>
            <a:r>
              <a:rPr lang="en-US" dirty="0" smtClean="0">
                <a:latin typeface="Vani" panose="020B0502040204020203" pitchFamily="34" charset="0"/>
                <a:cs typeface="Vani" panose="020B0502040204020203" pitchFamily="34" charset="0"/>
              </a:rPr>
              <a:t>Students will:</a:t>
            </a:r>
          </a:p>
          <a:p>
            <a:pPr>
              <a:lnSpc>
                <a:spcPct val="170000"/>
              </a:lnSpc>
            </a:pPr>
            <a:r>
              <a:rPr lang="en-US" dirty="0" smtClean="0">
                <a:latin typeface="Vani" panose="020B0502040204020203" pitchFamily="34" charset="0"/>
                <a:cs typeface="Vani" panose="020B0502040204020203" pitchFamily="34" charset="0"/>
              </a:rPr>
              <a:t>Determine the probability of </a:t>
            </a:r>
            <a:r>
              <a:rPr lang="en-US" dirty="0" smtClean="0">
                <a:latin typeface="Vani" panose="020B0502040204020203" pitchFamily="34" charset="0"/>
                <a:cs typeface="Vani" panose="020B0502040204020203" pitchFamily="34" charset="0"/>
              </a:rPr>
              <a:t>any type of </a:t>
            </a:r>
            <a:r>
              <a:rPr lang="en-US" dirty="0" smtClean="0">
                <a:latin typeface="Vani" panose="020B0502040204020203" pitchFamily="34" charset="0"/>
                <a:cs typeface="Vani" panose="020B0502040204020203" pitchFamily="34" charset="0"/>
              </a:rPr>
              <a:t>event.</a:t>
            </a:r>
          </a:p>
          <a:p>
            <a:pPr>
              <a:lnSpc>
                <a:spcPct val="170000"/>
              </a:lnSpc>
            </a:pPr>
            <a:r>
              <a:rPr lang="en-US" dirty="0" smtClean="0">
                <a:latin typeface="Vani" panose="020B0502040204020203" pitchFamily="34" charset="0"/>
                <a:cs typeface="Vani" panose="020B0502040204020203" pitchFamily="34" charset="0"/>
              </a:rPr>
              <a:t>Apply the Fundamental Counting Principle.</a:t>
            </a:r>
            <a:endParaRPr lang="en-US" dirty="0" smtClean="0">
              <a:latin typeface="Vani" panose="020B0502040204020203" pitchFamily="34" charset="0"/>
              <a:cs typeface="Vani" panose="020B0502040204020203" pitchFamily="34" charset="0"/>
            </a:endParaRPr>
          </a:p>
          <a:p>
            <a:pPr>
              <a:lnSpc>
                <a:spcPct val="170000"/>
              </a:lnSpc>
            </a:pPr>
            <a:r>
              <a:rPr lang="en-US" dirty="0" smtClean="0">
                <a:latin typeface="Vani" panose="020B0502040204020203" pitchFamily="34" charset="0"/>
                <a:cs typeface="Vani" panose="020B0502040204020203" pitchFamily="34" charset="0"/>
              </a:rPr>
              <a:t>Calculate the probability of events using combinations.</a:t>
            </a:r>
            <a:endParaRPr lang="en-US" dirty="0">
              <a:latin typeface="Vani" panose="020B0502040204020203" pitchFamily="34" charset="0"/>
              <a:cs typeface="Vani" panose="020B0502040204020203" pitchFamily="34" charset="0"/>
            </a:endParaRPr>
          </a:p>
          <a:p>
            <a:pPr>
              <a:lnSpc>
                <a:spcPct val="170000"/>
              </a:lnSpc>
            </a:pPr>
            <a:r>
              <a:rPr lang="en-US" u="sng" dirty="0" smtClean="0">
                <a:latin typeface="Vani" panose="020B0502040204020203" pitchFamily="34" charset="0"/>
                <a:cs typeface="Vani" panose="020B0502040204020203" pitchFamily="34" charset="0"/>
              </a:rPr>
              <a:t>Pre-requisite </a:t>
            </a:r>
            <a:r>
              <a:rPr lang="en-US" u="sng" dirty="0" smtClean="0">
                <a:latin typeface="Vani" panose="020B0502040204020203" pitchFamily="34" charset="0"/>
                <a:cs typeface="Vani" panose="020B0502040204020203" pitchFamily="34" charset="0"/>
              </a:rPr>
              <a:t>videos</a:t>
            </a:r>
          </a:p>
          <a:p>
            <a:pPr>
              <a:lnSpc>
                <a:spcPct val="170000"/>
              </a:lnSpc>
            </a:pPr>
            <a:r>
              <a:rPr lang="en-US" dirty="0" smtClean="0">
                <a:latin typeface="Vani" panose="020B0502040204020203" pitchFamily="34" charset="0"/>
                <a:cs typeface="Vani" panose="020B0502040204020203" pitchFamily="34" charset="0"/>
                <a:hlinkClick r:id="rId2"/>
              </a:rPr>
              <a:t>Probability</a:t>
            </a:r>
            <a:r>
              <a:rPr lang="en-US" dirty="0" smtClean="0">
                <a:latin typeface="Vani" panose="020B0502040204020203" pitchFamily="34" charset="0"/>
                <a:cs typeface="Vani" panose="020B0502040204020203" pitchFamily="34" charset="0"/>
              </a:rPr>
              <a:t> (all</a:t>
            </a:r>
            <a:r>
              <a:rPr lang="en-US" dirty="0" smtClean="0">
                <a:latin typeface="Vani" panose="020B0502040204020203" pitchFamily="34" charset="0"/>
                <a:cs typeface="Vani" panose="020B0502040204020203" pitchFamily="34" charset="0"/>
              </a:rPr>
              <a:t>)</a:t>
            </a:r>
          </a:p>
          <a:p>
            <a:pPr>
              <a:lnSpc>
                <a:spcPct val="170000"/>
              </a:lnSpc>
            </a:pPr>
            <a:r>
              <a:rPr lang="en-US" dirty="0" err="1" smtClean="0">
                <a:latin typeface="Vani" panose="020B0502040204020203" pitchFamily="34" charset="0"/>
                <a:cs typeface="Vani" panose="020B0502040204020203" pitchFamily="34" charset="0"/>
                <a:hlinkClick r:id="rId3"/>
              </a:rPr>
              <a:t>Combinatorics</a:t>
            </a:r>
            <a:r>
              <a:rPr lang="en-US" dirty="0" smtClean="0">
                <a:latin typeface="Vani" panose="020B0502040204020203" pitchFamily="34" charset="0"/>
                <a:cs typeface="Vani" panose="020B0502040204020203" pitchFamily="34" charset="0"/>
              </a:rPr>
              <a:t> (all)</a:t>
            </a:r>
            <a:endParaRPr lang="en-US" dirty="0" smtClean="0">
              <a:latin typeface="Vani" panose="020B0502040204020203" pitchFamily="34" charset="0"/>
              <a:cs typeface="Vani" panose="020B0502040204020203" pitchFamily="34" charset="0"/>
            </a:endParaRPr>
          </a:p>
          <a:p>
            <a:pPr>
              <a:lnSpc>
                <a:spcPct val="170000"/>
              </a:lnSpc>
            </a:pPr>
            <a:r>
              <a:rPr lang="en-US" dirty="0" smtClean="0">
                <a:solidFill>
                  <a:srgbClr val="FF0000"/>
                </a:solidFill>
                <a:latin typeface="Vani" panose="020B0502040204020203" pitchFamily="34" charset="0"/>
                <a:cs typeface="Vani" panose="020B0502040204020203" pitchFamily="34" charset="0"/>
              </a:rPr>
              <a:t>View the video for the verbal explanations</a:t>
            </a:r>
            <a:r>
              <a:rPr lang="en-US" dirty="0" smtClean="0">
                <a:latin typeface="Vani" panose="020B0502040204020203" pitchFamily="34" charset="0"/>
                <a:cs typeface="Vani" panose="020B0502040204020203" pitchFamily="34" charset="0"/>
              </a:rPr>
              <a:t>.</a:t>
            </a:r>
          </a:p>
          <a:p>
            <a:endParaRPr lang="en-US" dirty="0" smtClean="0">
              <a:latin typeface="Vani" panose="020B0502040204020203" pitchFamily="34" charset="0"/>
              <a:cs typeface="Vani" panose="020B0502040204020203" pitchFamily="34" charset="0"/>
            </a:endParaRPr>
          </a:p>
          <a:p>
            <a:endParaRPr lang="en-US" dirty="0" smtClean="0">
              <a:latin typeface="Vani" panose="020B0502040204020203" pitchFamily="34" charset="0"/>
              <a:cs typeface="Vani" panose="020B0502040204020203" pitchFamily="34" charset="0"/>
            </a:endParaRPr>
          </a:p>
          <a:p>
            <a:endParaRPr dirty="0">
              <a:latin typeface="Vani" panose="020B0502040204020203" pitchFamily="34" charset="0"/>
              <a:cs typeface="Vani" panose="020B0502040204020203" pitchFamily="34" charset="0"/>
            </a:endParaRPr>
          </a:p>
        </p:txBody>
      </p:sp>
    </p:spTree>
    <p:extLst>
      <p:ext uri="{BB962C8B-B14F-4D97-AF65-F5344CB8AC3E}">
        <p14:creationId xmlns:p14="http://schemas.microsoft.com/office/powerpoint/2010/main" val="23854316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0" y="295562"/>
            <a:ext cx="12192000" cy="1008247"/>
          </a:xfrm>
        </p:spPr>
        <p:txBody>
          <a:bodyPr/>
          <a:lstStyle/>
          <a:p>
            <a:r>
              <a:rPr lang="en-US" dirty="0" smtClean="0"/>
              <a:t>Questions and Answers							9-1.</a:t>
            </a:r>
            <a:endParaRPr dirty="0"/>
          </a:p>
        </p:txBody>
      </p:sp>
      <mc:AlternateContent xmlns:mc="http://schemas.openxmlformats.org/markup-compatibility/2006" xmlns:a14="http://schemas.microsoft.com/office/drawing/2010/main">
        <mc:Choice Requires="a14">
          <p:sp>
            <p:nvSpPr>
              <p:cNvPr id="14" name="Content Placeholder 13"/>
              <p:cNvSpPr>
                <a:spLocks noGrp="1"/>
              </p:cNvSpPr>
              <p:nvPr>
                <p:ph idx="1"/>
              </p:nvPr>
            </p:nvSpPr>
            <p:spPr>
              <a:xfrm>
                <a:off x="0" y="1738184"/>
                <a:ext cx="12192000" cy="5119816"/>
              </a:xfrm>
            </p:spPr>
            <p:txBody>
              <a:bodyPr>
                <a:normAutofit lnSpcReduction="10000"/>
              </a:bodyPr>
              <a:lstStyle/>
              <a:p>
                <a:pPr>
                  <a:lnSpc>
                    <a:spcPct val="150000"/>
                  </a:lnSpc>
                </a:pPr>
                <a:r>
                  <a:rPr lang="en-US" sz="2300" dirty="0" smtClean="0">
                    <a:solidFill>
                      <a:srgbClr val="7030A0"/>
                    </a:solidFill>
                    <a:latin typeface="Vani" panose="020B0502040204020203" pitchFamily="34" charset="0"/>
                    <a:cs typeface="Vani" panose="020B0502040204020203" pitchFamily="34" charset="0"/>
                  </a:rPr>
                  <a:t>(9.)	</a:t>
                </a:r>
                <a:r>
                  <a:rPr lang="en-US" sz="2300" dirty="0" smtClean="0">
                    <a:latin typeface="Vani" panose="020B0502040204020203" pitchFamily="34" charset="0"/>
                    <a:cs typeface="Vani" panose="020B0502040204020203" pitchFamily="34" charset="0"/>
                  </a:rPr>
                  <a:t>A research of 2335 motorists in the City of Why, Arizona show that 275 motorists were victims of road rage incidents in a certain </a:t>
                </a:r>
                <a:r>
                  <a:rPr lang="en-US" sz="2300" dirty="0">
                    <a:latin typeface="Vani" panose="020B0502040204020203" pitchFamily="34" charset="0"/>
                    <a:cs typeface="Vani" panose="020B0502040204020203" pitchFamily="34" charset="0"/>
                  </a:rPr>
                  <a:t>month. Round to four decimal places as needed</a:t>
                </a:r>
                <a:r>
                  <a:rPr lang="en-US" sz="2300" dirty="0" smtClean="0">
                    <a:latin typeface="Vani" panose="020B0502040204020203" pitchFamily="34" charset="0"/>
                    <a:cs typeface="Vani" panose="020B0502040204020203" pitchFamily="34" charset="0"/>
                  </a:rPr>
                  <a:t>.</a:t>
                </a:r>
              </a:p>
              <a:p>
                <a:pPr>
                  <a:lnSpc>
                    <a:spcPct val="150000"/>
                  </a:lnSpc>
                </a:pPr>
                <a:r>
                  <a:rPr lang="en-US" sz="2300" dirty="0" smtClean="0">
                    <a:latin typeface="Vani" panose="020B0502040204020203" pitchFamily="34" charset="0"/>
                    <a:cs typeface="Vani" panose="020B0502040204020203" pitchFamily="34" charset="0"/>
                  </a:rPr>
                  <a:t>(a.)	If one of the motorists was randomly selected, find the probability that the motorist was not a victim of a road rage incident. </a:t>
                </a:r>
                <a:endParaRPr lang="en-US" sz="2300" b="0" i="1" dirty="0" smtClean="0">
                  <a:latin typeface="Cambria Math" panose="02040503050406030204" pitchFamily="18" charset="0"/>
                  <a:cs typeface="Vani" panose="020B0502040204020203" pitchFamily="34" charset="0"/>
                </a:endParaRPr>
              </a:p>
              <a:p>
                <a:pPr>
                  <a:lnSpc>
                    <a:spcPct val="150000"/>
                  </a:lnSpc>
                </a:pPr>
                <a14:m>
                  <m:oMath xmlns:m="http://schemas.openxmlformats.org/officeDocument/2006/math">
                    <m:r>
                      <a:rPr lang="en-US" sz="2300" b="0" i="1" smtClean="0">
                        <a:latin typeface="Cambria Math" panose="02040503050406030204" pitchFamily="18" charset="0"/>
                        <a:cs typeface="Vani" panose="020B0502040204020203" pitchFamily="34" charset="0"/>
                      </a:rPr>
                      <m:t>𝑛</m:t>
                    </m:r>
                    <m:d>
                      <m:dPr>
                        <m:ctrlPr>
                          <a:rPr lang="en-US" sz="2300" b="0" i="1" smtClean="0">
                            <a:latin typeface="Cambria Math" panose="02040503050406030204" pitchFamily="18" charset="0"/>
                            <a:cs typeface="Vani" panose="020B0502040204020203" pitchFamily="34" charset="0"/>
                          </a:rPr>
                        </m:ctrlPr>
                      </m:dPr>
                      <m:e>
                        <m:r>
                          <a:rPr lang="en-US" sz="2300" b="0" i="1" smtClean="0">
                            <a:latin typeface="Cambria Math" panose="02040503050406030204" pitchFamily="18" charset="0"/>
                            <a:cs typeface="Vani" panose="020B0502040204020203" pitchFamily="34" charset="0"/>
                          </a:rPr>
                          <m:t>𝑆</m:t>
                        </m:r>
                      </m:e>
                    </m:d>
                    <m:r>
                      <a:rPr lang="en-US" sz="2300" b="0" i="1" smtClean="0">
                        <a:latin typeface="Cambria Math" panose="02040503050406030204" pitchFamily="18" charset="0"/>
                        <a:cs typeface="Vani" panose="020B0502040204020203" pitchFamily="34" charset="0"/>
                      </a:rPr>
                      <m:t>=2335    </m:t>
                    </m:r>
                    <m:r>
                      <a:rPr lang="en-US" sz="2300" b="0" i="1" smtClean="0">
                        <a:latin typeface="Cambria Math" panose="02040503050406030204" pitchFamily="18" charset="0"/>
                        <a:cs typeface="Vani" panose="020B0502040204020203" pitchFamily="34" charset="0"/>
                      </a:rPr>
                      <m:t>𝑛</m:t>
                    </m:r>
                    <m:d>
                      <m:dPr>
                        <m:ctrlPr>
                          <a:rPr lang="en-US" sz="2300" b="0" i="1" smtClean="0">
                            <a:latin typeface="Cambria Math" panose="02040503050406030204" pitchFamily="18" charset="0"/>
                            <a:cs typeface="Vani" panose="020B0502040204020203" pitchFamily="34" charset="0"/>
                          </a:rPr>
                        </m:ctrlPr>
                      </m:dPr>
                      <m:e>
                        <m:r>
                          <a:rPr lang="en-US" sz="2300" b="0" i="1" smtClean="0">
                            <a:latin typeface="Cambria Math" panose="02040503050406030204" pitchFamily="18" charset="0"/>
                            <a:cs typeface="Vani" panose="020B0502040204020203" pitchFamily="34" charset="0"/>
                          </a:rPr>
                          <m:t>𝑉𝑖𝑐𝑡𝑖𝑚</m:t>
                        </m:r>
                      </m:e>
                    </m:d>
                    <m:r>
                      <a:rPr lang="en-US" sz="2300" b="0" i="1" smtClean="0">
                        <a:latin typeface="Cambria Math" panose="02040503050406030204" pitchFamily="18" charset="0"/>
                        <a:cs typeface="Vani" panose="020B0502040204020203" pitchFamily="34" charset="0"/>
                      </a:rPr>
                      <m:t>=</m:t>
                    </m:r>
                    <m:r>
                      <a:rPr lang="en-US" sz="2300" b="0" i="1" smtClean="0">
                        <a:latin typeface="Cambria Math" panose="02040503050406030204" pitchFamily="18" charset="0"/>
                        <a:cs typeface="Vani" panose="020B0502040204020203" pitchFamily="34" charset="0"/>
                      </a:rPr>
                      <m:t>𝑛</m:t>
                    </m:r>
                    <m:d>
                      <m:dPr>
                        <m:ctrlPr>
                          <a:rPr lang="en-US" sz="2300" b="0" i="1" smtClean="0">
                            <a:latin typeface="Cambria Math" panose="02040503050406030204" pitchFamily="18" charset="0"/>
                            <a:cs typeface="Vani" panose="020B0502040204020203" pitchFamily="34" charset="0"/>
                          </a:rPr>
                        </m:ctrlPr>
                      </m:dPr>
                      <m:e>
                        <m:r>
                          <a:rPr lang="en-US" sz="2300" b="0" i="1" smtClean="0">
                            <a:latin typeface="Cambria Math" panose="02040503050406030204" pitchFamily="18" charset="0"/>
                            <a:cs typeface="Vani" panose="020B0502040204020203" pitchFamily="34" charset="0"/>
                          </a:rPr>
                          <m:t>𝑉</m:t>
                        </m:r>
                      </m:e>
                    </m:d>
                    <m:r>
                      <a:rPr lang="en-US" sz="2300" b="0" i="1" smtClean="0">
                        <a:latin typeface="Cambria Math" panose="02040503050406030204" pitchFamily="18" charset="0"/>
                        <a:cs typeface="Vani" panose="020B0502040204020203" pitchFamily="34" charset="0"/>
                      </a:rPr>
                      <m:t>=275      </m:t>
                    </m:r>
                    <m:r>
                      <a:rPr lang="en-US" sz="2300" b="0" i="1" smtClean="0">
                        <a:latin typeface="Cambria Math" panose="02040503050406030204" pitchFamily="18" charset="0"/>
                        <a:cs typeface="Vani" panose="020B0502040204020203" pitchFamily="34" charset="0"/>
                      </a:rPr>
                      <m:t>𝑛</m:t>
                    </m:r>
                    <m:d>
                      <m:dPr>
                        <m:ctrlPr>
                          <a:rPr lang="en-US" sz="2300" b="0" i="1" smtClean="0">
                            <a:latin typeface="Cambria Math" panose="02040503050406030204" pitchFamily="18" charset="0"/>
                            <a:cs typeface="Vani" panose="020B0502040204020203" pitchFamily="34" charset="0"/>
                          </a:rPr>
                        </m:ctrlPr>
                      </m:dPr>
                      <m:e>
                        <m:r>
                          <a:rPr lang="en-US" sz="2300" b="0" i="1" smtClean="0">
                            <a:latin typeface="Cambria Math" panose="02040503050406030204" pitchFamily="18" charset="0"/>
                            <a:cs typeface="Vani" panose="020B0502040204020203" pitchFamily="34" charset="0"/>
                          </a:rPr>
                          <m:t>𝑁𝑜</m:t>
                        </m:r>
                        <m:r>
                          <a:rPr lang="en-US" sz="2300" b="0" i="1" smtClean="0">
                            <a:latin typeface="Cambria Math" panose="02040503050406030204" pitchFamily="18" charset="0"/>
                            <a:cs typeface="Vani" panose="020B0502040204020203" pitchFamily="34" charset="0"/>
                          </a:rPr>
                          <m:t> </m:t>
                        </m:r>
                        <m:r>
                          <a:rPr lang="en-US" sz="2300" b="0" i="1" smtClean="0">
                            <a:latin typeface="Cambria Math" panose="02040503050406030204" pitchFamily="18" charset="0"/>
                            <a:cs typeface="Vani" panose="020B0502040204020203" pitchFamily="34" charset="0"/>
                          </a:rPr>
                          <m:t>𝑉𝑖𝑐𝑡𝑖𝑚</m:t>
                        </m:r>
                      </m:e>
                    </m:d>
                    <m:r>
                      <a:rPr lang="en-US" sz="2300" b="0" i="1" smtClean="0">
                        <a:latin typeface="Cambria Math" panose="02040503050406030204" pitchFamily="18" charset="0"/>
                        <a:cs typeface="Vani" panose="020B0502040204020203" pitchFamily="34" charset="0"/>
                      </a:rPr>
                      <m:t>=</m:t>
                    </m:r>
                    <m:r>
                      <a:rPr lang="en-US" sz="2300" b="0" i="1" smtClean="0">
                        <a:latin typeface="Cambria Math" panose="02040503050406030204" pitchFamily="18" charset="0"/>
                        <a:cs typeface="Vani" panose="020B0502040204020203" pitchFamily="34" charset="0"/>
                      </a:rPr>
                      <m:t>𝑛</m:t>
                    </m:r>
                    <m:d>
                      <m:dPr>
                        <m:ctrlPr>
                          <a:rPr lang="en-US" sz="2300" b="0" i="1" smtClean="0">
                            <a:latin typeface="Cambria Math" panose="02040503050406030204" pitchFamily="18" charset="0"/>
                            <a:cs typeface="Vani" panose="020B0502040204020203" pitchFamily="34" charset="0"/>
                          </a:rPr>
                        </m:ctrlPr>
                      </m:dPr>
                      <m:e>
                        <m:r>
                          <a:rPr lang="en-US" sz="2300" b="0" i="1" smtClean="0">
                            <a:latin typeface="Cambria Math" panose="02040503050406030204" pitchFamily="18" charset="0"/>
                            <a:cs typeface="Vani" panose="020B0502040204020203" pitchFamily="34" charset="0"/>
                          </a:rPr>
                          <m:t>𝑁𝑉</m:t>
                        </m:r>
                      </m:e>
                    </m:d>
                    <m:r>
                      <a:rPr lang="en-US" sz="2300" b="0" i="1" smtClean="0">
                        <a:latin typeface="Cambria Math" panose="02040503050406030204" pitchFamily="18" charset="0"/>
                        <a:cs typeface="Vani" panose="020B0502040204020203" pitchFamily="34" charset="0"/>
                      </a:rPr>
                      <m:t>=2335−275=2060</m:t>
                    </m:r>
                  </m:oMath>
                </a14:m>
                <a:endParaRPr lang="en-US" sz="2300" dirty="0" smtClean="0">
                  <a:latin typeface="Vani" panose="020B0502040204020203" pitchFamily="34" charset="0"/>
                  <a:cs typeface="Vani" panose="020B0502040204020203" pitchFamily="34" charset="0"/>
                </a:endParaRPr>
              </a:p>
              <a:p>
                <a:pPr>
                  <a:lnSpc>
                    <a:spcPct val="150000"/>
                  </a:lnSpc>
                </a:pPr>
                <a14:m>
                  <m:oMath xmlns:m="http://schemas.openxmlformats.org/officeDocument/2006/math">
                    <m:r>
                      <a:rPr lang="en-US" sz="2300" b="0" i="1" smtClean="0">
                        <a:latin typeface="Cambria Math" panose="02040503050406030204" pitchFamily="18" charset="0"/>
                        <a:cs typeface="Vani" panose="020B0502040204020203" pitchFamily="34" charset="0"/>
                      </a:rPr>
                      <m:t>𝑃</m:t>
                    </m:r>
                    <m:d>
                      <m:dPr>
                        <m:ctrlPr>
                          <a:rPr lang="en-US" sz="2300" b="0" i="1" smtClean="0">
                            <a:latin typeface="Cambria Math" panose="02040503050406030204" pitchFamily="18" charset="0"/>
                            <a:cs typeface="Vani" panose="020B0502040204020203" pitchFamily="34" charset="0"/>
                          </a:rPr>
                        </m:ctrlPr>
                      </m:dPr>
                      <m:e>
                        <m:r>
                          <a:rPr lang="en-US" sz="2300" b="0" i="1" smtClean="0">
                            <a:latin typeface="Cambria Math" panose="02040503050406030204" pitchFamily="18" charset="0"/>
                            <a:cs typeface="Vani" panose="020B0502040204020203" pitchFamily="34" charset="0"/>
                          </a:rPr>
                          <m:t>𝑁𝑉</m:t>
                        </m:r>
                      </m:e>
                    </m:d>
                    <m:r>
                      <a:rPr lang="en-US" sz="2300" b="0" i="1" smtClean="0">
                        <a:latin typeface="Cambria Math" panose="02040503050406030204" pitchFamily="18" charset="0"/>
                        <a:cs typeface="Vani" panose="020B0502040204020203" pitchFamily="34" charset="0"/>
                      </a:rPr>
                      <m:t>=</m:t>
                    </m:r>
                    <m:f>
                      <m:fPr>
                        <m:ctrlPr>
                          <a:rPr lang="en-US" sz="2300" b="0" i="1" smtClean="0">
                            <a:latin typeface="Cambria Math" panose="02040503050406030204" pitchFamily="18" charset="0"/>
                            <a:cs typeface="Vani" panose="020B0502040204020203" pitchFamily="34" charset="0"/>
                          </a:rPr>
                        </m:ctrlPr>
                      </m:fPr>
                      <m:num>
                        <m:r>
                          <a:rPr lang="en-US" sz="2300" b="0" i="1" smtClean="0">
                            <a:latin typeface="Cambria Math" panose="02040503050406030204" pitchFamily="18" charset="0"/>
                            <a:cs typeface="Vani" panose="020B0502040204020203" pitchFamily="34" charset="0"/>
                          </a:rPr>
                          <m:t>𝑛</m:t>
                        </m:r>
                        <m:d>
                          <m:dPr>
                            <m:ctrlPr>
                              <a:rPr lang="en-US" sz="2300" b="0" i="1" smtClean="0">
                                <a:latin typeface="Cambria Math" panose="02040503050406030204" pitchFamily="18" charset="0"/>
                                <a:cs typeface="Vani" panose="020B0502040204020203" pitchFamily="34" charset="0"/>
                              </a:rPr>
                            </m:ctrlPr>
                          </m:dPr>
                          <m:e>
                            <m:r>
                              <a:rPr lang="en-US" sz="2300" b="0" i="1" smtClean="0">
                                <a:latin typeface="Cambria Math" panose="02040503050406030204" pitchFamily="18" charset="0"/>
                                <a:cs typeface="Vani" panose="020B0502040204020203" pitchFamily="34" charset="0"/>
                              </a:rPr>
                              <m:t>𝑁𝑉</m:t>
                            </m:r>
                          </m:e>
                        </m:d>
                      </m:num>
                      <m:den>
                        <m:r>
                          <a:rPr lang="en-US" sz="2300" b="0" i="1" smtClean="0">
                            <a:latin typeface="Cambria Math" panose="02040503050406030204" pitchFamily="18" charset="0"/>
                            <a:cs typeface="Vani" panose="020B0502040204020203" pitchFamily="34" charset="0"/>
                          </a:rPr>
                          <m:t>𝑛</m:t>
                        </m:r>
                        <m:r>
                          <a:rPr lang="en-US" sz="2300" b="0" i="1" smtClean="0">
                            <a:latin typeface="Cambria Math" panose="02040503050406030204" pitchFamily="18" charset="0"/>
                            <a:cs typeface="Vani" panose="020B0502040204020203" pitchFamily="34" charset="0"/>
                          </a:rPr>
                          <m:t>(</m:t>
                        </m:r>
                        <m:r>
                          <a:rPr lang="en-US" sz="2300" b="0" i="1" smtClean="0">
                            <a:latin typeface="Cambria Math" panose="02040503050406030204" pitchFamily="18" charset="0"/>
                            <a:cs typeface="Vani" panose="020B0502040204020203" pitchFamily="34" charset="0"/>
                          </a:rPr>
                          <m:t>𝑆</m:t>
                        </m:r>
                        <m:r>
                          <a:rPr lang="en-US" sz="2300" b="0" i="1" smtClean="0">
                            <a:latin typeface="Cambria Math" panose="02040503050406030204" pitchFamily="18" charset="0"/>
                            <a:cs typeface="Vani" panose="020B0502040204020203" pitchFamily="34" charset="0"/>
                          </a:rPr>
                          <m:t>)</m:t>
                        </m:r>
                      </m:den>
                    </m:f>
                    <m:r>
                      <a:rPr lang="en-US" sz="2300" b="0" i="1" smtClean="0">
                        <a:latin typeface="Cambria Math" panose="02040503050406030204" pitchFamily="18" charset="0"/>
                        <a:cs typeface="Vani" panose="020B0502040204020203" pitchFamily="34" charset="0"/>
                      </a:rPr>
                      <m:t>=</m:t>
                    </m:r>
                    <m:f>
                      <m:fPr>
                        <m:ctrlPr>
                          <a:rPr lang="en-US" sz="2300" b="0" i="1" smtClean="0">
                            <a:latin typeface="Cambria Math" panose="02040503050406030204" pitchFamily="18" charset="0"/>
                            <a:cs typeface="Vani" panose="020B0502040204020203" pitchFamily="34" charset="0"/>
                          </a:rPr>
                        </m:ctrlPr>
                      </m:fPr>
                      <m:num>
                        <m:r>
                          <a:rPr lang="en-US" sz="2300" b="0" i="1" smtClean="0">
                            <a:latin typeface="Cambria Math" panose="02040503050406030204" pitchFamily="18" charset="0"/>
                            <a:cs typeface="Vani" panose="020B0502040204020203" pitchFamily="34" charset="0"/>
                          </a:rPr>
                          <m:t>2060</m:t>
                        </m:r>
                      </m:num>
                      <m:den>
                        <m:r>
                          <a:rPr lang="en-US" sz="2300" b="0" i="1" smtClean="0">
                            <a:latin typeface="Cambria Math" panose="02040503050406030204" pitchFamily="18" charset="0"/>
                            <a:cs typeface="Vani" panose="020B0502040204020203" pitchFamily="34" charset="0"/>
                          </a:rPr>
                          <m:t>2335</m:t>
                        </m:r>
                      </m:den>
                    </m:f>
                    <m:r>
                      <a:rPr lang="en-US" sz="2300" b="0" i="1" smtClean="0">
                        <a:latin typeface="Cambria Math" panose="02040503050406030204" pitchFamily="18" charset="0"/>
                        <a:cs typeface="Vani" panose="020B0502040204020203" pitchFamily="34" charset="0"/>
                      </a:rPr>
                      <m:t>=</m:t>
                    </m:r>
                    <m:r>
                      <a:rPr lang="en-US" sz="2300" b="0" i="1" smtClean="0">
                        <a:solidFill>
                          <a:srgbClr val="FF0000"/>
                        </a:solidFill>
                        <a:latin typeface="Cambria Math" panose="02040503050406030204" pitchFamily="18" charset="0"/>
                        <a:cs typeface="Vani" panose="020B0502040204020203" pitchFamily="34" charset="0"/>
                      </a:rPr>
                      <m:t>0.8822</m:t>
                    </m:r>
                  </m:oMath>
                </a14:m>
                <a:endParaRPr lang="en-US" sz="2300" dirty="0" smtClean="0">
                  <a:solidFill>
                    <a:srgbClr val="FF0000"/>
                  </a:solidFill>
                  <a:latin typeface="Vani" panose="020B0502040204020203" pitchFamily="34" charset="0"/>
                  <a:cs typeface="Vani" panose="020B0502040204020203" pitchFamily="34" charset="0"/>
                </a:endParaRPr>
              </a:p>
              <a:p>
                <a:pPr>
                  <a:lnSpc>
                    <a:spcPct val="150000"/>
                  </a:lnSpc>
                </a:pPr>
                <a:r>
                  <a:rPr lang="en-US" sz="2300" dirty="0" smtClean="0">
                    <a:latin typeface="Vani" panose="020B0502040204020203" pitchFamily="34" charset="0"/>
                    <a:cs typeface="Vani" panose="020B0502040204020203" pitchFamily="34" charset="0"/>
                  </a:rPr>
                  <a:t> (b.)	If 45 of the motorists were randomly selected without replacement, what is the probability that none of them were victims? Should the 5% guideline be applied?</a:t>
                </a:r>
                <a:endParaRPr lang="en-US" sz="2300" b="0" i="1" dirty="0" smtClean="0">
                  <a:latin typeface="Cambria Math" panose="02040503050406030204" pitchFamily="18" charset="0"/>
                  <a:cs typeface="Vani" panose="020B0502040204020203" pitchFamily="34" charset="0"/>
                </a:endParaRPr>
              </a:p>
              <a:p>
                <a:pPr>
                  <a:lnSpc>
                    <a:spcPct val="150000"/>
                  </a:lnSpc>
                </a:pPr>
                <a:endParaRPr lang="en-US" sz="2300" b="0" i="1" dirty="0" smtClean="0">
                  <a:latin typeface="Cambria Math" panose="02040503050406030204" pitchFamily="18" charset="0"/>
                  <a:cs typeface="Vani" panose="020B0502040204020203" pitchFamily="34" charset="0"/>
                </a:endParaRPr>
              </a:p>
              <a:p>
                <a:pPr marL="0" indent="0">
                  <a:lnSpc>
                    <a:spcPct val="150000"/>
                  </a:lnSpc>
                  <a:buNone/>
                </a:pPr>
                <a:endParaRPr lang="en-US" sz="2300" dirty="0">
                  <a:latin typeface="Vani" panose="020B0502040204020203" pitchFamily="34" charset="0"/>
                  <a:cs typeface="Vani" panose="020B0502040204020203" pitchFamily="34" charset="0"/>
                </a:endParaRPr>
              </a:p>
              <a:p>
                <a:pPr>
                  <a:lnSpc>
                    <a:spcPct val="150000"/>
                  </a:lnSpc>
                </a:pPr>
                <a:endParaRPr lang="en-US" sz="2300" b="0" dirty="0" smtClean="0">
                  <a:latin typeface="Vani" panose="020B0502040204020203" pitchFamily="34" charset="0"/>
                  <a:cs typeface="Vani" panose="020B0502040204020203" pitchFamily="34" charset="0"/>
                </a:endParaRPr>
              </a:p>
            </p:txBody>
          </p:sp>
        </mc:Choice>
        <mc:Fallback xmlns="">
          <p:sp>
            <p:nvSpPr>
              <p:cNvPr id="14" name="Content Placeholder 13"/>
              <p:cNvSpPr>
                <a:spLocks noGrp="1" noRot="1" noChangeAspect="1" noMove="1" noResize="1" noEditPoints="1" noAdjustHandles="1" noChangeArrowheads="1" noChangeShapeType="1" noTextEdit="1"/>
              </p:cNvSpPr>
              <p:nvPr>
                <p:ph idx="1"/>
              </p:nvPr>
            </p:nvSpPr>
            <p:spPr>
              <a:xfrm>
                <a:off x="0" y="1738184"/>
                <a:ext cx="12192000" cy="5119816"/>
              </a:xfrm>
              <a:blipFill rotWithShape="0">
                <a:blip r:embed="rId2"/>
                <a:stretch>
                  <a:fillRect l="-1350" r="-600" b="-1429"/>
                </a:stretch>
              </a:blipFill>
            </p:spPr>
            <p:txBody>
              <a:bodyPr/>
              <a:lstStyle/>
              <a:p>
                <a:r>
                  <a:rPr lang="en-US">
                    <a:noFill/>
                  </a:rPr>
                  <a:t> </a:t>
                </a:r>
              </a:p>
            </p:txBody>
          </p:sp>
        </mc:Fallback>
      </mc:AlternateContent>
    </p:spTree>
    <p:extLst>
      <p:ext uri="{BB962C8B-B14F-4D97-AF65-F5344CB8AC3E}">
        <p14:creationId xmlns:p14="http://schemas.microsoft.com/office/powerpoint/2010/main" val="16971390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0" y="295562"/>
            <a:ext cx="12192000" cy="1008247"/>
          </a:xfrm>
        </p:spPr>
        <p:txBody>
          <a:bodyPr/>
          <a:lstStyle/>
          <a:p>
            <a:r>
              <a:rPr lang="en-US" dirty="0" smtClean="0"/>
              <a:t>Questions and Answers							9-2.</a:t>
            </a:r>
            <a:endParaRPr dirty="0"/>
          </a:p>
        </p:txBody>
      </p:sp>
      <mc:AlternateContent xmlns:mc="http://schemas.openxmlformats.org/markup-compatibility/2006" xmlns:a14="http://schemas.microsoft.com/office/drawing/2010/main">
        <mc:Choice Requires="a14">
          <p:sp>
            <p:nvSpPr>
              <p:cNvPr id="14" name="Content Placeholder 13"/>
              <p:cNvSpPr>
                <a:spLocks noGrp="1"/>
              </p:cNvSpPr>
              <p:nvPr>
                <p:ph idx="1"/>
              </p:nvPr>
            </p:nvSpPr>
            <p:spPr>
              <a:xfrm>
                <a:off x="0" y="1738184"/>
                <a:ext cx="12192000" cy="5119816"/>
              </a:xfrm>
            </p:spPr>
            <p:txBody>
              <a:bodyPr>
                <a:normAutofit fontScale="92500"/>
              </a:bodyPr>
              <a:lstStyle/>
              <a:p>
                <a:pPr>
                  <a:lnSpc>
                    <a:spcPct val="150000"/>
                  </a:lnSpc>
                </a:pPr>
                <a:r>
                  <a:rPr lang="en-US" sz="2300" dirty="0" smtClean="0">
                    <a:latin typeface="Vani" panose="020B0502040204020203" pitchFamily="34" charset="0"/>
                    <a:cs typeface="Vani" panose="020B0502040204020203" pitchFamily="34" charset="0"/>
                  </a:rPr>
                  <a:t>The 5% guideline for cumbersome calculations states that events without replacement (dependent events) should be treated as independent events (with replacement) if the sample size is no more than 5% of the population.</a:t>
                </a:r>
              </a:p>
              <a:p>
                <a:pPr>
                  <a:lnSpc>
                    <a:spcPct val="150000"/>
                  </a:lnSpc>
                </a:pPr>
                <a:r>
                  <a:rPr lang="en-US" sz="2300" dirty="0" smtClean="0">
                    <a:latin typeface="Vani" panose="020B0502040204020203" pitchFamily="34" charset="0"/>
                    <a:cs typeface="Vani" panose="020B0502040204020203" pitchFamily="34" charset="0"/>
                  </a:rPr>
                  <a:t>Selecting 45 non-victims motorists without replacement is really cumbersome! </a:t>
                </a:r>
                <a14:m>
                  <m:oMath xmlns:m="http://schemas.openxmlformats.org/officeDocument/2006/math">
                    <m:d>
                      <m:dPr>
                        <m:ctrlPr>
                          <a:rPr lang="en-US" sz="2300" b="0" i="1" smtClean="0">
                            <a:latin typeface="Cambria Math" panose="02040503050406030204" pitchFamily="18" charset="0"/>
                            <a:cs typeface="Vani" panose="020B0502040204020203" pitchFamily="34" charset="0"/>
                          </a:rPr>
                        </m:ctrlPr>
                      </m:dPr>
                      <m:e>
                        <m:f>
                          <m:fPr>
                            <m:ctrlPr>
                              <a:rPr lang="en-US" sz="2300" b="0" i="1" smtClean="0">
                                <a:latin typeface="Cambria Math" panose="02040503050406030204" pitchFamily="18" charset="0"/>
                                <a:cs typeface="Vani" panose="020B0502040204020203" pitchFamily="34" charset="0"/>
                              </a:rPr>
                            </m:ctrlPr>
                          </m:fPr>
                          <m:num>
                            <m:r>
                              <a:rPr lang="en-US" sz="2300" b="0" i="1" smtClean="0">
                                <a:latin typeface="Cambria Math" panose="02040503050406030204" pitchFamily="18" charset="0"/>
                                <a:cs typeface="Vani" panose="020B0502040204020203" pitchFamily="34" charset="0"/>
                              </a:rPr>
                              <m:t>2060</m:t>
                            </m:r>
                          </m:num>
                          <m:den>
                            <m:r>
                              <a:rPr lang="en-US" sz="2300" b="0" i="1" smtClean="0">
                                <a:latin typeface="Cambria Math" panose="02040503050406030204" pitchFamily="18" charset="0"/>
                                <a:cs typeface="Vani" panose="020B0502040204020203" pitchFamily="34" charset="0"/>
                              </a:rPr>
                              <m:t>2335</m:t>
                            </m:r>
                          </m:den>
                        </m:f>
                        <m:r>
                          <a:rPr lang="en-US" sz="2300" b="0" i="1" smtClean="0">
                            <a:latin typeface="Cambria Math" panose="02040503050406030204" pitchFamily="18" charset="0"/>
                            <a:cs typeface="Vani" panose="020B0502040204020203" pitchFamily="34" charset="0"/>
                          </a:rPr>
                          <m:t>∗</m:t>
                        </m:r>
                        <m:f>
                          <m:fPr>
                            <m:ctrlPr>
                              <a:rPr lang="en-US" sz="2300" b="0" i="1" smtClean="0">
                                <a:latin typeface="Cambria Math" panose="02040503050406030204" pitchFamily="18" charset="0"/>
                                <a:cs typeface="Vani" panose="020B0502040204020203" pitchFamily="34" charset="0"/>
                              </a:rPr>
                            </m:ctrlPr>
                          </m:fPr>
                          <m:num>
                            <m:r>
                              <a:rPr lang="en-US" sz="2300" b="0" i="1" smtClean="0">
                                <a:latin typeface="Cambria Math" panose="02040503050406030204" pitchFamily="18" charset="0"/>
                                <a:cs typeface="Vani" panose="020B0502040204020203" pitchFamily="34" charset="0"/>
                              </a:rPr>
                              <m:t>2059</m:t>
                            </m:r>
                          </m:num>
                          <m:den>
                            <m:r>
                              <a:rPr lang="en-US" sz="2300" b="0" i="1" smtClean="0">
                                <a:latin typeface="Cambria Math" panose="02040503050406030204" pitchFamily="18" charset="0"/>
                                <a:cs typeface="Vani" panose="020B0502040204020203" pitchFamily="34" charset="0"/>
                              </a:rPr>
                              <m:t>2334</m:t>
                            </m:r>
                          </m:den>
                        </m:f>
                        <m:r>
                          <a:rPr lang="en-US" sz="2300" b="0" i="1" smtClean="0">
                            <a:latin typeface="Cambria Math" panose="02040503050406030204" pitchFamily="18" charset="0"/>
                            <a:cs typeface="Vani" panose="020B0502040204020203" pitchFamily="34" charset="0"/>
                          </a:rPr>
                          <m:t>∗</m:t>
                        </m:r>
                        <m:f>
                          <m:fPr>
                            <m:ctrlPr>
                              <a:rPr lang="en-US" sz="2300" b="0" i="1" smtClean="0">
                                <a:latin typeface="Cambria Math" panose="02040503050406030204" pitchFamily="18" charset="0"/>
                                <a:cs typeface="Vani" panose="020B0502040204020203" pitchFamily="34" charset="0"/>
                              </a:rPr>
                            </m:ctrlPr>
                          </m:fPr>
                          <m:num>
                            <m:r>
                              <a:rPr lang="en-US" sz="2300" b="0" i="1" smtClean="0">
                                <a:latin typeface="Cambria Math" panose="02040503050406030204" pitchFamily="18" charset="0"/>
                                <a:cs typeface="Vani" panose="020B0502040204020203" pitchFamily="34" charset="0"/>
                              </a:rPr>
                              <m:t>2058</m:t>
                            </m:r>
                          </m:num>
                          <m:den>
                            <m:r>
                              <a:rPr lang="en-US" sz="2300" b="0" i="1" smtClean="0">
                                <a:latin typeface="Cambria Math" panose="02040503050406030204" pitchFamily="18" charset="0"/>
                                <a:cs typeface="Vani" panose="020B0502040204020203" pitchFamily="34" charset="0"/>
                              </a:rPr>
                              <m:t>2333</m:t>
                            </m:r>
                          </m:den>
                        </m:f>
                        <m:r>
                          <a:rPr lang="en-US" sz="2300" b="0" i="1" smtClean="0">
                            <a:latin typeface="Cambria Math" panose="02040503050406030204" pitchFamily="18" charset="0"/>
                            <a:cs typeface="Vani" panose="020B0502040204020203" pitchFamily="34" charset="0"/>
                          </a:rPr>
                          <m:t>∗…</m:t>
                        </m:r>
                      </m:e>
                    </m:d>
                  </m:oMath>
                </a14:m>
                <a:endParaRPr lang="en-US" sz="2300" dirty="0" smtClean="0">
                  <a:latin typeface="Vani" panose="020B0502040204020203" pitchFamily="34" charset="0"/>
                  <a:cs typeface="Vani" panose="020B0502040204020203" pitchFamily="34" charset="0"/>
                </a:endParaRPr>
              </a:p>
              <a:p>
                <a:pPr>
                  <a:lnSpc>
                    <a:spcPct val="150000"/>
                  </a:lnSpc>
                </a:pPr>
                <a:r>
                  <a:rPr lang="en-US" sz="2300" dirty="0" smtClean="0">
                    <a:latin typeface="Vani" panose="020B0502040204020203" pitchFamily="34" charset="0"/>
                    <a:cs typeface="Vani" panose="020B0502040204020203" pitchFamily="34" charset="0"/>
                  </a:rPr>
                  <a:t>Let us check if 45 is within 5% of 2335 to see if the 5% guideline will apply in this case</a:t>
                </a:r>
              </a:p>
              <a:p>
                <a:pPr>
                  <a:lnSpc>
                    <a:spcPct val="150000"/>
                  </a:lnSpc>
                </a:pPr>
                <a14:m>
                  <m:oMath xmlns:m="http://schemas.openxmlformats.org/officeDocument/2006/math">
                    <m:r>
                      <a:rPr lang="en-US" sz="2300" b="0" i="1" smtClean="0">
                        <a:latin typeface="Cambria Math" panose="02040503050406030204" pitchFamily="18" charset="0"/>
                        <a:cs typeface="Vani" panose="020B0502040204020203" pitchFamily="34" charset="0"/>
                      </a:rPr>
                      <m:t>𝑆𝑎𝑚𝑝𝑙𝑒</m:t>
                    </m:r>
                    <m:r>
                      <a:rPr lang="en-US" sz="2300" b="0" i="1" smtClean="0">
                        <a:latin typeface="Cambria Math" panose="02040503050406030204" pitchFamily="18" charset="0"/>
                        <a:cs typeface="Vani" panose="020B0502040204020203" pitchFamily="34" charset="0"/>
                      </a:rPr>
                      <m:t> </m:t>
                    </m:r>
                    <m:r>
                      <a:rPr lang="en-US" sz="2300" b="0" i="1" smtClean="0">
                        <a:latin typeface="Cambria Math" panose="02040503050406030204" pitchFamily="18" charset="0"/>
                        <a:cs typeface="Vani" panose="020B0502040204020203" pitchFamily="34" charset="0"/>
                      </a:rPr>
                      <m:t>𝑠𝑖𝑧𝑒</m:t>
                    </m:r>
                    <m:r>
                      <a:rPr lang="en-US" sz="2300" b="0" i="1" smtClean="0">
                        <a:latin typeface="Cambria Math" panose="02040503050406030204" pitchFamily="18" charset="0"/>
                        <a:cs typeface="Vani" panose="020B0502040204020203" pitchFamily="34" charset="0"/>
                      </a:rPr>
                      <m:t>, </m:t>
                    </m:r>
                    <m:r>
                      <a:rPr lang="en-US" sz="2300" b="0" i="1" smtClean="0">
                        <a:latin typeface="Cambria Math" panose="02040503050406030204" pitchFamily="18" charset="0"/>
                        <a:cs typeface="Vani" panose="020B0502040204020203" pitchFamily="34" charset="0"/>
                      </a:rPr>
                      <m:t>𝑛</m:t>
                    </m:r>
                    <m:r>
                      <a:rPr lang="en-US" sz="2300" b="0" i="1" smtClean="0">
                        <a:latin typeface="Cambria Math" panose="02040503050406030204" pitchFamily="18" charset="0"/>
                        <a:cs typeface="Vani" panose="020B0502040204020203" pitchFamily="34" charset="0"/>
                      </a:rPr>
                      <m:t>=45                            </m:t>
                    </m:r>
                    <m:r>
                      <a:rPr lang="en-US" sz="2300" b="0" i="1" smtClean="0">
                        <a:latin typeface="Cambria Math" panose="02040503050406030204" pitchFamily="18" charset="0"/>
                        <a:cs typeface="Vani" panose="020B0502040204020203" pitchFamily="34" charset="0"/>
                      </a:rPr>
                      <m:t>𝑃𝑜𝑝𝑢𝑙𝑎𝑡𝑖𝑜𝑛</m:t>
                    </m:r>
                    <m:r>
                      <a:rPr lang="en-US" sz="2300" b="0" i="1" smtClean="0">
                        <a:latin typeface="Cambria Math" panose="02040503050406030204" pitchFamily="18" charset="0"/>
                        <a:cs typeface="Vani" panose="020B0502040204020203" pitchFamily="34" charset="0"/>
                      </a:rPr>
                      <m:t> </m:t>
                    </m:r>
                    <m:r>
                      <a:rPr lang="en-US" sz="2300" b="0" i="1" smtClean="0">
                        <a:latin typeface="Cambria Math" panose="02040503050406030204" pitchFamily="18" charset="0"/>
                        <a:cs typeface="Vani" panose="020B0502040204020203" pitchFamily="34" charset="0"/>
                      </a:rPr>
                      <m:t>𝑠𝑖𝑧𝑒</m:t>
                    </m:r>
                    <m:r>
                      <a:rPr lang="en-US" sz="2300" b="0" i="1" smtClean="0">
                        <a:latin typeface="Cambria Math" panose="02040503050406030204" pitchFamily="18" charset="0"/>
                        <a:cs typeface="Vani" panose="020B0502040204020203" pitchFamily="34" charset="0"/>
                      </a:rPr>
                      <m:t>, </m:t>
                    </m:r>
                    <m:r>
                      <a:rPr lang="en-US" sz="2300" b="0" i="1" smtClean="0">
                        <a:latin typeface="Cambria Math" panose="02040503050406030204" pitchFamily="18" charset="0"/>
                        <a:cs typeface="Vani" panose="020B0502040204020203" pitchFamily="34" charset="0"/>
                      </a:rPr>
                      <m:t>𝑁</m:t>
                    </m:r>
                    <m:r>
                      <a:rPr lang="en-US" sz="2300" b="0" i="1" smtClean="0">
                        <a:latin typeface="Cambria Math" panose="02040503050406030204" pitchFamily="18" charset="0"/>
                        <a:cs typeface="Vani" panose="020B0502040204020203" pitchFamily="34" charset="0"/>
                      </a:rPr>
                      <m:t>=2335            </m:t>
                    </m:r>
                  </m:oMath>
                </a14:m>
                <a:endParaRPr lang="en-US" sz="2300" dirty="0" smtClean="0">
                  <a:latin typeface="Vani" panose="020B0502040204020203" pitchFamily="34" charset="0"/>
                  <a:cs typeface="Vani" panose="020B0502040204020203" pitchFamily="34" charset="0"/>
                </a:endParaRPr>
              </a:p>
              <a:p>
                <a:pPr>
                  <a:lnSpc>
                    <a:spcPct val="150000"/>
                  </a:lnSpc>
                </a:pPr>
                <a14:m>
                  <m:oMath xmlns:m="http://schemas.openxmlformats.org/officeDocument/2006/math">
                    <m:r>
                      <a:rPr lang="en-US" sz="2300" b="0" i="1" smtClean="0">
                        <a:latin typeface="Cambria Math" panose="02040503050406030204" pitchFamily="18" charset="0"/>
                        <a:cs typeface="Vani" panose="020B0502040204020203" pitchFamily="34" charset="0"/>
                      </a:rPr>
                      <m:t>5% </m:t>
                    </m:r>
                    <m:r>
                      <a:rPr lang="en-US" sz="2300" b="0" i="1" smtClean="0">
                        <a:latin typeface="Cambria Math" panose="02040503050406030204" pitchFamily="18" charset="0"/>
                        <a:cs typeface="Vani" panose="020B0502040204020203" pitchFamily="34" charset="0"/>
                      </a:rPr>
                      <m:t>𝑜𝑓</m:t>
                    </m:r>
                    <m:r>
                      <a:rPr lang="en-US" sz="2300" b="0" i="1" smtClean="0">
                        <a:latin typeface="Cambria Math" panose="02040503050406030204" pitchFamily="18" charset="0"/>
                        <a:cs typeface="Vani" panose="020B0502040204020203" pitchFamily="34" charset="0"/>
                      </a:rPr>
                      <m:t> 2335=0.05∗2335=116.75</m:t>
                    </m:r>
                  </m:oMath>
                </a14:m>
                <a:endParaRPr lang="en-US" sz="2300" dirty="0" smtClean="0">
                  <a:latin typeface="Vani" panose="020B0502040204020203" pitchFamily="34" charset="0"/>
                  <a:cs typeface="Vani" panose="020B0502040204020203" pitchFamily="34" charset="0"/>
                </a:endParaRPr>
              </a:p>
              <a:p>
                <a:pPr>
                  <a:lnSpc>
                    <a:spcPct val="150000"/>
                  </a:lnSpc>
                </a:pPr>
                <a14:m>
                  <m:oMath xmlns:m="http://schemas.openxmlformats.org/officeDocument/2006/math">
                    <m:r>
                      <a:rPr lang="en-US" sz="2300" b="0" i="1" smtClean="0">
                        <a:latin typeface="Cambria Math" panose="02040503050406030204" pitchFamily="18" charset="0"/>
                        <a:cs typeface="Vani" panose="020B0502040204020203" pitchFamily="34" charset="0"/>
                      </a:rPr>
                      <m:t>45</m:t>
                    </m:r>
                    <m:r>
                      <a:rPr lang="en-US" sz="2300" b="0" i="1" smtClean="0">
                        <a:latin typeface="Cambria Math" panose="02040503050406030204" pitchFamily="18" charset="0"/>
                        <a:ea typeface="Cambria Math" panose="02040503050406030204" pitchFamily="18" charset="0"/>
                        <a:cs typeface="Vani" panose="020B0502040204020203" pitchFamily="34" charset="0"/>
                      </a:rPr>
                      <m:t>&lt;116.75 </m:t>
                    </m:r>
                    <m:r>
                      <a:rPr lang="en-US" sz="2300" b="0" i="1" smtClean="0">
                        <a:latin typeface="Cambria Math" panose="02040503050406030204" pitchFamily="18" charset="0"/>
                        <a:ea typeface="Cambria Math" panose="02040503050406030204" pitchFamily="18" charset="0"/>
                        <a:cs typeface="Vani" panose="020B0502040204020203" pitchFamily="34" charset="0"/>
                      </a:rPr>
                      <m:t>𝑠𝑜</m:t>
                    </m:r>
                    <m:r>
                      <a:rPr lang="en-US" sz="2300" b="0" i="1" smtClean="0">
                        <a:latin typeface="Cambria Math" panose="02040503050406030204" pitchFamily="18" charset="0"/>
                        <a:ea typeface="Cambria Math" panose="02040503050406030204" pitchFamily="18" charset="0"/>
                        <a:cs typeface="Vani" panose="020B0502040204020203" pitchFamily="34" charset="0"/>
                      </a:rPr>
                      <m:t> </m:t>
                    </m:r>
                    <m:r>
                      <a:rPr lang="en-US" sz="2300" b="0" i="1" smtClean="0">
                        <a:latin typeface="Cambria Math" panose="02040503050406030204" pitchFamily="18" charset="0"/>
                        <a:ea typeface="Cambria Math" panose="02040503050406030204" pitchFamily="18" charset="0"/>
                        <a:cs typeface="Vani" panose="020B0502040204020203" pitchFamily="34" charset="0"/>
                      </a:rPr>
                      <m:t>𝑡h𝑒</m:t>
                    </m:r>
                    <m:r>
                      <a:rPr lang="en-US" sz="2300" b="0" i="1" smtClean="0">
                        <a:latin typeface="Cambria Math" panose="02040503050406030204" pitchFamily="18" charset="0"/>
                        <a:ea typeface="Cambria Math" panose="02040503050406030204" pitchFamily="18" charset="0"/>
                        <a:cs typeface="Vani" panose="020B0502040204020203" pitchFamily="34" charset="0"/>
                      </a:rPr>
                      <m:t> 5% </m:t>
                    </m:r>
                    <m:r>
                      <a:rPr lang="en-US" sz="2300" b="0" i="1" smtClean="0">
                        <a:solidFill>
                          <a:srgbClr val="FF0000"/>
                        </a:solidFill>
                        <a:latin typeface="Cambria Math" panose="02040503050406030204" pitchFamily="18" charset="0"/>
                        <a:ea typeface="Cambria Math" panose="02040503050406030204" pitchFamily="18" charset="0"/>
                        <a:cs typeface="Vani" panose="020B0502040204020203" pitchFamily="34" charset="0"/>
                      </a:rPr>
                      <m:t>𝑤𝑖𝑙𝑙</m:t>
                    </m:r>
                    <m:r>
                      <a:rPr lang="en-US" sz="2300" b="0" i="1" smtClean="0">
                        <a:solidFill>
                          <a:srgbClr val="FF0000"/>
                        </a:solidFill>
                        <a:latin typeface="Cambria Math" panose="02040503050406030204" pitchFamily="18" charset="0"/>
                        <a:ea typeface="Cambria Math" panose="02040503050406030204" pitchFamily="18" charset="0"/>
                        <a:cs typeface="Vani" panose="020B0502040204020203" pitchFamily="34" charset="0"/>
                      </a:rPr>
                      <m:t> </m:t>
                    </m:r>
                    <m:r>
                      <a:rPr lang="en-US" sz="2300" b="0" i="1" smtClean="0">
                        <a:solidFill>
                          <a:srgbClr val="FF0000"/>
                        </a:solidFill>
                        <a:latin typeface="Cambria Math" panose="02040503050406030204" pitchFamily="18" charset="0"/>
                        <a:ea typeface="Cambria Math" panose="02040503050406030204" pitchFamily="18" charset="0"/>
                        <a:cs typeface="Vani" panose="020B0502040204020203" pitchFamily="34" charset="0"/>
                      </a:rPr>
                      <m:t>𝑎𝑝𝑝𝑙𝑦</m:t>
                    </m:r>
                    <m:r>
                      <a:rPr lang="en-US" sz="2300" b="0" i="1" smtClean="0">
                        <a:solidFill>
                          <a:srgbClr val="FF0000"/>
                        </a:solidFill>
                        <a:latin typeface="Cambria Math" panose="02040503050406030204" pitchFamily="18" charset="0"/>
                        <a:ea typeface="Cambria Math" panose="02040503050406030204" pitchFamily="18" charset="0"/>
                        <a:cs typeface="Vani" panose="020B0502040204020203" pitchFamily="34" charset="0"/>
                      </a:rPr>
                      <m:t> </m:t>
                    </m:r>
                    <m:r>
                      <a:rPr lang="en-US" sz="2300" b="0" i="1" smtClean="0">
                        <a:solidFill>
                          <a:srgbClr val="FF0000"/>
                        </a:solidFill>
                        <a:latin typeface="Cambria Math" panose="02040503050406030204" pitchFamily="18" charset="0"/>
                        <a:ea typeface="Cambria Math" panose="02040503050406030204" pitchFamily="18" charset="0"/>
                        <a:cs typeface="Vani" panose="020B0502040204020203" pitchFamily="34" charset="0"/>
                      </a:rPr>
                      <m:t>𝑖𝑛</m:t>
                    </m:r>
                    <m:r>
                      <a:rPr lang="en-US" sz="2300" b="0" i="1" smtClean="0">
                        <a:solidFill>
                          <a:srgbClr val="FF0000"/>
                        </a:solidFill>
                        <a:latin typeface="Cambria Math" panose="02040503050406030204" pitchFamily="18" charset="0"/>
                        <a:ea typeface="Cambria Math" panose="02040503050406030204" pitchFamily="18" charset="0"/>
                        <a:cs typeface="Vani" panose="020B0502040204020203" pitchFamily="34" charset="0"/>
                      </a:rPr>
                      <m:t> </m:t>
                    </m:r>
                    <m:r>
                      <a:rPr lang="en-US" sz="2300" b="0" i="1" smtClean="0">
                        <a:solidFill>
                          <a:srgbClr val="FF0000"/>
                        </a:solidFill>
                        <a:latin typeface="Cambria Math" panose="02040503050406030204" pitchFamily="18" charset="0"/>
                        <a:ea typeface="Cambria Math" panose="02040503050406030204" pitchFamily="18" charset="0"/>
                        <a:cs typeface="Vani" panose="020B0502040204020203" pitchFamily="34" charset="0"/>
                      </a:rPr>
                      <m:t>𝑡h𝑖𝑠</m:t>
                    </m:r>
                    <m:r>
                      <a:rPr lang="en-US" sz="2300" b="0" i="1" smtClean="0">
                        <a:solidFill>
                          <a:srgbClr val="FF0000"/>
                        </a:solidFill>
                        <a:latin typeface="Cambria Math" panose="02040503050406030204" pitchFamily="18" charset="0"/>
                        <a:ea typeface="Cambria Math" panose="02040503050406030204" pitchFamily="18" charset="0"/>
                        <a:cs typeface="Vani" panose="020B0502040204020203" pitchFamily="34" charset="0"/>
                      </a:rPr>
                      <m:t> </m:t>
                    </m:r>
                    <m:r>
                      <a:rPr lang="en-US" sz="2300" b="0" i="1" smtClean="0">
                        <a:solidFill>
                          <a:srgbClr val="FF0000"/>
                        </a:solidFill>
                        <a:latin typeface="Cambria Math" panose="02040503050406030204" pitchFamily="18" charset="0"/>
                        <a:ea typeface="Cambria Math" panose="02040503050406030204" pitchFamily="18" charset="0"/>
                        <a:cs typeface="Vani" panose="020B0502040204020203" pitchFamily="34" charset="0"/>
                      </a:rPr>
                      <m:t>𝑐𝑎𝑠𝑒</m:t>
                    </m:r>
                  </m:oMath>
                </a14:m>
                <a:endParaRPr lang="en-US" sz="2300" dirty="0" smtClean="0">
                  <a:latin typeface="Vani" panose="020B0502040204020203" pitchFamily="34" charset="0"/>
                  <a:cs typeface="Vani" panose="020B0502040204020203" pitchFamily="34" charset="0"/>
                </a:endParaRPr>
              </a:p>
              <a:p>
                <a:pPr>
                  <a:lnSpc>
                    <a:spcPct val="150000"/>
                  </a:lnSpc>
                </a:pPr>
                <a:endParaRPr lang="en-US" sz="2500" b="0" dirty="0" smtClean="0">
                  <a:latin typeface="Vani" panose="020B0502040204020203" pitchFamily="34" charset="0"/>
                  <a:cs typeface="Vani" panose="020B0502040204020203" pitchFamily="34" charset="0"/>
                </a:endParaRPr>
              </a:p>
              <a:p>
                <a:pPr>
                  <a:lnSpc>
                    <a:spcPct val="150000"/>
                  </a:lnSpc>
                </a:pPr>
                <a:endParaRPr lang="en-US" sz="2500" dirty="0">
                  <a:latin typeface="Vani" panose="020B0502040204020203" pitchFamily="34" charset="0"/>
                  <a:cs typeface="Vani" panose="020B0502040204020203" pitchFamily="34" charset="0"/>
                </a:endParaRPr>
              </a:p>
              <a:p>
                <a:pPr>
                  <a:lnSpc>
                    <a:spcPct val="150000"/>
                  </a:lnSpc>
                </a:pPr>
                <a:endParaRPr lang="en-US" sz="2500" b="0" dirty="0" smtClean="0">
                  <a:latin typeface="Vani" panose="020B0502040204020203" pitchFamily="34" charset="0"/>
                  <a:cs typeface="Vani" panose="020B0502040204020203" pitchFamily="34" charset="0"/>
                </a:endParaRPr>
              </a:p>
            </p:txBody>
          </p:sp>
        </mc:Choice>
        <mc:Fallback xmlns="">
          <p:sp>
            <p:nvSpPr>
              <p:cNvPr id="14" name="Content Placeholder 13"/>
              <p:cNvSpPr>
                <a:spLocks noGrp="1" noRot="1" noChangeAspect="1" noMove="1" noResize="1" noEditPoints="1" noAdjustHandles="1" noChangeArrowheads="1" noChangeShapeType="1" noTextEdit="1"/>
              </p:cNvSpPr>
              <p:nvPr>
                <p:ph idx="1"/>
              </p:nvPr>
            </p:nvSpPr>
            <p:spPr>
              <a:xfrm>
                <a:off x="0" y="1738184"/>
                <a:ext cx="12192000" cy="5119816"/>
              </a:xfrm>
              <a:blipFill rotWithShape="0">
                <a:blip r:embed="rId2"/>
                <a:stretch>
                  <a:fillRect l="-1250"/>
                </a:stretch>
              </a:blipFill>
            </p:spPr>
            <p:txBody>
              <a:bodyPr/>
              <a:lstStyle/>
              <a:p>
                <a:r>
                  <a:rPr lang="en-US">
                    <a:noFill/>
                  </a:rPr>
                  <a:t> </a:t>
                </a:r>
              </a:p>
            </p:txBody>
          </p:sp>
        </mc:Fallback>
      </mc:AlternateContent>
    </p:spTree>
    <p:extLst>
      <p:ext uri="{BB962C8B-B14F-4D97-AF65-F5344CB8AC3E}">
        <p14:creationId xmlns:p14="http://schemas.microsoft.com/office/powerpoint/2010/main" val="15957056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0" y="295562"/>
            <a:ext cx="12192000" cy="1008247"/>
          </a:xfrm>
        </p:spPr>
        <p:txBody>
          <a:bodyPr/>
          <a:lstStyle/>
          <a:p>
            <a:r>
              <a:rPr lang="en-US" dirty="0" smtClean="0"/>
              <a:t>Questions and Answers							9-3.</a:t>
            </a:r>
            <a:endParaRPr dirty="0"/>
          </a:p>
        </p:txBody>
      </p:sp>
      <mc:AlternateContent xmlns:mc="http://schemas.openxmlformats.org/markup-compatibility/2006" xmlns:a14="http://schemas.microsoft.com/office/drawing/2010/main">
        <mc:Choice Requires="a14">
          <p:sp>
            <p:nvSpPr>
              <p:cNvPr id="14" name="Content Placeholder 13"/>
              <p:cNvSpPr>
                <a:spLocks noGrp="1"/>
              </p:cNvSpPr>
              <p:nvPr>
                <p:ph idx="1"/>
              </p:nvPr>
            </p:nvSpPr>
            <p:spPr>
              <a:xfrm>
                <a:off x="0" y="1738184"/>
                <a:ext cx="12192000" cy="5119816"/>
              </a:xfrm>
            </p:spPr>
            <p:txBody>
              <a:bodyPr>
                <a:normAutofit/>
              </a:bodyPr>
              <a:lstStyle/>
              <a:p>
                <a:pPr>
                  <a:lnSpc>
                    <a:spcPct val="150000"/>
                  </a:lnSpc>
                </a:pPr>
                <a:r>
                  <a:rPr lang="en-US" sz="2300" b="0" dirty="0" smtClean="0">
                    <a:latin typeface="Vani" panose="020B0502040204020203" pitchFamily="34" charset="0"/>
                    <a:cs typeface="Vani" panose="020B0502040204020203" pitchFamily="34" charset="0"/>
                  </a:rPr>
                  <a:t>This means that we shall treat the event as an independent event.</a:t>
                </a:r>
              </a:p>
              <a:p>
                <a:pPr>
                  <a:lnSpc>
                    <a:spcPct val="150000"/>
                  </a:lnSpc>
                </a:pPr>
                <a:r>
                  <a:rPr lang="en-US" sz="2300" dirty="0" smtClean="0">
                    <a:latin typeface="Vani" panose="020B0502040204020203" pitchFamily="34" charset="0"/>
                    <a:cs typeface="Vani" panose="020B0502040204020203" pitchFamily="34" charset="0"/>
                  </a:rPr>
                  <a:t>Selecting 45 non-victims motorists with replacement gives:</a:t>
                </a:r>
              </a:p>
              <a:p>
                <a:pPr>
                  <a:lnSpc>
                    <a:spcPct val="150000"/>
                  </a:lnSpc>
                </a:pPr>
                <a14:m>
                  <m:oMath xmlns:m="http://schemas.openxmlformats.org/officeDocument/2006/math">
                    <m:r>
                      <a:rPr lang="en-US" sz="2300" i="1">
                        <a:latin typeface="Cambria Math" panose="02040503050406030204" pitchFamily="18" charset="0"/>
                        <a:cs typeface="Vani" panose="020B0502040204020203" pitchFamily="34" charset="0"/>
                      </a:rPr>
                      <m:t>𝑃</m:t>
                    </m:r>
                    <m:d>
                      <m:dPr>
                        <m:ctrlPr>
                          <a:rPr lang="en-US" sz="2300" i="1">
                            <a:latin typeface="Cambria Math" panose="02040503050406030204" pitchFamily="18" charset="0"/>
                            <a:cs typeface="Vani" panose="020B0502040204020203" pitchFamily="34" charset="0"/>
                          </a:rPr>
                        </m:ctrlPr>
                      </m:dPr>
                      <m:e>
                        <m:r>
                          <a:rPr lang="en-US" sz="2300" i="1">
                            <a:latin typeface="Cambria Math" panose="02040503050406030204" pitchFamily="18" charset="0"/>
                            <a:cs typeface="Vani" panose="020B0502040204020203" pitchFamily="34" charset="0"/>
                          </a:rPr>
                          <m:t>𝑁𝑉</m:t>
                        </m:r>
                      </m:e>
                    </m:d>
                    <m:r>
                      <a:rPr lang="en-US" sz="2300" i="1">
                        <a:latin typeface="Cambria Math" panose="02040503050406030204" pitchFamily="18" charset="0"/>
                        <a:cs typeface="Vani" panose="020B0502040204020203" pitchFamily="34" charset="0"/>
                      </a:rPr>
                      <m:t>=</m:t>
                    </m:r>
                    <m:f>
                      <m:fPr>
                        <m:ctrlPr>
                          <a:rPr lang="en-US" sz="2300" i="1">
                            <a:latin typeface="Cambria Math" panose="02040503050406030204" pitchFamily="18" charset="0"/>
                            <a:cs typeface="Vani" panose="020B0502040204020203" pitchFamily="34" charset="0"/>
                          </a:rPr>
                        </m:ctrlPr>
                      </m:fPr>
                      <m:num>
                        <m:r>
                          <a:rPr lang="en-US" sz="2300" i="1">
                            <a:latin typeface="Cambria Math" panose="02040503050406030204" pitchFamily="18" charset="0"/>
                            <a:cs typeface="Vani" panose="020B0502040204020203" pitchFamily="34" charset="0"/>
                          </a:rPr>
                          <m:t>𝑛</m:t>
                        </m:r>
                        <m:d>
                          <m:dPr>
                            <m:ctrlPr>
                              <a:rPr lang="en-US" sz="2300" i="1">
                                <a:latin typeface="Cambria Math" panose="02040503050406030204" pitchFamily="18" charset="0"/>
                                <a:cs typeface="Vani" panose="020B0502040204020203" pitchFamily="34" charset="0"/>
                              </a:rPr>
                            </m:ctrlPr>
                          </m:dPr>
                          <m:e>
                            <m:r>
                              <a:rPr lang="en-US" sz="2300" i="1">
                                <a:latin typeface="Cambria Math" panose="02040503050406030204" pitchFamily="18" charset="0"/>
                                <a:cs typeface="Vani" panose="020B0502040204020203" pitchFamily="34" charset="0"/>
                              </a:rPr>
                              <m:t>𝑁𝑉</m:t>
                            </m:r>
                          </m:e>
                        </m:d>
                      </m:num>
                      <m:den>
                        <m:r>
                          <a:rPr lang="en-US" sz="2300" i="1">
                            <a:latin typeface="Cambria Math" panose="02040503050406030204" pitchFamily="18" charset="0"/>
                            <a:cs typeface="Vani" panose="020B0502040204020203" pitchFamily="34" charset="0"/>
                          </a:rPr>
                          <m:t>𝑛</m:t>
                        </m:r>
                        <m:r>
                          <a:rPr lang="en-US" sz="2300" i="1">
                            <a:latin typeface="Cambria Math" panose="02040503050406030204" pitchFamily="18" charset="0"/>
                            <a:cs typeface="Vani" panose="020B0502040204020203" pitchFamily="34" charset="0"/>
                          </a:rPr>
                          <m:t>(</m:t>
                        </m:r>
                        <m:r>
                          <a:rPr lang="en-US" sz="2300" i="1">
                            <a:latin typeface="Cambria Math" panose="02040503050406030204" pitchFamily="18" charset="0"/>
                            <a:cs typeface="Vani" panose="020B0502040204020203" pitchFamily="34" charset="0"/>
                          </a:rPr>
                          <m:t>𝑆</m:t>
                        </m:r>
                        <m:r>
                          <a:rPr lang="en-US" sz="2300" i="1">
                            <a:latin typeface="Cambria Math" panose="02040503050406030204" pitchFamily="18" charset="0"/>
                            <a:cs typeface="Vani" panose="020B0502040204020203" pitchFamily="34" charset="0"/>
                          </a:rPr>
                          <m:t>)</m:t>
                        </m:r>
                      </m:den>
                    </m:f>
                    <m:r>
                      <a:rPr lang="en-US" sz="2300" b="0" i="1" smtClean="0">
                        <a:latin typeface="Cambria Math" panose="02040503050406030204" pitchFamily="18" charset="0"/>
                        <a:cs typeface="Vani" panose="020B0502040204020203" pitchFamily="34" charset="0"/>
                      </a:rPr>
                      <m:t>=</m:t>
                    </m:r>
                    <m:f>
                      <m:fPr>
                        <m:ctrlPr>
                          <a:rPr lang="en-US" sz="2300" b="0" i="1" smtClean="0">
                            <a:latin typeface="Cambria Math" panose="02040503050406030204" pitchFamily="18" charset="0"/>
                            <a:cs typeface="Vani" panose="020B0502040204020203" pitchFamily="34" charset="0"/>
                          </a:rPr>
                        </m:ctrlPr>
                      </m:fPr>
                      <m:num>
                        <m:r>
                          <a:rPr lang="en-US" sz="2300" i="1" smtClean="0">
                            <a:latin typeface="Cambria Math" panose="02040503050406030204" pitchFamily="18" charset="0"/>
                            <a:cs typeface="Vani" panose="020B0502040204020203" pitchFamily="34" charset="0"/>
                          </a:rPr>
                          <m:t>2</m:t>
                        </m:r>
                        <m:r>
                          <a:rPr lang="en-US" sz="2300" b="0" i="1" smtClean="0">
                            <a:latin typeface="Cambria Math" panose="02040503050406030204" pitchFamily="18" charset="0"/>
                            <a:cs typeface="Vani" panose="020B0502040204020203" pitchFamily="34" charset="0"/>
                          </a:rPr>
                          <m:t>060</m:t>
                        </m:r>
                      </m:num>
                      <m:den>
                        <m:r>
                          <a:rPr lang="en-US" sz="2300" b="0" i="1" smtClean="0">
                            <a:latin typeface="Cambria Math" panose="02040503050406030204" pitchFamily="18" charset="0"/>
                            <a:cs typeface="Vani" panose="020B0502040204020203" pitchFamily="34" charset="0"/>
                          </a:rPr>
                          <m:t>2335</m:t>
                        </m:r>
                      </m:den>
                    </m:f>
                    <m:r>
                      <a:rPr lang="en-US" sz="2300" b="0" i="1" smtClean="0">
                        <a:latin typeface="Cambria Math" panose="02040503050406030204" pitchFamily="18" charset="0"/>
                        <a:cs typeface="Vani" panose="020B0502040204020203" pitchFamily="34" charset="0"/>
                      </a:rPr>
                      <m:t>∗</m:t>
                    </m:r>
                    <m:f>
                      <m:fPr>
                        <m:ctrlPr>
                          <a:rPr lang="en-US" sz="2300" b="0" i="1" smtClean="0">
                            <a:latin typeface="Cambria Math" panose="02040503050406030204" pitchFamily="18" charset="0"/>
                            <a:cs typeface="Vani" panose="020B0502040204020203" pitchFamily="34" charset="0"/>
                          </a:rPr>
                        </m:ctrlPr>
                      </m:fPr>
                      <m:num>
                        <m:r>
                          <a:rPr lang="en-US" sz="2300" b="0" i="1" smtClean="0">
                            <a:latin typeface="Cambria Math" panose="02040503050406030204" pitchFamily="18" charset="0"/>
                            <a:cs typeface="Vani" panose="020B0502040204020203" pitchFamily="34" charset="0"/>
                          </a:rPr>
                          <m:t>2060</m:t>
                        </m:r>
                      </m:num>
                      <m:den>
                        <m:r>
                          <a:rPr lang="en-US" sz="2300" b="0" i="1" smtClean="0">
                            <a:latin typeface="Cambria Math" panose="02040503050406030204" pitchFamily="18" charset="0"/>
                            <a:cs typeface="Vani" panose="020B0502040204020203" pitchFamily="34" charset="0"/>
                          </a:rPr>
                          <m:t>2335</m:t>
                        </m:r>
                      </m:den>
                    </m:f>
                    <m:r>
                      <a:rPr lang="en-US" sz="2300" b="0" i="1" smtClean="0">
                        <a:latin typeface="Cambria Math" panose="02040503050406030204" pitchFamily="18" charset="0"/>
                        <a:cs typeface="Vani" panose="020B0502040204020203" pitchFamily="34" charset="0"/>
                      </a:rPr>
                      <m:t>∗…∗</m:t>
                    </m:r>
                    <m:f>
                      <m:fPr>
                        <m:ctrlPr>
                          <a:rPr lang="en-US" sz="2300" b="0" i="1" smtClean="0">
                            <a:latin typeface="Cambria Math" panose="02040503050406030204" pitchFamily="18" charset="0"/>
                            <a:cs typeface="Vani" panose="020B0502040204020203" pitchFamily="34" charset="0"/>
                          </a:rPr>
                        </m:ctrlPr>
                      </m:fPr>
                      <m:num>
                        <m:r>
                          <a:rPr lang="en-US" sz="2300" b="0" i="1" smtClean="0">
                            <a:latin typeface="Cambria Math" panose="02040503050406030204" pitchFamily="18" charset="0"/>
                            <a:cs typeface="Vani" panose="020B0502040204020203" pitchFamily="34" charset="0"/>
                          </a:rPr>
                          <m:t>2060</m:t>
                        </m:r>
                      </m:num>
                      <m:den>
                        <m:r>
                          <a:rPr lang="en-US" sz="2300" b="0" i="1" smtClean="0">
                            <a:latin typeface="Cambria Math" panose="02040503050406030204" pitchFamily="18" charset="0"/>
                            <a:cs typeface="Vani" panose="020B0502040204020203" pitchFamily="34" charset="0"/>
                          </a:rPr>
                          <m:t>2335</m:t>
                        </m:r>
                      </m:den>
                    </m:f>
                    <m:r>
                      <a:rPr lang="en-US" sz="2300" b="0" i="1" smtClean="0">
                        <a:latin typeface="Cambria Math" panose="02040503050406030204" pitchFamily="18" charset="0"/>
                        <a:cs typeface="Vani" panose="020B0502040204020203" pitchFamily="34" charset="0"/>
                      </a:rPr>
                      <m:t>(45 </m:t>
                    </m:r>
                    <m:r>
                      <a:rPr lang="en-US" sz="2300" b="0" i="1" smtClean="0">
                        <a:latin typeface="Cambria Math" panose="02040503050406030204" pitchFamily="18" charset="0"/>
                        <a:cs typeface="Vani" panose="020B0502040204020203" pitchFamily="34" charset="0"/>
                      </a:rPr>
                      <m:t>𝑡𝑖𝑚𝑒𝑠</m:t>
                    </m:r>
                    <m:r>
                      <a:rPr lang="en-US" sz="2300" b="0" i="1" smtClean="0">
                        <a:latin typeface="Cambria Math" panose="02040503050406030204" pitchFamily="18" charset="0"/>
                        <a:cs typeface="Vani" panose="020B0502040204020203" pitchFamily="34" charset="0"/>
                      </a:rPr>
                      <m:t>)=</m:t>
                    </m:r>
                    <m:sSup>
                      <m:sSupPr>
                        <m:ctrlPr>
                          <a:rPr lang="en-US" sz="2300" b="0" i="1" smtClean="0">
                            <a:latin typeface="Cambria Math" panose="02040503050406030204" pitchFamily="18" charset="0"/>
                            <a:cs typeface="Vani" panose="020B0502040204020203" pitchFamily="34" charset="0"/>
                          </a:rPr>
                        </m:ctrlPr>
                      </m:sSupPr>
                      <m:e>
                        <m:d>
                          <m:dPr>
                            <m:ctrlPr>
                              <a:rPr lang="en-US" sz="2300" b="0" i="1" smtClean="0">
                                <a:latin typeface="Cambria Math" panose="02040503050406030204" pitchFamily="18" charset="0"/>
                                <a:cs typeface="Vani" panose="020B0502040204020203" pitchFamily="34" charset="0"/>
                              </a:rPr>
                            </m:ctrlPr>
                          </m:dPr>
                          <m:e>
                            <m:f>
                              <m:fPr>
                                <m:ctrlPr>
                                  <a:rPr lang="en-US" sz="2300" b="0" i="1" smtClean="0">
                                    <a:latin typeface="Cambria Math" panose="02040503050406030204" pitchFamily="18" charset="0"/>
                                    <a:cs typeface="Vani" panose="020B0502040204020203" pitchFamily="34" charset="0"/>
                                  </a:rPr>
                                </m:ctrlPr>
                              </m:fPr>
                              <m:num>
                                <m:r>
                                  <a:rPr lang="en-US" sz="2300" b="0" i="1" smtClean="0">
                                    <a:latin typeface="Cambria Math" panose="02040503050406030204" pitchFamily="18" charset="0"/>
                                    <a:cs typeface="Vani" panose="020B0502040204020203" pitchFamily="34" charset="0"/>
                                  </a:rPr>
                                  <m:t>2060</m:t>
                                </m:r>
                              </m:num>
                              <m:den>
                                <m:r>
                                  <a:rPr lang="en-US" sz="2300" b="0" i="1" smtClean="0">
                                    <a:latin typeface="Cambria Math" panose="02040503050406030204" pitchFamily="18" charset="0"/>
                                    <a:cs typeface="Vani" panose="020B0502040204020203" pitchFamily="34" charset="0"/>
                                  </a:rPr>
                                  <m:t>2335</m:t>
                                </m:r>
                              </m:den>
                            </m:f>
                          </m:e>
                        </m:d>
                      </m:e>
                      <m:sup>
                        <m:r>
                          <a:rPr lang="en-US" sz="2300" b="0" i="1" smtClean="0">
                            <a:latin typeface="Cambria Math" panose="02040503050406030204" pitchFamily="18" charset="0"/>
                            <a:cs typeface="Vani" panose="020B0502040204020203" pitchFamily="34" charset="0"/>
                          </a:rPr>
                          <m:t>45</m:t>
                        </m:r>
                      </m:sup>
                    </m:sSup>
                    <m:r>
                      <a:rPr lang="en-US" sz="2300" b="0" i="1" smtClean="0">
                        <a:latin typeface="Cambria Math" panose="02040503050406030204" pitchFamily="18" charset="0"/>
                        <a:cs typeface="Vani" panose="020B0502040204020203" pitchFamily="34" charset="0"/>
                      </a:rPr>
                      <m:t>=</m:t>
                    </m:r>
                    <m:sSup>
                      <m:sSupPr>
                        <m:ctrlPr>
                          <a:rPr lang="en-US" sz="2300" b="0" i="1" smtClean="0">
                            <a:latin typeface="Cambria Math" panose="02040503050406030204" pitchFamily="18" charset="0"/>
                            <a:cs typeface="Vani" panose="020B0502040204020203" pitchFamily="34" charset="0"/>
                          </a:rPr>
                        </m:ctrlPr>
                      </m:sSupPr>
                      <m:e>
                        <m:d>
                          <m:dPr>
                            <m:ctrlPr>
                              <a:rPr lang="en-US" sz="2300" b="0" i="1" smtClean="0">
                                <a:latin typeface="Cambria Math" panose="02040503050406030204" pitchFamily="18" charset="0"/>
                                <a:cs typeface="Vani" panose="020B0502040204020203" pitchFamily="34" charset="0"/>
                              </a:rPr>
                            </m:ctrlPr>
                          </m:dPr>
                          <m:e>
                            <m:r>
                              <a:rPr lang="en-US" sz="2300" b="0" i="1" smtClean="0">
                                <a:latin typeface="Cambria Math" panose="02040503050406030204" pitchFamily="18" charset="0"/>
                                <a:cs typeface="Vani" panose="020B0502040204020203" pitchFamily="34" charset="0"/>
                              </a:rPr>
                              <m:t>0.88222698</m:t>
                            </m:r>
                          </m:e>
                        </m:d>
                      </m:e>
                      <m:sup>
                        <m:r>
                          <a:rPr lang="en-US" sz="2300" b="0" i="1" smtClean="0">
                            <a:latin typeface="Cambria Math" panose="02040503050406030204" pitchFamily="18" charset="0"/>
                            <a:cs typeface="Vani" panose="020B0502040204020203" pitchFamily="34" charset="0"/>
                          </a:rPr>
                          <m:t>45</m:t>
                        </m:r>
                      </m:sup>
                    </m:sSup>
                    <m:r>
                      <a:rPr lang="en-US" sz="2300" b="0" i="1" smtClean="0">
                        <a:latin typeface="Cambria Math" panose="02040503050406030204" pitchFamily="18" charset="0"/>
                        <a:cs typeface="Vani" panose="020B0502040204020203" pitchFamily="34" charset="0"/>
                      </a:rPr>
                      <m:t>=</m:t>
                    </m:r>
                    <m:r>
                      <a:rPr lang="en-US" sz="2300" b="0" i="1" smtClean="0">
                        <a:solidFill>
                          <a:srgbClr val="FF0000"/>
                        </a:solidFill>
                        <a:latin typeface="Cambria Math" panose="02040503050406030204" pitchFamily="18" charset="0"/>
                        <a:cs typeface="Vani" panose="020B0502040204020203" pitchFamily="34" charset="0"/>
                      </a:rPr>
                      <m:t>0.0036</m:t>
                    </m:r>
                  </m:oMath>
                </a14:m>
                <a:endParaRPr lang="en-US" sz="2300" b="0" i="1" dirty="0" smtClean="0">
                  <a:solidFill>
                    <a:srgbClr val="FF0000"/>
                  </a:solidFill>
                  <a:latin typeface="Cambria Math" panose="02040503050406030204" pitchFamily="18" charset="0"/>
                  <a:cs typeface="Vani" panose="020B0502040204020203" pitchFamily="34" charset="0"/>
                </a:endParaRPr>
              </a:p>
              <a:p>
                <a:pPr>
                  <a:lnSpc>
                    <a:spcPct val="150000"/>
                  </a:lnSpc>
                </a:pPr>
                <a:endParaRPr lang="en-US" sz="2500" dirty="0" smtClean="0">
                  <a:latin typeface="Vani" panose="020B0502040204020203" pitchFamily="34" charset="0"/>
                  <a:cs typeface="Vani" panose="020B0502040204020203" pitchFamily="34" charset="0"/>
                </a:endParaRPr>
              </a:p>
              <a:p>
                <a:pPr>
                  <a:lnSpc>
                    <a:spcPct val="150000"/>
                  </a:lnSpc>
                </a:pPr>
                <a:endParaRPr lang="en-US" sz="2500" b="0" dirty="0" smtClean="0">
                  <a:latin typeface="Vani" panose="020B0502040204020203" pitchFamily="34" charset="0"/>
                  <a:cs typeface="Vani" panose="020B0502040204020203" pitchFamily="34" charset="0"/>
                </a:endParaRPr>
              </a:p>
              <a:p>
                <a:pPr>
                  <a:lnSpc>
                    <a:spcPct val="150000"/>
                  </a:lnSpc>
                </a:pPr>
                <a:endParaRPr lang="en-US" sz="2500" dirty="0">
                  <a:latin typeface="Vani" panose="020B0502040204020203" pitchFamily="34" charset="0"/>
                  <a:cs typeface="Vani" panose="020B0502040204020203" pitchFamily="34" charset="0"/>
                </a:endParaRPr>
              </a:p>
              <a:p>
                <a:pPr>
                  <a:lnSpc>
                    <a:spcPct val="150000"/>
                  </a:lnSpc>
                </a:pPr>
                <a:endParaRPr lang="en-US" sz="2500" b="0" dirty="0" smtClean="0">
                  <a:latin typeface="Vani" panose="020B0502040204020203" pitchFamily="34" charset="0"/>
                  <a:cs typeface="Vani" panose="020B0502040204020203" pitchFamily="34" charset="0"/>
                </a:endParaRPr>
              </a:p>
            </p:txBody>
          </p:sp>
        </mc:Choice>
        <mc:Fallback xmlns="">
          <p:sp>
            <p:nvSpPr>
              <p:cNvPr id="14" name="Content Placeholder 13"/>
              <p:cNvSpPr>
                <a:spLocks noGrp="1" noRot="1" noChangeAspect="1" noMove="1" noResize="1" noEditPoints="1" noAdjustHandles="1" noChangeArrowheads="1" noChangeShapeType="1" noTextEdit="1"/>
              </p:cNvSpPr>
              <p:nvPr>
                <p:ph idx="1"/>
              </p:nvPr>
            </p:nvSpPr>
            <p:spPr>
              <a:xfrm>
                <a:off x="0" y="1738184"/>
                <a:ext cx="12192000" cy="5119816"/>
              </a:xfrm>
              <a:blipFill rotWithShape="0">
                <a:blip r:embed="rId2"/>
                <a:stretch>
                  <a:fillRect l="-1350"/>
                </a:stretch>
              </a:blipFill>
            </p:spPr>
            <p:txBody>
              <a:bodyPr/>
              <a:lstStyle/>
              <a:p>
                <a:r>
                  <a:rPr lang="en-US">
                    <a:noFill/>
                  </a:rPr>
                  <a:t> </a:t>
                </a:r>
              </a:p>
            </p:txBody>
          </p:sp>
        </mc:Fallback>
      </mc:AlternateContent>
    </p:spTree>
    <p:extLst>
      <p:ext uri="{BB962C8B-B14F-4D97-AF65-F5344CB8AC3E}">
        <p14:creationId xmlns:p14="http://schemas.microsoft.com/office/powerpoint/2010/main" val="29572239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0" y="295562"/>
            <a:ext cx="12192000" cy="1008247"/>
          </a:xfrm>
        </p:spPr>
        <p:txBody>
          <a:bodyPr/>
          <a:lstStyle/>
          <a:p>
            <a:r>
              <a:rPr lang="en-US" dirty="0" smtClean="0"/>
              <a:t>Questions and Answers							10-1.</a:t>
            </a:r>
            <a:endParaRPr dirty="0"/>
          </a:p>
        </p:txBody>
      </p:sp>
      <mc:AlternateContent xmlns:mc="http://schemas.openxmlformats.org/markup-compatibility/2006" xmlns:a14="http://schemas.microsoft.com/office/drawing/2010/main">
        <mc:Choice Requires="a14">
          <p:sp>
            <p:nvSpPr>
              <p:cNvPr id="14" name="Content Placeholder 13"/>
              <p:cNvSpPr>
                <a:spLocks noGrp="1"/>
              </p:cNvSpPr>
              <p:nvPr>
                <p:ph idx="1"/>
              </p:nvPr>
            </p:nvSpPr>
            <p:spPr>
              <a:xfrm>
                <a:off x="0" y="1738184"/>
                <a:ext cx="12192000" cy="5119816"/>
              </a:xfrm>
            </p:spPr>
            <p:txBody>
              <a:bodyPr>
                <a:normAutofit/>
              </a:bodyPr>
              <a:lstStyle/>
              <a:p>
                <a:pPr>
                  <a:lnSpc>
                    <a:spcPct val="150000"/>
                  </a:lnSpc>
                </a:pPr>
                <a:r>
                  <a:rPr lang="en-US" sz="2300" b="0" dirty="0" smtClean="0">
                    <a:solidFill>
                      <a:srgbClr val="7030A0"/>
                    </a:solidFill>
                    <a:latin typeface="Vani" panose="020B0502040204020203" pitchFamily="34" charset="0"/>
                    <a:cs typeface="Vani" panose="020B0502040204020203" pitchFamily="34" charset="0"/>
                  </a:rPr>
                  <a:t>(10.)</a:t>
                </a:r>
                <a:r>
                  <a:rPr lang="en-US" sz="2300" dirty="0">
                    <a:latin typeface="Vani" panose="020B0502040204020203" pitchFamily="34" charset="0"/>
                    <a:cs typeface="Vani" panose="020B0502040204020203" pitchFamily="34" charset="0"/>
                  </a:rPr>
                  <a:t>	</a:t>
                </a:r>
                <a:r>
                  <a:rPr lang="en-US" sz="2300" dirty="0" smtClean="0">
                    <a:latin typeface="Vani" panose="020B0502040204020203" pitchFamily="34" charset="0"/>
                    <a:cs typeface="Vani" panose="020B0502040204020203" pitchFamily="34" charset="0"/>
                  </a:rPr>
                  <a:t>The table shows the results of 170 pedestrian deaths caused by accidents.</a:t>
                </a:r>
              </a:p>
              <a:p>
                <a:pPr>
                  <a:lnSpc>
                    <a:spcPct val="150000"/>
                  </a:lnSpc>
                </a:pPr>
                <a:endParaRPr lang="en-US" sz="2500" dirty="0" smtClean="0">
                  <a:latin typeface="Vani" panose="020B0502040204020203" pitchFamily="34" charset="0"/>
                  <a:cs typeface="Vani" panose="020B0502040204020203" pitchFamily="34" charset="0"/>
                </a:endParaRPr>
              </a:p>
              <a:p>
                <a:pPr>
                  <a:lnSpc>
                    <a:spcPct val="150000"/>
                  </a:lnSpc>
                </a:pPr>
                <a:endParaRPr lang="en-US" sz="2500" b="0" dirty="0" smtClean="0">
                  <a:latin typeface="Vani" panose="020B0502040204020203" pitchFamily="34" charset="0"/>
                </a:endParaRPr>
              </a:p>
              <a:p>
                <a:pPr>
                  <a:lnSpc>
                    <a:spcPct val="150000"/>
                  </a:lnSpc>
                </a:pPr>
                <a:r>
                  <a:rPr lang="en-US" sz="2300" dirty="0" smtClean="0">
                    <a:latin typeface="Vani" panose="020B0502040204020203"/>
                    <a:ea typeface="Cambria Math" panose="02040503050406030204" pitchFamily="18" charset="0"/>
                  </a:rPr>
                  <a:t>(a.)	Find the probability that two different deaths selected at random without replacement were both caused by intoxicated drivers.	</a:t>
                </a:r>
                <a14:m>
                  <m:oMath xmlns:m="http://schemas.openxmlformats.org/officeDocument/2006/math">
                    <m:r>
                      <a:rPr lang="en-US" sz="2300" b="0" i="1" smtClean="0">
                        <a:latin typeface="Cambria Math" panose="02040503050406030204" pitchFamily="18" charset="0"/>
                        <a:ea typeface="Cambria Math" panose="02040503050406030204" pitchFamily="18" charset="0"/>
                      </a:rPr>
                      <m:t>𝑛</m:t>
                    </m:r>
                    <m:d>
                      <m:dPr>
                        <m:ctrlPr>
                          <a:rPr lang="en-US" sz="2300" b="0" i="1" smtClean="0">
                            <a:latin typeface="Cambria Math" panose="02040503050406030204" pitchFamily="18" charset="0"/>
                            <a:ea typeface="Cambria Math" panose="02040503050406030204" pitchFamily="18" charset="0"/>
                          </a:rPr>
                        </m:ctrlPr>
                      </m:dPr>
                      <m:e>
                        <m:r>
                          <a:rPr lang="en-US" sz="2300" b="0" i="1" smtClean="0">
                            <a:latin typeface="Cambria Math" panose="02040503050406030204" pitchFamily="18" charset="0"/>
                            <a:ea typeface="Cambria Math" panose="02040503050406030204" pitchFamily="18" charset="0"/>
                          </a:rPr>
                          <m:t>𝐼𝑛𝑡𝑜𝑥𝑖𝑐𝑎𝑡𝑒𝑑</m:t>
                        </m:r>
                        <m:r>
                          <a:rPr lang="en-US" sz="2300" b="0" i="1" smtClean="0">
                            <a:latin typeface="Cambria Math" panose="02040503050406030204" pitchFamily="18" charset="0"/>
                            <a:ea typeface="Cambria Math" panose="02040503050406030204" pitchFamily="18" charset="0"/>
                          </a:rPr>
                          <m:t> </m:t>
                        </m:r>
                        <m:r>
                          <a:rPr lang="en-US" sz="2300" b="0" i="1" smtClean="0">
                            <a:latin typeface="Cambria Math" panose="02040503050406030204" pitchFamily="18" charset="0"/>
                            <a:ea typeface="Cambria Math" panose="02040503050406030204" pitchFamily="18" charset="0"/>
                          </a:rPr>
                          <m:t>𝐷𝑟𝑖𝑣𝑒𝑟𝑠</m:t>
                        </m:r>
                      </m:e>
                    </m:d>
                    <m:r>
                      <a:rPr lang="en-US" sz="2300" b="0" i="1" smtClean="0">
                        <a:latin typeface="Cambria Math" panose="02040503050406030204" pitchFamily="18" charset="0"/>
                        <a:ea typeface="Cambria Math" panose="02040503050406030204" pitchFamily="18" charset="0"/>
                      </a:rPr>
                      <m:t>=</m:t>
                    </m:r>
                    <m:r>
                      <a:rPr lang="en-US" sz="2300" b="0" i="1" smtClean="0">
                        <a:latin typeface="Cambria Math" panose="02040503050406030204" pitchFamily="18" charset="0"/>
                        <a:ea typeface="Cambria Math" panose="02040503050406030204" pitchFamily="18" charset="0"/>
                      </a:rPr>
                      <m:t>𝑛</m:t>
                    </m:r>
                    <m:d>
                      <m:dPr>
                        <m:ctrlPr>
                          <a:rPr lang="en-US" sz="2300" b="0" i="1" smtClean="0">
                            <a:latin typeface="Cambria Math" panose="02040503050406030204" pitchFamily="18" charset="0"/>
                            <a:ea typeface="Cambria Math" panose="02040503050406030204" pitchFamily="18" charset="0"/>
                          </a:rPr>
                        </m:ctrlPr>
                      </m:dPr>
                      <m:e>
                        <m:r>
                          <a:rPr lang="en-US" sz="2300" b="0" i="1" smtClean="0">
                            <a:latin typeface="Cambria Math" panose="02040503050406030204" pitchFamily="18" charset="0"/>
                            <a:ea typeface="Cambria Math" panose="02040503050406030204" pitchFamily="18" charset="0"/>
                          </a:rPr>
                          <m:t>𝐼𝐷</m:t>
                        </m:r>
                      </m:e>
                    </m:d>
                    <m:r>
                      <a:rPr lang="en-US" sz="2300" b="0" i="1" smtClean="0">
                        <a:latin typeface="Cambria Math" panose="02040503050406030204" pitchFamily="18" charset="0"/>
                        <a:ea typeface="Cambria Math" panose="02040503050406030204" pitchFamily="18" charset="0"/>
                      </a:rPr>
                      <m:t>=88+39=127</m:t>
                    </m:r>
                  </m:oMath>
                </a14:m>
                <a:endParaRPr lang="en-US" sz="2300" dirty="0" smtClean="0">
                  <a:latin typeface="Vani" panose="020B0502040204020203"/>
                  <a:ea typeface="Cambria Math" panose="02040503050406030204" pitchFamily="18" charset="0"/>
                </a:endParaRPr>
              </a:p>
              <a:p>
                <a:pPr>
                  <a:lnSpc>
                    <a:spcPct val="150000"/>
                  </a:lnSpc>
                </a:pPr>
                <a14:m>
                  <m:oMath xmlns:m="http://schemas.openxmlformats.org/officeDocument/2006/math">
                    <m:r>
                      <a:rPr lang="en-US" sz="2300" b="0" i="1" smtClean="0">
                        <a:latin typeface="Cambria Math" panose="02040503050406030204" pitchFamily="18" charset="0"/>
                        <a:ea typeface="Cambria Math" panose="02040503050406030204" pitchFamily="18" charset="0"/>
                      </a:rPr>
                      <m:t>𝑃</m:t>
                    </m:r>
                    <m:d>
                      <m:dPr>
                        <m:ctrlPr>
                          <a:rPr lang="en-US" sz="2300" b="0" i="1" smtClean="0">
                            <a:latin typeface="Cambria Math" panose="02040503050406030204" pitchFamily="18" charset="0"/>
                            <a:ea typeface="Cambria Math" panose="02040503050406030204" pitchFamily="18" charset="0"/>
                          </a:rPr>
                        </m:ctrlPr>
                      </m:dPr>
                      <m:e>
                        <m:r>
                          <a:rPr lang="en-US" sz="2300" b="0" i="1" smtClean="0">
                            <a:latin typeface="Cambria Math" panose="02040503050406030204" pitchFamily="18" charset="0"/>
                            <a:ea typeface="Cambria Math" panose="02040503050406030204" pitchFamily="18" charset="0"/>
                          </a:rPr>
                          <m:t>𝐼𝐷</m:t>
                        </m:r>
                        <m:r>
                          <a:rPr lang="en-US" sz="2300" b="0" i="1" smtClean="0">
                            <a:latin typeface="Cambria Math" panose="02040503050406030204" pitchFamily="18" charset="0"/>
                            <a:ea typeface="Cambria Math" panose="02040503050406030204" pitchFamily="18" charset="0"/>
                          </a:rPr>
                          <m:t>, </m:t>
                        </m:r>
                        <m:r>
                          <a:rPr lang="en-US" sz="2300" b="0" i="1" smtClean="0">
                            <a:latin typeface="Cambria Math" panose="02040503050406030204" pitchFamily="18" charset="0"/>
                            <a:ea typeface="Cambria Math" panose="02040503050406030204" pitchFamily="18" charset="0"/>
                          </a:rPr>
                          <m:t>𝐼𝐷</m:t>
                        </m:r>
                        <m:r>
                          <a:rPr lang="en-US" sz="2300" b="0" i="1" smtClean="0">
                            <a:latin typeface="Cambria Math" panose="02040503050406030204" pitchFamily="18" charset="0"/>
                            <a:ea typeface="Cambria Math" panose="02040503050406030204" pitchFamily="18" charset="0"/>
                          </a:rPr>
                          <m:t> </m:t>
                        </m:r>
                        <m:r>
                          <a:rPr lang="en-US" sz="2300" b="0" i="1" smtClean="0">
                            <a:latin typeface="Cambria Math" panose="02040503050406030204" pitchFamily="18" charset="0"/>
                            <a:ea typeface="Cambria Math" panose="02040503050406030204" pitchFamily="18" charset="0"/>
                          </a:rPr>
                          <m:t>𝑤𝑖𝑡h𝑜𝑢𝑡</m:t>
                        </m:r>
                        <m:r>
                          <a:rPr lang="en-US" sz="2300" b="0" i="1" smtClean="0">
                            <a:latin typeface="Cambria Math" panose="02040503050406030204" pitchFamily="18" charset="0"/>
                            <a:ea typeface="Cambria Math" panose="02040503050406030204" pitchFamily="18" charset="0"/>
                          </a:rPr>
                          <m:t> </m:t>
                        </m:r>
                        <m:r>
                          <a:rPr lang="en-US" sz="2300" b="0" i="1" smtClean="0">
                            <a:latin typeface="Cambria Math" panose="02040503050406030204" pitchFamily="18" charset="0"/>
                            <a:ea typeface="Cambria Math" panose="02040503050406030204" pitchFamily="18" charset="0"/>
                          </a:rPr>
                          <m:t>𝑟𝑒𝑝𝑙𝑎𝑐𝑒𝑚𝑒𝑛𝑡</m:t>
                        </m:r>
                      </m:e>
                    </m:d>
                    <m:r>
                      <a:rPr lang="en-US" sz="2300" b="0" i="1" smtClean="0">
                        <a:latin typeface="Cambria Math" panose="02040503050406030204" pitchFamily="18" charset="0"/>
                        <a:ea typeface="Cambria Math" panose="02040503050406030204" pitchFamily="18" charset="0"/>
                      </a:rPr>
                      <m:t>=</m:t>
                    </m:r>
                    <m:f>
                      <m:fPr>
                        <m:ctrlPr>
                          <a:rPr lang="en-US" sz="2300" b="0" i="1" smtClean="0">
                            <a:latin typeface="Cambria Math" panose="02040503050406030204" pitchFamily="18" charset="0"/>
                            <a:ea typeface="Cambria Math" panose="02040503050406030204" pitchFamily="18" charset="0"/>
                          </a:rPr>
                        </m:ctrlPr>
                      </m:fPr>
                      <m:num>
                        <m:r>
                          <a:rPr lang="en-US" sz="2300" b="0" i="1" smtClean="0">
                            <a:latin typeface="Cambria Math" panose="02040503050406030204" pitchFamily="18" charset="0"/>
                            <a:ea typeface="Cambria Math" panose="02040503050406030204" pitchFamily="18" charset="0"/>
                          </a:rPr>
                          <m:t>127</m:t>
                        </m:r>
                      </m:num>
                      <m:den>
                        <m:r>
                          <a:rPr lang="en-US" sz="2300" b="0" i="1" smtClean="0">
                            <a:latin typeface="Cambria Math" panose="02040503050406030204" pitchFamily="18" charset="0"/>
                            <a:ea typeface="Cambria Math" panose="02040503050406030204" pitchFamily="18" charset="0"/>
                          </a:rPr>
                          <m:t>170</m:t>
                        </m:r>
                      </m:den>
                    </m:f>
                    <m:r>
                      <a:rPr lang="en-US" sz="2300" b="0" i="1" smtClean="0">
                        <a:latin typeface="Cambria Math" panose="02040503050406030204" pitchFamily="18" charset="0"/>
                        <a:ea typeface="Cambria Math" panose="02040503050406030204" pitchFamily="18" charset="0"/>
                      </a:rPr>
                      <m:t>∗</m:t>
                    </m:r>
                    <m:f>
                      <m:fPr>
                        <m:ctrlPr>
                          <a:rPr lang="en-US" sz="2300" b="0" i="1" smtClean="0">
                            <a:latin typeface="Cambria Math" panose="02040503050406030204" pitchFamily="18" charset="0"/>
                            <a:ea typeface="Cambria Math" panose="02040503050406030204" pitchFamily="18" charset="0"/>
                          </a:rPr>
                        </m:ctrlPr>
                      </m:fPr>
                      <m:num>
                        <m:r>
                          <a:rPr lang="en-US" sz="2300" b="0" i="1" smtClean="0">
                            <a:latin typeface="Cambria Math" panose="02040503050406030204" pitchFamily="18" charset="0"/>
                            <a:ea typeface="Cambria Math" panose="02040503050406030204" pitchFamily="18" charset="0"/>
                          </a:rPr>
                          <m:t>126</m:t>
                        </m:r>
                      </m:num>
                      <m:den>
                        <m:r>
                          <a:rPr lang="en-US" sz="2300" b="0" i="1" smtClean="0">
                            <a:latin typeface="Cambria Math" panose="02040503050406030204" pitchFamily="18" charset="0"/>
                            <a:ea typeface="Cambria Math" panose="02040503050406030204" pitchFamily="18" charset="0"/>
                          </a:rPr>
                          <m:t>169</m:t>
                        </m:r>
                      </m:den>
                    </m:f>
                    <m:r>
                      <a:rPr lang="en-US" sz="2300" b="0" i="1" smtClean="0">
                        <a:latin typeface="Cambria Math" panose="02040503050406030204" pitchFamily="18" charset="0"/>
                        <a:ea typeface="Cambria Math" panose="02040503050406030204" pitchFamily="18" charset="0"/>
                      </a:rPr>
                      <m:t>=</m:t>
                    </m:r>
                    <m:f>
                      <m:fPr>
                        <m:ctrlPr>
                          <a:rPr lang="en-US" sz="2300" b="0" i="1" smtClean="0">
                            <a:latin typeface="Cambria Math" panose="02040503050406030204" pitchFamily="18" charset="0"/>
                            <a:ea typeface="Cambria Math" panose="02040503050406030204" pitchFamily="18" charset="0"/>
                          </a:rPr>
                        </m:ctrlPr>
                      </m:fPr>
                      <m:num>
                        <m:r>
                          <a:rPr lang="en-US" sz="2300" b="0" i="1" smtClean="0">
                            <a:latin typeface="Cambria Math" panose="02040503050406030204" pitchFamily="18" charset="0"/>
                            <a:ea typeface="Cambria Math" panose="02040503050406030204" pitchFamily="18" charset="0"/>
                          </a:rPr>
                          <m:t>16002</m:t>
                        </m:r>
                      </m:num>
                      <m:den>
                        <m:r>
                          <a:rPr lang="en-US" sz="2300" b="0" i="1" smtClean="0">
                            <a:latin typeface="Cambria Math" panose="02040503050406030204" pitchFamily="18" charset="0"/>
                            <a:ea typeface="Cambria Math" panose="02040503050406030204" pitchFamily="18" charset="0"/>
                          </a:rPr>
                          <m:t>28730</m:t>
                        </m:r>
                      </m:den>
                    </m:f>
                    <m:r>
                      <a:rPr lang="en-US" sz="2300" b="0" i="1" smtClean="0">
                        <a:latin typeface="Cambria Math" panose="02040503050406030204" pitchFamily="18" charset="0"/>
                        <a:ea typeface="Cambria Math" panose="02040503050406030204" pitchFamily="18" charset="0"/>
                      </a:rPr>
                      <m:t>=</m:t>
                    </m:r>
                    <m:r>
                      <a:rPr lang="en-US" sz="2300" b="0" i="1" smtClean="0">
                        <a:solidFill>
                          <a:srgbClr val="FF0000"/>
                        </a:solidFill>
                        <a:latin typeface="Cambria Math" panose="02040503050406030204" pitchFamily="18" charset="0"/>
                        <a:ea typeface="Cambria Math" panose="02040503050406030204" pitchFamily="18" charset="0"/>
                      </a:rPr>
                      <m:t>0.557</m:t>
                    </m:r>
                  </m:oMath>
                </a14:m>
                <a:r>
                  <a:rPr lang="en-US" sz="2300" dirty="0" smtClean="0">
                    <a:latin typeface="Vani" panose="020B0502040204020203"/>
                    <a:ea typeface="Cambria Math" panose="02040503050406030204" pitchFamily="18" charset="0"/>
                  </a:rPr>
                  <a:t> (to three decimal places)</a:t>
                </a:r>
              </a:p>
              <a:p>
                <a:pPr>
                  <a:lnSpc>
                    <a:spcPct val="150000"/>
                  </a:lnSpc>
                </a:pPr>
                <a:r>
                  <a:rPr lang="en-US" sz="2300" dirty="0" smtClean="0">
                    <a:latin typeface="Vani" panose="020B0502040204020203"/>
                    <a:ea typeface="Cambria Math" panose="02040503050406030204" pitchFamily="18" charset="0"/>
                  </a:rPr>
                  <a:t>(b.)	Is such an event unlikely? </a:t>
                </a:r>
                <a:r>
                  <a:rPr lang="en-US" sz="2300" dirty="0" smtClean="0">
                    <a:solidFill>
                      <a:srgbClr val="FF0000"/>
                    </a:solidFill>
                    <a:latin typeface="Vani" panose="020B0502040204020203"/>
                    <a:ea typeface="Cambria Math" panose="02040503050406030204" pitchFamily="18" charset="0"/>
                  </a:rPr>
                  <a:t>No, it is not unlikely because the probability is </a:t>
                </a:r>
                <a14:m>
                  <m:oMath xmlns:m="http://schemas.openxmlformats.org/officeDocument/2006/math">
                    <m:r>
                      <a:rPr lang="en-US" sz="2300" i="1" smtClean="0">
                        <a:solidFill>
                          <a:srgbClr val="FF0000"/>
                        </a:solidFill>
                        <a:latin typeface="Cambria Math" panose="02040503050406030204" pitchFamily="18" charset="0"/>
                        <a:ea typeface="Cambria Math" panose="02040503050406030204" pitchFamily="18" charset="0"/>
                      </a:rPr>
                      <m:t>&gt;</m:t>
                    </m:r>
                    <m:r>
                      <a:rPr lang="en-US" sz="2300" b="0" i="1" smtClean="0">
                        <a:solidFill>
                          <a:srgbClr val="FF0000"/>
                        </a:solidFill>
                        <a:latin typeface="Cambria Math" panose="02040503050406030204" pitchFamily="18" charset="0"/>
                        <a:ea typeface="Cambria Math" panose="02040503050406030204" pitchFamily="18" charset="0"/>
                      </a:rPr>
                      <m:t>0.05</m:t>
                    </m:r>
                  </m:oMath>
                </a14:m>
                <a:endParaRPr lang="en-US" sz="2300" dirty="0" smtClean="0">
                  <a:latin typeface="Vani" panose="020B0502040204020203"/>
                  <a:ea typeface="Cambria Math" panose="02040503050406030204" pitchFamily="18" charset="0"/>
                </a:endParaRPr>
              </a:p>
              <a:p>
                <a:pPr>
                  <a:lnSpc>
                    <a:spcPct val="150000"/>
                  </a:lnSpc>
                </a:pPr>
                <a:endParaRPr lang="en-US" sz="2500" i="1" dirty="0" smtClean="0">
                  <a:latin typeface="Cambria Math" panose="02040503050406030204" pitchFamily="18" charset="0"/>
                  <a:ea typeface="Cambria Math" panose="02040503050406030204" pitchFamily="18" charset="0"/>
                </a:endParaRPr>
              </a:p>
              <a:p>
                <a:pPr>
                  <a:lnSpc>
                    <a:spcPct val="150000"/>
                  </a:lnSpc>
                </a:pPr>
                <a:endParaRPr lang="en-US" sz="2500" dirty="0" smtClean="0">
                  <a:latin typeface="Vani" panose="020B0502040204020203" pitchFamily="34" charset="0"/>
                  <a:cs typeface="Vani" panose="020B0502040204020203" pitchFamily="34" charset="0"/>
                </a:endParaRPr>
              </a:p>
              <a:p>
                <a:pPr>
                  <a:lnSpc>
                    <a:spcPct val="150000"/>
                  </a:lnSpc>
                </a:pPr>
                <a:endParaRPr lang="en-US" sz="2500" b="0" dirty="0" smtClean="0">
                  <a:latin typeface="Vani" panose="020B0502040204020203" pitchFamily="34" charset="0"/>
                  <a:cs typeface="Vani" panose="020B0502040204020203" pitchFamily="34" charset="0"/>
                </a:endParaRPr>
              </a:p>
              <a:p>
                <a:pPr>
                  <a:lnSpc>
                    <a:spcPct val="150000"/>
                  </a:lnSpc>
                </a:pPr>
                <a:endParaRPr lang="en-US" sz="2500" dirty="0">
                  <a:latin typeface="Vani" panose="020B0502040204020203" pitchFamily="34" charset="0"/>
                  <a:cs typeface="Vani" panose="020B0502040204020203" pitchFamily="34" charset="0"/>
                </a:endParaRPr>
              </a:p>
              <a:p>
                <a:pPr>
                  <a:lnSpc>
                    <a:spcPct val="150000"/>
                  </a:lnSpc>
                </a:pPr>
                <a:endParaRPr lang="en-US" sz="2500" b="0" dirty="0" smtClean="0">
                  <a:latin typeface="Vani" panose="020B0502040204020203" pitchFamily="34" charset="0"/>
                  <a:cs typeface="Vani" panose="020B0502040204020203" pitchFamily="34" charset="0"/>
                </a:endParaRPr>
              </a:p>
            </p:txBody>
          </p:sp>
        </mc:Choice>
        <mc:Fallback xmlns="">
          <p:sp>
            <p:nvSpPr>
              <p:cNvPr id="14" name="Content Placeholder 13"/>
              <p:cNvSpPr>
                <a:spLocks noGrp="1" noRot="1" noChangeAspect="1" noMove="1" noResize="1" noEditPoints="1" noAdjustHandles="1" noChangeArrowheads="1" noChangeShapeType="1" noTextEdit="1"/>
              </p:cNvSpPr>
              <p:nvPr>
                <p:ph idx="1"/>
              </p:nvPr>
            </p:nvSpPr>
            <p:spPr>
              <a:xfrm>
                <a:off x="0" y="1738184"/>
                <a:ext cx="12192000" cy="5119816"/>
              </a:xfrm>
              <a:blipFill rotWithShape="0">
                <a:blip r:embed="rId2"/>
                <a:stretch>
                  <a:fillRect l="-1350" r="-3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2781654920"/>
                  </p:ext>
                </p:extLst>
              </p:nvPr>
            </p:nvGraphicFramePr>
            <p:xfrm>
              <a:off x="0" y="2416660"/>
              <a:ext cx="12192000" cy="1524000"/>
            </p:xfrm>
            <a:graphic>
              <a:graphicData uri="http://schemas.openxmlformats.org/drawingml/2006/table">
                <a:tbl>
                  <a:tblPr firstRow="1" bandRow="1">
                    <a:tableStyleId>{5C22544A-7EE6-4342-B048-85BDC9FD1C3A}</a:tableStyleId>
                  </a:tblPr>
                  <a:tblGrid>
                    <a:gridCol w="3048000"/>
                    <a:gridCol w="3048000"/>
                    <a:gridCol w="3048000"/>
                    <a:gridCol w="3048000"/>
                  </a:tblGrid>
                  <a:tr h="370840">
                    <a:tc>
                      <a:txBody>
                        <a:bodyPr/>
                        <a:lstStyle/>
                        <a:p>
                          <a:endParaRPr lang="en-US" dirty="0"/>
                        </a:p>
                      </a:txBody>
                      <a:tcPr/>
                    </a:tc>
                    <a:tc>
                      <a:txBody>
                        <a:bodyPr/>
                        <a:lstStyle/>
                        <a:p>
                          <a:endParaRPr lang="en-US" dirty="0"/>
                        </a:p>
                      </a:txBody>
                      <a:tcPr/>
                    </a:tc>
                    <a:tc gridSpan="2">
                      <a:txBody>
                        <a:bodyPr/>
                        <a:lstStyle/>
                        <a:p>
                          <a:pPr algn="ctr"/>
                          <a:r>
                            <a:rPr lang="en-US" sz="2100" dirty="0" smtClean="0">
                              <a:latin typeface="Vani" panose="020B0502040204020203"/>
                            </a:rPr>
                            <a:t>Pedestrian</a:t>
                          </a:r>
                          <a:r>
                            <a:rPr lang="en-US" sz="2100" baseline="0" dirty="0" smtClean="0">
                              <a:latin typeface="Vani" panose="020B0502040204020203"/>
                            </a:rPr>
                            <a:t> Intoxicated?</a:t>
                          </a:r>
                          <a:endParaRPr lang="en-US" sz="2100" dirty="0">
                            <a:latin typeface="Vani" panose="020B0502040204020203"/>
                          </a:endParaRPr>
                        </a:p>
                      </a:txBody>
                      <a:tcPr/>
                    </a:tc>
                    <a:tc hMerge="1">
                      <a:txBody>
                        <a:bodyPr/>
                        <a:lstStyle/>
                        <a:p>
                          <a:endParaRPr lang="en-US" dirty="0"/>
                        </a:p>
                      </a:txBody>
                      <a:tcPr/>
                    </a:tc>
                  </a:tr>
                  <a:tr h="370840">
                    <a:tc>
                      <a:txBody>
                        <a:bodyPr/>
                        <a:lstStyle/>
                        <a:p>
                          <a:endParaRPr lang="en-US" dirty="0"/>
                        </a:p>
                      </a:txBody>
                      <a:tcPr/>
                    </a:tc>
                    <a:tc>
                      <a:txBody>
                        <a:bodyPr/>
                        <a:lstStyle/>
                        <a:p>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𝑌𝑒𝑠</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𝑁𝑜</m:t>
                                </m:r>
                              </m:oMath>
                            </m:oMathPara>
                          </a14:m>
                          <a:endParaRPr lang="en-US" dirty="0"/>
                        </a:p>
                      </a:txBody>
                      <a:tcPr/>
                    </a:tc>
                  </a:tr>
                  <a:tr h="370840">
                    <a:tc rowSpan="2">
                      <a:txBody>
                        <a:bodyPr/>
                        <a:lstStyle/>
                        <a:p>
                          <a:r>
                            <a:rPr lang="en-US" sz="2100" b="1" dirty="0" smtClean="0">
                              <a:latin typeface="Vani" panose="020B0502040204020203"/>
                            </a:rPr>
                            <a:t>Driver Intoxicated?</a:t>
                          </a:r>
                          <a:endParaRPr lang="en-US" sz="2100" b="1" dirty="0">
                            <a:latin typeface="Vani" panose="020B0502040204020203"/>
                          </a:endParaRPr>
                        </a:p>
                      </a:txBody>
                      <a:tcPr/>
                    </a:tc>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𝑌𝑒𝑠</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88</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39</m:t>
                                </m:r>
                              </m:oMath>
                            </m:oMathPara>
                          </a14:m>
                          <a:endParaRPr lang="en-US" dirty="0"/>
                        </a:p>
                      </a:txBody>
                      <a:tcPr/>
                    </a:tc>
                  </a:tr>
                  <a:tr h="370840">
                    <a:tc vMerge="1">
                      <a:txBody>
                        <a:bodyPr/>
                        <a:lstStyle/>
                        <a:p>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𝑁𝑜</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34</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9</m:t>
                                </m:r>
                              </m:oMath>
                            </m:oMathPara>
                          </a14:m>
                          <a:endParaRPr lang="en-US" dirty="0"/>
                        </a:p>
                      </a:txBody>
                      <a:tcPr/>
                    </a:tc>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2781654920"/>
                  </p:ext>
                </p:extLst>
              </p:nvPr>
            </p:nvGraphicFramePr>
            <p:xfrm>
              <a:off x="0" y="2416660"/>
              <a:ext cx="12192000" cy="1524000"/>
            </p:xfrm>
            <a:graphic>
              <a:graphicData uri="http://schemas.openxmlformats.org/drawingml/2006/table">
                <a:tbl>
                  <a:tblPr firstRow="1" bandRow="1">
                    <a:tableStyleId>{5C22544A-7EE6-4342-B048-85BDC9FD1C3A}</a:tableStyleId>
                  </a:tblPr>
                  <a:tblGrid>
                    <a:gridCol w="3048000"/>
                    <a:gridCol w="3048000"/>
                    <a:gridCol w="3048000"/>
                    <a:gridCol w="3048000"/>
                  </a:tblGrid>
                  <a:tr h="411480">
                    <a:tc>
                      <a:txBody>
                        <a:bodyPr/>
                        <a:lstStyle/>
                        <a:p>
                          <a:endParaRPr lang="en-US" dirty="0"/>
                        </a:p>
                      </a:txBody>
                      <a:tcPr/>
                    </a:tc>
                    <a:tc>
                      <a:txBody>
                        <a:bodyPr/>
                        <a:lstStyle/>
                        <a:p>
                          <a:endParaRPr lang="en-US" dirty="0"/>
                        </a:p>
                      </a:txBody>
                      <a:tcPr/>
                    </a:tc>
                    <a:tc gridSpan="2">
                      <a:txBody>
                        <a:bodyPr/>
                        <a:lstStyle/>
                        <a:p>
                          <a:pPr algn="ctr"/>
                          <a:r>
                            <a:rPr lang="en-US" sz="2100" dirty="0" smtClean="0">
                              <a:latin typeface="Vani" panose="020B0502040204020203"/>
                            </a:rPr>
                            <a:t>Pedestrian</a:t>
                          </a:r>
                          <a:r>
                            <a:rPr lang="en-US" sz="2100" baseline="0" dirty="0" smtClean="0">
                              <a:latin typeface="Vani" panose="020B0502040204020203"/>
                            </a:rPr>
                            <a:t> Intoxicated?</a:t>
                          </a:r>
                          <a:endParaRPr lang="en-US" sz="2100" dirty="0">
                            <a:latin typeface="Vani" panose="020B0502040204020203"/>
                          </a:endParaRPr>
                        </a:p>
                      </a:txBody>
                      <a:tcPr/>
                    </a:tc>
                    <a:tc hMerge="1">
                      <a:txBody>
                        <a:bodyPr/>
                        <a:lstStyle/>
                        <a:p>
                          <a:endParaRPr lang="en-US" dirty="0"/>
                        </a:p>
                      </a:txBody>
                      <a:tcPr/>
                    </a:tc>
                  </a:tr>
                  <a:tr h="370840">
                    <a:tc>
                      <a:txBody>
                        <a:bodyPr/>
                        <a:lstStyle/>
                        <a:p>
                          <a:endParaRPr lang="en-US" dirty="0"/>
                        </a:p>
                      </a:txBody>
                      <a:tcPr/>
                    </a:tc>
                    <a:tc>
                      <a:txBody>
                        <a:bodyPr/>
                        <a:lstStyle/>
                        <a:p>
                          <a:endParaRPr lang="en-US" dirty="0"/>
                        </a:p>
                      </a:txBody>
                      <a:tcPr/>
                    </a:tc>
                    <a:tc>
                      <a:txBody>
                        <a:bodyPr/>
                        <a:lstStyle/>
                        <a:p>
                          <a:endParaRPr lang="en-US"/>
                        </a:p>
                      </a:txBody>
                      <a:tcPr>
                        <a:blipFill rotWithShape="0">
                          <a:blip r:embed="rId3"/>
                          <a:stretch>
                            <a:fillRect l="-200400" t="-121311" r="-101000" b="-203279"/>
                          </a:stretch>
                        </a:blipFill>
                      </a:tcPr>
                    </a:tc>
                    <a:tc>
                      <a:txBody>
                        <a:bodyPr/>
                        <a:lstStyle/>
                        <a:p>
                          <a:endParaRPr lang="en-US"/>
                        </a:p>
                      </a:txBody>
                      <a:tcPr>
                        <a:blipFill rotWithShape="0">
                          <a:blip r:embed="rId3"/>
                          <a:stretch>
                            <a:fillRect l="-300400" t="-121311" r="-1000" b="-203279"/>
                          </a:stretch>
                        </a:blipFill>
                      </a:tcPr>
                    </a:tc>
                  </a:tr>
                  <a:tr h="370840">
                    <a:tc rowSpan="2">
                      <a:txBody>
                        <a:bodyPr/>
                        <a:lstStyle/>
                        <a:p>
                          <a:r>
                            <a:rPr lang="en-US" sz="2100" b="1" dirty="0" smtClean="0">
                              <a:latin typeface="Vani" panose="020B0502040204020203"/>
                            </a:rPr>
                            <a:t>Driver Intoxicated?</a:t>
                          </a:r>
                          <a:endParaRPr lang="en-US" sz="2100" b="1" dirty="0">
                            <a:latin typeface="Vani" panose="020B0502040204020203"/>
                          </a:endParaRPr>
                        </a:p>
                      </a:txBody>
                      <a:tcPr/>
                    </a:tc>
                    <a:tc>
                      <a:txBody>
                        <a:bodyPr/>
                        <a:lstStyle/>
                        <a:p>
                          <a:endParaRPr lang="en-US"/>
                        </a:p>
                      </a:txBody>
                      <a:tcPr>
                        <a:blipFill rotWithShape="0">
                          <a:blip r:embed="rId3"/>
                          <a:stretch>
                            <a:fillRect l="-100400" t="-221311" r="-201000" b="-103279"/>
                          </a:stretch>
                        </a:blipFill>
                      </a:tcPr>
                    </a:tc>
                    <a:tc>
                      <a:txBody>
                        <a:bodyPr/>
                        <a:lstStyle/>
                        <a:p>
                          <a:endParaRPr lang="en-US"/>
                        </a:p>
                      </a:txBody>
                      <a:tcPr>
                        <a:blipFill rotWithShape="0">
                          <a:blip r:embed="rId3"/>
                          <a:stretch>
                            <a:fillRect l="-200400" t="-221311" r="-101000" b="-103279"/>
                          </a:stretch>
                        </a:blipFill>
                      </a:tcPr>
                    </a:tc>
                    <a:tc>
                      <a:txBody>
                        <a:bodyPr/>
                        <a:lstStyle/>
                        <a:p>
                          <a:endParaRPr lang="en-US"/>
                        </a:p>
                      </a:txBody>
                      <a:tcPr>
                        <a:blipFill rotWithShape="0">
                          <a:blip r:embed="rId3"/>
                          <a:stretch>
                            <a:fillRect l="-300400" t="-221311" r="-1000" b="-103279"/>
                          </a:stretch>
                        </a:blipFill>
                      </a:tcPr>
                    </a:tc>
                  </a:tr>
                  <a:tr h="370840">
                    <a:tc vMerge="1">
                      <a:txBody>
                        <a:bodyPr/>
                        <a:lstStyle/>
                        <a:p>
                          <a:endParaRPr lang="en-US" dirty="0"/>
                        </a:p>
                      </a:txBody>
                      <a:tcPr/>
                    </a:tc>
                    <a:tc>
                      <a:txBody>
                        <a:bodyPr/>
                        <a:lstStyle/>
                        <a:p>
                          <a:endParaRPr lang="en-US"/>
                        </a:p>
                      </a:txBody>
                      <a:tcPr>
                        <a:blipFill rotWithShape="0">
                          <a:blip r:embed="rId3"/>
                          <a:stretch>
                            <a:fillRect l="-100400" t="-321311" r="-201000" b="-3279"/>
                          </a:stretch>
                        </a:blipFill>
                      </a:tcPr>
                    </a:tc>
                    <a:tc>
                      <a:txBody>
                        <a:bodyPr/>
                        <a:lstStyle/>
                        <a:p>
                          <a:endParaRPr lang="en-US"/>
                        </a:p>
                      </a:txBody>
                      <a:tcPr>
                        <a:blipFill rotWithShape="0">
                          <a:blip r:embed="rId3"/>
                          <a:stretch>
                            <a:fillRect l="-200400" t="-321311" r="-101000" b="-3279"/>
                          </a:stretch>
                        </a:blipFill>
                      </a:tcPr>
                    </a:tc>
                    <a:tc>
                      <a:txBody>
                        <a:bodyPr/>
                        <a:lstStyle/>
                        <a:p>
                          <a:endParaRPr lang="en-US"/>
                        </a:p>
                      </a:txBody>
                      <a:tcPr>
                        <a:blipFill rotWithShape="0">
                          <a:blip r:embed="rId3"/>
                          <a:stretch>
                            <a:fillRect l="-300400" t="-321311" r="-1000" b="-3279"/>
                          </a:stretch>
                        </a:blipFill>
                      </a:tcPr>
                    </a:tc>
                  </a:tr>
                </a:tbl>
              </a:graphicData>
            </a:graphic>
          </p:graphicFrame>
        </mc:Fallback>
      </mc:AlternateContent>
    </p:spTree>
    <p:extLst>
      <p:ext uri="{BB962C8B-B14F-4D97-AF65-F5344CB8AC3E}">
        <p14:creationId xmlns:p14="http://schemas.microsoft.com/office/powerpoint/2010/main" val="2786458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0" y="295562"/>
            <a:ext cx="12192000" cy="1008247"/>
          </a:xfrm>
        </p:spPr>
        <p:txBody>
          <a:bodyPr/>
          <a:lstStyle/>
          <a:p>
            <a:r>
              <a:rPr lang="en-US" dirty="0" smtClean="0"/>
              <a:t>Questions and Answers							11-1.</a:t>
            </a:r>
            <a:endParaRPr dirty="0"/>
          </a:p>
        </p:txBody>
      </p:sp>
      <mc:AlternateContent xmlns:mc="http://schemas.openxmlformats.org/markup-compatibility/2006" xmlns:a14="http://schemas.microsoft.com/office/drawing/2010/main">
        <mc:Choice Requires="a14">
          <p:sp>
            <p:nvSpPr>
              <p:cNvPr id="14" name="Content Placeholder 13"/>
              <p:cNvSpPr>
                <a:spLocks noGrp="1"/>
              </p:cNvSpPr>
              <p:nvPr>
                <p:ph idx="1"/>
              </p:nvPr>
            </p:nvSpPr>
            <p:spPr>
              <a:xfrm>
                <a:off x="0" y="1738184"/>
                <a:ext cx="12192000" cy="5119816"/>
              </a:xfrm>
            </p:spPr>
            <p:txBody>
              <a:bodyPr>
                <a:normAutofit/>
              </a:bodyPr>
              <a:lstStyle/>
              <a:p>
                <a:pPr>
                  <a:lnSpc>
                    <a:spcPct val="150000"/>
                  </a:lnSpc>
                </a:pPr>
                <a:r>
                  <a:rPr lang="en-US" sz="2300" dirty="0" smtClean="0">
                    <a:solidFill>
                      <a:srgbClr val="7030A0"/>
                    </a:solidFill>
                    <a:latin typeface="Vani" panose="020B0502040204020203" pitchFamily="34" charset="0"/>
                    <a:cs typeface="Vani" panose="020B0502040204020203" pitchFamily="34" charset="0"/>
                  </a:rPr>
                  <a:t>(11.) </a:t>
                </a:r>
                <a:r>
                  <a:rPr lang="en-US" sz="2300" dirty="0">
                    <a:latin typeface="Vani" panose="020B0502040204020203" pitchFamily="34" charset="0"/>
                    <a:cs typeface="Vani" panose="020B0502040204020203" pitchFamily="34" charset="0"/>
                  </a:rPr>
                  <a:t>	</a:t>
                </a:r>
                <a:r>
                  <a:rPr lang="en-US" sz="2300" dirty="0" err="1" smtClean="0">
                    <a:latin typeface="Vani" panose="020B0502040204020203" pitchFamily="34" charset="0"/>
                    <a:cs typeface="Vani" panose="020B0502040204020203" pitchFamily="34" charset="0"/>
                  </a:rPr>
                  <a:t>LoveMan</a:t>
                </a:r>
                <a:r>
                  <a:rPr lang="en-US" sz="2300" dirty="0" smtClean="0">
                    <a:latin typeface="Vani" panose="020B0502040204020203" pitchFamily="34" charset="0"/>
                    <a:cs typeface="Vani" panose="020B0502040204020203" pitchFamily="34" charset="0"/>
                  </a:rPr>
                  <a:t> tires produced a batch of 6400 tires of which 220 were defective.</a:t>
                </a:r>
              </a:p>
              <a:p>
                <a:pPr>
                  <a:lnSpc>
                    <a:spcPct val="150000"/>
                  </a:lnSpc>
                </a:pPr>
                <a:r>
                  <a:rPr lang="en-US" sz="2300" dirty="0" smtClean="0">
                    <a:latin typeface="Vani" panose="020B0502040204020203" pitchFamily="34" charset="0"/>
                    <a:cs typeface="Vani" panose="020B0502040204020203" pitchFamily="34" charset="0"/>
                  </a:rPr>
                  <a:t>(a.)	If 4 tires are selected at random, what is the probability that they are all good? Round to three decimal places as needed.</a:t>
                </a:r>
              </a:p>
              <a:p>
                <a:pPr>
                  <a:lnSpc>
                    <a:spcPct val="150000"/>
                  </a:lnSpc>
                </a:pPr>
                <a14:m>
                  <m:oMath xmlns:m="http://schemas.openxmlformats.org/officeDocument/2006/math">
                    <m:r>
                      <a:rPr lang="en-US" sz="2300" b="0" i="1" smtClean="0">
                        <a:latin typeface="Cambria Math" panose="02040503050406030204" pitchFamily="18" charset="0"/>
                        <a:cs typeface="Vani" panose="020B0502040204020203" pitchFamily="34" charset="0"/>
                      </a:rPr>
                      <m:t>𝑛</m:t>
                    </m:r>
                    <m:d>
                      <m:dPr>
                        <m:ctrlPr>
                          <a:rPr lang="en-US" sz="2300" b="0" i="1" smtClean="0">
                            <a:latin typeface="Cambria Math" panose="02040503050406030204" pitchFamily="18" charset="0"/>
                            <a:cs typeface="Vani" panose="020B0502040204020203" pitchFamily="34" charset="0"/>
                          </a:rPr>
                        </m:ctrlPr>
                      </m:dPr>
                      <m:e>
                        <m:r>
                          <a:rPr lang="en-US" sz="2300" b="0" i="1" smtClean="0">
                            <a:latin typeface="Cambria Math" panose="02040503050406030204" pitchFamily="18" charset="0"/>
                            <a:cs typeface="Vani" panose="020B0502040204020203" pitchFamily="34" charset="0"/>
                          </a:rPr>
                          <m:t>𝑆</m:t>
                        </m:r>
                      </m:e>
                    </m:d>
                    <m:r>
                      <a:rPr lang="en-US" sz="2300" b="0" i="1" smtClean="0">
                        <a:latin typeface="Cambria Math" panose="02040503050406030204" pitchFamily="18" charset="0"/>
                        <a:cs typeface="Vani" panose="020B0502040204020203" pitchFamily="34" charset="0"/>
                      </a:rPr>
                      <m:t>=6400; </m:t>
                    </m:r>
                    <m:r>
                      <a:rPr lang="en-US" sz="2300" b="0" i="1" smtClean="0">
                        <a:latin typeface="Cambria Math" panose="02040503050406030204" pitchFamily="18" charset="0"/>
                        <a:cs typeface="Vani" panose="020B0502040204020203" pitchFamily="34" charset="0"/>
                      </a:rPr>
                      <m:t>𝑛</m:t>
                    </m:r>
                    <m:d>
                      <m:dPr>
                        <m:ctrlPr>
                          <a:rPr lang="en-US" sz="2300" b="0" i="1" smtClean="0">
                            <a:latin typeface="Cambria Math" panose="02040503050406030204" pitchFamily="18" charset="0"/>
                            <a:cs typeface="Vani" panose="020B0502040204020203" pitchFamily="34" charset="0"/>
                          </a:rPr>
                        </m:ctrlPr>
                      </m:dPr>
                      <m:e>
                        <m:r>
                          <a:rPr lang="en-US" sz="2300" b="0" i="1" smtClean="0">
                            <a:latin typeface="Cambria Math" panose="02040503050406030204" pitchFamily="18" charset="0"/>
                            <a:cs typeface="Vani" panose="020B0502040204020203" pitchFamily="34" charset="0"/>
                          </a:rPr>
                          <m:t>𝐷𝑒𝑓𝑒𝑐𝑡𝑖𝑣𝑒</m:t>
                        </m:r>
                      </m:e>
                    </m:d>
                    <m:r>
                      <a:rPr lang="en-US" sz="2300" b="0" i="1" smtClean="0">
                        <a:latin typeface="Cambria Math" panose="02040503050406030204" pitchFamily="18" charset="0"/>
                        <a:cs typeface="Vani" panose="020B0502040204020203" pitchFamily="34" charset="0"/>
                      </a:rPr>
                      <m:t>=</m:t>
                    </m:r>
                    <m:r>
                      <a:rPr lang="en-US" sz="2300" b="0" i="1" smtClean="0">
                        <a:latin typeface="Cambria Math" panose="02040503050406030204" pitchFamily="18" charset="0"/>
                        <a:cs typeface="Vani" panose="020B0502040204020203" pitchFamily="34" charset="0"/>
                      </a:rPr>
                      <m:t>𝑛</m:t>
                    </m:r>
                    <m:d>
                      <m:dPr>
                        <m:ctrlPr>
                          <a:rPr lang="en-US" sz="2300" b="0" i="1" smtClean="0">
                            <a:latin typeface="Cambria Math" panose="02040503050406030204" pitchFamily="18" charset="0"/>
                            <a:cs typeface="Vani" panose="020B0502040204020203" pitchFamily="34" charset="0"/>
                          </a:rPr>
                        </m:ctrlPr>
                      </m:dPr>
                      <m:e>
                        <m:r>
                          <a:rPr lang="en-US" sz="2300" b="0" i="1" smtClean="0">
                            <a:latin typeface="Cambria Math" panose="02040503050406030204" pitchFamily="18" charset="0"/>
                            <a:cs typeface="Vani" panose="020B0502040204020203" pitchFamily="34" charset="0"/>
                          </a:rPr>
                          <m:t>𝐷</m:t>
                        </m:r>
                      </m:e>
                    </m:d>
                    <m:r>
                      <a:rPr lang="en-US" sz="2300" b="0" i="1" smtClean="0">
                        <a:latin typeface="Cambria Math" panose="02040503050406030204" pitchFamily="18" charset="0"/>
                        <a:cs typeface="Vani" panose="020B0502040204020203" pitchFamily="34" charset="0"/>
                      </a:rPr>
                      <m:t>=220; </m:t>
                    </m:r>
                    <m:r>
                      <a:rPr lang="en-US" sz="2300" b="0" i="1" smtClean="0">
                        <a:latin typeface="Cambria Math" panose="02040503050406030204" pitchFamily="18" charset="0"/>
                        <a:cs typeface="Vani" panose="020B0502040204020203" pitchFamily="34" charset="0"/>
                      </a:rPr>
                      <m:t>𝑛</m:t>
                    </m:r>
                    <m:d>
                      <m:dPr>
                        <m:ctrlPr>
                          <a:rPr lang="en-US" sz="2300" b="0" i="1" smtClean="0">
                            <a:latin typeface="Cambria Math" panose="02040503050406030204" pitchFamily="18" charset="0"/>
                            <a:cs typeface="Vani" panose="020B0502040204020203" pitchFamily="34" charset="0"/>
                          </a:rPr>
                        </m:ctrlPr>
                      </m:dPr>
                      <m:e>
                        <m:r>
                          <a:rPr lang="en-US" sz="2300" b="0" i="1" smtClean="0">
                            <a:latin typeface="Cambria Math" panose="02040503050406030204" pitchFamily="18" charset="0"/>
                            <a:cs typeface="Vani" panose="020B0502040204020203" pitchFamily="34" charset="0"/>
                          </a:rPr>
                          <m:t>𝑁𝑜𝑡</m:t>
                        </m:r>
                        <m:r>
                          <a:rPr lang="en-US" sz="2300" b="0" i="1" smtClean="0">
                            <a:latin typeface="Cambria Math" panose="02040503050406030204" pitchFamily="18" charset="0"/>
                            <a:cs typeface="Vani" panose="020B0502040204020203" pitchFamily="34" charset="0"/>
                          </a:rPr>
                          <m:t> </m:t>
                        </m:r>
                        <m:r>
                          <a:rPr lang="en-US" sz="2300" b="0" i="1" smtClean="0">
                            <a:latin typeface="Cambria Math" panose="02040503050406030204" pitchFamily="18" charset="0"/>
                            <a:cs typeface="Vani" panose="020B0502040204020203" pitchFamily="34" charset="0"/>
                          </a:rPr>
                          <m:t>𝐷𝑒𝑓𝑒𝑐𝑡𝑖𝑣𝑒</m:t>
                        </m:r>
                      </m:e>
                    </m:d>
                    <m:r>
                      <a:rPr lang="en-US" sz="2300" b="0" i="1" smtClean="0">
                        <a:latin typeface="Cambria Math" panose="02040503050406030204" pitchFamily="18" charset="0"/>
                        <a:cs typeface="Vani" panose="020B0502040204020203" pitchFamily="34" charset="0"/>
                      </a:rPr>
                      <m:t>=</m:t>
                    </m:r>
                    <m:r>
                      <a:rPr lang="en-US" sz="2300" b="0" i="1" smtClean="0">
                        <a:latin typeface="Cambria Math" panose="02040503050406030204" pitchFamily="18" charset="0"/>
                        <a:cs typeface="Vani" panose="020B0502040204020203" pitchFamily="34" charset="0"/>
                      </a:rPr>
                      <m:t>𝑛</m:t>
                    </m:r>
                    <m:d>
                      <m:dPr>
                        <m:ctrlPr>
                          <a:rPr lang="en-US" sz="2300" b="0" i="1" smtClean="0">
                            <a:latin typeface="Cambria Math" panose="02040503050406030204" pitchFamily="18" charset="0"/>
                            <a:cs typeface="Vani" panose="020B0502040204020203" pitchFamily="34" charset="0"/>
                          </a:rPr>
                        </m:ctrlPr>
                      </m:dPr>
                      <m:e>
                        <m:r>
                          <a:rPr lang="en-US" sz="2300" b="0" i="1" smtClean="0">
                            <a:latin typeface="Cambria Math" panose="02040503050406030204" pitchFamily="18" charset="0"/>
                            <a:cs typeface="Vani" panose="020B0502040204020203" pitchFamily="34" charset="0"/>
                          </a:rPr>
                          <m:t>𝑁𝐷</m:t>
                        </m:r>
                      </m:e>
                    </m:d>
                    <m:r>
                      <a:rPr lang="en-US" sz="2300" b="0" i="1" smtClean="0">
                        <a:latin typeface="Cambria Math" panose="02040503050406030204" pitchFamily="18" charset="0"/>
                        <a:cs typeface="Vani" panose="020B0502040204020203" pitchFamily="34" charset="0"/>
                      </a:rPr>
                      <m:t>=6400−220=6180</m:t>
                    </m:r>
                  </m:oMath>
                </a14:m>
                <a:endParaRPr lang="en-US" sz="2300" b="0" dirty="0" smtClean="0">
                  <a:latin typeface="Vani" panose="020B0502040204020203" pitchFamily="34" charset="0"/>
                  <a:cs typeface="Vani" panose="020B0502040204020203" pitchFamily="34" charset="0"/>
                </a:endParaRPr>
              </a:p>
              <a:p>
                <a:pPr>
                  <a:lnSpc>
                    <a:spcPct val="150000"/>
                  </a:lnSpc>
                </a:pPr>
                <a:r>
                  <a:rPr lang="en-US" sz="2300" dirty="0" smtClean="0">
                    <a:latin typeface="Vani" panose="020B0502040204020203" pitchFamily="34" charset="0"/>
                    <a:cs typeface="Vani" panose="020B0502040204020203" pitchFamily="34" charset="0"/>
                  </a:rPr>
                  <a:t>We shall treat this event as an independent event because it did not say it was done without replacement.</a:t>
                </a:r>
              </a:p>
              <a:p>
                <a:pPr>
                  <a:lnSpc>
                    <a:spcPct val="150000"/>
                  </a:lnSpc>
                </a:pPr>
                <a14:m>
                  <m:oMath xmlns:m="http://schemas.openxmlformats.org/officeDocument/2006/math">
                    <m:r>
                      <a:rPr lang="en-US" sz="2300" b="0" i="1" smtClean="0">
                        <a:latin typeface="Cambria Math" panose="02040503050406030204" pitchFamily="18" charset="0"/>
                        <a:cs typeface="Vani" panose="020B0502040204020203" pitchFamily="34" charset="0"/>
                      </a:rPr>
                      <m:t>𝑃</m:t>
                    </m:r>
                    <m:d>
                      <m:dPr>
                        <m:ctrlPr>
                          <a:rPr lang="en-US" sz="2300" b="0" i="1" smtClean="0">
                            <a:latin typeface="Cambria Math" panose="02040503050406030204" pitchFamily="18" charset="0"/>
                            <a:cs typeface="Vani" panose="020B0502040204020203" pitchFamily="34" charset="0"/>
                          </a:rPr>
                        </m:ctrlPr>
                      </m:dPr>
                      <m:e>
                        <m:r>
                          <a:rPr lang="en-US" sz="2300" b="0" i="1" smtClean="0">
                            <a:latin typeface="Cambria Math" panose="02040503050406030204" pitchFamily="18" charset="0"/>
                            <a:cs typeface="Vani" panose="020B0502040204020203" pitchFamily="34" charset="0"/>
                          </a:rPr>
                          <m:t>𝑁𝐷</m:t>
                        </m:r>
                        <m:r>
                          <a:rPr lang="en-US" sz="2300" b="0" i="1" smtClean="0">
                            <a:latin typeface="Cambria Math" panose="02040503050406030204" pitchFamily="18" charset="0"/>
                            <a:cs typeface="Vani" panose="020B0502040204020203" pitchFamily="34" charset="0"/>
                          </a:rPr>
                          <m:t>, </m:t>
                        </m:r>
                        <m:r>
                          <a:rPr lang="en-US" sz="2300" b="0" i="1" smtClean="0">
                            <a:latin typeface="Cambria Math" panose="02040503050406030204" pitchFamily="18" charset="0"/>
                            <a:cs typeface="Vani" panose="020B0502040204020203" pitchFamily="34" charset="0"/>
                          </a:rPr>
                          <m:t>𝑁𝐷</m:t>
                        </m:r>
                        <m:r>
                          <a:rPr lang="en-US" sz="2300" b="0" i="1" smtClean="0">
                            <a:latin typeface="Cambria Math" panose="02040503050406030204" pitchFamily="18" charset="0"/>
                            <a:cs typeface="Vani" panose="020B0502040204020203" pitchFamily="34" charset="0"/>
                          </a:rPr>
                          <m:t>, </m:t>
                        </m:r>
                        <m:r>
                          <a:rPr lang="en-US" sz="2300" b="0" i="1" smtClean="0">
                            <a:latin typeface="Cambria Math" panose="02040503050406030204" pitchFamily="18" charset="0"/>
                            <a:cs typeface="Vani" panose="020B0502040204020203" pitchFamily="34" charset="0"/>
                          </a:rPr>
                          <m:t>𝑁𝐷</m:t>
                        </m:r>
                        <m:r>
                          <a:rPr lang="en-US" sz="2300" b="0" i="1" smtClean="0">
                            <a:latin typeface="Cambria Math" panose="02040503050406030204" pitchFamily="18" charset="0"/>
                            <a:cs typeface="Vani" panose="020B0502040204020203" pitchFamily="34" charset="0"/>
                          </a:rPr>
                          <m:t>, </m:t>
                        </m:r>
                        <m:r>
                          <a:rPr lang="en-US" sz="2300" b="0" i="1" smtClean="0">
                            <a:latin typeface="Cambria Math" panose="02040503050406030204" pitchFamily="18" charset="0"/>
                            <a:cs typeface="Vani" panose="020B0502040204020203" pitchFamily="34" charset="0"/>
                          </a:rPr>
                          <m:t>𝑁𝐷</m:t>
                        </m:r>
                      </m:e>
                    </m:d>
                    <m:r>
                      <a:rPr lang="en-US" sz="2300" b="0" i="1" smtClean="0">
                        <a:latin typeface="Cambria Math" panose="02040503050406030204" pitchFamily="18" charset="0"/>
                        <a:cs typeface="Vani" panose="020B0502040204020203" pitchFamily="34" charset="0"/>
                      </a:rPr>
                      <m:t>=</m:t>
                    </m:r>
                    <m:f>
                      <m:fPr>
                        <m:ctrlPr>
                          <a:rPr lang="en-US" sz="2300" b="0" i="1" smtClean="0">
                            <a:latin typeface="Cambria Math" panose="02040503050406030204" pitchFamily="18" charset="0"/>
                            <a:cs typeface="Vani" panose="020B0502040204020203" pitchFamily="34" charset="0"/>
                          </a:rPr>
                        </m:ctrlPr>
                      </m:fPr>
                      <m:num>
                        <m:r>
                          <a:rPr lang="en-US" sz="2300" b="0" i="1" smtClean="0">
                            <a:latin typeface="Cambria Math" panose="02040503050406030204" pitchFamily="18" charset="0"/>
                            <a:cs typeface="Vani" panose="020B0502040204020203" pitchFamily="34" charset="0"/>
                          </a:rPr>
                          <m:t>6180</m:t>
                        </m:r>
                      </m:num>
                      <m:den>
                        <m:r>
                          <a:rPr lang="en-US" sz="2300" b="0" i="1" smtClean="0">
                            <a:latin typeface="Cambria Math" panose="02040503050406030204" pitchFamily="18" charset="0"/>
                            <a:cs typeface="Vani" panose="020B0502040204020203" pitchFamily="34" charset="0"/>
                          </a:rPr>
                          <m:t>6400</m:t>
                        </m:r>
                      </m:den>
                    </m:f>
                    <m:r>
                      <a:rPr lang="en-US" sz="2300" b="0" i="1" smtClean="0">
                        <a:latin typeface="Cambria Math" panose="02040503050406030204" pitchFamily="18" charset="0"/>
                        <a:cs typeface="Vani" panose="020B0502040204020203" pitchFamily="34" charset="0"/>
                      </a:rPr>
                      <m:t>∗</m:t>
                    </m:r>
                    <m:f>
                      <m:fPr>
                        <m:ctrlPr>
                          <a:rPr lang="en-US" sz="2300" b="0" i="1" smtClean="0">
                            <a:latin typeface="Cambria Math" panose="02040503050406030204" pitchFamily="18" charset="0"/>
                            <a:cs typeface="Vani" panose="020B0502040204020203" pitchFamily="34" charset="0"/>
                          </a:rPr>
                        </m:ctrlPr>
                      </m:fPr>
                      <m:num>
                        <m:r>
                          <a:rPr lang="en-US" sz="2300" b="0" i="1" smtClean="0">
                            <a:latin typeface="Cambria Math" panose="02040503050406030204" pitchFamily="18" charset="0"/>
                            <a:cs typeface="Vani" panose="020B0502040204020203" pitchFamily="34" charset="0"/>
                          </a:rPr>
                          <m:t>6180</m:t>
                        </m:r>
                      </m:num>
                      <m:den>
                        <m:r>
                          <a:rPr lang="en-US" sz="2300" b="0" i="1" smtClean="0">
                            <a:latin typeface="Cambria Math" panose="02040503050406030204" pitchFamily="18" charset="0"/>
                            <a:cs typeface="Vani" panose="020B0502040204020203" pitchFamily="34" charset="0"/>
                          </a:rPr>
                          <m:t>6400</m:t>
                        </m:r>
                      </m:den>
                    </m:f>
                    <m:r>
                      <a:rPr lang="en-US" sz="2300" b="0" i="1" smtClean="0">
                        <a:latin typeface="Cambria Math" panose="02040503050406030204" pitchFamily="18" charset="0"/>
                        <a:cs typeface="Vani" panose="020B0502040204020203" pitchFamily="34" charset="0"/>
                      </a:rPr>
                      <m:t>∗</m:t>
                    </m:r>
                    <m:f>
                      <m:fPr>
                        <m:ctrlPr>
                          <a:rPr lang="en-US" sz="2300" b="0" i="1" smtClean="0">
                            <a:latin typeface="Cambria Math" panose="02040503050406030204" pitchFamily="18" charset="0"/>
                            <a:cs typeface="Vani" panose="020B0502040204020203" pitchFamily="34" charset="0"/>
                          </a:rPr>
                        </m:ctrlPr>
                      </m:fPr>
                      <m:num>
                        <m:r>
                          <a:rPr lang="en-US" sz="2300" b="0" i="1" smtClean="0">
                            <a:latin typeface="Cambria Math" panose="02040503050406030204" pitchFamily="18" charset="0"/>
                            <a:cs typeface="Vani" panose="020B0502040204020203" pitchFamily="34" charset="0"/>
                          </a:rPr>
                          <m:t>6180</m:t>
                        </m:r>
                      </m:num>
                      <m:den>
                        <m:r>
                          <a:rPr lang="en-US" sz="2300" b="0" i="1" smtClean="0">
                            <a:latin typeface="Cambria Math" panose="02040503050406030204" pitchFamily="18" charset="0"/>
                            <a:cs typeface="Vani" panose="020B0502040204020203" pitchFamily="34" charset="0"/>
                          </a:rPr>
                          <m:t>6400</m:t>
                        </m:r>
                      </m:den>
                    </m:f>
                    <m:r>
                      <a:rPr lang="en-US" sz="2300" b="0" i="1" smtClean="0">
                        <a:latin typeface="Cambria Math" panose="02040503050406030204" pitchFamily="18" charset="0"/>
                        <a:cs typeface="Vani" panose="020B0502040204020203" pitchFamily="34" charset="0"/>
                      </a:rPr>
                      <m:t>∗</m:t>
                    </m:r>
                    <m:f>
                      <m:fPr>
                        <m:ctrlPr>
                          <a:rPr lang="en-US" sz="2300" b="0" i="1" smtClean="0">
                            <a:latin typeface="Cambria Math" panose="02040503050406030204" pitchFamily="18" charset="0"/>
                            <a:cs typeface="Vani" panose="020B0502040204020203" pitchFamily="34" charset="0"/>
                          </a:rPr>
                        </m:ctrlPr>
                      </m:fPr>
                      <m:num>
                        <m:r>
                          <a:rPr lang="en-US" sz="2300" b="0" i="1" smtClean="0">
                            <a:latin typeface="Cambria Math" panose="02040503050406030204" pitchFamily="18" charset="0"/>
                            <a:cs typeface="Vani" panose="020B0502040204020203" pitchFamily="34" charset="0"/>
                          </a:rPr>
                          <m:t>6180</m:t>
                        </m:r>
                      </m:num>
                      <m:den>
                        <m:r>
                          <a:rPr lang="en-US" sz="2300" b="0" i="1" smtClean="0">
                            <a:latin typeface="Cambria Math" panose="02040503050406030204" pitchFamily="18" charset="0"/>
                            <a:cs typeface="Vani" panose="020B0502040204020203" pitchFamily="34" charset="0"/>
                          </a:rPr>
                          <m:t>6400</m:t>
                        </m:r>
                      </m:den>
                    </m:f>
                    <m:r>
                      <a:rPr lang="en-US" sz="2300" b="0" i="1" smtClean="0">
                        <a:latin typeface="Cambria Math" panose="02040503050406030204" pitchFamily="18" charset="0"/>
                        <a:cs typeface="Vani" panose="020B0502040204020203" pitchFamily="34" charset="0"/>
                      </a:rPr>
                      <m:t>=</m:t>
                    </m:r>
                    <m:sSup>
                      <m:sSupPr>
                        <m:ctrlPr>
                          <a:rPr lang="en-US" sz="2300" b="0" i="1" smtClean="0">
                            <a:latin typeface="Cambria Math" panose="02040503050406030204" pitchFamily="18" charset="0"/>
                            <a:cs typeface="Vani" panose="020B0502040204020203" pitchFamily="34" charset="0"/>
                          </a:rPr>
                        </m:ctrlPr>
                      </m:sSupPr>
                      <m:e>
                        <m:d>
                          <m:dPr>
                            <m:ctrlPr>
                              <a:rPr lang="en-US" sz="2300" b="0" i="1" smtClean="0">
                                <a:latin typeface="Cambria Math" panose="02040503050406030204" pitchFamily="18" charset="0"/>
                                <a:cs typeface="Vani" panose="020B0502040204020203" pitchFamily="34" charset="0"/>
                              </a:rPr>
                            </m:ctrlPr>
                          </m:dPr>
                          <m:e>
                            <m:f>
                              <m:fPr>
                                <m:ctrlPr>
                                  <a:rPr lang="en-US" sz="2300" b="0" i="1" smtClean="0">
                                    <a:latin typeface="Cambria Math" panose="02040503050406030204" pitchFamily="18" charset="0"/>
                                    <a:cs typeface="Vani" panose="020B0502040204020203" pitchFamily="34" charset="0"/>
                                  </a:rPr>
                                </m:ctrlPr>
                              </m:fPr>
                              <m:num>
                                <m:r>
                                  <a:rPr lang="en-US" sz="2300" b="0" i="1" smtClean="0">
                                    <a:latin typeface="Cambria Math" panose="02040503050406030204" pitchFamily="18" charset="0"/>
                                    <a:cs typeface="Vani" panose="020B0502040204020203" pitchFamily="34" charset="0"/>
                                  </a:rPr>
                                  <m:t>6180</m:t>
                                </m:r>
                              </m:num>
                              <m:den>
                                <m:r>
                                  <a:rPr lang="en-US" sz="2300" b="0" i="1" smtClean="0">
                                    <a:latin typeface="Cambria Math" panose="02040503050406030204" pitchFamily="18" charset="0"/>
                                    <a:cs typeface="Vani" panose="020B0502040204020203" pitchFamily="34" charset="0"/>
                                  </a:rPr>
                                  <m:t>6400</m:t>
                                </m:r>
                              </m:den>
                            </m:f>
                          </m:e>
                        </m:d>
                      </m:e>
                      <m:sup>
                        <m:r>
                          <a:rPr lang="en-US" sz="2300" b="0" i="1" smtClean="0">
                            <a:latin typeface="Cambria Math" panose="02040503050406030204" pitchFamily="18" charset="0"/>
                            <a:cs typeface="Vani" panose="020B0502040204020203" pitchFamily="34" charset="0"/>
                          </a:rPr>
                          <m:t>4</m:t>
                        </m:r>
                      </m:sup>
                    </m:sSup>
                    <m:r>
                      <a:rPr lang="en-US" sz="2300" b="0" i="1" smtClean="0">
                        <a:latin typeface="Cambria Math" panose="02040503050406030204" pitchFamily="18" charset="0"/>
                        <a:cs typeface="Vani" panose="020B0502040204020203" pitchFamily="34" charset="0"/>
                      </a:rPr>
                      <m:t>=</m:t>
                    </m:r>
                    <m:sSup>
                      <m:sSupPr>
                        <m:ctrlPr>
                          <a:rPr lang="en-US" sz="2300" b="0" i="1" smtClean="0">
                            <a:latin typeface="Cambria Math" panose="02040503050406030204" pitchFamily="18" charset="0"/>
                            <a:cs typeface="Vani" panose="020B0502040204020203" pitchFamily="34" charset="0"/>
                          </a:rPr>
                        </m:ctrlPr>
                      </m:sSupPr>
                      <m:e>
                        <m:r>
                          <a:rPr lang="en-US" sz="2300" b="0" i="1" smtClean="0">
                            <a:latin typeface="Cambria Math" panose="02040503050406030204" pitchFamily="18" charset="0"/>
                            <a:cs typeface="Vani" panose="020B0502040204020203" pitchFamily="34" charset="0"/>
                          </a:rPr>
                          <m:t>0.965625</m:t>
                        </m:r>
                      </m:e>
                      <m:sup>
                        <m:r>
                          <a:rPr lang="en-US" sz="2300" b="0" i="1" smtClean="0">
                            <a:latin typeface="Cambria Math" panose="02040503050406030204" pitchFamily="18" charset="0"/>
                            <a:cs typeface="Vani" panose="020B0502040204020203" pitchFamily="34" charset="0"/>
                          </a:rPr>
                          <m:t>4</m:t>
                        </m:r>
                      </m:sup>
                    </m:sSup>
                    <m:r>
                      <a:rPr lang="en-US" sz="2300" b="0" i="1" smtClean="0">
                        <a:latin typeface="Cambria Math" panose="02040503050406030204" pitchFamily="18" charset="0"/>
                        <a:cs typeface="Vani" panose="020B0502040204020203" pitchFamily="34" charset="0"/>
                      </a:rPr>
                      <m:t>=</m:t>
                    </m:r>
                    <m:r>
                      <a:rPr lang="en-US" sz="2300" b="0" i="1" smtClean="0">
                        <a:solidFill>
                          <a:srgbClr val="FF0000"/>
                        </a:solidFill>
                        <a:latin typeface="Cambria Math" panose="02040503050406030204" pitchFamily="18" charset="0"/>
                        <a:cs typeface="Vani" panose="020B0502040204020203" pitchFamily="34" charset="0"/>
                      </a:rPr>
                      <m:t>0.869</m:t>
                    </m:r>
                  </m:oMath>
                </a14:m>
                <a:endParaRPr lang="en-US" sz="2300" b="0" dirty="0" smtClean="0">
                  <a:solidFill>
                    <a:srgbClr val="FF0000"/>
                  </a:solidFill>
                  <a:latin typeface="Vani" panose="020B0502040204020203"/>
                  <a:cs typeface="Vani" panose="020B0502040204020203" pitchFamily="34" charset="0"/>
                </a:endParaRPr>
              </a:p>
              <a:p>
                <a:pPr>
                  <a:lnSpc>
                    <a:spcPct val="150000"/>
                  </a:lnSpc>
                </a:pPr>
                <a:endParaRPr lang="en-US" sz="2300" dirty="0" smtClean="0">
                  <a:latin typeface="Vani" panose="020B0502040204020203" pitchFamily="34" charset="0"/>
                  <a:cs typeface="Vani" panose="020B0502040204020203" pitchFamily="34" charset="0"/>
                </a:endParaRPr>
              </a:p>
              <a:p>
                <a:pPr>
                  <a:lnSpc>
                    <a:spcPct val="150000"/>
                  </a:lnSpc>
                </a:pPr>
                <a:endParaRPr lang="en-US" sz="2300" b="0" dirty="0" smtClean="0">
                  <a:latin typeface="Vani" panose="020B0502040204020203" pitchFamily="34" charset="0"/>
                  <a:cs typeface="Vani" panose="020B0502040204020203" pitchFamily="34" charset="0"/>
                </a:endParaRPr>
              </a:p>
              <a:p>
                <a:pPr>
                  <a:lnSpc>
                    <a:spcPct val="150000"/>
                  </a:lnSpc>
                </a:pPr>
                <a:endParaRPr lang="en-US" sz="2300" dirty="0">
                  <a:latin typeface="Vani" panose="020B0502040204020203" pitchFamily="34" charset="0"/>
                  <a:cs typeface="Vani" panose="020B0502040204020203" pitchFamily="34" charset="0"/>
                </a:endParaRPr>
              </a:p>
              <a:p>
                <a:pPr>
                  <a:lnSpc>
                    <a:spcPct val="150000"/>
                  </a:lnSpc>
                </a:pPr>
                <a:endParaRPr lang="en-US" sz="2300" b="0" dirty="0" smtClean="0">
                  <a:latin typeface="Vani" panose="020B0502040204020203" pitchFamily="34" charset="0"/>
                  <a:cs typeface="Vani" panose="020B0502040204020203" pitchFamily="34" charset="0"/>
                </a:endParaRPr>
              </a:p>
            </p:txBody>
          </p:sp>
        </mc:Choice>
        <mc:Fallback xmlns="">
          <p:sp>
            <p:nvSpPr>
              <p:cNvPr id="14" name="Content Placeholder 13"/>
              <p:cNvSpPr>
                <a:spLocks noGrp="1" noRot="1" noChangeAspect="1" noMove="1" noResize="1" noEditPoints="1" noAdjustHandles="1" noChangeArrowheads="1" noChangeShapeType="1" noTextEdit="1"/>
              </p:cNvSpPr>
              <p:nvPr>
                <p:ph idx="1"/>
              </p:nvPr>
            </p:nvSpPr>
            <p:spPr>
              <a:xfrm>
                <a:off x="0" y="1738184"/>
                <a:ext cx="12192000" cy="5119816"/>
              </a:xfrm>
              <a:blipFill rotWithShape="0">
                <a:blip r:embed="rId2"/>
                <a:stretch>
                  <a:fillRect l="-1350" r="-750"/>
                </a:stretch>
              </a:blipFill>
            </p:spPr>
            <p:txBody>
              <a:bodyPr/>
              <a:lstStyle/>
              <a:p>
                <a:r>
                  <a:rPr lang="en-US">
                    <a:noFill/>
                  </a:rPr>
                  <a:t> </a:t>
                </a:r>
              </a:p>
            </p:txBody>
          </p:sp>
        </mc:Fallback>
      </mc:AlternateContent>
    </p:spTree>
    <p:extLst>
      <p:ext uri="{BB962C8B-B14F-4D97-AF65-F5344CB8AC3E}">
        <p14:creationId xmlns:p14="http://schemas.microsoft.com/office/powerpoint/2010/main" val="41176248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0" y="295562"/>
            <a:ext cx="12192000" cy="1008247"/>
          </a:xfrm>
        </p:spPr>
        <p:txBody>
          <a:bodyPr/>
          <a:lstStyle/>
          <a:p>
            <a:r>
              <a:rPr lang="en-US" dirty="0" smtClean="0"/>
              <a:t>Questions and Answers							11-2.</a:t>
            </a:r>
            <a:endParaRPr dirty="0"/>
          </a:p>
        </p:txBody>
      </p:sp>
      <mc:AlternateContent xmlns:mc="http://schemas.openxmlformats.org/markup-compatibility/2006" xmlns:a14="http://schemas.microsoft.com/office/drawing/2010/main">
        <mc:Choice Requires="a14">
          <p:sp>
            <p:nvSpPr>
              <p:cNvPr id="14" name="Content Placeholder 13"/>
              <p:cNvSpPr>
                <a:spLocks noGrp="1"/>
              </p:cNvSpPr>
              <p:nvPr>
                <p:ph idx="1"/>
              </p:nvPr>
            </p:nvSpPr>
            <p:spPr>
              <a:xfrm>
                <a:off x="0" y="1738184"/>
                <a:ext cx="12192000" cy="5119816"/>
              </a:xfrm>
            </p:spPr>
            <p:txBody>
              <a:bodyPr>
                <a:normAutofit/>
              </a:bodyPr>
              <a:lstStyle/>
              <a:p>
                <a:pPr lvl="0">
                  <a:lnSpc>
                    <a:spcPct val="150000"/>
                  </a:lnSpc>
                </a:pPr>
                <a:r>
                  <a:rPr lang="en-US" sz="2300" dirty="0" smtClean="0">
                    <a:latin typeface="Vani" panose="020B0502040204020203" pitchFamily="34" charset="0"/>
                    <a:cs typeface="Vani" panose="020B0502040204020203" pitchFamily="34" charset="0"/>
                  </a:rPr>
                  <a:t>(</a:t>
                </a:r>
                <a:r>
                  <a:rPr lang="en-US" sz="2300" dirty="0">
                    <a:latin typeface="Vani" panose="020B0502040204020203"/>
                    <a:cs typeface="Vani" panose="020B0502040204020203" pitchFamily="34" charset="0"/>
                  </a:rPr>
                  <a:t>b</a:t>
                </a:r>
                <a:r>
                  <a:rPr lang="en-US" sz="2300" dirty="0" smtClean="0">
                    <a:latin typeface="Vani" panose="020B0502040204020203"/>
                    <a:cs typeface="Vani" panose="020B0502040204020203" pitchFamily="34" charset="0"/>
                  </a:rPr>
                  <a:t>.)</a:t>
                </a:r>
                <a:r>
                  <a:rPr lang="en-US" sz="2300" dirty="0">
                    <a:latin typeface="Vani" panose="020B0502040204020203"/>
                    <a:cs typeface="Vani" panose="020B0502040204020203" pitchFamily="34" charset="0"/>
                  </a:rPr>
                  <a:t>	</a:t>
                </a:r>
                <a:r>
                  <a:rPr lang="en-US" sz="2300" dirty="0" smtClean="0">
                    <a:latin typeface="Vani" panose="020B0502040204020203"/>
                    <a:cs typeface="Vani" panose="020B0502040204020203" pitchFamily="34" charset="0"/>
                  </a:rPr>
                  <a:t>If </a:t>
                </a:r>
                <a:r>
                  <a:rPr lang="en-US" sz="2300" dirty="0">
                    <a:latin typeface="Vani" panose="020B0502040204020203"/>
                    <a:cs typeface="Vani" panose="020B0502040204020203" pitchFamily="34" charset="0"/>
                  </a:rPr>
                  <a:t>100 tires are selected at random, what is the probability that they are all  good</a:t>
                </a:r>
                <a:r>
                  <a:rPr lang="en-US" sz="2300" dirty="0" smtClean="0">
                    <a:latin typeface="Vani" panose="020B0502040204020203"/>
                    <a:cs typeface="Vani" panose="020B0502040204020203" pitchFamily="34" charset="0"/>
                  </a:rPr>
                  <a:t>? Round to three decimal places as needed.</a:t>
                </a:r>
              </a:p>
              <a:p>
                <a:pPr lvl="0">
                  <a:lnSpc>
                    <a:spcPct val="150000"/>
                  </a:lnSpc>
                </a:pPr>
                <a14:m>
                  <m:oMath xmlns:m="http://schemas.openxmlformats.org/officeDocument/2006/math">
                    <m:r>
                      <a:rPr lang="en-US" sz="2300" i="1">
                        <a:solidFill>
                          <a:srgbClr val="115981"/>
                        </a:solidFill>
                        <a:latin typeface="Cambria Math" panose="02040503050406030204" pitchFamily="18" charset="0"/>
                        <a:cs typeface="Vani" panose="020B0502040204020203" pitchFamily="34" charset="0"/>
                      </a:rPr>
                      <m:t>𝑃</m:t>
                    </m:r>
                    <m:d>
                      <m:dPr>
                        <m:ctrlPr>
                          <a:rPr lang="en-US" sz="2300" i="1">
                            <a:solidFill>
                              <a:srgbClr val="115981"/>
                            </a:solidFill>
                            <a:latin typeface="Cambria Math" panose="02040503050406030204" pitchFamily="18" charset="0"/>
                            <a:cs typeface="Vani" panose="020B0502040204020203" pitchFamily="34" charset="0"/>
                          </a:rPr>
                        </m:ctrlPr>
                      </m:dPr>
                      <m:e>
                        <m:r>
                          <a:rPr lang="en-US" sz="2300" b="0" i="1" smtClean="0">
                            <a:solidFill>
                              <a:srgbClr val="115981"/>
                            </a:solidFill>
                            <a:latin typeface="Cambria Math" panose="02040503050406030204" pitchFamily="18" charset="0"/>
                            <a:cs typeface="Vani" panose="020B0502040204020203" pitchFamily="34" charset="0"/>
                          </a:rPr>
                          <m:t>100 </m:t>
                        </m:r>
                        <m:r>
                          <a:rPr lang="en-US" sz="2300" i="1">
                            <a:solidFill>
                              <a:srgbClr val="115981"/>
                            </a:solidFill>
                            <a:latin typeface="Cambria Math" panose="02040503050406030204" pitchFamily="18" charset="0"/>
                            <a:cs typeface="Vani" panose="020B0502040204020203" pitchFamily="34" charset="0"/>
                          </a:rPr>
                          <m:t>𝑁𝐷</m:t>
                        </m:r>
                      </m:e>
                    </m:d>
                    <m:r>
                      <a:rPr lang="en-US" sz="2300" i="1">
                        <a:solidFill>
                          <a:srgbClr val="115981"/>
                        </a:solidFill>
                        <a:latin typeface="Cambria Math" panose="02040503050406030204" pitchFamily="18" charset="0"/>
                        <a:cs typeface="Vani" panose="020B0502040204020203" pitchFamily="34" charset="0"/>
                      </a:rPr>
                      <m:t>=</m:t>
                    </m:r>
                    <m:sSup>
                      <m:sSupPr>
                        <m:ctrlPr>
                          <a:rPr lang="en-US" sz="2300" i="1">
                            <a:solidFill>
                              <a:srgbClr val="115981"/>
                            </a:solidFill>
                            <a:latin typeface="Cambria Math" panose="02040503050406030204" pitchFamily="18" charset="0"/>
                            <a:cs typeface="Vani" panose="020B0502040204020203" pitchFamily="34" charset="0"/>
                          </a:rPr>
                        </m:ctrlPr>
                      </m:sSupPr>
                      <m:e>
                        <m:d>
                          <m:dPr>
                            <m:ctrlPr>
                              <a:rPr lang="en-US" sz="2300" i="1">
                                <a:solidFill>
                                  <a:srgbClr val="115981"/>
                                </a:solidFill>
                                <a:latin typeface="Cambria Math" panose="02040503050406030204" pitchFamily="18" charset="0"/>
                                <a:cs typeface="Vani" panose="020B0502040204020203" pitchFamily="34" charset="0"/>
                              </a:rPr>
                            </m:ctrlPr>
                          </m:dPr>
                          <m:e>
                            <m:f>
                              <m:fPr>
                                <m:ctrlPr>
                                  <a:rPr lang="en-US" sz="2300" i="1">
                                    <a:solidFill>
                                      <a:srgbClr val="115981"/>
                                    </a:solidFill>
                                    <a:latin typeface="Cambria Math" panose="02040503050406030204" pitchFamily="18" charset="0"/>
                                    <a:cs typeface="Vani" panose="020B0502040204020203" pitchFamily="34" charset="0"/>
                                  </a:rPr>
                                </m:ctrlPr>
                              </m:fPr>
                              <m:num>
                                <m:r>
                                  <a:rPr lang="en-US" sz="2300" i="1">
                                    <a:solidFill>
                                      <a:srgbClr val="115981"/>
                                    </a:solidFill>
                                    <a:latin typeface="Cambria Math" panose="02040503050406030204" pitchFamily="18" charset="0"/>
                                    <a:cs typeface="Vani" panose="020B0502040204020203" pitchFamily="34" charset="0"/>
                                  </a:rPr>
                                  <m:t>6180</m:t>
                                </m:r>
                              </m:num>
                              <m:den>
                                <m:r>
                                  <a:rPr lang="en-US" sz="2300" i="1">
                                    <a:solidFill>
                                      <a:srgbClr val="115981"/>
                                    </a:solidFill>
                                    <a:latin typeface="Cambria Math" panose="02040503050406030204" pitchFamily="18" charset="0"/>
                                    <a:cs typeface="Vani" panose="020B0502040204020203" pitchFamily="34" charset="0"/>
                                  </a:rPr>
                                  <m:t>6400</m:t>
                                </m:r>
                              </m:den>
                            </m:f>
                          </m:e>
                        </m:d>
                      </m:e>
                      <m:sup>
                        <m:r>
                          <a:rPr lang="en-US" sz="2300" b="0" i="1" smtClean="0">
                            <a:solidFill>
                              <a:srgbClr val="115981"/>
                            </a:solidFill>
                            <a:latin typeface="Cambria Math" panose="02040503050406030204" pitchFamily="18" charset="0"/>
                            <a:cs typeface="Vani" panose="020B0502040204020203" pitchFamily="34" charset="0"/>
                          </a:rPr>
                          <m:t>100</m:t>
                        </m:r>
                      </m:sup>
                    </m:sSup>
                    <m:r>
                      <a:rPr lang="en-US" sz="2300" i="1">
                        <a:solidFill>
                          <a:srgbClr val="115981"/>
                        </a:solidFill>
                        <a:latin typeface="Cambria Math" panose="02040503050406030204" pitchFamily="18" charset="0"/>
                        <a:cs typeface="Vani" panose="020B0502040204020203" pitchFamily="34" charset="0"/>
                      </a:rPr>
                      <m:t>=</m:t>
                    </m:r>
                    <m:sSup>
                      <m:sSupPr>
                        <m:ctrlPr>
                          <a:rPr lang="en-US" sz="2300" b="0" i="1" smtClean="0">
                            <a:solidFill>
                              <a:srgbClr val="115981"/>
                            </a:solidFill>
                            <a:latin typeface="Cambria Math" panose="02040503050406030204" pitchFamily="18" charset="0"/>
                            <a:cs typeface="Vani" panose="020B0502040204020203" pitchFamily="34" charset="0"/>
                          </a:rPr>
                        </m:ctrlPr>
                      </m:sSupPr>
                      <m:e>
                        <m:r>
                          <a:rPr lang="en-US" sz="2300" b="0" i="1" smtClean="0">
                            <a:solidFill>
                              <a:srgbClr val="115981"/>
                            </a:solidFill>
                            <a:latin typeface="Cambria Math" panose="02040503050406030204" pitchFamily="18" charset="0"/>
                            <a:cs typeface="Vani" panose="020B0502040204020203" pitchFamily="34" charset="0"/>
                          </a:rPr>
                          <m:t>0.965625</m:t>
                        </m:r>
                      </m:e>
                      <m:sup>
                        <m:r>
                          <a:rPr lang="en-US" sz="2300" b="0" i="1" smtClean="0">
                            <a:solidFill>
                              <a:srgbClr val="115981"/>
                            </a:solidFill>
                            <a:latin typeface="Cambria Math" panose="02040503050406030204" pitchFamily="18" charset="0"/>
                            <a:cs typeface="Vani" panose="020B0502040204020203" pitchFamily="34" charset="0"/>
                          </a:rPr>
                          <m:t>100</m:t>
                        </m:r>
                      </m:sup>
                    </m:sSup>
                    <m:r>
                      <a:rPr lang="en-US" sz="2300" b="0" i="1" smtClean="0">
                        <a:solidFill>
                          <a:srgbClr val="115981"/>
                        </a:solidFill>
                        <a:latin typeface="Cambria Math" panose="02040503050406030204" pitchFamily="18" charset="0"/>
                        <a:cs typeface="Vani" panose="020B0502040204020203" pitchFamily="34" charset="0"/>
                      </a:rPr>
                      <m:t>=</m:t>
                    </m:r>
                    <m:r>
                      <a:rPr lang="en-US" sz="2300" i="1" smtClean="0">
                        <a:solidFill>
                          <a:srgbClr val="FF0000"/>
                        </a:solidFill>
                        <a:latin typeface="Cambria Math" panose="02040503050406030204" pitchFamily="18" charset="0"/>
                        <a:cs typeface="Vani" panose="020B0502040204020203" pitchFamily="34" charset="0"/>
                      </a:rPr>
                      <m:t>0.</m:t>
                    </m:r>
                    <m:r>
                      <a:rPr lang="en-US" sz="2300" b="0" i="1" smtClean="0">
                        <a:solidFill>
                          <a:srgbClr val="FF0000"/>
                        </a:solidFill>
                        <a:latin typeface="Cambria Math" panose="02040503050406030204" pitchFamily="18" charset="0"/>
                        <a:cs typeface="Vani" panose="020B0502040204020203" pitchFamily="34" charset="0"/>
                      </a:rPr>
                      <m:t>030</m:t>
                    </m:r>
                  </m:oMath>
                </a14:m>
                <a:endParaRPr lang="en-US" sz="2300" b="0" dirty="0" smtClean="0">
                  <a:solidFill>
                    <a:srgbClr val="FF0000"/>
                  </a:solidFill>
                  <a:latin typeface="Vani" panose="020B0502040204020203" pitchFamily="34" charset="0"/>
                  <a:cs typeface="Vani" panose="020B0502040204020203" pitchFamily="34" charset="0"/>
                </a:endParaRPr>
              </a:p>
              <a:p>
                <a:pPr lvl="0">
                  <a:lnSpc>
                    <a:spcPct val="150000"/>
                  </a:lnSpc>
                </a:pPr>
                <a:endParaRPr lang="en-US" sz="2300" b="0" dirty="0" smtClean="0">
                  <a:latin typeface="Vani" panose="020B0502040204020203" pitchFamily="34" charset="0"/>
                  <a:cs typeface="Vani" panose="020B0502040204020203" pitchFamily="34" charset="0"/>
                </a:endParaRPr>
              </a:p>
              <a:p>
                <a:pPr lvl="0">
                  <a:lnSpc>
                    <a:spcPct val="150000"/>
                  </a:lnSpc>
                </a:pPr>
                <a:r>
                  <a:rPr lang="en-US" sz="2300" dirty="0" smtClean="0">
                    <a:latin typeface="Vani" panose="020B0502040204020203" pitchFamily="34" charset="0"/>
                    <a:cs typeface="Vani" panose="020B0502040204020203" pitchFamily="34" charset="0"/>
                  </a:rPr>
                  <a:t>(c.)	Should the company have a plan for the defective tires returned by customers?</a:t>
                </a:r>
              </a:p>
              <a:p>
                <a:pPr lvl="0">
                  <a:lnSpc>
                    <a:spcPct val="150000"/>
                  </a:lnSpc>
                </a:pPr>
                <a:r>
                  <a:rPr lang="en-US" sz="2300" b="0" dirty="0" smtClean="0">
                    <a:solidFill>
                      <a:srgbClr val="FF0000"/>
                    </a:solidFill>
                    <a:latin typeface="Vani" panose="020B0502040204020203" pitchFamily="34" charset="0"/>
                    <a:cs typeface="Vani" panose="020B0502040204020203" pitchFamily="34" charset="0"/>
                  </a:rPr>
                  <a:t>Yes, this is because there is a very small chance that all 100 tires are good.</a:t>
                </a:r>
              </a:p>
            </p:txBody>
          </p:sp>
        </mc:Choice>
        <mc:Fallback xmlns="">
          <p:sp>
            <p:nvSpPr>
              <p:cNvPr id="14" name="Content Placeholder 13"/>
              <p:cNvSpPr>
                <a:spLocks noGrp="1" noRot="1" noChangeAspect="1" noMove="1" noResize="1" noEditPoints="1" noAdjustHandles="1" noChangeArrowheads="1" noChangeShapeType="1" noTextEdit="1"/>
              </p:cNvSpPr>
              <p:nvPr>
                <p:ph idx="1"/>
              </p:nvPr>
            </p:nvSpPr>
            <p:spPr>
              <a:xfrm>
                <a:off x="0" y="1738184"/>
                <a:ext cx="12192000" cy="5119816"/>
              </a:xfrm>
              <a:blipFill rotWithShape="0">
                <a:blip r:embed="rId2"/>
                <a:stretch>
                  <a:fillRect l="-1350"/>
                </a:stretch>
              </a:blipFill>
            </p:spPr>
            <p:txBody>
              <a:bodyPr/>
              <a:lstStyle/>
              <a:p>
                <a:r>
                  <a:rPr lang="en-US">
                    <a:noFill/>
                  </a:rPr>
                  <a:t> </a:t>
                </a:r>
              </a:p>
            </p:txBody>
          </p:sp>
        </mc:Fallback>
      </mc:AlternateContent>
    </p:spTree>
    <p:extLst>
      <p:ext uri="{BB962C8B-B14F-4D97-AF65-F5344CB8AC3E}">
        <p14:creationId xmlns:p14="http://schemas.microsoft.com/office/powerpoint/2010/main" val="2938609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0" y="295562"/>
            <a:ext cx="12192000" cy="1008247"/>
          </a:xfrm>
        </p:spPr>
        <p:txBody>
          <a:bodyPr/>
          <a:lstStyle/>
          <a:p>
            <a:r>
              <a:rPr lang="en-US" dirty="0" smtClean="0"/>
              <a:t>Questions and Answers							12-1.</a:t>
            </a:r>
            <a:endParaRPr dirty="0"/>
          </a:p>
        </p:txBody>
      </p:sp>
      <mc:AlternateContent xmlns:mc="http://schemas.openxmlformats.org/markup-compatibility/2006" xmlns:a14="http://schemas.microsoft.com/office/drawing/2010/main">
        <mc:Choice Requires="a14">
          <p:sp>
            <p:nvSpPr>
              <p:cNvPr id="14" name="Content Placeholder 13"/>
              <p:cNvSpPr>
                <a:spLocks noGrp="1"/>
              </p:cNvSpPr>
              <p:nvPr>
                <p:ph idx="1"/>
              </p:nvPr>
            </p:nvSpPr>
            <p:spPr>
              <a:xfrm>
                <a:off x="0" y="1738184"/>
                <a:ext cx="12192000" cy="5119816"/>
              </a:xfrm>
            </p:spPr>
            <p:txBody>
              <a:bodyPr>
                <a:normAutofit/>
              </a:bodyPr>
              <a:lstStyle/>
              <a:p>
                <a:pPr>
                  <a:lnSpc>
                    <a:spcPct val="150000"/>
                  </a:lnSpc>
                </a:pPr>
                <a:r>
                  <a:rPr lang="en-US" sz="2300" dirty="0" smtClean="0">
                    <a:solidFill>
                      <a:srgbClr val="7030A0"/>
                    </a:solidFill>
                    <a:latin typeface="Vani" panose="020B0502040204020203" pitchFamily="34" charset="0"/>
                    <a:cs typeface="Vani" panose="020B0502040204020203" pitchFamily="34" charset="0"/>
                  </a:rPr>
                  <a:t>(12.) </a:t>
                </a:r>
                <a:r>
                  <a:rPr lang="en-US" sz="2300" dirty="0" smtClean="0">
                    <a:latin typeface="Vani" panose="020B0502040204020203" pitchFamily="34" charset="0"/>
                    <a:cs typeface="Vani" panose="020B0502040204020203" pitchFamily="34" charset="0"/>
                  </a:rPr>
                  <a:t>	The principle of redundancy is used when the reliability of a system is improved through redundant or backup components. Agape’s alarm clock has a 15.4% daily failure rate. </a:t>
                </a:r>
                <a:endParaRPr lang="en-US" sz="2300" b="0" i="1" dirty="0" smtClean="0">
                  <a:latin typeface="Cambria Math" panose="02040503050406030204" pitchFamily="18" charset="0"/>
                  <a:cs typeface="Vani" panose="020B0502040204020203" pitchFamily="34" charset="0"/>
                </a:endParaRPr>
              </a:p>
              <a:p>
                <a:pPr>
                  <a:lnSpc>
                    <a:spcPct val="150000"/>
                  </a:lnSpc>
                </a:pPr>
                <a14:m>
                  <m:oMath xmlns:m="http://schemas.openxmlformats.org/officeDocument/2006/math">
                    <m:r>
                      <a:rPr lang="en-US" sz="2300" b="0" i="1" smtClean="0">
                        <a:latin typeface="Cambria Math" panose="02040503050406030204" pitchFamily="18" charset="0"/>
                        <a:cs typeface="Vani" panose="020B0502040204020203" pitchFamily="34" charset="0"/>
                      </a:rPr>
                      <m:t>𝑃</m:t>
                    </m:r>
                    <m:d>
                      <m:dPr>
                        <m:ctrlPr>
                          <a:rPr lang="en-US" sz="2300" b="0" i="1" smtClean="0">
                            <a:latin typeface="Cambria Math" panose="02040503050406030204" pitchFamily="18" charset="0"/>
                            <a:cs typeface="Vani" panose="020B0502040204020203" pitchFamily="34" charset="0"/>
                          </a:rPr>
                        </m:ctrlPr>
                      </m:dPr>
                      <m:e>
                        <m:r>
                          <a:rPr lang="en-US" sz="2300" b="0" i="1" smtClean="0">
                            <a:latin typeface="Cambria Math" panose="02040503050406030204" pitchFamily="18" charset="0"/>
                            <a:cs typeface="Vani" panose="020B0502040204020203" pitchFamily="34" charset="0"/>
                          </a:rPr>
                          <m:t>𝑆</m:t>
                        </m:r>
                      </m:e>
                    </m:d>
                    <m:r>
                      <a:rPr lang="en-US" sz="2300" b="0" i="1" smtClean="0">
                        <a:latin typeface="Cambria Math" panose="02040503050406030204" pitchFamily="18" charset="0"/>
                        <a:cs typeface="Vani" panose="020B0502040204020203" pitchFamily="34" charset="0"/>
                      </a:rPr>
                      <m:t>=100%=1; </m:t>
                    </m:r>
                    <m:r>
                      <a:rPr lang="en-US" sz="2300" b="0" i="1" smtClean="0">
                        <a:latin typeface="Cambria Math" panose="02040503050406030204" pitchFamily="18" charset="0"/>
                        <a:cs typeface="Vani" panose="020B0502040204020203" pitchFamily="34" charset="0"/>
                      </a:rPr>
                      <m:t>𝑃</m:t>
                    </m:r>
                    <m:d>
                      <m:dPr>
                        <m:ctrlPr>
                          <a:rPr lang="en-US" sz="2300" b="0" i="1" smtClean="0">
                            <a:latin typeface="Cambria Math" panose="02040503050406030204" pitchFamily="18" charset="0"/>
                            <a:cs typeface="Vani" panose="020B0502040204020203" pitchFamily="34" charset="0"/>
                          </a:rPr>
                        </m:ctrlPr>
                      </m:dPr>
                      <m:e>
                        <m:r>
                          <a:rPr lang="en-US" sz="2300" b="0" i="1" smtClean="0">
                            <a:latin typeface="Cambria Math" panose="02040503050406030204" pitchFamily="18" charset="0"/>
                            <a:cs typeface="Vani" panose="020B0502040204020203" pitchFamily="34" charset="0"/>
                          </a:rPr>
                          <m:t>𝐷𝑎𝑖𝑙𝑦</m:t>
                        </m:r>
                        <m:r>
                          <a:rPr lang="en-US" sz="2300" b="0" i="1" smtClean="0">
                            <a:latin typeface="Cambria Math" panose="02040503050406030204" pitchFamily="18" charset="0"/>
                            <a:cs typeface="Vani" panose="020B0502040204020203" pitchFamily="34" charset="0"/>
                          </a:rPr>
                          <m:t> </m:t>
                        </m:r>
                        <m:r>
                          <a:rPr lang="en-US" sz="2300" b="0" i="1" smtClean="0">
                            <a:latin typeface="Cambria Math" panose="02040503050406030204" pitchFamily="18" charset="0"/>
                            <a:cs typeface="Vani" panose="020B0502040204020203" pitchFamily="34" charset="0"/>
                          </a:rPr>
                          <m:t>𝐹𝑎𝑖𝑙𝑢𝑟𝑒</m:t>
                        </m:r>
                      </m:e>
                    </m:d>
                    <m:r>
                      <a:rPr lang="en-US" sz="2300" b="0" i="1" smtClean="0">
                        <a:latin typeface="Cambria Math" panose="02040503050406030204" pitchFamily="18" charset="0"/>
                        <a:cs typeface="Vani" panose="020B0502040204020203" pitchFamily="34" charset="0"/>
                      </a:rPr>
                      <m:t>=</m:t>
                    </m:r>
                    <m:r>
                      <a:rPr lang="en-US" sz="2300" b="0" i="1" smtClean="0">
                        <a:latin typeface="Cambria Math" panose="02040503050406030204" pitchFamily="18" charset="0"/>
                        <a:cs typeface="Vani" panose="020B0502040204020203" pitchFamily="34" charset="0"/>
                      </a:rPr>
                      <m:t>𝑃</m:t>
                    </m:r>
                    <m:d>
                      <m:dPr>
                        <m:ctrlPr>
                          <a:rPr lang="en-US" sz="2300" b="0" i="1" smtClean="0">
                            <a:latin typeface="Cambria Math" panose="02040503050406030204" pitchFamily="18" charset="0"/>
                            <a:cs typeface="Vani" panose="020B0502040204020203" pitchFamily="34" charset="0"/>
                          </a:rPr>
                        </m:ctrlPr>
                      </m:dPr>
                      <m:e>
                        <m:r>
                          <a:rPr lang="en-US" sz="2300" b="0" i="1" smtClean="0">
                            <a:latin typeface="Cambria Math" panose="02040503050406030204" pitchFamily="18" charset="0"/>
                            <a:cs typeface="Vani" panose="020B0502040204020203" pitchFamily="34" charset="0"/>
                          </a:rPr>
                          <m:t>𝐷𝐹</m:t>
                        </m:r>
                      </m:e>
                    </m:d>
                    <m:r>
                      <a:rPr lang="en-US" sz="2300" b="0" i="1" smtClean="0">
                        <a:latin typeface="Cambria Math" panose="02040503050406030204" pitchFamily="18" charset="0"/>
                        <a:cs typeface="Vani" panose="020B0502040204020203" pitchFamily="34" charset="0"/>
                      </a:rPr>
                      <m:t>=15.4%=0.154;</m:t>
                    </m:r>
                    <m:r>
                      <a:rPr lang="en-US" sz="2300" b="0" i="1" smtClean="0">
                        <a:latin typeface="Cambria Math" panose="02040503050406030204" pitchFamily="18" charset="0"/>
                        <a:cs typeface="Vani" panose="020B0502040204020203" pitchFamily="34" charset="0"/>
                      </a:rPr>
                      <m:t>𝑃</m:t>
                    </m:r>
                    <m:d>
                      <m:dPr>
                        <m:ctrlPr>
                          <a:rPr lang="en-US" sz="2300" b="0" i="1" smtClean="0">
                            <a:latin typeface="Cambria Math" panose="02040503050406030204" pitchFamily="18" charset="0"/>
                            <a:cs typeface="Vani" panose="020B0502040204020203" pitchFamily="34" charset="0"/>
                          </a:rPr>
                        </m:ctrlPr>
                      </m:dPr>
                      <m:e>
                        <m:r>
                          <a:rPr lang="en-US" sz="2300" b="0" i="1" smtClean="0">
                            <a:latin typeface="Cambria Math" panose="02040503050406030204" pitchFamily="18" charset="0"/>
                            <a:cs typeface="Vani" panose="020B0502040204020203" pitchFamily="34" charset="0"/>
                          </a:rPr>
                          <m:t>𝐷𝑎𝑖𝑙𝑦</m:t>
                        </m:r>
                        <m:r>
                          <a:rPr lang="en-US" sz="2300" b="0" i="1" smtClean="0">
                            <a:latin typeface="Cambria Math" panose="02040503050406030204" pitchFamily="18" charset="0"/>
                            <a:cs typeface="Vani" panose="020B0502040204020203" pitchFamily="34" charset="0"/>
                          </a:rPr>
                          <m:t> </m:t>
                        </m:r>
                        <m:r>
                          <a:rPr lang="en-US" sz="2300" b="0" i="1" smtClean="0">
                            <a:latin typeface="Cambria Math" panose="02040503050406030204" pitchFamily="18" charset="0"/>
                            <a:cs typeface="Vani" panose="020B0502040204020203" pitchFamily="34" charset="0"/>
                          </a:rPr>
                          <m:t>𝑆𝑢𝑐𝑐𝑒𝑠𝑠</m:t>
                        </m:r>
                      </m:e>
                    </m:d>
                    <m:r>
                      <a:rPr lang="en-US" sz="2300" b="0" i="1" smtClean="0">
                        <a:latin typeface="Cambria Math" panose="02040503050406030204" pitchFamily="18" charset="0"/>
                        <a:cs typeface="Vani" panose="020B0502040204020203" pitchFamily="34" charset="0"/>
                      </a:rPr>
                      <m:t>=</m:t>
                    </m:r>
                    <m:r>
                      <a:rPr lang="en-US" sz="2300" b="0" i="1" smtClean="0">
                        <a:latin typeface="Cambria Math" panose="02040503050406030204" pitchFamily="18" charset="0"/>
                        <a:cs typeface="Vani" panose="020B0502040204020203" pitchFamily="34" charset="0"/>
                      </a:rPr>
                      <m:t>𝑃</m:t>
                    </m:r>
                    <m:d>
                      <m:dPr>
                        <m:ctrlPr>
                          <a:rPr lang="en-US" sz="2300" b="0" i="1" smtClean="0">
                            <a:latin typeface="Cambria Math" panose="02040503050406030204" pitchFamily="18" charset="0"/>
                            <a:cs typeface="Vani" panose="020B0502040204020203" pitchFamily="34" charset="0"/>
                          </a:rPr>
                        </m:ctrlPr>
                      </m:dPr>
                      <m:e>
                        <m:r>
                          <a:rPr lang="en-US" sz="2300" b="0" i="1" smtClean="0">
                            <a:latin typeface="Cambria Math" panose="02040503050406030204" pitchFamily="18" charset="0"/>
                            <a:cs typeface="Vani" panose="020B0502040204020203" pitchFamily="34" charset="0"/>
                          </a:rPr>
                          <m:t>𝐷𝑆</m:t>
                        </m:r>
                      </m:e>
                    </m:d>
                    <m:r>
                      <a:rPr lang="en-US" sz="2300" b="0" i="1" smtClean="0">
                        <a:latin typeface="Cambria Math" panose="02040503050406030204" pitchFamily="18" charset="0"/>
                        <a:cs typeface="Vani" panose="020B0502040204020203" pitchFamily="34" charset="0"/>
                      </a:rPr>
                      <m:t>=100%−15.4%=84.6%=0.846</m:t>
                    </m:r>
                  </m:oMath>
                </a14:m>
                <a:endParaRPr lang="en-US" sz="2300" dirty="0" smtClean="0">
                  <a:latin typeface="Vani" panose="020B0502040204020203" pitchFamily="34" charset="0"/>
                  <a:cs typeface="Vani" panose="020B0502040204020203" pitchFamily="34" charset="0"/>
                </a:endParaRPr>
              </a:p>
              <a:p>
                <a:pPr>
                  <a:lnSpc>
                    <a:spcPct val="150000"/>
                  </a:lnSpc>
                </a:pPr>
                <a:r>
                  <a:rPr lang="en-US" sz="2300" dirty="0" smtClean="0">
                    <a:latin typeface="Vani" panose="020B0502040204020203" pitchFamily="34" charset="0"/>
                    <a:cs typeface="Vani" panose="020B0502040204020203" pitchFamily="34" charset="0"/>
                  </a:rPr>
                  <a:t>(a.)	Determine the probability that Agape’s clock will not work on a Tuesday morning. Round to three decimal places as needed.</a:t>
                </a:r>
              </a:p>
              <a:p>
                <a:pPr>
                  <a:lnSpc>
                    <a:spcPct val="150000"/>
                  </a:lnSpc>
                </a:pPr>
                <a14:m>
                  <m:oMath xmlns:m="http://schemas.openxmlformats.org/officeDocument/2006/math">
                    <m:r>
                      <a:rPr lang="en-US" sz="2300" b="0" i="1" smtClean="0">
                        <a:latin typeface="Cambria Math" panose="02040503050406030204" pitchFamily="18" charset="0"/>
                        <a:cs typeface="Vani" panose="020B0502040204020203" pitchFamily="34" charset="0"/>
                      </a:rPr>
                      <m:t>𝑃</m:t>
                    </m:r>
                    <m:d>
                      <m:dPr>
                        <m:ctrlPr>
                          <a:rPr lang="en-US" sz="2300" b="0" i="1" smtClean="0">
                            <a:latin typeface="Cambria Math" panose="02040503050406030204" pitchFamily="18" charset="0"/>
                            <a:cs typeface="Vani" panose="020B0502040204020203" pitchFamily="34" charset="0"/>
                          </a:rPr>
                        </m:ctrlPr>
                      </m:dPr>
                      <m:e>
                        <m:r>
                          <a:rPr lang="en-US" sz="2300" b="0" i="1" smtClean="0">
                            <a:latin typeface="Cambria Math" panose="02040503050406030204" pitchFamily="18" charset="0"/>
                            <a:cs typeface="Vani" panose="020B0502040204020203" pitchFamily="34" charset="0"/>
                          </a:rPr>
                          <m:t>𝐷𝐹</m:t>
                        </m:r>
                        <m:r>
                          <a:rPr lang="en-US" sz="2300" b="0" i="1" smtClean="0">
                            <a:latin typeface="Cambria Math" panose="02040503050406030204" pitchFamily="18" charset="0"/>
                            <a:cs typeface="Vani" panose="020B0502040204020203" pitchFamily="34" charset="0"/>
                          </a:rPr>
                          <m:t> </m:t>
                        </m:r>
                        <m:r>
                          <a:rPr lang="en-US" sz="2300" b="0" i="1" smtClean="0">
                            <a:latin typeface="Cambria Math" panose="02040503050406030204" pitchFamily="18" charset="0"/>
                            <a:cs typeface="Vani" panose="020B0502040204020203" pitchFamily="34" charset="0"/>
                          </a:rPr>
                          <m:t>𝑓𝑜𝑟</m:t>
                        </m:r>
                        <m:r>
                          <a:rPr lang="en-US" sz="2300" b="0" i="1" smtClean="0">
                            <a:latin typeface="Cambria Math" panose="02040503050406030204" pitchFamily="18" charset="0"/>
                            <a:cs typeface="Vani" panose="020B0502040204020203" pitchFamily="34" charset="0"/>
                          </a:rPr>
                          <m:t> </m:t>
                        </m:r>
                        <m:r>
                          <a:rPr lang="en-US" sz="2300" b="0" i="1" smtClean="0">
                            <a:latin typeface="Cambria Math" panose="02040503050406030204" pitchFamily="18" charset="0"/>
                            <a:cs typeface="Vani" panose="020B0502040204020203" pitchFamily="34" charset="0"/>
                          </a:rPr>
                          <m:t>𝑇𝑢𝑒𝑠𝑑𝑎𝑦</m:t>
                        </m:r>
                        <m:r>
                          <a:rPr lang="en-US" sz="2300" b="0" i="1" smtClean="0">
                            <a:latin typeface="Cambria Math" panose="02040503050406030204" pitchFamily="18" charset="0"/>
                            <a:cs typeface="Vani" panose="020B0502040204020203" pitchFamily="34" charset="0"/>
                          </a:rPr>
                          <m:t> </m:t>
                        </m:r>
                        <m:r>
                          <a:rPr lang="en-US" sz="2300" b="0" i="1" smtClean="0">
                            <a:latin typeface="Cambria Math" panose="02040503050406030204" pitchFamily="18" charset="0"/>
                            <a:cs typeface="Vani" panose="020B0502040204020203" pitchFamily="34" charset="0"/>
                          </a:rPr>
                          <m:t>𝑀𝑜𝑟𝑛𝑖𝑛𝑔</m:t>
                        </m:r>
                      </m:e>
                    </m:d>
                    <m:r>
                      <a:rPr lang="en-US" sz="2300" b="0" i="1" smtClean="0">
                        <a:latin typeface="Cambria Math" panose="02040503050406030204" pitchFamily="18" charset="0"/>
                        <a:cs typeface="Vani" panose="020B0502040204020203" pitchFamily="34" charset="0"/>
                      </a:rPr>
                      <m:t>=</m:t>
                    </m:r>
                    <m:r>
                      <a:rPr lang="en-US" sz="2300" b="0" i="1" smtClean="0">
                        <a:solidFill>
                          <a:srgbClr val="FF0000"/>
                        </a:solidFill>
                        <a:latin typeface="Cambria Math" panose="02040503050406030204" pitchFamily="18" charset="0"/>
                        <a:cs typeface="Vani" panose="020B0502040204020203" pitchFamily="34" charset="0"/>
                      </a:rPr>
                      <m:t>0.154</m:t>
                    </m:r>
                  </m:oMath>
                </a14:m>
                <a:endParaRPr lang="en-US" sz="2300" dirty="0" smtClean="0">
                  <a:solidFill>
                    <a:srgbClr val="FF0000"/>
                  </a:solidFill>
                  <a:latin typeface="Vani" panose="020B0502040204020203" pitchFamily="34" charset="0"/>
                  <a:cs typeface="Vani" panose="020B0502040204020203" pitchFamily="34" charset="0"/>
                </a:endParaRPr>
              </a:p>
              <a:p>
                <a:pPr>
                  <a:lnSpc>
                    <a:spcPct val="150000"/>
                  </a:lnSpc>
                </a:pPr>
                <a:endParaRPr lang="en-US" sz="2300" dirty="0" smtClean="0">
                  <a:latin typeface="Vani" panose="020B0502040204020203" pitchFamily="34" charset="0"/>
                  <a:cs typeface="Vani" panose="020B0502040204020203" pitchFamily="34" charset="0"/>
                </a:endParaRPr>
              </a:p>
              <a:p>
                <a:pPr>
                  <a:lnSpc>
                    <a:spcPct val="150000"/>
                  </a:lnSpc>
                </a:pPr>
                <a:endParaRPr lang="en-US" sz="2300" dirty="0" smtClean="0">
                  <a:latin typeface="Vani" panose="020B0502040204020203" pitchFamily="34" charset="0"/>
                  <a:cs typeface="Vani" panose="020B0502040204020203" pitchFamily="34" charset="0"/>
                </a:endParaRPr>
              </a:p>
              <a:p>
                <a:pPr>
                  <a:lnSpc>
                    <a:spcPct val="150000"/>
                  </a:lnSpc>
                </a:pPr>
                <a:endParaRPr lang="en-US" sz="2300" dirty="0" smtClean="0">
                  <a:latin typeface="Vani" panose="020B0502040204020203" pitchFamily="34" charset="0"/>
                  <a:cs typeface="Vani" panose="020B0502040204020203" pitchFamily="34" charset="0"/>
                </a:endParaRPr>
              </a:p>
              <a:p>
                <a:pPr marL="0" indent="0">
                  <a:lnSpc>
                    <a:spcPct val="150000"/>
                  </a:lnSpc>
                  <a:buNone/>
                </a:pPr>
                <a:endParaRPr lang="en-US" sz="2300" b="0" dirty="0" smtClean="0">
                  <a:latin typeface="Vani" panose="020B0502040204020203" pitchFamily="34" charset="0"/>
                  <a:cs typeface="Vani" panose="020B0502040204020203" pitchFamily="34" charset="0"/>
                </a:endParaRPr>
              </a:p>
            </p:txBody>
          </p:sp>
        </mc:Choice>
        <mc:Fallback xmlns="">
          <p:sp>
            <p:nvSpPr>
              <p:cNvPr id="14" name="Content Placeholder 13"/>
              <p:cNvSpPr>
                <a:spLocks noGrp="1" noRot="1" noChangeAspect="1" noMove="1" noResize="1" noEditPoints="1" noAdjustHandles="1" noChangeArrowheads="1" noChangeShapeType="1" noTextEdit="1"/>
              </p:cNvSpPr>
              <p:nvPr>
                <p:ph idx="1"/>
              </p:nvPr>
            </p:nvSpPr>
            <p:spPr>
              <a:xfrm>
                <a:off x="0" y="1738184"/>
                <a:ext cx="12192000" cy="5119816"/>
              </a:xfrm>
              <a:blipFill rotWithShape="0">
                <a:blip r:embed="rId2"/>
                <a:stretch>
                  <a:fillRect l="-1350" r="-200"/>
                </a:stretch>
              </a:blipFill>
            </p:spPr>
            <p:txBody>
              <a:bodyPr/>
              <a:lstStyle/>
              <a:p>
                <a:r>
                  <a:rPr lang="en-US">
                    <a:noFill/>
                  </a:rPr>
                  <a:t> </a:t>
                </a:r>
              </a:p>
            </p:txBody>
          </p:sp>
        </mc:Fallback>
      </mc:AlternateContent>
    </p:spTree>
    <p:extLst>
      <p:ext uri="{BB962C8B-B14F-4D97-AF65-F5344CB8AC3E}">
        <p14:creationId xmlns:p14="http://schemas.microsoft.com/office/powerpoint/2010/main" val="41942119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0" y="295562"/>
            <a:ext cx="12192000" cy="1008247"/>
          </a:xfrm>
        </p:spPr>
        <p:txBody>
          <a:bodyPr/>
          <a:lstStyle/>
          <a:p>
            <a:r>
              <a:rPr lang="en-US" dirty="0" smtClean="0"/>
              <a:t>Questions and Answers							12-2.</a:t>
            </a:r>
            <a:endParaRPr dirty="0"/>
          </a:p>
        </p:txBody>
      </p:sp>
      <mc:AlternateContent xmlns:mc="http://schemas.openxmlformats.org/markup-compatibility/2006" xmlns:a14="http://schemas.microsoft.com/office/drawing/2010/main">
        <mc:Choice Requires="a14">
          <p:sp>
            <p:nvSpPr>
              <p:cNvPr id="14" name="Content Placeholder 13"/>
              <p:cNvSpPr>
                <a:spLocks noGrp="1"/>
              </p:cNvSpPr>
              <p:nvPr>
                <p:ph idx="1"/>
              </p:nvPr>
            </p:nvSpPr>
            <p:spPr>
              <a:xfrm>
                <a:off x="0" y="1738184"/>
                <a:ext cx="12192000" cy="5119816"/>
              </a:xfrm>
            </p:spPr>
            <p:txBody>
              <a:bodyPr>
                <a:normAutofit/>
              </a:bodyPr>
              <a:lstStyle/>
              <a:p>
                <a:pPr>
                  <a:lnSpc>
                    <a:spcPct val="150000"/>
                  </a:lnSpc>
                </a:pPr>
                <a:r>
                  <a:rPr lang="en-US" sz="2300" dirty="0" smtClean="0">
                    <a:latin typeface="Vani" panose="020B0502040204020203" pitchFamily="34" charset="0"/>
                    <a:cs typeface="Vani" panose="020B0502040204020203" pitchFamily="34" charset="0"/>
                  </a:rPr>
                  <a:t>(b.)</a:t>
                </a:r>
                <a:r>
                  <a:rPr lang="en-US" sz="2300" dirty="0">
                    <a:latin typeface="Vani" panose="020B0502040204020203" pitchFamily="34" charset="0"/>
                    <a:cs typeface="Vani" panose="020B0502040204020203" pitchFamily="34" charset="0"/>
                  </a:rPr>
                  <a:t>	</a:t>
                </a:r>
                <a:r>
                  <a:rPr lang="en-US" sz="2300" dirty="0" smtClean="0">
                    <a:latin typeface="Vani" panose="020B0502040204020203" pitchFamily="34" charset="0"/>
                    <a:cs typeface="Vani" panose="020B0502040204020203" pitchFamily="34" charset="0"/>
                  </a:rPr>
                  <a:t>Assume Agape has 2 alarm clocks. Determine the probability that both clocks fail on a Tuesday morning. Round to five decimal places as needed.</a:t>
                </a:r>
              </a:p>
              <a:p>
                <a:pPr>
                  <a:lnSpc>
                    <a:spcPct val="150000"/>
                  </a:lnSpc>
                </a:pPr>
                <a14:m>
                  <m:oMath xmlns:m="http://schemas.openxmlformats.org/officeDocument/2006/math">
                    <m:r>
                      <a:rPr lang="en-US" sz="2300" b="0" i="1" smtClean="0">
                        <a:latin typeface="Cambria Math" panose="02040503050406030204" pitchFamily="18" charset="0"/>
                        <a:cs typeface="Vani" panose="020B0502040204020203" pitchFamily="34" charset="0"/>
                      </a:rPr>
                      <m:t>𝑃</m:t>
                    </m:r>
                    <m:d>
                      <m:dPr>
                        <m:ctrlPr>
                          <a:rPr lang="en-US" sz="2300" b="0" i="1" smtClean="0">
                            <a:latin typeface="Cambria Math" panose="02040503050406030204" pitchFamily="18" charset="0"/>
                            <a:cs typeface="Vani" panose="020B0502040204020203" pitchFamily="34" charset="0"/>
                          </a:rPr>
                        </m:ctrlPr>
                      </m:dPr>
                      <m:e>
                        <m:r>
                          <a:rPr lang="en-US" sz="2300" b="0" i="1" smtClean="0">
                            <a:latin typeface="Cambria Math" panose="02040503050406030204" pitchFamily="18" charset="0"/>
                            <a:cs typeface="Vani" panose="020B0502040204020203" pitchFamily="34" charset="0"/>
                          </a:rPr>
                          <m:t>2 </m:t>
                        </m:r>
                        <m:r>
                          <a:rPr lang="en-US" sz="2300" b="0" i="1" smtClean="0">
                            <a:latin typeface="Cambria Math" panose="02040503050406030204" pitchFamily="18" charset="0"/>
                            <a:cs typeface="Vani" panose="020B0502040204020203" pitchFamily="34" charset="0"/>
                          </a:rPr>
                          <m:t>𝐷𝐹</m:t>
                        </m:r>
                        <m:r>
                          <a:rPr lang="en-US" sz="2300" b="0" i="1" smtClean="0">
                            <a:latin typeface="Cambria Math" panose="02040503050406030204" pitchFamily="18" charset="0"/>
                            <a:cs typeface="Vani" panose="020B0502040204020203" pitchFamily="34" charset="0"/>
                          </a:rPr>
                          <m:t> </m:t>
                        </m:r>
                        <m:r>
                          <a:rPr lang="en-US" sz="2300" b="0" i="1" smtClean="0">
                            <a:latin typeface="Cambria Math" panose="02040503050406030204" pitchFamily="18" charset="0"/>
                            <a:cs typeface="Vani" panose="020B0502040204020203" pitchFamily="34" charset="0"/>
                          </a:rPr>
                          <m:t>𝑜𝑛</m:t>
                        </m:r>
                        <m:r>
                          <a:rPr lang="en-US" sz="2300" b="0" i="1" smtClean="0">
                            <a:latin typeface="Cambria Math" panose="02040503050406030204" pitchFamily="18" charset="0"/>
                            <a:cs typeface="Vani" panose="020B0502040204020203" pitchFamily="34" charset="0"/>
                          </a:rPr>
                          <m:t> </m:t>
                        </m:r>
                        <m:r>
                          <a:rPr lang="en-US" sz="2300" b="0" i="1" smtClean="0">
                            <a:latin typeface="Cambria Math" panose="02040503050406030204" pitchFamily="18" charset="0"/>
                            <a:cs typeface="Vani" panose="020B0502040204020203" pitchFamily="34" charset="0"/>
                          </a:rPr>
                          <m:t>𝑇𝑢𝑒𝑠𝑑𝑎𝑦</m:t>
                        </m:r>
                        <m:r>
                          <a:rPr lang="en-US" sz="2300" b="0" i="1" smtClean="0">
                            <a:latin typeface="Cambria Math" panose="02040503050406030204" pitchFamily="18" charset="0"/>
                            <a:cs typeface="Vani" panose="020B0502040204020203" pitchFamily="34" charset="0"/>
                          </a:rPr>
                          <m:t> </m:t>
                        </m:r>
                        <m:r>
                          <a:rPr lang="en-US" sz="2300" b="0" i="1" smtClean="0">
                            <a:latin typeface="Cambria Math" panose="02040503050406030204" pitchFamily="18" charset="0"/>
                            <a:cs typeface="Vani" panose="020B0502040204020203" pitchFamily="34" charset="0"/>
                          </a:rPr>
                          <m:t>𝑀𝑜𝑟𝑛𝑖𝑛𝑔</m:t>
                        </m:r>
                      </m:e>
                    </m:d>
                    <m:r>
                      <a:rPr lang="en-US" sz="2300" b="0" i="1" smtClean="0">
                        <a:latin typeface="Cambria Math" panose="02040503050406030204" pitchFamily="18" charset="0"/>
                        <a:cs typeface="Vani" panose="020B0502040204020203" pitchFamily="34" charset="0"/>
                      </a:rPr>
                      <m:t>=0.154∗0.154=</m:t>
                    </m:r>
                    <m:sSup>
                      <m:sSupPr>
                        <m:ctrlPr>
                          <a:rPr lang="en-US" sz="2300" b="0" i="1" smtClean="0">
                            <a:latin typeface="Cambria Math" panose="02040503050406030204" pitchFamily="18" charset="0"/>
                            <a:cs typeface="Vani" panose="020B0502040204020203" pitchFamily="34" charset="0"/>
                          </a:rPr>
                        </m:ctrlPr>
                      </m:sSupPr>
                      <m:e>
                        <m:r>
                          <a:rPr lang="en-US" sz="2300" b="0" i="1" smtClean="0">
                            <a:latin typeface="Cambria Math" panose="02040503050406030204" pitchFamily="18" charset="0"/>
                            <a:cs typeface="Vani" panose="020B0502040204020203" pitchFamily="34" charset="0"/>
                          </a:rPr>
                          <m:t>0.154</m:t>
                        </m:r>
                      </m:e>
                      <m:sup>
                        <m:r>
                          <a:rPr lang="en-US" sz="2300" b="0" i="1" smtClean="0">
                            <a:latin typeface="Cambria Math" panose="02040503050406030204" pitchFamily="18" charset="0"/>
                            <a:cs typeface="Vani" panose="020B0502040204020203" pitchFamily="34" charset="0"/>
                          </a:rPr>
                          <m:t>2</m:t>
                        </m:r>
                      </m:sup>
                    </m:sSup>
                    <m:r>
                      <a:rPr lang="en-US" sz="2300" b="0" i="1" smtClean="0">
                        <a:latin typeface="Cambria Math" panose="02040503050406030204" pitchFamily="18" charset="0"/>
                        <a:cs typeface="Vani" panose="020B0502040204020203" pitchFamily="34" charset="0"/>
                      </a:rPr>
                      <m:t>=</m:t>
                    </m:r>
                    <m:r>
                      <a:rPr lang="en-US" sz="2300" b="0" i="1" smtClean="0">
                        <a:solidFill>
                          <a:srgbClr val="FF0000"/>
                        </a:solidFill>
                        <a:latin typeface="Cambria Math" panose="02040503050406030204" pitchFamily="18" charset="0"/>
                        <a:cs typeface="Vani" panose="020B0502040204020203" pitchFamily="34" charset="0"/>
                      </a:rPr>
                      <m:t>0.02372</m:t>
                    </m:r>
                  </m:oMath>
                </a14:m>
                <a:endParaRPr lang="en-US" sz="2300" b="0" i="1" dirty="0" smtClean="0">
                  <a:solidFill>
                    <a:srgbClr val="FF0000"/>
                  </a:solidFill>
                  <a:latin typeface="Cambria Math" panose="02040503050406030204" pitchFamily="18" charset="0"/>
                  <a:cs typeface="Vani" panose="020B0502040204020203" pitchFamily="34" charset="0"/>
                </a:endParaRPr>
              </a:p>
              <a:p>
                <a:pPr>
                  <a:lnSpc>
                    <a:spcPct val="150000"/>
                  </a:lnSpc>
                </a:pPr>
                <a:endParaRPr lang="en-US" sz="2300" b="0" i="1" dirty="0" smtClean="0">
                  <a:latin typeface="Cambria Math" panose="02040503050406030204" pitchFamily="18" charset="0"/>
                  <a:cs typeface="Vani" panose="020B0502040204020203" pitchFamily="34" charset="0"/>
                </a:endParaRPr>
              </a:p>
              <a:p>
                <a:pPr>
                  <a:lnSpc>
                    <a:spcPct val="150000"/>
                  </a:lnSpc>
                </a:pPr>
                <a:r>
                  <a:rPr lang="en-US" sz="2300" dirty="0" smtClean="0">
                    <a:latin typeface="Vani" panose="020B0502040204020203" pitchFamily="34" charset="0"/>
                    <a:cs typeface="Vani" panose="020B0502040204020203" pitchFamily="34" charset="0"/>
                  </a:rPr>
                  <a:t>(c.)</a:t>
                </a:r>
                <a:r>
                  <a:rPr lang="en-US" sz="2300" dirty="0">
                    <a:latin typeface="Vani" panose="020B0502040204020203" pitchFamily="34" charset="0"/>
                    <a:cs typeface="Vani" panose="020B0502040204020203" pitchFamily="34" charset="0"/>
                  </a:rPr>
                  <a:t>	Assume Agape has </a:t>
                </a:r>
                <a:r>
                  <a:rPr lang="en-US" sz="2300" dirty="0" smtClean="0">
                    <a:latin typeface="Vani" panose="020B0502040204020203" pitchFamily="34" charset="0"/>
                    <a:cs typeface="Vani" panose="020B0502040204020203" pitchFamily="34" charset="0"/>
                  </a:rPr>
                  <a:t>3 </a:t>
                </a:r>
                <a:r>
                  <a:rPr lang="en-US" sz="2300" dirty="0">
                    <a:latin typeface="Vani" panose="020B0502040204020203" pitchFamily="34" charset="0"/>
                    <a:cs typeface="Vani" panose="020B0502040204020203" pitchFamily="34" charset="0"/>
                  </a:rPr>
                  <a:t>alarm clocks. Determine the probability that </a:t>
                </a:r>
                <a:r>
                  <a:rPr lang="en-US" sz="2300" dirty="0" smtClean="0">
                    <a:latin typeface="Vani" panose="020B0502040204020203" pitchFamily="34" charset="0"/>
                    <a:cs typeface="Vani" panose="020B0502040204020203" pitchFamily="34" charset="0"/>
                  </a:rPr>
                  <a:t>all </a:t>
                </a:r>
                <a:r>
                  <a:rPr lang="en-US" sz="2300" dirty="0">
                    <a:latin typeface="Vani" panose="020B0502040204020203" pitchFamily="34" charset="0"/>
                    <a:cs typeface="Vani" panose="020B0502040204020203" pitchFamily="34" charset="0"/>
                  </a:rPr>
                  <a:t>clocks fail on a Tuesday morning. Round to five decimal places as needed.</a:t>
                </a:r>
              </a:p>
              <a:p>
                <a:pPr>
                  <a:lnSpc>
                    <a:spcPct val="150000"/>
                  </a:lnSpc>
                </a:pPr>
                <a14:m>
                  <m:oMath xmlns:m="http://schemas.openxmlformats.org/officeDocument/2006/math">
                    <m:r>
                      <a:rPr lang="en-US" sz="2300" i="1">
                        <a:latin typeface="Cambria Math" panose="02040503050406030204" pitchFamily="18" charset="0"/>
                        <a:cs typeface="Vani" panose="020B0502040204020203" pitchFamily="34" charset="0"/>
                      </a:rPr>
                      <m:t>𝑃</m:t>
                    </m:r>
                    <m:d>
                      <m:dPr>
                        <m:ctrlPr>
                          <a:rPr lang="en-US" sz="2300" i="1">
                            <a:latin typeface="Cambria Math" panose="02040503050406030204" pitchFamily="18" charset="0"/>
                            <a:cs typeface="Vani" panose="020B0502040204020203" pitchFamily="34" charset="0"/>
                          </a:rPr>
                        </m:ctrlPr>
                      </m:dPr>
                      <m:e>
                        <m:r>
                          <a:rPr lang="en-US" sz="2300" b="0" i="1" smtClean="0">
                            <a:latin typeface="Cambria Math" panose="02040503050406030204" pitchFamily="18" charset="0"/>
                            <a:cs typeface="Vani" panose="020B0502040204020203" pitchFamily="34" charset="0"/>
                          </a:rPr>
                          <m:t>3</m:t>
                        </m:r>
                        <m:r>
                          <a:rPr lang="en-US" sz="2300" i="1">
                            <a:latin typeface="Cambria Math" panose="02040503050406030204" pitchFamily="18" charset="0"/>
                            <a:cs typeface="Vani" panose="020B0502040204020203" pitchFamily="34" charset="0"/>
                          </a:rPr>
                          <m:t> </m:t>
                        </m:r>
                        <m:r>
                          <a:rPr lang="en-US" sz="2300" i="1">
                            <a:latin typeface="Cambria Math" panose="02040503050406030204" pitchFamily="18" charset="0"/>
                            <a:cs typeface="Vani" panose="020B0502040204020203" pitchFamily="34" charset="0"/>
                          </a:rPr>
                          <m:t>𝐷𝐹</m:t>
                        </m:r>
                        <m:r>
                          <a:rPr lang="en-US" sz="2300" i="1">
                            <a:latin typeface="Cambria Math" panose="02040503050406030204" pitchFamily="18" charset="0"/>
                            <a:cs typeface="Vani" panose="020B0502040204020203" pitchFamily="34" charset="0"/>
                          </a:rPr>
                          <m:t> </m:t>
                        </m:r>
                        <m:r>
                          <a:rPr lang="en-US" sz="2300" i="1">
                            <a:latin typeface="Cambria Math" panose="02040503050406030204" pitchFamily="18" charset="0"/>
                            <a:cs typeface="Vani" panose="020B0502040204020203" pitchFamily="34" charset="0"/>
                          </a:rPr>
                          <m:t>𝑜𝑛</m:t>
                        </m:r>
                        <m:r>
                          <a:rPr lang="en-US" sz="2300" i="1">
                            <a:latin typeface="Cambria Math" panose="02040503050406030204" pitchFamily="18" charset="0"/>
                            <a:cs typeface="Vani" panose="020B0502040204020203" pitchFamily="34" charset="0"/>
                          </a:rPr>
                          <m:t> </m:t>
                        </m:r>
                        <m:r>
                          <a:rPr lang="en-US" sz="2300" i="1">
                            <a:latin typeface="Cambria Math" panose="02040503050406030204" pitchFamily="18" charset="0"/>
                            <a:cs typeface="Vani" panose="020B0502040204020203" pitchFamily="34" charset="0"/>
                          </a:rPr>
                          <m:t>𝑇𝑢𝑒𝑠𝑑𝑎𝑦</m:t>
                        </m:r>
                        <m:r>
                          <a:rPr lang="en-US" sz="2300" i="1">
                            <a:latin typeface="Cambria Math" panose="02040503050406030204" pitchFamily="18" charset="0"/>
                            <a:cs typeface="Vani" panose="020B0502040204020203" pitchFamily="34" charset="0"/>
                          </a:rPr>
                          <m:t> </m:t>
                        </m:r>
                        <m:r>
                          <a:rPr lang="en-US" sz="2300" i="1">
                            <a:latin typeface="Cambria Math" panose="02040503050406030204" pitchFamily="18" charset="0"/>
                            <a:cs typeface="Vani" panose="020B0502040204020203" pitchFamily="34" charset="0"/>
                          </a:rPr>
                          <m:t>𝑀𝑜𝑟𝑛𝑖𝑛𝑔</m:t>
                        </m:r>
                      </m:e>
                    </m:d>
                    <m:r>
                      <a:rPr lang="en-US" sz="2300" i="1">
                        <a:latin typeface="Cambria Math" panose="02040503050406030204" pitchFamily="18" charset="0"/>
                        <a:cs typeface="Vani" panose="020B0502040204020203" pitchFamily="34" charset="0"/>
                      </a:rPr>
                      <m:t>=0.154∗0.154</m:t>
                    </m:r>
                    <m:r>
                      <a:rPr lang="en-US" sz="2300" b="0" i="1" smtClean="0">
                        <a:latin typeface="Cambria Math" panose="02040503050406030204" pitchFamily="18" charset="0"/>
                        <a:cs typeface="Vani" panose="020B0502040204020203" pitchFamily="34" charset="0"/>
                      </a:rPr>
                      <m:t>∗0.154</m:t>
                    </m:r>
                    <m:r>
                      <a:rPr lang="en-US" sz="2300" i="1">
                        <a:latin typeface="Cambria Math" panose="02040503050406030204" pitchFamily="18" charset="0"/>
                        <a:cs typeface="Vani" panose="020B0502040204020203" pitchFamily="34" charset="0"/>
                      </a:rPr>
                      <m:t>=</m:t>
                    </m:r>
                    <m:sSup>
                      <m:sSupPr>
                        <m:ctrlPr>
                          <a:rPr lang="en-US" sz="2300" i="1">
                            <a:latin typeface="Cambria Math" panose="02040503050406030204" pitchFamily="18" charset="0"/>
                            <a:cs typeface="Vani" panose="020B0502040204020203" pitchFamily="34" charset="0"/>
                          </a:rPr>
                        </m:ctrlPr>
                      </m:sSupPr>
                      <m:e>
                        <m:r>
                          <a:rPr lang="en-US" sz="2300" i="1">
                            <a:latin typeface="Cambria Math" panose="02040503050406030204" pitchFamily="18" charset="0"/>
                            <a:cs typeface="Vani" panose="020B0502040204020203" pitchFamily="34" charset="0"/>
                          </a:rPr>
                          <m:t>0.154</m:t>
                        </m:r>
                      </m:e>
                      <m:sup>
                        <m:r>
                          <a:rPr lang="en-US" sz="2300" b="0" i="1" smtClean="0">
                            <a:latin typeface="Cambria Math" panose="02040503050406030204" pitchFamily="18" charset="0"/>
                            <a:cs typeface="Vani" panose="020B0502040204020203" pitchFamily="34" charset="0"/>
                          </a:rPr>
                          <m:t>3</m:t>
                        </m:r>
                      </m:sup>
                    </m:sSup>
                    <m:r>
                      <a:rPr lang="en-US" sz="2300" i="1">
                        <a:latin typeface="Cambria Math" panose="02040503050406030204" pitchFamily="18" charset="0"/>
                        <a:cs typeface="Vani" panose="020B0502040204020203" pitchFamily="34" charset="0"/>
                      </a:rPr>
                      <m:t>=</m:t>
                    </m:r>
                    <m:r>
                      <a:rPr lang="en-US" sz="2300" i="1" smtClean="0">
                        <a:solidFill>
                          <a:srgbClr val="FF0000"/>
                        </a:solidFill>
                        <a:latin typeface="Cambria Math" panose="02040503050406030204" pitchFamily="18" charset="0"/>
                        <a:cs typeface="Vani" panose="020B0502040204020203" pitchFamily="34" charset="0"/>
                      </a:rPr>
                      <m:t>0.0</m:t>
                    </m:r>
                    <m:r>
                      <a:rPr lang="en-US" sz="2300" b="0" i="1" smtClean="0">
                        <a:solidFill>
                          <a:srgbClr val="FF0000"/>
                        </a:solidFill>
                        <a:latin typeface="Cambria Math" panose="02040503050406030204" pitchFamily="18" charset="0"/>
                        <a:cs typeface="Vani" panose="020B0502040204020203" pitchFamily="34" charset="0"/>
                      </a:rPr>
                      <m:t>0365</m:t>
                    </m:r>
                  </m:oMath>
                </a14:m>
                <a:endParaRPr lang="en-US" sz="2300" i="1" dirty="0" smtClean="0">
                  <a:solidFill>
                    <a:srgbClr val="FF0000"/>
                  </a:solidFill>
                  <a:latin typeface="Cambria Math" panose="02040503050406030204" pitchFamily="18" charset="0"/>
                  <a:cs typeface="Vani" panose="020B0502040204020203" pitchFamily="34" charset="0"/>
                </a:endParaRPr>
              </a:p>
              <a:p>
                <a:pPr>
                  <a:lnSpc>
                    <a:spcPct val="150000"/>
                  </a:lnSpc>
                </a:pPr>
                <a:endParaRPr lang="en-US" sz="2300" dirty="0">
                  <a:latin typeface="Vani" panose="020B0502040204020203"/>
                  <a:cs typeface="Vani" panose="020B0502040204020203" pitchFamily="34" charset="0"/>
                </a:endParaRPr>
              </a:p>
              <a:p>
                <a:pPr>
                  <a:lnSpc>
                    <a:spcPct val="150000"/>
                  </a:lnSpc>
                </a:pPr>
                <a:endParaRPr lang="en-US" sz="2300" b="0" i="1" dirty="0" smtClean="0">
                  <a:latin typeface="Cambria Math" panose="02040503050406030204" pitchFamily="18" charset="0"/>
                  <a:cs typeface="Vani" panose="020B0502040204020203" pitchFamily="34" charset="0"/>
                </a:endParaRPr>
              </a:p>
              <a:p>
                <a:pPr>
                  <a:lnSpc>
                    <a:spcPct val="150000"/>
                  </a:lnSpc>
                </a:pPr>
                <a:endParaRPr lang="en-US" sz="2300" dirty="0" smtClean="0">
                  <a:latin typeface="Vani" panose="020B0502040204020203" pitchFamily="34" charset="0"/>
                  <a:cs typeface="Vani" panose="020B0502040204020203" pitchFamily="34" charset="0"/>
                </a:endParaRPr>
              </a:p>
            </p:txBody>
          </p:sp>
        </mc:Choice>
        <mc:Fallback xmlns="">
          <p:sp>
            <p:nvSpPr>
              <p:cNvPr id="14" name="Content Placeholder 13"/>
              <p:cNvSpPr>
                <a:spLocks noGrp="1" noRot="1" noChangeAspect="1" noMove="1" noResize="1" noEditPoints="1" noAdjustHandles="1" noChangeArrowheads="1" noChangeShapeType="1" noTextEdit="1"/>
              </p:cNvSpPr>
              <p:nvPr>
                <p:ph idx="1"/>
              </p:nvPr>
            </p:nvSpPr>
            <p:spPr>
              <a:xfrm>
                <a:off x="0" y="1738184"/>
                <a:ext cx="12192000" cy="5119816"/>
              </a:xfrm>
              <a:blipFill rotWithShape="0">
                <a:blip r:embed="rId2"/>
                <a:stretch>
                  <a:fillRect l="-1350" r="-50"/>
                </a:stretch>
              </a:blipFill>
            </p:spPr>
            <p:txBody>
              <a:bodyPr/>
              <a:lstStyle/>
              <a:p>
                <a:r>
                  <a:rPr lang="en-US">
                    <a:noFill/>
                  </a:rPr>
                  <a:t> </a:t>
                </a:r>
              </a:p>
            </p:txBody>
          </p:sp>
        </mc:Fallback>
      </mc:AlternateContent>
    </p:spTree>
    <p:extLst>
      <p:ext uri="{BB962C8B-B14F-4D97-AF65-F5344CB8AC3E}">
        <p14:creationId xmlns:p14="http://schemas.microsoft.com/office/powerpoint/2010/main" val="34019614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0" y="295562"/>
            <a:ext cx="12192000" cy="1008247"/>
          </a:xfrm>
        </p:spPr>
        <p:txBody>
          <a:bodyPr/>
          <a:lstStyle/>
          <a:p>
            <a:r>
              <a:rPr lang="en-US" dirty="0" smtClean="0"/>
              <a:t>Questions and Answers							12-3.</a:t>
            </a:r>
            <a:endParaRPr dirty="0"/>
          </a:p>
        </p:txBody>
      </p:sp>
      <mc:AlternateContent xmlns:mc="http://schemas.openxmlformats.org/markup-compatibility/2006" xmlns:a14="http://schemas.microsoft.com/office/drawing/2010/main">
        <mc:Choice Requires="a14">
          <p:sp>
            <p:nvSpPr>
              <p:cNvPr id="14" name="Content Placeholder 13"/>
              <p:cNvSpPr>
                <a:spLocks noGrp="1"/>
              </p:cNvSpPr>
              <p:nvPr>
                <p:ph idx="1"/>
              </p:nvPr>
            </p:nvSpPr>
            <p:spPr>
              <a:xfrm>
                <a:off x="0" y="1738184"/>
                <a:ext cx="12192000" cy="5119816"/>
              </a:xfrm>
            </p:spPr>
            <p:txBody>
              <a:bodyPr>
                <a:normAutofit/>
              </a:bodyPr>
              <a:lstStyle/>
              <a:p>
                <a:pPr>
                  <a:lnSpc>
                    <a:spcPct val="150000"/>
                  </a:lnSpc>
                </a:pPr>
                <a:r>
                  <a:rPr lang="en-US" sz="2300" dirty="0" smtClean="0">
                    <a:latin typeface="Vani" panose="020B0502040204020203" pitchFamily="34" charset="0"/>
                    <a:cs typeface="Vani" panose="020B0502040204020203" pitchFamily="34" charset="0"/>
                  </a:rPr>
                  <a:t>(d.)	Does the second and third alarm clocks result in improved reliability? Does the principle of redundancy apply in this case?	</a:t>
                </a:r>
                <a:r>
                  <a:rPr lang="en-US" sz="2300" b="0" dirty="0" smtClean="0">
                    <a:latin typeface="Vani" panose="020B0502040204020203" pitchFamily="34" charset="0"/>
                    <a:cs typeface="Vani" panose="020B0502040204020203" pitchFamily="34" charset="0"/>
                  </a:rPr>
                  <a:t>Let us analyze this case.</a:t>
                </a:r>
              </a:p>
              <a:p>
                <a:pPr>
                  <a:lnSpc>
                    <a:spcPct val="150000"/>
                  </a:lnSpc>
                </a:pPr>
                <a:r>
                  <a:rPr lang="en-US" sz="2300" dirty="0" smtClean="0">
                    <a:latin typeface="Vani" panose="020B0502040204020203" pitchFamily="34" charset="0"/>
                    <a:cs typeface="Vani" panose="020B0502040204020203" pitchFamily="34" charset="0"/>
                  </a:rPr>
                  <a:t>An event is unlikely if the probability of the occurrence of the event is </a:t>
                </a:r>
                <a14:m>
                  <m:oMath xmlns:m="http://schemas.openxmlformats.org/officeDocument/2006/math">
                    <m:r>
                      <a:rPr lang="en-US" sz="2300" i="1" smtClean="0">
                        <a:latin typeface="Cambria Math" panose="02040503050406030204" pitchFamily="18" charset="0"/>
                        <a:ea typeface="Cambria Math" panose="02040503050406030204" pitchFamily="18" charset="0"/>
                        <a:cs typeface="Vani" panose="020B0502040204020203" pitchFamily="34" charset="0"/>
                      </a:rPr>
                      <m:t>≤</m:t>
                    </m:r>
                    <m:r>
                      <a:rPr lang="en-US" sz="2300" b="0" i="1" smtClean="0">
                        <a:latin typeface="Cambria Math" panose="02040503050406030204" pitchFamily="18" charset="0"/>
                        <a:ea typeface="Cambria Math" panose="02040503050406030204" pitchFamily="18" charset="0"/>
                        <a:cs typeface="Vani" panose="020B0502040204020203" pitchFamily="34" charset="0"/>
                      </a:rPr>
                      <m:t>0.05</m:t>
                    </m:r>
                  </m:oMath>
                </a14:m>
                <a:endParaRPr lang="en-US" sz="2300" b="0" dirty="0" smtClean="0">
                  <a:latin typeface="Vani" panose="020B0502040204020203" pitchFamily="34" charset="0"/>
                  <a:ea typeface="Cambria Math" panose="02040503050406030204" pitchFamily="18" charset="0"/>
                  <a:cs typeface="Vani" panose="020B0502040204020203" pitchFamily="34" charset="0"/>
                </a:endParaRPr>
              </a:p>
              <a:p>
                <a:pPr>
                  <a:lnSpc>
                    <a:spcPct val="150000"/>
                  </a:lnSpc>
                </a:pPr>
                <a14:m>
                  <m:oMath xmlns:m="http://schemas.openxmlformats.org/officeDocument/2006/math">
                    <m:r>
                      <a:rPr lang="en-US" sz="2300" b="0" i="1" smtClean="0">
                        <a:latin typeface="Cambria Math" panose="02040503050406030204" pitchFamily="18" charset="0"/>
                        <a:cs typeface="Vani" panose="020B0502040204020203" pitchFamily="34" charset="0"/>
                      </a:rPr>
                      <m:t>𝑃</m:t>
                    </m:r>
                    <m:d>
                      <m:dPr>
                        <m:ctrlPr>
                          <a:rPr lang="en-US" sz="2300" b="0" i="1" smtClean="0">
                            <a:latin typeface="Cambria Math" panose="02040503050406030204" pitchFamily="18" charset="0"/>
                            <a:cs typeface="Vani" panose="020B0502040204020203" pitchFamily="34" charset="0"/>
                          </a:rPr>
                        </m:ctrlPr>
                      </m:dPr>
                      <m:e>
                        <m:r>
                          <a:rPr lang="en-US" sz="2300" b="0" i="1" smtClean="0">
                            <a:latin typeface="Cambria Math" panose="02040503050406030204" pitchFamily="18" charset="0"/>
                            <a:cs typeface="Vani" panose="020B0502040204020203" pitchFamily="34" charset="0"/>
                          </a:rPr>
                          <m:t>1 </m:t>
                        </m:r>
                        <m:r>
                          <a:rPr lang="en-US" sz="2300" b="0" i="1" smtClean="0">
                            <a:latin typeface="Cambria Math" panose="02040503050406030204" pitchFamily="18" charset="0"/>
                            <a:cs typeface="Vani" panose="020B0502040204020203" pitchFamily="34" charset="0"/>
                          </a:rPr>
                          <m:t>𝐷𝐹</m:t>
                        </m:r>
                      </m:e>
                    </m:d>
                    <m:r>
                      <a:rPr lang="en-US" sz="2300" b="0" i="1" smtClean="0">
                        <a:latin typeface="Cambria Math" panose="02040503050406030204" pitchFamily="18" charset="0"/>
                        <a:cs typeface="Vani" panose="020B0502040204020203" pitchFamily="34" charset="0"/>
                      </a:rPr>
                      <m:t>=0.154.        0.154</m:t>
                    </m:r>
                    <m:r>
                      <a:rPr lang="en-US" sz="2300" b="0" i="1" smtClean="0">
                        <a:latin typeface="Cambria Math" panose="02040503050406030204" pitchFamily="18" charset="0"/>
                        <a:ea typeface="Cambria Math" panose="02040503050406030204" pitchFamily="18" charset="0"/>
                        <a:cs typeface="Vani" panose="020B0502040204020203" pitchFamily="34" charset="0"/>
                      </a:rPr>
                      <m:t>&gt;0.05</m:t>
                    </m:r>
                  </m:oMath>
                </a14:m>
                <a:r>
                  <a:rPr lang="en-US" sz="2300" b="0" dirty="0" smtClean="0">
                    <a:latin typeface="Vani" panose="020B0502040204020203" pitchFamily="34" charset="0"/>
                    <a:cs typeface="Vani" panose="020B0502040204020203" pitchFamily="34" charset="0"/>
                  </a:rPr>
                  <a:t>. </a:t>
                </a:r>
                <a:r>
                  <a:rPr lang="en-US" sz="2300" dirty="0" smtClean="0">
                    <a:latin typeface="Vani" panose="020B0502040204020203" pitchFamily="34" charset="0"/>
                    <a:cs typeface="Vani" panose="020B0502040204020203" pitchFamily="34" charset="0"/>
                  </a:rPr>
                  <a:t>This event is likely to occur.</a:t>
                </a:r>
              </a:p>
              <a:p>
                <a:pPr>
                  <a:lnSpc>
                    <a:spcPct val="150000"/>
                  </a:lnSpc>
                </a:pPr>
                <a14:m>
                  <m:oMath xmlns:m="http://schemas.openxmlformats.org/officeDocument/2006/math">
                    <m:r>
                      <a:rPr lang="en-US" sz="2300" b="0" i="1" smtClean="0">
                        <a:latin typeface="Cambria Math" panose="02040503050406030204" pitchFamily="18" charset="0"/>
                        <a:cs typeface="Vani" panose="020B0502040204020203" pitchFamily="34" charset="0"/>
                      </a:rPr>
                      <m:t>𝑃</m:t>
                    </m:r>
                    <m:d>
                      <m:dPr>
                        <m:ctrlPr>
                          <a:rPr lang="en-US" sz="2300" b="0" i="1" smtClean="0">
                            <a:latin typeface="Cambria Math" panose="02040503050406030204" pitchFamily="18" charset="0"/>
                            <a:cs typeface="Vani" panose="020B0502040204020203" pitchFamily="34" charset="0"/>
                          </a:rPr>
                        </m:ctrlPr>
                      </m:dPr>
                      <m:e>
                        <m:r>
                          <a:rPr lang="en-US" sz="2300" b="0" i="1" smtClean="0">
                            <a:latin typeface="Cambria Math" panose="02040503050406030204" pitchFamily="18" charset="0"/>
                            <a:cs typeface="Vani" panose="020B0502040204020203" pitchFamily="34" charset="0"/>
                          </a:rPr>
                          <m:t>2 </m:t>
                        </m:r>
                        <m:r>
                          <a:rPr lang="en-US" sz="2300" b="0" i="1" smtClean="0">
                            <a:latin typeface="Cambria Math" panose="02040503050406030204" pitchFamily="18" charset="0"/>
                            <a:cs typeface="Vani" panose="020B0502040204020203" pitchFamily="34" charset="0"/>
                          </a:rPr>
                          <m:t>𝐷𝐹</m:t>
                        </m:r>
                      </m:e>
                    </m:d>
                    <m:r>
                      <a:rPr lang="en-US" sz="2300" b="0" i="1" smtClean="0">
                        <a:latin typeface="Cambria Math" panose="02040503050406030204" pitchFamily="18" charset="0"/>
                        <a:cs typeface="Vani" panose="020B0502040204020203" pitchFamily="34" charset="0"/>
                      </a:rPr>
                      <m:t>=0.02372.   0.02372</m:t>
                    </m:r>
                    <m:r>
                      <a:rPr lang="en-US" sz="2300" b="0" i="1" smtClean="0">
                        <a:latin typeface="Cambria Math" panose="02040503050406030204" pitchFamily="18" charset="0"/>
                        <a:ea typeface="Cambria Math" panose="02040503050406030204" pitchFamily="18" charset="0"/>
                        <a:cs typeface="Vani" panose="020B0502040204020203" pitchFamily="34" charset="0"/>
                      </a:rPr>
                      <m:t>&lt;0.05.</m:t>
                    </m:r>
                  </m:oMath>
                </a14:m>
                <a:r>
                  <a:rPr lang="en-US" sz="2300" b="0" dirty="0" smtClean="0">
                    <a:latin typeface="Vani" panose="020B0502040204020203" pitchFamily="34" charset="0"/>
                    <a:cs typeface="Vani" panose="020B0502040204020203" pitchFamily="34" charset="0"/>
                  </a:rPr>
                  <a:t> This event is unlikely to occur.</a:t>
                </a:r>
              </a:p>
              <a:p>
                <a:pPr>
                  <a:lnSpc>
                    <a:spcPct val="150000"/>
                  </a:lnSpc>
                </a:pPr>
                <a14:m>
                  <m:oMath xmlns:m="http://schemas.openxmlformats.org/officeDocument/2006/math">
                    <m:r>
                      <a:rPr lang="en-US" sz="2300" b="0" i="1" smtClean="0">
                        <a:latin typeface="Cambria Math" panose="02040503050406030204" pitchFamily="18" charset="0"/>
                        <a:cs typeface="Vani" panose="020B0502040204020203" pitchFamily="34" charset="0"/>
                      </a:rPr>
                      <m:t>𝑃</m:t>
                    </m:r>
                    <m:d>
                      <m:dPr>
                        <m:ctrlPr>
                          <a:rPr lang="en-US" sz="2300" b="0" i="1" smtClean="0">
                            <a:latin typeface="Cambria Math" panose="02040503050406030204" pitchFamily="18" charset="0"/>
                            <a:cs typeface="Vani" panose="020B0502040204020203" pitchFamily="34" charset="0"/>
                          </a:rPr>
                        </m:ctrlPr>
                      </m:dPr>
                      <m:e>
                        <m:r>
                          <a:rPr lang="en-US" sz="2300" b="0" i="1" smtClean="0">
                            <a:latin typeface="Cambria Math" panose="02040503050406030204" pitchFamily="18" charset="0"/>
                            <a:cs typeface="Vani" panose="020B0502040204020203" pitchFamily="34" charset="0"/>
                          </a:rPr>
                          <m:t>3 </m:t>
                        </m:r>
                        <m:r>
                          <a:rPr lang="en-US" sz="2300" b="0" i="1" smtClean="0">
                            <a:latin typeface="Cambria Math" panose="02040503050406030204" pitchFamily="18" charset="0"/>
                            <a:cs typeface="Vani" panose="020B0502040204020203" pitchFamily="34" charset="0"/>
                          </a:rPr>
                          <m:t>𝐷𝐹</m:t>
                        </m:r>
                      </m:e>
                    </m:d>
                    <m:r>
                      <a:rPr lang="en-US" sz="2300" b="0" i="1" smtClean="0">
                        <a:latin typeface="Cambria Math" panose="02040503050406030204" pitchFamily="18" charset="0"/>
                        <a:cs typeface="Vani" panose="020B0502040204020203" pitchFamily="34" charset="0"/>
                      </a:rPr>
                      <m:t>=0.00365.   0.00365</m:t>
                    </m:r>
                    <m:r>
                      <a:rPr lang="en-US" sz="2300" b="0" i="1" smtClean="0">
                        <a:latin typeface="Cambria Math" panose="02040503050406030204" pitchFamily="18" charset="0"/>
                        <a:ea typeface="Cambria Math" panose="02040503050406030204" pitchFamily="18" charset="0"/>
                        <a:cs typeface="Vani" panose="020B0502040204020203" pitchFamily="34" charset="0"/>
                      </a:rPr>
                      <m:t>&lt;0.05.</m:t>
                    </m:r>
                    <m:r>
                      <a:rPr lang="en-US" sz="2300" b="0" i="1" smtClean="0">
                        <a:latin typeface="Cambria Math" panose="02040503050406030204" pitchFamily="18" charset="0"/>
                        <a:cs typeface="Vani" panose="020B0502040204020203" pitchFamily="34" charset="0"/>
                      </a:rPr>
                      <m:t>   </m:t>
                    </m:r>
                  </m:oMath>
                </a14:m>
                <a:r>
                  <a:rPr lang="en-US" sz="2300" b="0" dirty="0" smtClean="0">
                    <a:latin typeface="Vani" panose="020B0502040204020203" pitchFamily="34" charset="0"/>
                    <a:cs typeface="Vani" panose="020B0502040204020203" pitchFamily="34" charset="0"/>
                  </a:rPr>
                  <a:t>This event is unlikely to occur. </a:t>
                </a:r>
              </a:p>
              <a:p>
                <a:pPr>
                  <a:lnSpc>
                    <a:spcPct val="150000"/>
                  </a:lnSpc>
                </a:pPr>
                <a:r>
                  <a:rPr lang="en-US" sz="2300" dirty="0" smtClean="0">
                    <a:solidFill>
                      <a:srgbClr val="FF0000"/>
                    </a:solidFill>
                    <a:latin typeface="Vani" panose="020B0502040204020203" pitchFamily="34" charset="0"/>
                    <a:cs typeface="Vani" panose="020B0502040204020203" pitchFamily="34" charset="0"/>
                  </a:rPr>
                  <a:t>So, there is improved reliability with the second and third alarm clocks. The principle of redundancy applies in this case.</a:t>
                </a:r>
                <a:endParaRPr lang="en-US" sz="2300" b="0" dirty="0" smtClean="0">
                  <a:solidFill>
                    <a:srgbClr val="FF0000"/>
                  </a:solidFill>
                  <a:latin typeface="Vani" panose="020B0502040204020203" pitchFamily="34" charset="0"/>
                  <a:cs typeface="Vani" panose="020B0502040204020203" pitchFamily="34" charset="0"/>
                </a:endParaRPr>
              </a:p>
            </p:txBody>
          </p:sp>
        </mc:Choice>
        <mc:Fallback xmlns="">
          <p:sp>
            <p:nvSpPr>
              <p:cNvPr id="14" name="Content Placeholder 13"/>
              <p:cNvSpPr>
                <a:spLocks noGrp="1" noRot="1" noChangeAspect="1" noMove="1" noResize="1" noEditPoints="1" noAdjustHandles="1" noChangeArrowheads="1" noChangeShapeType="1" noTextEdit="1"/>
              </p:cNvSpPr>
              <p:nvPr>
                <p:ph idx="1"/>
              </p:nvPr>
            </p:nvSpPr>
            <p:spPr>
              <a:xfrm>
                <a:off x="0" y="1738184"/>
                <a:ext cx="12192000" cy="5119816"/>
              </a:xfrm>
              <a:blipFill rotWithShape="0">
                <a:blip r:embed="rId2"/>
                <a:stretch>
                  <a:fillRect l="-1350" r="-1850" b="-119"/>
                </a:stretch>
              </a:blipFill>
            </p:spPr>
            <p:txBody>
              <a:bodyPr/>
              <a:lstStyle/>
              <a:p>
                <a:r>
                  <a:rPr lang="en-US">
                    <a:noFill/>
                  </a:rPr>
                  <a:t> </a:t>
                </a:r>
              </a:p>
            </p:txBody>
          </p:sp>
        </mc:Fallback>
      </mc:AlternateContent>
    </p:spTree>
    <p:extLst>
      <p:ext uri="{BB962C8B-B14F-4D97-AF65-F5344CB8AC3E}">
        <p14:creationId xmlns:p14="http://schemas.microsoft.com/office/powerpoint/2010/main" val="37716418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0" y="295562"/>
            <a:ext cx="12192000" cy="1008247"/>
          </a:xfrm>
        </p:spPr>
        <p:txBody>
          <a:bodyPr/>
          <a:lstStyle/>
          <a:p>
            <a:r>
              <a:rPr lang="en-US" dirty="0" smtClean="0"/>
              <a:t>Questions and Answers						</a:t>
            </a:r>
            <a:r>
              <a:rPr lang="en-US" smtClean="0"/>
              <a:t>	13-1</a:t>
            </a:r>
            <a:r>
              <a:rPr lang="en-US" dirty="0" smtClean="0"/>
              <a:t>.</a:t>
            </a:r>
            <a:endParaRPr dirty="0"/>
          </a:p>
        </p:txBody>
      </p:sp>
      <mc:AlternateContent xmlns:mc="http://schemas.openxmlformats.org/markup-compatibility/2006">
        <mc:Choice xmlns:a14="http://schemas.microsoft.com/office/drawing/2010/main" Requires="a14">
          <p:sp>
            <p:nvSpPr>
              <p:cNvPr id="14" name="Content Placeholder 13"/>
              <p:cNvSpPr>
                <a:spLocks noGrp="1"/>
              </p:cNvSpPr>
              <p:nvPr>
                <p:ph idx="1"/>
              </p:nvPr>
            </p:nvSpPr>
            <p:spPr>
              <a:xfrm>
                <a:off x="0" y="1738184"/>
                <a:ext cx="12192000" cy="5119816"/>
              </a:xfrm>
            </p:spPr>
            <p:txBody>
              <a:bodyPr>
                <a:normAutofit/>
              </a:bodyPr>
              <a:lstStyle/>
              <a:p>
                <a:pPr>
                  <a:lnSpc>
                    <a:spcPct val="150000"/>
                  </a:lnSpc>
                </a:pPr>
                <a:r>
                  <a:rPr lang="en-US" sz="2300" dirty="0" smtClean="0">
                    <a:solidFill>
                      <a:srgbClr val="7030A0"/>
                    </a:solidFill>
                    <a:latin typeface="Vani" panose="020B0502040204020203" pitchFamily="34" charset="0"/>
                    <a:cs typeface="Vani" panose="020B0502040204020203" pitchFamily="34" charset="0"/>
                  </a:rPr>
                  <a:t>(13.)</a:t>
                </a:r>
                <a:r>
                  <a:rPr lang="en-US" sz="2300" dirty="0">
                    <a:latin typeface="Vani" panose="020B0502040204020203" pitchFamily="34" charset="0"/>
                    <a:cs typeface="Vani" panose="020B0502040204020203" pitchFamily="34" charset="0"/>
                  </a:rPr>
                  <a:t>	</a:t>
                </a:r>
                <a:r>
                  <a:rPr lang="en-US" sz="2300" dirty="0" smtClean="0">
                    <a:latin typeface="Vani" panose="020B0502040204020203" pitchFamily="34" charset="0"/>
                    <a:cs typeface="Vani" panose="020B0502040204020203" pitchFamily="34" charset="0"/>
                  </a:rPr>
                  <a:t>The table shows the results from experiments with polygraph instruments. </a:t>
                </a:r>
              </a:p>
              <a:p>
                <a:pPr>
                  <a:lnSpc>
                    <a:spcPct val="150000"/>
                  </a:lnSpc>
                </a:pPr>
                <a:endParaRPr lang="en-US" sz="2300" dirty="0">
                  <a:latin typeface="Vani" panose="020B0502040204020203" pitchFamily="34" charset="0"/>
                  <a:cs typeface="Vani" panose="020B0502040204020203" pitchFamily="34" charset="0"/>
                </a:endParaRPr>
              </a:p>
              <a:p>
                <a:pPr>
                  <a:lnSpc>
                    <a:spcPct val="150000"/>
                  </a:lnSpc>
                </a:pPr>
                <a:endParaRPr lang="en-US" sz="2300" dirty="0" smtClean="0">
                  <a:latin typeface="Vani" panose="020B0502040204020203" pitchFamily="34" charset="0"/>
                  <a:cs typeface="Vani" panose="020B0502040204020203" pitchFamily="34" charset="0"/>
                </a:endParaRPr>
              </a:p>
              <a:p>
                <a:pPr>
                  <a:lnSpc>
                    <a:spcPct val="150000"/>
                  </a:lnSpc>
                </a:pPr>
                <a:r>
                  <a:rPr lang="en-US" sz="2300" dirty="0" smtClean="0">
                    <a:latin typeface="Vani" panose="020B0502040204020203" pitchFamily="34" charset="0"/>
                    <a:cs typeface="Vani" panose="020B0502040204020203" pitchFamily="34" charset="0"/>
                  </a:rPr>
                  <a:t>(a.)	Determine </a:t>
                </a:r>
                <a14:m>
                  <m:oMath xmlns:m="http://schemas.openxmlformats.org/officeDocument/2006/math">
                    <m:r>
                      <a:rPr lang="en-US" sz="2300" b="0" i="1" smtClean="0">
                        <a:latin typeface="Cambria Math" panose="02040503050406030204" pitchFamily="18" charset="0"/>
                        <a:cs typeface="Vani" panose="020B0502040204020203" pitchFamily="34" charset="0"/>
                      </a:rPr>
                      <m:t>𝑃</m:t>
                    </m:r>
                    <m:d>
                      <m:dPr>
                        <m:endChr m:val="|"/>
                        <m:ctrlPr>
                          <a:rPr lang="en-US" sz="2300" b="0" i="1" smtClean="0">
                            <a:latin typeface="Cambria Math" panose="02040503050406030204" pitchFamily="18" charset="0"/>
                            <a:cs typeface="Vani" panose="020B0502040204020203" pitchFamily="34" charset="0"/>
                          </a:rPr>
                        </m:ctrlPr>
                      </m:dPr>
                      <m:e>
                        <m:r>
                          <a:rPr lang="en-US" sz="2300" b="0" i="1" smtClean="0">
                            <a:latin typeface="Cambria Math" panose="02040503050406030204" pitchFamily="18" charset="0"/>
                            <a:cs typeface="Vani" panose="020B0502040204020203" pitchFamily="34" charset="0"/>
                          </a:rPr>
                          <m:t>𝑠𝑢𝑏𝑗𝑒𝑐𝑡</m:t>
                        </m:r>
                        <m:r>
                          <a:rPr lang="en-US" sz="2300" b="0" i="1" smtClean="0">
                            <a:latin typeface="Cambria Math" panose="02040503050406030204" pitchFamily="18" charset="0"/>
                            <a:cs typeface="Vani" panose="020B0502040204020203" pitchFamily="34" charset="0"/>
                          </a:rPr>
                          <m:t>  </m:t>
                        </m:r>
                        <m:r>
                          <a:rPr lang="en-US" sz="2300" b="0" i="1" smtClean="0">
                            <a:latin typeface="Cambria Math" panose="02040503050406030204" pitchFamily="18" charset="0"/>
                            <a:cs typeface="Vani" panose="020B0502040204020203" pitchFamily="34" charset="0"/>
                          </a:rPr>
                          <m:t>𝑡𝑜𝑙𝑑</m:t>
                        </m:r>
                        <m:r>
                          <a:rPr lang="en-US" sz="2300" b="0" i="1" smtClean="0">
                            <a:latin typeface="Cambria Math" panose="02040503050406030204" pitchFamily="18" charset="0"/>
                            <a:cs typeface="Vani" panose="020B0502040204020203" pitchFamily="34" charset="0"/>
                          </a:rPr>
                          <m:t> </m:t>
                        </m:r>
                        <m:r>
                          <a:rPr lang="en-US" sz="2300" b="0" i="1" smtClean="0">
                            <a:latin typeface="Cambria Math" panose="02040503050406030204" pitchFamily="18" charset="0"/>
                            <a:cs typeface="Vani" panose="020B0502040204020203" pitchFamily="34" charset="0"/>
                          </a:rPr>
                          <m:t>𝑡h𝑒</m:t>
                        </m:r>
                        <m:r>
                          <a:rPr lang="en-US" sz="2300" b="0" i="1" smtClean="0">
                            <a:latin typeface="Cambria Math" panose="02040503050406030204" pitchFamily="18" charset="0"/>
                            <a:cs typeface="Vani" panose="020B0502040204020203" pitchFamily="34" charset="0"/>
                          </a:rPr>
                          <m:t> </m:t>
                        </m:r>
                        <m:r>
                          <a:rPr lang="en-US" sz="2300" b="0" i="1" smtClean="0">
                            <a:latin typeface="Cambria Math" panose="02040503050406030204" pitchFamily="18" charset="0"/>
                            <a:cs typeface="Vani" panose="020B0502040204020203" pitchFamily="34" charset="0"/>
                          </a:rPr>
                          <m:t>𝑡𝑟𝑢𝑡h</m:t>
                        </m:r>
                        <m:r>
                          <a:rPr lang="en-US" sz="2300" b="0" i="1" smtClean="0">
                            <a:latin typeface="Cambria Math" panose="02040503050406030204" pitchFamily="18" charset="0"/>
                            <a:cs typeface="Vani" panose="020B0502040204020203" pitchFamily="34" charset="0"/>
                          </a:rPr>
                          <m:t> </m:t>
                        </m:r>
                      </m:e>
                    </m:d>
                    <m:r>
                      <a:rPr lang="en-US" sz="2300" b="0" i="1" smtClean="0">
                        <a:latin typeface="Cambria Math" panose="02040503050406030204" pitchFamily="18" charset="0"/>
                        <a:cs typeface="Vani" panose="020B0502040204020203" pitchFamily="34" charset="0"/>
                      </a:rPr>
                      <m:t> </m:t>
                    </m:r>
                    <m:r>
                      <a:rPr lang="en-US" sz="2300" b="0" i="1" smtClean="0">
                        <a:latin typeface="Cambria Math" panose="02040503050406030204" pitchFamily="18" charset="0"/>
                        <a:cs typeface="Vani" panose="020B0502040204020203" pitchFamily="34" charset="0"/>
                      </a:rPr>
                      <m:t>𝑛𝑒𝑔𝑎𝑡𝑖𝑣𝑒</m:t>
                    </m:r>
                    <m:r>
                      <a:rPr lang="en-US" sz="2300" b="0" i="1" smtClean="0">
                        <a:latin typeface="Cambria Math" panose="02040503050406030204" pitchFamily="18" charset="0"/>
                        <a:cs typeface="Vani" panose="020B0502040204020203" pitchFamily="34" charset="0"/>
                      </a:rPr>
                      <m:t> </m:t>
                    </m:r>
                    <m:r>
                      <a:rPr lang="en-US" sz="2300" b="0" i="1" smtClean="0">
                        <a:latin typeface="Cambria Math" panose="02040503050406030204" pitchFamily="18" charset="0"/>
                        <a:cs typeface="Vani" panose="020B0502040204020203" pitchFamily="34" charset="0"/>
                      </a:rPr>
                      <m:t>𝑡𝑒𝑠𝑡</m:t>
                    </m:r>
                    <m:r>
                      <a:rPr lang="en-US" sz="2300" b="0" i="1" smtClean="0">
                        <a:latin typeface="Cambria Math" panose="02040503050406030204" pitchFamily="18" charset="0"/>
                        <a:cs typeface="Vani" panose="020B0502040204020203" pitchFamily="34" charset="0"/>
                      </a:rPr>
                      <m:t> </m:t>
                    </m:r>
                    <m:r>
                      <a:rPr lang="en-US" sz="2300" b="0" i="1" smtClean="0">
                        <a:latin typeface="Cambria Math" panose="02040503050406030204" pitchFamily="18" charset="0"/>
                        <a:cs typeface="Vani" panose="020B0502040204020203" pitchFamily="34" charset="0"/>
                      </a:rPr>
                      <m:t>𝑟𝑒𝑠𝑢𝑙𝑡</m:t>
                    </m:r>
                    <m:r>
                      <a:rPr lang="en-US" sz="2300" b="0" i="1" smtClean="0">
                        <a:latin typeface="Cambria Math" panose="02040503050406030204" pitchFamily="18" charset="0"/>
                        <a:cs typeface="Vani" panose="020B0502040204020203" pitchFamily="34" charset="0"/>
                      </a:rPr>
                      <m:t>)</m:t>
                    </m:r>
                  </m:oMath>
                </a14:m>
                <a:r>
                  <a:rPr lang="en-US" sz="2300" dirty="0" smtClean="0">
                    <a:latin typeface="Vani" panose="020B0502040204020203" pitchFamily="34" charset="0"/>
                    <a:cs typeface="Vani" panose="020B0502040204020203" pitchFamily="34" charset="0"/>
                  </a:rPr>
                  <a:t>. </a:t>
                </a:r>
                <a:r>
                  <a:rPr lang="en-US" sz="2300" dirty="0">
                    <a:latin typeface="Vani" panose="020B0502040204020203" pitchFamily="34" charset="0"/>
                    <a:cs typeface="Vani" panose="020B0502040204020203" pitchFamily="34" charset="0"/>
                  </a:rPr>
                  <a:t>Round to 3 decimal places</a:t>
                </a:r>
                <a:r>
                  <a:rPr lang="en-US" sz="2300" dirty="0" smtClean="0">
                    <a:latin typeface="Vani" panose="020B0502040204020203" pitchFamily="34" charset="0"/>
                    <a:cs typeface="Vani" panose="020B0502040204020203" pitchFamily="34" charset="0"/>
                  </a:rPr>
                  <a:t>.</a:t>
                </a:r>
                <a:endParaRPr lang="en-US" sz="2300" dirty="0" smtClean="0">
                  <a:latin typeface="Vani" panose="020B0502040204020203" pitchFamily="34" charset="0"/>
                  <a:cs typeface="Vani" panose="020B0502040204020203" pitchFamily="34" charset="0"/>
                </a:endParaRPr>
              </a:p>
              <a:p>
                <a:pPr>
                  <a:lnSpc>
                    <a:spcPct val="150000"/>
                  </a:lnSpc>
                </a:pPr>
                <a:r>
                  <a:rPr lang="en-US" sz="2300" dirty="0" smtClean="0">
                    <a:latin typeface="Vani" panose="020B0502040204020203" pitchFamily="34" charset="0"/>
                    <a:cs typeface="Vani" panose="020B0502040204020203" pitchFamily="34" charset="0"/>
                  </a:rPr>
                  <a:t>Let </a:t>
                </a:r>
                <a14:m>
                  <m:oMath xmlns:m="http://schemas.openxmlformats.org/officeDocument/2006/math">
                    <m:r>
                      <a:rPr lang="en-US" sz="2300" i="1">
                        <a:latin typeface="Cambria Math" panose="02040503050406030204" pitchFamily="18" charset="0"/>
                        <a:cs typeface="Vani" panose="020B0502040204020203" pitchFamily="34" charset="0"/>
                      </a:rPr>
                      <m:t>𝑃</m:t>
                    </m:r>
                    <m:d>
                      <m:dPr>
                        <m:endChr m:val="|"/>
                        <m:ctrlPr>
                          <a:rPr lang="en-US" sz="2300" i="1">
                            <a:latin typeface="Cambria Math" panose="02040503050406030204" pitchFamily="18" charset="0"/>
                            <a:cs typeface="Vani" panose="020B0502040204020203" pitchFamily="34" charset="0"/>
                          </a:rPr>
                        </m:ctrlPr>
                      </m:dPr>
                      <m:e>
                        <m:r>
                          <a:rPr lang="en-US" sz="2300" i="1">
                            <a:latin typeface="Cambria Math" panose="02040503050406030204" pitchFamily="18" charset="0"/>
                            <a:cs typeface="Vani" panose="020B0502040204020203" pitchFamily="34" charset="0"/>
                          </a:rPr>
                          <m:t>𝑠𝑢𝑏𝑗𝑒𝑐𝑡</m:t>
                        </m:r>
                        <m:r>
                          <a:rPr lang="en-US" sz="2300" i="1">
                            <a:latin typeface="Cambria Math" panose="02040503050406030204" pitchFamily="18" charset="0"/>
                            <a:cs typeface="Vani" panose="020B0502040204020203" pitchFamily="34" charset="0"/>
                          </a:rPr>
                          <m:t>  </m:t>
                        </m:r>
                        <m:r>
                          <a:rPr lang="en-US" sz="2300" i="1">
                            <a:latin typeface="Cambria Math" panose="02040503050406030204" pitchFamily="18" charset="0"/>
                            <a:cs typeface="Vani" panose="020B0502040204020203" pitchFamily="34" charset="0"/>
                          </a:rPr>
                          <m:t>𝑡𝑜𝑙𝑑</m:t>
                        </m:r>
                        <m:r>
                          <a:rPr lang="en-US" sz="2300" i="1">
                            <a:latin typeface="Cambria Math" panose="02040503050406030204" pitchFamily="18" charset="0"/>
                            <a:cs typeface="Vani" panose="020B0502040204020203" pitchFamily="34" charset="0"/>
                          </a:rPr>
                          <m:t> </m:t>
                        </m:r>
                        <m:r>
                          <a:rPr lang="en-US" sz="2300" i="1">
                            <a:latin typeface="Cambria Math" panose="02040503050406030204" pitchFamily="18" charset="0"/>
                            <a:cs typeface="Vani" panose="020B0502040204020203" pitchFamily="34" charset="0"/>
                          </a:rPr>
                          <m:t>𝑡h𝑒</m:t>
                        </m:r>
                        <m:r>
                          <a:rPr lang="en-US" sz="2300" i="1">
                            <a:latin typeface="Cambria Math" panose="02040503050406030204" pitchFamily="18" charset="0"/>
                            <a:cs typeface="Vani" panose="020B0502040204020203" pitchFamily="34" charset="0"/>
                          </a:rPr>
                          <m:t> </m:t>
                        </m:r>
                        <m:r>
                          <a:rPr lang="en-US" sz="2300" i="1">
                            <a:latin typeface="Cambria Math" panose="02040503050406030204" pitchFamily="18" charset="0"/>
                            <a:cs typeface="Vani" panose="020B0502040204020203" pitchFamily="34" charset="0"/>
                          </a:rPr>
                          <m:t>𝑡𝑟𝑢𝑡h</m:t>
                        </m:r>
                        <m:r>
                          <a:rPr lang="en-US" sz="2300" i="1">
                            <a:latin typeface="Cambria Math" panose="02040503050406030204" pitchFamily="18" charset="0"/>
                            <a:cs typeface="Vani" panose="020B0502040204020203" pitchFamily="34" charset="0"/>
                          </a:rPr>
                          <m:t> </m:t>
                        </m:r>
                      </m:e>
                    </m:d>
                    <m:r>
                      <a:rPr lang="en-US" sz="2300" i="1">
                        <a:latin typeface="Cambria Math" panose="02040503050406030204" pitchFamily="18" charset="0"/>
                        <a:cs typeface="Vani" panose="020B0502040204020203" pitchFamily="34" charset="0"/>
                      </a:rPr>
                      <m:t> </m:t>
                    </m:r>
                    <m:r>
                      <a:rPr lang="en-US" sz="2300" i="1">
                        <a:latin typeface="Cambria Math" panose="02040503050406030204" pitchFamily="18" charset="0"/>
                        <a:cs typeface="Vani" panose="020B0502040204020203" pitchFamily="34" charset="0"/>
                      </a:rPr>
                      <m:t>𝑛𝑒𝑔𝑎𝑡𝑖𝑣𝑒</m:t>
                    </m:r>
                    <m:r>
                      <a:rPr lang="en-US" sz="2300" i="1">
                        <a:latin typeface="Cambria Math" panose="02040503050406030204" pitchFamily="18" charset="0"/>
                        <a:cs typeface="Vani" panose="020B0502040204020203" pitchFamily="34" charset="0"/>
                      </a:rPr>
                      <m:t> </m:t>
                    </m:r>
                    <m:r>
                      <a:rPr lang="en-US" sz="2300" i="1">
                        <a:latin typeface="Cambria Math" panose="02040503050406030204" pitchFamily="18" charset="0"/>
                        <a:cs typeface="Vani" panose="020B0502040204020203" pitchFamily="34" charset="0"/>
                      </a:rPr>
                      <m:t>𝑡𝑒𝑠𝑡</m:t>
                    </m:r>
                    <m:r>
                      <a:rPr lang="en-US" sz="2300" i="1">
                        <a:latin typeface="Cambria Math" panose="02040503050406030204" pitchFamily="18" charset="0"/>
                        <a:cs typeface="Vani" panose="020B0502040204020203" pitchFamily="34" charset="0"/>
                      </a:rPr>
                      <m:t> </m:t>
                    </m:r>
                    <m:r>
                      <a:rPr lang="en-US" sz="2300" i="1">
                        <a:latin typeface="Cambria Math" panose="02040503050406030204" pitchFamily="18" charset="0"/>
                        <a:cs typeface="Vani" panose="020B0502040204020203" pitchFamily="34" charset="0"/>
                      </a:rPr>
                      <m:t>𝑟𝑒𝑠𝑢𝑙𝑡</m:t>
                    </m:r>
                    <m:r>
                      <a:rPr lang="en-US" sz="2300" i="1">
                        <a:latin typeface="Cambria Math" panose="02040503050406030204" pitchFamily="18" charset="0"/>
                        <a:cs typeface="Vani" panose="020B0502040204020203" pitchFamily="34" charset="0"/>
                      </a:rPr>
                      <m:t>)=</m:t>
                    </m:r>
                    <m:r>
                      <a:rPr lang="en-US" sz="2300" i="1">
                        <a:latin typeface="Cambria Math" panose="02040503050406030204" pitchFamily="18" charset="0"/>
                        <a:cs typeface="Vani" panose="020B0502040204020203" pitchFamily="34" charset="0"/>
                      </a:rPr>
                      <m:t>𝑃</m:t>
                    </m:r>
                    <m:d>
                      <m:dPr>
                        <m:endChr m:val="|"/>
                        <m:ctrlPr>
                          <a:rPr lang="en-US" sz="2300" i="1">
                            <a:latin typeface="Cambria Math" panose="02040503050406030204" pitchFamily="18" charset="0"/>
                            <a:cs typeface="Vani" panose="020B0502040204020203" pitchFamily="34" charset="0"/>
                          </a:rPr>
                        </m:ctrlPr>
                      </m:dPr>
                      <m:e>
                        <m:r>
                          <a:rPr lang="en-US" sz="2300" i="1">
                            <a:latin typeface="Cambria Math" panose="02040503050406030204" pitchFamily="18" charset="0"/>
                            <a:cs typeface="Vani" panose="020B0502040204020203" pitchFamily="34" charset="0"/>
                          </a:rPr>
                          <m:t>𝑆𝑇</m:t>
                        </m:r>
                        <m:r>
                          <a:rPr lang="en-US" sz="2300" i="1">
                            <a:latin typeface="Cambria Math" panose="02040503050406030204" pitchFamily="18" charset="0"/>
                            <a:cs typeface="Vani" panose="020B0502040204020203" pitchFamily="34" charset="0"/>
                          </a:rPr>
                          <m:t> </m:t>
                        </m:r>
                      </m:e>
                    </m:d>
                    <m:r>
                      <a:rPr lang="en-US" sz="2300" i="1">
                        <a:latin typeface="Cambria Math" panose="02040503050406030204" pitchFamily="18" charset="0"/>
                        <a:cs typeface="Vani" panose="020B0502040204020203" pitchFamily="34" charset="0"/>
                      </a:rPr>
                      <m:t> </m:t>
                    </m:r>
                    <m:r>
                      <a:rPr lang="en-US" sz="2300" i="1">
                        <a:latin typeface="Cambria Math" panose="02040503050406030204" pitchFamily="18" charset="0"/>
                        <a:cs typeface="Vani" panose="020B0502040204020203" pitchFamily="34" charset="0"/>
                      </a:rPr>
                      <m:t>𝑁𝑅</m:t>
                    </m:r>
                    <m:r>
                      <a:rPr lang="en-US" sz="2300" i="1">
                        <a:latin typeface="Cambria Math" panose="02040503050406030204" pitchFamily="18" charset="0"/>
                        <a:cs typeface="Vani" panose="020B0502040204020203" pitchFamily="34" charset="0"/>
                      </a:rPr>
                      <m:t>)</m:t>
                    </m:r>
                  </m:oMath>
                </a14:m>
                <a:r>
                  <a:rPr lang="en-US" sz="2300" dirty="0">
                    <a:latin typeface="Vani" panose="020B0502040204020203" pitchFamily="34" charset="0"/>
                    <a:cs typeface="Vani" panose="020B0502040204020203" pitchFamily="34" charset="0"/>
                  </a:rPr>
                  <a:t>.</a:t>
                </a:r>
                <a:endParaRPr lang="en-US" sz="2300" dirty="0">
                  <a:latin typeface="Vani" panose="020B0502040204020203" pitchFamily="34" charset="0"/>
                  <a:cs typeface="Vani" panose="020B0502040204020203" pitchFamily="34" charset="0"/>
                </a:endParaRPr>
              </a:p>
              <a:p>
                <a:pPr>
                  <a:lnSpc>
                    <a:spcPct val="150000"/>
                  </a:lnSpc>
                </a:pPr>
                <a:r>
                  <a:rPr lang="en-US" sz="2300" dirty="0">
                    <a:latin typeface="Vani" panose="020B0502040204020203" pitchFamily="34" charset="0"/>
                    <a:cs typeface="Vani" panose="020B0502040204020203" pitchFamily="34" charset="0"/>
                  </a:rPr>
                  <a:t>(a.)</a:t>
                </a:r>
                <a:r>
                  <a:rPr lang="en-US" sz="2300" dirty="0">
                    <a:cs typeface="Vani" panose="020B0502040204020203" pitchFamily="34" charset="0"/>
                  </a:rPr>
                  <a:t>	</a:t>
                </a:r>
                <a14:m>
                  <m:oMath xmlns:m="http://schemas.openxmlformats.org/officeDocument/2006/math">
                    <m:r>
                      <a:rPr lang="en-US" sz="2300" i="1">
                        <a:latin typeface="Cambria Math" panose="02040503050406030204" pitchFamily="18" charset="0"/>
                        <a:cs typeface="Vani" panose="020B0502040204020203" pitchFamily="34" charset="0"/>
                      </a:rPr>
                      <m:t>𝑃</m:t>
                    </m:r>
                    <m:d>
                      <m:dPr>
                        <m:endChr m:val="|"/>
                        <m:ctrlPr>
                          <a:rPr lang="en-US" sz="2300" i="1">
                            <a:latin typeface="Cambria Math" panose="02040503050406030204" pitchFamily="18" charset="0"/>
                            <a:cs typeface="Vani" panose="020B0502040204020203" pitchFamily="34" charset="0"/>
                          </a:rPr>
                        </m:ctrlPr>
                      </m:dPr>
                      <m:e>
                        <m:r>
                          <a:rPr lang="en-US" sz="2300" i="1">
                            <a:latin typeface="Cambria Math" panose="02040503050406030204" pitchFamily="18" charset="0"/>
                            <a:cs typeface="Vani" panose="020B0502040204020203" pitchFamily="34" charset="0"/>
                          </a:rPr>
                          <m:t>𝑆𝑇</m:t>
                        </m:r>
                      </m:e>
                    </m:d>
                    <m:r>
                      <a:rPr lang="en-US" sz="2300" i="1">
                        <a:latin typeface="Cambria Math" panose="02040503050406030204" pitchFamily="18" charset="0"/>
                        <a:cs typeface="Vani" panose="020B0502040204020203" pitchFamily="34" charset="0"/>
                      </a:rPr>
                      <m:t> </m:t>
                    </m:r>
                    <m:r>
                      <a:rPr lang="en-US" sz="2300" i="1">
                        <a:latin typeface="Cambria Math" panose="02040503050406030204" pitchFamily="18" charset="0"/>
                        <a:cs typeface="Vani" panose="020B0502040204020203" pitchFamily="34" charset="0"/>
                      </a:rPr>
                      <m:t>𝑁𝑅</m:t>
                    </m:r>
                    <m:r>
                      <a:rPr lang="en-US" sz="2300" i="1">
                        <a:latin typeface="Cambria Math" panose="02040503050406030204" pitchFamily="18" charset="0"/>
                        <a:cs typeface="Vani" panose="020B0502040204020203" pitchFamily="34" charset="0"/>
                      </a:rPr>
                      <m:t>)=</m:t>
                    </m:r>
                    <m:f>
                      <m:fPr>
                        <m:ctrlPr>
                          <a:rPr lang="en-US" sz="2300" i="1">
                            <a:latin typeface="Cambria Math" panose="02040503050406030204" pitchFamily="18" charset="0"/>
                          </a:rPr>
                        </m:ctrlPr>
                      </m:fPr>
                      <m:num>
                        <m:r>
                          <a:rPr lang="en-US" sz="2300" i="1">
                            <a:latin typeface="Cambria Math" panose="02040503050406030204" pitchFamily="18" charset="0"/>
                          </a:rPr>
                          <m:t>𝑃</m:t>
                        </m:r>
                        <m:r>
                          <a:rPr lang="en-US" sz="2300" i="1">
                            <a:latin typeface="Cambria Math" panose="02040503050406030204" pitchFamily="18" charset="0"/>
                          </a:rPr>
                          <m:t>(</m:t>
                        </m:r>
                        <m:r>
                          <a:rPr lang="en-US" sz="2300" i="1">
                            <a:latin typeface="Cambria Math" panose="02040503050406030204" pitchFamily="18" charset="0"/>
                          </a:rPr>
                          <m:t>𝑆𝑇</m:t>
                        </m:r>
                        <m:r>
                          <a:rPr lang="en-US" sz="2300" i="1">
                            <a:latin typeface="Cambria Math" panose="02040503050406030204" pitchFamily="18" charset="0"/>
                          </a:rPr>
                          <m:t> ∩ </m:t>
                        </m:r>
                        <m:r>
                          <a:rPr lang="en-US" sz="2300" i="1">
                            <a:latin typeface="Cambria Math" panose="02040503050406030204" pitchFamily="18" charset="0"/>
                            <a:ea typeface="Cambria Math" panose="02040503050406030204" pitchFamily="18" charset="0"/>
                          </a:rPr>
                          <m:t>𝑁𝑅</m:t>
                        </m:r>
                        <m:r>
                          <a:rPr lang="en-US" sz="2300" i="1">
                            <a:latin typeface="Cambria Math" panose="02040503050406030204" pitchFamily="18" charset="0"/>
                            <a:ea typeface="Cambria Math" panose="02040503050406030204" pitchFamily="18" charset="0"/>
                          </a:rPr>
                          <m:t>)</m:t>
                        </m:r>
                      </m:num>
                      <m:den>
                        <m:r>
                          <a:rPr lang="en-US" sz="2300" i="1">
                            <a:latin typeface="Cambria Math" panose="02040503050406030204" pitchFamily="18" charset="0"/>
                          </a:rPr>
                          <m:t>𝑃</m:t>
                        </m:r>
                        <m:r>
                          <a:rPr lang="en-US" sz="2300" i="1">
                            <a:latin typeface="Cambria Math" panose="02040503050406030204" pitchFamily="18" charset="0"/>
                          </a:rPr>
                          <m:t>(</m:t>
                        </m:r>
                        <m:r>
                          <a:rPr lang="en-US" sz="2300" i="1">
                            <a:latin typeface="Cambria Math" panose="02040503050406030204" pitchFamily="18" charset="0"/>
                          </a:rPr>
                          <m:t>𝑁𝑅</m:t>
                        </m:r>
                        <m:r>
                          <a:rPr lang="en-US" sz="2300" i="1">
                            <a:latin typeface="Cambria Math" panose="02040503050406030204" pitchFamily="18" charset="0"/>
                          </a:rPr>
                          <m:t>)</m:t>
                        </m:r>
                      </m:den>
                    </m:f>
                    <m:r>
                      <a:rPr lang="en-US" sz="2300" i="1">
                        <a:latin typeface="Cambria Math" panose="02040503050406030204" pitchFamily="18" charset="0"/>
                      </a:rPr>
                      <m:t>=</m:t>
                    </m:r>
                    <m:f>
                      <m:fPr>
                        <m:ctrlPr>
                          <a:rPr lang="en-US" sz="2300" i="1">
                            <a:latin typeface="Cambria Math" panose="02040503050406030204" pitchFamily="18" charset="0"/>
                          </a:rPr>
                        </m:ctrlPr>
                      </m:fPr>
                      <m:num>
                        <m:r>
                          <a:rPr lang="en-US" sz="2300" i="1">
                            <a:latin typeface="Cambria Math" panose="02040503050406030204" pitchFamily="18" charset="0"/>
                          </a:rPr>
                          <m:t>35</m:t>
                        </m:r>
                      </m:num>
                      <m:den>
                        <m:r>
                          <a:rPr lang="en-US" sz="2300" i="1">
                            <a:latin typeface="Cambria Math" panose="02040503050406030204" pitchFamily="18" charset="0"/>
                          </a:rPr>
                          <m:t>35+10</m:t>
                        </m:r>
                      </m:den>
                    </m:f>
                    <m:r>
                      <a:rPr lang="en-US" sz="2300" i="1">
                        <a:latin typeface="Cambria Math" panose="02040503050406030204" pitchFamily="18" charset="0"/>
                      </a:rPr>
                      <m:t>=</m:t>
                    </m:r>
                    <m:f>
                      <m:fPr>
                        <m:ctrlPr>
                          <a:rPr lang="en-US" sz="2300" i="1">
                            <a:latin typeface="Cambria Math" panose="02040503050406030204" pitchFamily="18" charset="0"/>
                          </a:rPr>
                        </m:ctrlPr>
                      </m:fPr>
                      <m:num>
                        <m:r>
                          <a:rPr lang="en-US" sz="2300" i="1">
                            <a:latin typeface="Cambria Math" panose="02040503050406030204" pitchFamily="18" charset="0"/>
                          </a:rPr>
                          <m:t>35</m:t>
                        </m:r>
                      </m:num>
                      <m:den>
                        <m:r>
                          <a:rPr lang="en-US" sz="2300" i="1">
                            <a:latin typeface="Cambria Math" panose="02040503050406030204" pitchFamily="18" charset="0"/>
                          </a:rPr>
                          <m:t>45</m:t>
                        </m:r>
                      </m:den>
                    </m:f>
                    <m:r>
                      <a:rPr lang="en-US" sz="2300" i="1">
                        <a:latin typeface="Cambria Math" panose="02040503050406030204" pitchFamily="18" charset="0"/>
                      </a:rPr>
                      <m:t>=</m:t>
                    </m:r>
                    <m:r>
                      <a:rPr lang="en-US" sz="2300" i="1">
                        <a:solidFill>
                          <a:srgbClr val="FF0000"/>
                        </a:solidFill>
                        <a:latin typeface="Cambria Math" panose="02040503050406030204" pitchFamily="18" charset="0"/>
                      </a:rPr>
                      <m:t>0.778</m:t>
                    </m:r>
                  </m:oMath>
                </a14:m>
                <a:endParaRPr lang="en-US" sz="2300" dirty="0" smtClean="0">
                  <a:latin typeface="Vani" panose="020B0502040204020203" pitchFamily="34" charset="0"/>
                  <a:cs typeface="Vani" panose="020B0502040204020203" pitchFamily="34" charset="0"/>
                </a:endParaRPr>
              </a:p>
              <a:p>
                <a:pPr>
                  <a:lnSpc>
                    <a:spcPct val="150000"/>
                  </a:lnSpc>
                </a:pPr>
                <a:r>
                  <a:rPr lang="en-US" sz="2300" dirty="0" smtClean="0">
                    <a:latin typeface="Vani" panose="020B0502040204020203" pitchFamily="34" charset="0"/>
                    <a:cs typeface="Vani" panose="020B0502040204020203" pitchFamily="34" charset="0"/>
                  </a:rPr>
                  <a:t>(b.) 	Determine </a:t>
                </a:r>
                <a14:m>
                  <m:oMath xmlns:m="http://schemas.openxmlformats.org/officeDocument/2006/math">
                    <m:r>
                      <a:rPr lang="en-US" sz="2300" i="1">
                        <a:latin typeface="Cambria Math" panose="02040503050406030204" pitchFamily="18" charset="0"/>
                        <a:cs typeface="Vani" panose="020B0502040204020203" pitchFamily="34" charset="0"/>
                      </a:rPr>
                      <m:t>𝑃</m:t>
                    </m:r>
                    <m:d>
                      <m:dPr>
                        <m:endChr m:val="|"/>
                        <m:ctrlPr>
                          <a:rPr lang="en-US" sz="2300" i="1">
                            <a:latin typeface="Cambria Math" panose="02040503050406030204" pitchFamily="18" charset="0"/>
                            <a:cs typeface="Vani" panose="020B0502040204020203" pitchFamily="34" charset="0"/>
                          </a:rPr>
                        </m:ctrlPr>
                      </m:dPr>
                      <m:e>
                        <m:r>
                          <a:rPr lang="en-US" sz="2300" b="0" i="1" smtClean="0">
                            <a:latin typeface="Cambria Math" panose="02040503050406030204" pitchFamily="18" charset="0"/>
                            <a:cs typeface="Vani" panose="020B0502040204020203" pitchFamily="34" charset="0"/>
                          </a:rPr>
                          <m:t>𝑛𝑒𝑔𝑎𝑡𝑖𝑣𝑒</m:t>
                        </m:r>
                        <m:r>
                          <a:rPr lang="en-US" sz="2300" b="0" i="1" smtClean="0">
                            <a:latin typeface="Cambria Math" panose="02040503050406030204" pitchFamily="18" charset="0"/>
                            <a:cs typeface="Vani" panose="020B0502040204020203" pitchFamily="34" charset="0"/>
                          </a:rPr>
                          <m:t> </m:t>
                        </m:r>
                        <m:r>
                          <a:rPr lang="en-US" sz="2300" b="0" i="1" smtClean="0">
                            <a:latin typeface="Cambria Math" panose="02040503050406030204" pitchFamily="18" charset="0"/>
                            <a:cs typeface="Vani" panose="020B0502040204020203" pitchFamily="34" charset="0"/>
                          </a:rPr>
                          <m:t>𝑡𝑒𝑠𝑡</m:t>
                        </m:r>
                        <m:r>
                          <a:rPr lang="en-US" sz="2300" b="0" i="1" smtClean="0">
                            <a:latin typeface="Cambria Math" panose="02040503050406030204" pitchFamily="18" charset="0"/>
                            <a:cs typeface="Vani" panose="020B0502040204020203" pitchFamily="34" charset="0"/>
                          </a:rPr>
                          <m:t> </m:t>
                        </m:r>
                        <m:r>
                          <a:rPr lang="en-US" sz="2300" b="0" i="1" smtClean="0">
                            <a:latin typeface="Cambria Math" panose="02040503050406030204" pitchFamily="18" charset="0"/>
                            <a:cs typeface="Vani" panose="020B0502040204020203" pitchFamily="34" charset="0"/>
                          </a:rPr>
                          <m:t>𝑟𝑒𝑠𝑢𝑙𝑡</m:t>
                        </m:r>
                      </m:e>
                    </m:d>
                    <m:r>
                      <a:rPr lang="en-US" sz="2300" i="1">
                        <a:latin typeface="Cambria Math" panose="02040503050406030204" pitchFamily="18" charset="0"/>
                        <a:cs typeface="Vani" panose="020B0502040204020203" pitchFamily="34" charset="0"/>
                      </a:rPr>
                      <m:t> </m:t>
                    </m:r>
                    <m:r>
                      <a:rPr lang="en-US" sz="2300" b="0" i="1" smtClean="0">
                        <a:latin typeface="Cambria Math" panose="02040503050406030204" pitchFamily="18" charset="0"/>
                        <a:cs typeface="Vani" panose="020B0502040204020203" pitchFamily="34" charset="0"/>
                      </a:rPr>
                      <m:t>𝑠𝑢𝑏𝑗𝑒𝑐𝑡</m:t>
                    </m:r>
                    <m:r>
                      <a:rPr lang="en-US" sz="2300" b="0" i="1" smtClean="0">
                        <a:latin typeface="Cambria Math" panose="02040503050406030204" pitchFamily="18" charset="0"/>
                        <a:cs typeface="Vani" panose="020B0502040204020203" pitchFamily="34" charset="0"/>
                      </a:rPr>
                      <m:t> </m:t>
                    </m:r>
                    <m:r>
                      <a:rPr lang="en-US" sz="2300" b="0" i="1" smtClean="0">
                        <a:latin typeface="Cambria Math" panose="02040503050406030204" pitchFamily="18" charset="0"/>
                        <a:cs typeface="Vani" panose="020B0502040204020203" pitchFamily="34" charset="0"/>
                      </a:rPr>
                      <m:t>𝑡𝑜𝑙𝑑</m:t>
                    </m:r>
                    <m:r>
                      <a:rPr lang="en-US" sz="2300" b="0" i="1" smtClean="0">
                        <a:latin typeface="Cambria Math" panose="02040503050406030204" pitchFamily="18" charset="0"/>
                        <a:cs typeface="Vani" panose="020B0502040204020203" pitchFamily="34" charset="0"/>
                      </a:rPr>
                      <m:t> </m:t>
                    </m:r>
                    <m:r>
                      <a:rPr lang="en-US" sz="2300" b="0" i="1" smtClean="0">
                        <a:latin typeface="Cambria Math" panose="02040503050406030204" pitchFamily="18" charset="0"/>
                        <a:cs typeface="Vani" panose="020B0502040204020203" pitchFamily="34" charset="0"/>
                      </a:rPr>
                      <m:t>𝑡h𝑒</m:t>
                    </m:r>
                    <m:r>
                      <a:rPr lang="en-US" sz="2300" b="0" i="1" smtClean="0">
                        <a:latin typeface="Cambria Math" panose="02040503050406030204" pitchFamily="18" charset="0"/>
                        <a:cs typeface="Vani" panose="020B0502040204020203" pitchFamily="34" charset="0"/>
                      </a:rPr>
                      <m:t> </m:t>
                    </m:r>
                    <m:r>
                      <a:rPr lang="en-US" sz="2300" b="0" i="1" smtClean="0">
                        <a:latin typeface="Cambria Math" panose="02040503050406030204" pitchFamily="18" charset="0"/>
                        <a:cs typeface="Vani" panose="020B0502040204020203" pitchFamily="34" charset="0"/>
                      </a:rPr>
                      <m:t>𝑡𝑟𝑢𝑡h</m:t>
                    </m:r>
                    <m:r>
                      <a:rPr lang="en-US" sz="2300" i="1">
                        <a:latin typeface="Cambria Math" panose="02040503050406030204" pitchFamily="18" charset="0"/>
                        <a:cs typeface="Vani" panose="020B0502040204020203" pitchFamily="34" charset="0"/>
                      </a:rPr>
                      <m:t>)</m:t>
                    </m:r>
                  </m:oMath>
                </a14:m>
                <a:r>
                  <a:rPr lang="en-US" sz="2300" dirty="0">
                    <a:latin typeface="Vani" panose="020B0502040204020203" pitchFamily="34" charset="0"/>
                    <a:cs typeface="Vani" panose="020B0502040204020203" pitchFamily="34" charset="0"/>
                  </a:rPr>
                  <a:t>. </a:t>
                </a:r>
              </a:p>
            </p:txBody>
          </p:sp>
        </mc:Choice>
        <mc:Fallback>
          <p:sp>
            <p:nvSpPr>
              <p:cNvPr id="14" name="Content Placeholder 13"/>
              <p:cNvSpPr>
                <a:spLocks noGrp="1" noRot="1" noChangeAspect="1" noMove="1" noResize="1" noEditPoints="1" noAdjustHandles="1" noChangeArrowheads="1" noChangeShapeType="1" noTextEdit="1"/>
              </p:cNvSpPr>
              <p:nvPr>
                <p:ph idx="1"/>
              </p:nvPr>
            </p:nvSpPr>
            <p:spPr>
              <a:xfrm>
                <a:off x="0" y="1738184"/>
                <a:ext cx="12192000" cy="5119816"/>
              </a:xfrm>
              <a:blipFill rotWithShape="0">
                <a:blip r:embed="rId2"/>
                <a:stretch>
                  <a:fillRect l="-1350" r="-1200"/>
                </a:stretch>
              </a:blipFill>
            </p:spPr>
            <p:txBody>
              <a:bodyPr/>
              <a:lstStyle/>
              <a:p>
                <a:r>
                  <a:rPr lang="en-US">
                    <a:noFill/>
                  </a:rPr>
                  <a:t> </a:t>
                </a:r>
              </a:p>
            </p:txBody>
          </p:sp>
        </mc:Fallback>
      </mc:AlternateContent>
      <p:graphicFrame>
        <p:nvGraphicFramePr>
          <p:cNvPr id="2" name="Table 1"/>
          <p:cNvGraphicFramePr>
            <a:graphicFrameLocks noGrp="1"/>
          </p:cNvGraphicFramePr>
          <p:nvPr>
            <p:extLst/>
          </p:nvPr>
        </p:nvGraphicFramePr>
        <p:xfrm>
          <a:off x="0" y="2276617"/>
          <a:ext cx="12192000" cy="1483360"/>
        </p:xfrm>
        <a:graphic>
          <a:graphicData uri="http://schemas.openxmlformats.org/drawingml/2006/table">
            <a:tbl>
              <a:tblPr firstRow="1" bandRow="1">
                <a:tableStyleId>{0E3FDE45-AF77-4B5C-9715-49D594BDF05E}</a:tableStyleId>
              </a:tblPr>
              <a:tblGrid>
                <a:gridCol w="4064000"/>
                <a:gridCol w="4064000"/>
                <a:gridCol w="4064000"/>
              </a:tblGrid>
              <a:tr h="370840">
                <a:tc>
                  <a:txBody>
                    <a:bodyPr/>
                    <a:lstStyle/>
                    <a:p>
                      <a:endParaRPr lang="en-US" dirty="0">
                        <a:latin typeface="Vani" panose="020B0502040204020203" pitchFamily="34" charset="0"/>
                        <a:cs typeface="Vani" panose="020B0502040204020203" pitchFamily="34" charset="0"/>
                      </a:endParaRPr>
                    </a:p>
                  </a:txBody>
                  <a:tcPr/>
                </a:tc>
                <a:tc gridSpan="2">
                  <a:txBody>
                    <a:bodyPr/>
                    <a:lstStyle/>
                    <a:p>
                      <a:pPr algn="ctr"/>
                      <a:r>
                        <a:rPr lang="en-US" dirty="0" smtClean="0">
                          <a:latin typeface="Vani" panose="020B0502040204020203" pitchFamily="34" charset="0"/>
                          <a:cs typeface="Vani" panose="020B0502040204020203" pitchFamily="34" charset="0"/>
                        </a:rPr>
                        <a:t>Did the Subject Actually</a:t>
                      </a:r>
                      <a:r>
                        <a:rPr lang="en-US" baseline="0" dirty="0" smtClean="0">
                          <a:latin typeface="Vani" panose="020B0502040204020203" pitchFamily="34" charset="0"/>
                          <a:cs typeface="Vani" panose="020B0502040204020203" pitchFamily="34" charset="0"/>
                        </a:rPr>
                        <a:t> Lie?</a:t>
                      </a:r>
                      <a:r>
                        <a:rPr lang="en-US" dirty="0" smtClean="0"/>
                        <a:t> </a:t>
                      </a:r>
                      <a:endParaRPr lang="en-US" dirty="0">
                        <a:latin typeface="Vani" panose="020B0502040204020203" pitchFamily="34" charset="0"/>
                        <a:cs typeface="Vani" panose="020B0502040204020203" pitchFamily="34" charset="0"/>
                      </a:endParaRPr>
                    </a:p>
                  </a:txBody>
                  <a:tcPr/>
                </a:tc>
                <a:tc hMerge="1">
                  <a:txBody>
                    <a:bodyPr/>
                    <a:lstStyle/>
                    <a:p>
                      <a:endParaRPr lang="en-US" dirty="0"/>
                    </a:p>
                  </a:txBody>
                  <a:tcPr/>
                </a:tc>
              </a:tr>
              <a:tr h="370840">
                <a:tc>
                  <a:txBody>
                    <a:bodyPr/>
                    <a:lstStyle/>
                    <a:p>
                      <a:pPr algn="ctr"/>
                      <a:endParaRPr lang="en-US" dirty="0">
                        <a:latin typeface="Vani" panose="020B0502040204020203" pitchFamily="34" charset="0"/>
                        <a:cs typeface="Vani" panose="020B0502040204020203" pitchFamily="34" charset="0"/>
                      </a:endParaRPr>
                    </a:p>
                  </a:txBody>
                  <a:tcPr/>
                </a:tc>
                <a:tc>
                  <a:txBody>
                    <a:bodyPr/>
                    <a:lstStyle/>
                    <a:p>
                      <a:pPr algn="ctr"/>
                      <a:r>
                        <a:rPr lang="en-US" dirty="0" smtClean="0"/>
                        <a:t>No (Did Not Lie) </a:t>
                      </a:r>
                      <a:endParaRPr lang="en-US" dirty="0">
                        <a:latin typeface="Vani" panose="020B0502040204020203" pitchFamily="34" charset="0"/>
                        <a:cs typeface="Vani" panose="020B0502040204020203" pitchFamily="34" charset="0"/>
                      </a:endParaRPr>
                    </a:p>
                  </a:txBody>
                  <a:tcPr/>
                </a:tc>
                <a:tc>
                  <a:txBody>
                    <a:bodyPr/>
                    <a:lstStyle/>
                    <a:p>
                      <a:pPr algn="ctr"/>
                      <a:r>
                        <a:rPr lang="en-US" dirty="0" smtClean="0"/>
                        <a:t>Yes (Lied)</a:t>
                      </a:r>
                      <a:endParaRPr lang="en-US" dirty="0">
                        <a:latin typeface="Vani" panose="020B0502040204020203" pitchFamily="34" charset="0"/>
                        <a:cs typeface="Vani" panose="020B0502040204020203" pitchFamily="34" charset="0"/>
                      </a:endParaRPr>
                    </a:p>
                  </a:txBody>
                  <a:tcPr/>
                </a:tc>
              </a:tr>
              <a:tr h="370840">
                <a:tc>
                  <a:txBody>
                    <a:bodyPr/>
                    <a:lstStyle/>
                    <a:p>
                      <a:pPr algn="ctr"/>
                      <a:r>
                        <a:rPr lang="en-US" dirty="0" smtClean="0"/>
                        <a:t>Positive test results</a:t>
                      </a:r>
                      <a:endParaRPr lang="en-US" dirty="0">
                        <a:latin typeface="Vani" panose="020B0502040204020203" pitchFamily="34" charset="0"/>
                        <a:cs typeface="Vani" panose="020B0502040204020203" pitchFamily="34" charset="0"/>
                      </a:endParaRPr>
                    </a:p>
                  </a:txBody>
                  <a:tcPr/>
                </a:tc>
                <a:tc>
                  <a:txBody>
                    <a:bodyPr/>
                    <a:lstStyle/>
                    <a:p>
                      <a:pPr algn="ctr"/>
                      <a:r>
                        <a:rPr lang="en-US" dirty="0" smtClean="0"/>
                        <a:t>15</a:t>
                      </a:r>
                      <a:endParaRPr lang="en-US" dirty="0">
                        <a:latin typeface="Vani" panose="020B0502040204020203" pitchFamily="34" charset="0"/>
                        <a:cs typeface="Vani" panose="020B0502040204020203" pitchFamily="34" charset="0"/>
                      </a:endParaRPr>
                    </a:p>
                  </a:txBody>
                  <a:tcPr/>
                </a:tc>
                <a:tc>
                  <a:txBody>
                    <a:bodyPr/>
                    <a:lstStyle/>
                    <a:p>
                      <a:pPr algn="ctr"/>
                      <a:r>
                        <a:rPr lang="en-US" dirty="0" smtClean="0"/>
                        <a:t>44</a:t>
                      </a:r>
                      <a:endParaRPr lang="en-US" dirty="0">
                        <a:latin typeface="Vani" panose="020B0502040204020203" pitchFamily="34" charset="0"/>
                        <a:cs typeface="Vani" panose="020B0502040204020203" pitchFamily="34" charset="0"/>
                      </a:endParaRPr>
                    </a:p>
                  </a:txBody>
                  <a:tcPr/>
                </a:tc>
              </a:tr>
              <a:tr h="370840">
                <a:tc>
                  <a:txBody>
                    <a:bodyPr/>
                    <a:lstStyle/>
                    <a:p>
                      <a:pPr algn="ctr"/>
                      <a:r>
                        <a:rPr lang="en-US" dirty="0" smtClean="0"/>
                        <a:t>Negative test results</a:t>
                      </a:r>
                      <a:endParaRPr lang="en-US" dirty="0">
                        <a:latin typeface="Vani" panose="020B0502040204020203" pitchFamily="34" charset="0"/>
                        <a:cs typeface="Vani" panose="020B0502040204020203" pitchFamily="34" charset="0"/>
                      </a:endParaRPr>
                    </a:p>
                  </a:txBody>
                  <a:tcPr/>
                </a:tc>
                <a:tc>
                  <a:txBody>
                    <a:bodyPr/>
                    <a:lstStyle/>
                    <a:p>
                      <a:pPr algn="ctr"/>
                      <a:r>
                        <a:rPr lang="en-US" dirty="0" smtClean="0"/>
                        <a:t>35</a:t>
                      </a:r>
                      <a:endParaRPr lang="en-US" dirty="0">
                        <a:latin typeface="Vani" panose="020B0502040204020203" pitchFamily="34" charset="0"/>
                        <a:cs typeface="Vani" panose="020B0502040204020203" pitchFamily="34" charset="0"/>
                      </a:endParaRPr>
                    </a:p>
                  </a:txBody>
                  <a:tcPr/>
                </a:tc>
                <a:tc>
                  <a:txBody>
                    <a:bodyPr/>
                    <a:lstStyle/>
                    <a:p>
                      <a:pPr algn="ctr"/>
                      <a:r>
                        <a:rPr lang="en-US" dirty="0" smtClean="0"/>
                        <a:t>10</a:t>
                      </a:r>
                      <a:endParaRPr lang="en-US" dirty="0">
                        <a:latin typeface="Vani" panose="020B0502040204020203" pitchFamily="34" charset="0"/>
                        <a:cs typeface="Vani" panose="020B0502040204020203" pitchFamily="34" charset="0"/>
                      </a:endParaRPr>
                    </a:p>
                  </a:txBody>
                  <a:tcPr/>
                </a:tc>
              </a:tr>
            </a:tbl>
          </a:graphicData>
        </a:graphic>
      </p:graphicFrame>
    </p:spTree>
    <p:extLst>
      <p:ext uri="{BB962C8B-B14F-4D97-AF65-F5344CB8AC3E}">
        <p14:creationId xmlns:p14="http://schemas.microsoft.com/office/powerpoint/2010/main" val="32783691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0" y="295562"/>
            <a:ext cx="12192000" cy="1008247"/>
          </a:xfrm>
        </p:spPr>
        <p:txBody>
          <a:bodyPr/>
          <a:lstStyle/>
          <a:p>
            <a:r>
              <a:rPr lang="en-US" dirty="0" smtClean="0"/>
              <a:t>Questions and Answers							</a:t>
            </a:r>
            <a:r>
              <a:rPr lang="en-US" dirty="0" smtClean="0"/>
              <a:t>13-2 &amp; 14.</a:t>
            </a:r>
            <a:endParaRPr dirty="0"/>
          </a:p>
        </p:txBody>
      </p:sp>
      <mc:AlternateContent xmlns:mc="http://schemas.openxmlformats.org/markup-compatibility/2006">
        <mc:Choice xmlns:a14="http://schemas.microsoft.com/office/drawing/2010/main" Requires="a14">
          <p:sp>
            <p:nvSpPr>
              <p:cNvPr id="14" name="Content Placeholder 13"/>
              <p:cNvSpPr>
                <a:spLocks noGrp="1"/>
              </p:cNvSpPr>
              <p:nvPr>
                <p:ph idx="1"/>
              </p:nvPr>
            </p:nvSpPr>
            <p:spPr>
              <a:xfrm>
                <a:off x="0" y="1738184"/>
                <a:ext cx="12192000" cy="5119816"/>
              </a:xfrm>
            </p:spPr>
            <p:txBody>
              <a:bodyPr>
                <a:normAutofit lnSpcReduction="10000"/>
              </a:bodyPr>
              <a:lstStyle/>
              <a:p>
                <a:pPr lvl="0">
                  <a:lnSpc>
                    <a:spcPct val="150000"/>
                  </a:lnSpc>
                </a:pPr>
                <a:r>
                  <a:rPr lang="en-US" sz="2300" dirty="0" smtClean="0">
                    <a:solidFill>
                      <a:srgbClr val="115981"/>
                    </a:solidFill>
                    <a:latin typeface="Vani" panose="020B0502040204020203" pitchFamily="34" charset="0"/>
                    <a:cs typeface="Vani" panose="020B0502040204020203" pitchFamily="34" charset="0"/>
                  </a:rPr>
                  <a:t>(b.)</a:t>
                </a:r>
                <a:r>
                  <a:rPr lang="en-US" sz="2300" dirty="0" smtClean="0">
                    <a:solidFill>
                      <a:srgbClr val="115981"/>
                    </a:solidFill>
                    <a:cs typeface="Vani" panose="020B0502040204020203" pitchFamily="34" charset="0"/>
                  </a:rPr>
                  <a:t>	</a:t>
                </a:r>
                <a14:m>
                  <m:oMath xmlns:m="http://schemas.openxmlformats.org/officeDocument/2006/math">
                    <m:r>
                      <a:rPr lang="en-US" sz="2300" i="1">
                        <a:solidFill>
                          <a:srgbClr val="115981"/>
                        </a:solidFill>
                        <a:latin typeface="Cambria Math" panose="02040503050406030204" pitchFamily="18" charset="0"/>
                        <a:cs typeface="Vani" panose="020B0502040204020203" pitchFamily="34" charset="0"/>
                      </a:rPr>
                      <m:t>𝑃</m:t>
                    </m:r>
                    <m:d>
                      <m:dPr>
                        <m:endChr m:val="|"/>
                        <m:ctrlPr>
                          <a:rPr lang="en-US" sz="2300" i="1">
                            <a:solidFill>
                              <a:srgbClr val="115981"/>
                            </a:solidFill>
                            <a:latin typeface="Cambria Math" panose="02040503050406030204" pitchFamily="18" charset="0"/>
                            <a:cs typeface="Vani" panose="020B0502040204020203" pitchFamily="34" charset="0"/>
                          </a:rPr>
                        </m:ctrlPr>
                      </m:dPr>
                      <m:e>
                        <m:r>
                          <a:rPr lang="en-US" sz="2300" b="0" i="1" smtClean="0">
                            <a:solidFill>
                              <a:srgbClr val="115981"/>
                            </a:solidFill>
                            <a:latin typeface="Cambria Math" panose="02040503050406030204" pitchFamily="18" charset="0"/>
                            <a:cs typeface="Vani" panose="020B0502040204020203" pitchFamily="34" charset="0"/>
                          </a:rPr>
                          <m:t>𝑁𝑅</m:t>
                        </m:r>
                      </m:e>
                    </m:d>
                    <m:r>
                      <a:rPr lang="en-US" sz="2300" i="1">
                        <a:solidFill>
                          <a:srgbClr val="115981"/>
                        </a:solidFill>
                        <a:latin typeface="Cambria Math" panose="02040503050406030204" pitchFamily="18" charset="0"/>
                        <a:cs typeface="Vani" panose="020B0502040204020203" pitchFamily="34" charset="0"/>
                      </a:rPr>
                      <m:t> </m:t>
                    </m:r>
                    <m:r>
                      <a:rPr lang="en-US" sz="2300" b="0" i="1" smtClean="0">
                        <a:solidFill>
                          <a:srgbClr val="115981"/>
                        </a:solidFill>
                        <a:latin typeface="Cambria Math" panose="02040503050406030204" pitchFamily="18" charset="0"/>
                        <a:cs typeface="Vani" panose="020B0502040204020203" pitchFamily="34" charset="0"/>
                      </a:rPr>
                      <m:t>𝑆𝑇</m:t>
                    </m:r>
                    <m:r>
                      <a:rPr lang="en-US" sz="2300" i="1">
                        <a:solidFill>
                          <a:srgbClr val="115981"/>
                        </a:solidFill>
                        <a:latin typeface="Cambria Math" panose="02040503050406030204" pitchFamily="18" charset="0"/>
                        <a:cs typeface="Vani" panose="020B0502040204020203" pitchFamily="34" charset="0"/>
                      </a:rPr>
                      <m:t>)=</m:t>
                    </m:r>
                    <m:f>
                      <m:fPr>
                        <m:ctrlPr>
                          <a:rPr lang="en-US" sz="2300" i="1">
                            <a:solidFill>
                              <a:srgbClr val="115981"/>
                            </a:solidFill>
                            <a:latin typeface="Cambria Math" panose="02040503050406030204" pitchFamily="18" charset="0"/>
                          </a:rPr>
                        </m:ctrlPr>
                      </m:fPr>
                      <m:num>
                        <m:r>
                          <a:rPr lang="en-US" sz="2300" i="1">
                            <a:solidFill>
                              <a:srgbClr val="115981"/>
                            </a:solidFill>
                            <a:latin typeface="Cambria Math" panose="02040503050406030204" pitchFamily="18" charset="0"/>
                          </a:rPr>
                          <m:t>𝑃</m:t>
                        </m:r>
                        <m:r>
                          <a:rPr lang="en-US" sz="2300" i="1">
                            <a:solidFill>
                              <a:srgbClr val="115981"/>
                            </a:solidFill>
                            <a:latin typeface="Cambria Math" panose="02040503050406030204" pitchFamily="18" charset="0"/>
                          </a:rPr>
                          <m:t>(</m:t>
                        </m:r>
                        <m:r>
                          <a:rPr lang="en-US" sz="2300" b="0" i="1" smtClean="0">
                            <a:solidFill>
                              <a:srgbClr val="115981"/>
                            </a:solidFill>
                            <a:latin typeface="Cambria Math" panose="02040503050406030204" pitchFamily="18" charset="0"/>
                          </a:rPr>
                          <m:t>𝑁𝑅</m:t>
                        </m:r>
                        <m:r>
                          <a:rPr lang="en-US" sz="2300" i="1">
                            <a:solidFill>
                              <a:srgbClr val="115981"/>
                            </a:solidFill>
                            <a:latin typeface="Cambria Math" panose="02040503050406030204" pitchFamily="18" charset="0"/>
                          </a:rPr>
                          <m:t> ∩</m:t>
                        </m:r>
                        <m:r>
                          <a:rPr lang="en-US" sz="2300" b="0" i="1" smtClean="0">
                            <a:solidFill>
                              <a:srgbClr val="115981"/>
                            </a:solidFill>
                            <a:latin typeface="Cambria Math" panose="02040503050406030204" pitchFamily="18" charset="0"/>
                          </a:rPr>
                          <m:t> </m:t>
                        </m:r>
                        <m:r>
                          <a:rPr lang="en-US" sz="2300" b="0" i="1" smtClean="0">
                            <a:solidFill>
                              <a:srgbClr val="115981"/>
                            </a:solidFill>
                            <a:latin typeface="Cambria Math" panose="02040503050406030204" pitchFamily="18" charset="0"/>
                          </a:rPr>
                          <m:t>𝑆𝑇</m:t>
                        </m:r>
                        <m:r>
                          <a:rPr lang="en-US" sz="2300" i="1">
                            <a:solidFill>
                              <a:srgbClr val="115981"/>
                            </a:solidFill>
                            <a:latin typeface="Cambria Math" panose="02040503050406030204" pitchFamily="18" charset="0"/>
                            <a:ea typeface="Cambria Math" panose="02040503050406030204" pitchFamily="18" charset="0"/>
                          </a:rPr>
                          <m:t>)</m:t>
                        </m:r>
                      </m:num>
                      <m:den>
                        <m:r>
                          <a:rPr lang="en-US" sz="2300" i="1">
                            <a:solidFill>
                              <a:srgbClr val="115981"/>
                            </a:solidFill>
                            <a:latin typeface="Cambria Math" panose="02040503050406030204" pitchFamily="18" charset="0"/>
                          </a:rPr>
                          <m:t>𝑃</m:t>
                        </m:r>
                        <m:r>
                          <a:rPr lang="en-US" sz="2300" i="1">
                            <a:solidFill>
                              <a:srgbClr val="115981"/>
                            </a:solidFill>
                            <a:latin typeface="Cambria Math" panose="02040503050406030204" pitchFamily="18" charset="0"/>
                          </a:rPr>
                          <m:t>(</m:t>
                        </m:r>
                        <m:r>
                          <a:rPr lang="en-US" sz="2300" b="0" i="1" smtClean="0">
                            <a:solidFill>
                              <a:srgbClr val="115981"/>
                            </a:solidFill>
                            <a:latin typeface="Cambria Math" panose="02040503050406030204" pitchFamily="18" charset="0"/>
                          </a:rPr>
                          <m:t>𝑆𝑇</m:t>
                        </m:r>
                        <m:r>
                          <a:rPr lang="en-US" sz="2300" i="1">
                            <a:solidFill>
                              <a:srgbClr val="115981"/>
                            </a:solidFill>
                            <a:latin typeface="Cambria Math" panose="02040503050406030204" pitchFamily="18" charset="0"/>
                          </a:rPr>
                          <m:t>)</m:t>
                        </m:r>
                      </m:den>
                    </m:f>
                    <m:r>
                      <a:rPr lang="en-US" sz="2300" i="1">
                        <a:solidFill>
                          <a:srgbClr val="115981"/>
                        </a:solidFill>
                        <a:latin typeface="Cambria Math" panose="02040503050406030204" pitchFamily="18" charset="0"/>
                      </a:rPr>
                      <m:t>=</m:t>
                    </m:r>
                    <m:f>
                      <m:fPr>
                        <m:ctrlPr>
                          <a:rPr lang="en-US" sz="2300" i="1">
                            <a:solidFill>
                              <a:srgbClr val="115981"/>
                            </a:solidFill>
                            <a:latin typeface="Cambria Math" panose="02040503050406030204" pitchFamily="18" charset="0"/>
                          </a:rPr>
                        </m:ctrlPr>
                      </m:fPr>
                      <m:num>
                        <m:r>
                          <a:rPr lang="en-US" sz="2300" i="1">
                            <a:solidFill>
                              <a:srgbClr val="115981"/>
                            </a:solidFill>
                            <a:latin typeface="Cambria Math" panose="02040503050406030204" pitchFamily="18" charset="0"/>
                          </a:rPr>
                          <m:t>35</m:t>
                        </m:r>
                      </m:num>
                      <m:den>
                        <m:r>
                          <a:rPr lang="en-US" sz="2300" b="0" i="1" smtClean="0">
                            <a:solidFill>
                              <a:srgbClr val="115981"/>
                            </a:solidFill>
                            <a:latin typeface="Cambria Math" panose="02040503050406030204" pitchFamily="18" charset="0"/>
                          </a:rPr>
                          <m:t>15</m:t>
                        </m:r>
                        <m:r>
                          <a:rPr lang="en-US" sz="2300" i="1">
                            <a:solidFill>
                              <a:srgbClr val="115981"/>
                            </a:solidFill>
                            <a:latin typeface="Cambria Math" panose="02040503050406030204" pitchFamily="18" charset="0"/>
                          </a:rPr>
                          <m:t>+</m:t>
                        </m:r>
                        <m:r>
                          <a:rPr lang="en-US" sz="2300" b="0" i="1" smtClean="0">
                            <a:solidFill>
                              <a:srgbClr val="115981"/>
                            </a:solidFill>
                            <a:latin typeface="Cambria Math" panose="02040503050406030204" pitchFamily="18" charset="0"/>
                          </a:rPr>
                          <m:t>35</m:t>
                        </m:r>
                      </m:den>
                    </m:f>
                    <m:r>
                      <a:rPr lang="en-US" sz="2300" i="1">
                        <a:solidFill>
                          <a:srgbClr val="115981"/>
                        </a:solidFill>
                        <a:latin typeface="Cambria Math" panose="02040503050406030204" pitchFamily="18" charset="0"/>
                      </a:rPr>
                      <m:t>=</m:t>
                    </m:r>
                    <m:f>
                      <m:fPr>
                        <m:ctrlPr>
                          <a:rPr lang="en-US" sz="2300" i="1">
                            <a:solidFill>
                              <a:srgbClr val="115981"/>
                            </a:solidFill>
                            <a:latin typeface="Cambria Math" panose="02040503050406030204" pitchFamily="18" charset="0"/>
                          </a:rPr>
                        </m:ctrlPr>
                      </m:fPr>
                      <m:num>
                        <m:r>
                          <a:rPr lang="en-US" sz="2300" i="1">
                            <a:solidFill>
                              <a:srgbClr val="115981"/>
                            </a:solidFill>
                            <a:latin typeface="Cambria Math" panose="02040503050406030204" pitchFamily="18" charset="0"/>
                          </a:rPr>
                          <m:t>35</m:t>
                        </m:r>
                      </m:num>
                      <m:den>
                        <m:r>
                          <a:rPr lang="en-US" sz="2300" b="0" i="1" smtClean="0">
                            <a:solidFill>
                              <a:srgbClr val="115981"/>
                            </a:solidFill>
                            <a:latin typeface="Cambria Math" panose="02040503050406030204" pitchFamily="18" charset="0"/>
                          </a:rPr>
                          <m:t>50</m:t>
                        </m:r>
                      </m:den>
                    </m:f>
                    <m:r>
                      <a:rPr lang="en-US" sz="2300" i="1">
                        <a:solidFill>
                          <a:srgbClr val="115981"/>
                        </a:solidFill>
                        <a:latin typeface="Cambria Math" panose="02040503050406030204" pitchFamily="18" charset="0"/>
                      </a:rPr>
                      <m:t>=</m:t>
                    </m:r>
                    <m:r>
                      <a:rPr lang="en-US" sz="2300" i="1">
                        <a:solidFill>
                          <a:srgbClr val="FF0000"/>
                        </a:solidFill>
                        <a:latin typeface="Cambria Math" panose="02040503050406030204" pitchFamily="18" charset="0"/>
                      </a:rPr>
                      <m:t>0.7</m:t>
                    </m:r>
                    <m:r>
                      <a:rPr lang="en-US" sz="2300" b="0" i="1" smtClean="0">
                        <a:solidFill>
                          <a:srgbClr val="FF0000"/>
                        </a:solidFill>
                        <a:latin typeface="Cambria Math" panose="02040503050406030204" pitchFamily="18" charset="0"/>
                      </a:rPr>
                      <m:t>00</m:t>
                    </m:r>
                  </m:oMath>
                </a14:m>
                <a:endParaRPr lang="en-US" sz="2300" dirty="0" smtClean="0">
                  <a:solidFill>
                    <a:srgbClr val="FF0000"/>
                  </a:solidFill>
                  <a:latin typeface="Vani" panose="020B0502040204020203" pitchFamily="34" charset="0"/>
                  <a:cs typeface="Vani" panose="020B0502040204020203" pitchFamily="34" charset="0"/>
                </a:endParaRPr>
              </a:p>
              <a:p>
                <a:pPr lvl="0">
                  <a:lnSpc>
                    <a:spcPct val="150000"/>
                  </a:lnSpc>
                </a:pPr>
                <a:r>
                  <a:rPr lang="en-US" sz="2300" dirty="0" smtClean="0">
                    <a:solidFill>
                      <a:srgbClr val="7030A0"/>
                    </a:solidFill>
                    <a:latin typeface="Vani" panose="020B0502040204020203" pitchFamily="34" charset="0"/>
                    <a:cs typeface="Vani" panose="020B0502040204020203" pitchFamily="34" charset="0"/>
                  </a:rPr>
                  <a:t>(14.)</a:t>
                </a:r>
                <a:r>
                  <a:rPr lang="en-US" sz="2300" dirty="0">
                    <a:latin typeface="Vani" panose="020B0502040204020203" pitchFamily="34" charset="0"/>
                    <a:cs typeface="Vani" panose="020B0502040204020203" pitchFamily="34" charset="0"/>
                  </a:rPr>
                  <a:t>	</a:t>
                </a:r>
                <a:r>
                  <a:rPr lang="en-US" sz="2300" u="sng" dirty="0" smtClean="0">
                    <a:latin typeface="Vani" panose="020B0502040204020203" pitchFamily="34" charset="0"/>
                    <a:cs typeface="Vani" panose="020B0502040204020203" pitchFamily="34" charset="0"/>
                  </a:rPr>
                  <a:t>NOTE</a:t>
                </a:r>
                <a:r>
                  <a:rPr lang="en-US" sz="2300" dirty="0" smtClean="0">
                    <a:latin typeface="Vani" panose="020B0502040204020203" pitchFamily="34" charset="0"/>
                    <a:cs typeface="Vani" panose="020B0502040204020203" pitchFamily="34" charset="0"/>
                  </a:rPr>
                  <a:t>: For the probability of an event to be meaningful, the event has to be randomly selected. The probability of randomly selecting a male student from Mr. C’s class is </a:t>
                </a:r>
                <a14:m>
                  <m:oMath xmlns:m="http://schemas.openxmlformats.org/officeDocument/2006/math">
                    <m:r>
                      <a:rPr lang="en-US" sz="2300" i="1" dirty="0" smtClean="0">
                        <a:latin typeface="Cambria Math" panose="02040503050406030204" pitchFamily="18" charset="0"/>
                        <a:cs typeface="Vani" panose="020B0502040204020203" pitchFamily="34" charset="0"/>
                      </a:rPr>
                      <m:t>0.57</m:t>
                    </m:r>
                  </m:oMath>
                </a14:m>
                <a:r>
                  <a:rPr lang="en-US" sz="2300" dirty="0" smtClean="0">
                    <a:latin typeface="Vani" panose="020B0502040204020203" pitchFamily="34" charset="0"/>
                    <a:cs typeface="Vani" panose="020B0502040204020203" pitchFamily="34" charset="0"/>
                  </a:rPr>
                  <a:t>. Are there any issues with the two questions below:</a:t>
                </a:r>
              </a:p>
              <a:p>
                <a:pPr lvl="0">
                  <a:lnSpc>
                    <a:spcPct val="150000"/>
                  </a:lnSpc>
                </a:pPr>
                <a:r>
                  <a:rPr lang="en-US" sz="2300" dirty="0" smtClean="0">
                    <a:latin typeface="Vani" panose="020B0502040204020203" pitchFamily="34" charset="0"/>
                    <a:cs typeface="Vani" panose="020B0502040204020203" pitchFamily="34" charset="0"/>
                  </a:rPr>
                  <a:t>(a.) If 3 students are selected, what is the probability that at least one of them is a male?</a:t>
                </a:r>
              </a:p>
              <a:p>
                <a:pPr lvl="0">
                  <a:lnSpc>
                    <a:spcPct val="150000"/>
                  </a:lnSpc>
                </a:pPr>
                <a:r>
                  <a:rPr lang="en-US" sz="2300" dirty="0" smtClean="0">
                    <a:solidFill>
                      <a:srgbClr val="FF0000"/>
                    </a:solidFill>
                    <a:latin typeface="Vani" panose="020B0502040204020203" pitchFamily="34" charset="0"/>
                    <a:cs typeface="Vani" panose="020B0502040204020203" pitchFamily="34" charset="0"/>
                  </a:rPr>
                  <a:t>Yes, there is an issue because the 3 students were not randomly selected.</a:t>
                </a:r>
              </a:p>
              <a:p>
                <a:pPr lvl="0">
                  <a:lnSpc>
                    <a:spcPct val="150000"/>
                  </a:lnSpc>
                </a:pPr>
                <a:r>
                  <a:rPr lang="en-US" sz="2300" dirty="0" smtClean="0">
                    <a:latin typeface="Vani" panose="020B0502040204020203" pitchFamily="34" charset="0"/>
                    <a:cs typeface="Vani" panose="020B0502040204020203" pitchFamily="34" charset="0"/>
                  </a:rPr>
                  <a:t>(b.) If 3 students are </a:t>
                </a:r>
                <a:r>
                  <a:rPr lang="en-US" sz="2300" u="sng" dirty="0" smtClean="0">
                    <a:latin typeface="Vani" panose="020B0502040204020203" pitchFamily="34" charset="0"/>
                    <a:cs typeface="Vani" panose="020B0502040204020203" pitchFamily="34" charset="0"/>
                  </a:rPr>
                  <a:t>randomly selected</a:t>
                </a:r>
                <a:r>
                  <a:rPr lang="en-US" sz="2300" dirty="0" smtClean="0">
                    <a:latin typeface="Vani" panose="020B0502040204020203" pitchFamily="34" charset="0"/>
                    <a:cs typeface="Vani" panose="020B0502040204020203" pitchFamily="34" charset="0"/>
                  </a:rPr>
                  <a:t>, what is the probability that at least one of them is a male? </a:t>
                </a:r>
                <a:r>
                  <a:rPr lang="en-US" sz="2300" dirty="0" smtClean="0">
                    <a:solidFill>
                      <a:srgbClr val="FF0000"/>
                    </a:solidFill>
                    <a:latin typeface="Vani" panose="020B0502040204020203" pitchFamily="34" charset="0"/>
                    <a:cs typeface="Vani" panose="020B0502040204020203" pitchFamily="34" charset="0"/>
                  </a:rPr>
                  <a:t>No, there is no issue. The 3 students were randomly selected.</a:t>
                </a:r>
              </a:p>
            </p:txBody>
          </p:sp>
        </mc:Choice>
        <mc:Fallback>
          <p:sp>
            <p:nvSpPr>
              <p:cNvPr id="14" name="Content Placeholder 13"/>
              <p:cNvSpPr>
                <a:spLocks noGrp="1" noRot="1" noChangeAspect="1" noMove="1" noResize="1" noEditPoints="1" noAdjustHandles="1" noChangeArrowheads="1" noChangeShapeType="1" noTextEdit="1"/>
              </p:cNvSpPr>
              <p:nvPr>
                <p:ph idx="1"/>
              </p:nvPr>
            </p:nvSpPr>
            <p:spPr>
              <a:xfrm>
                <a:off x="0" y="1738184"/>
                <a:ext cx="12192000" cy="5119816"/>
              </a:xfrm>
              <a:blipFill rotWithShape="0">
                <a:blip r:embed="rId2"/>
                <a:stretch>
                  <a:fillRect l="-1350" r="-1100"/>
                </a:stretch>
              </a:blipFill>
            </p:spPr>
            <p:txBody>
              <a:bodyPr/>
              <a:lstStyle/>
              <a:p>
                <a:r>
                  <a:rPr lang="en-US">
                    <a:noFill/>
                  </a:rPr>
                  <a:t> </a:t>
                </a:r>
              </a:p>
            </p:txBody>
          </p:sp>
        </mc:Fallback>
      </mc:AlternateContent>
    </p:spTree>
    <p:extLst>
      <p:ext uri="{BB962C8B-B14F-4D97-AF65-F5344CB8AC3E}">
        <p14:creationId xmlns:p14="http://schemas.microsoft.com/office/powerpoint/2010/main" val="9221742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0" y="295562"/>
            <a:ext cx="12192000" cy="1008247"/>
          </a:xfrm>
        </p:spPr>
        <p:txBody>
          <a:bodyPr/>
          <a:lstStyle/>
          <a:p>
            <a:r>
              <a:rPr lang="en-US" dirty="0" smtClean="0"/>
              <a:t>Questions and Answers							</a:t>
            </a:r>
            <a:r>
              <a:rPr lang="en-US" dirty="0" smtClean="0"/>
              <a:t>15-1</a:t>
            </a:r>
            <a:r>
              <a:rPr lang="en-US" dirty="0" smtClean="0"/>
              <a:t>.</a:t>
            </a:r>
            <a:endParaRPr dirty="0"/>
          </a:p>
        </p:txBody>
      </p:sp>
      <p:sp>
        <p:nvSpPr>
          <p:cNvPr id="14" name="Content Placeholder 13"/>
          <p:cNvSpPr>
            <a:spLocks noGrp="1"/>
          </p:cNvSpPr>
          <p:nvPr>
            <p:ph idx="1"/>
          </p:nvPr>
        </p:nvSpPr>
        <p:spPr>
          <a:xfrm>
            <a:off x="0" y="1738184"/>
            <a:ext cx="12192000" cy="5119816"/>
          </a:xfrm>
        </p:spPr>
        <p:txBody>
          <a:bodyPr>
            <a:normAutofit/>
          </a:bodyPr>
          <a:lstStyle/>
          <a:p>
            <a:pPr>
              <a:lnSpc>
                <a:spcPct val="150000"/>
              </a:lnSpc>
            </a:pPr>
            <a:r>
              <a:rPr lang="en-US" sz="2300" dirty="0" smtClean="0">
                <a:solidFill>
                  <a:srgbClr val="7030A0"/>
                </a:solidFill>
                <a:latin typeface="Vani" panose="020B0502040204020203" pitchFamily="34" charset="0"/>
                <a:cs typeface="Vani" panose="020B0502040204020203" pitchFamily="34" charset="0"/>
              </a:rPr>
              <a:t>(</a:t>
            </a:r>
            <a:r>
              <a:rPr lang="en-US" sz="2300" dirty="0" smtClean="0">
                <a:solidFill>
                  <a:srgbClr val="7030A0"/>
                </a:solidFill>
                <a:latin typeface="Vani" panose="020B0502040204020203" pitchFamily="34" charset="0"/>
                <a:cs typeface="Vani" panose="020B0502040204020203" pitchFamily="34" charset="0"/>
              </a:rPr>
              <a:t>15.)</a:t>
            </a:r>
            <a:r>
              <a:rPr lang="en-US" sz="2300" dirty="0" smtClean="0">
                <a:solidFill>
                  <a:srgbClr val="7030A0"/>
                </a:solidFill>
                <a:latin typeface="Vani" panose="020B0502040204020203" pitchFamily="34" charset="0"/>
                <a:cs typeface="Vani" panose="020B0502040204020203" pitchFamily="34" charset="0"/>
              </a:rPr>
              <a:t>	</a:t>
            </a:r>
            <a:r>
              <a:rPr lang="en-US" sz="2300" dirty="0" smtClean="0">
                <a:latin typeface="Vani" panose="020B0502040204020203" pitchFamily="34" charset="0"/>
                <a:cs typeface="Vani" panose="020B0502040204020203" pitchFamily="34" charset="0"/>
              </a:rPr>
              <a:t>Identical twins come from a single egg that split into two embryos. Fraternal twins come from separate fertilized eggs. In addition, identical twins must be of the same sex, but fraternal twins  may be of same sex or opposite sex. However, both sexes of identical and fraternal twins are equally likely. A table showing the sexes of those twins is shown.</a:t>
            </a:r>
          </a:p>
          <a:p>
            <a:pPr>
              <a:lnSpc>
                <a:spcPct val="150000"/>
              </a:lnSpc>
            </a:pPr>
            <a:endParaRPr lang="en-US" sz="2300" b="0" i="1" dirty="0" smtClean="0">
              <a:latin typeface="Cambria Math" panose="02040503050406030204" pitchFamily="18" charset="0"/>
              <a:cs typeface="Vani" panose="020B0502040204020203" pitchFamily="34" charset="0"/>
            </a:endParaRPr>
          </a:p>
          <a:p>
            <a:pPr>
              <a:lnSpc>
                <a:spcPct val="150000"/>
              </a:lnSpc>
            </a:pPr>
            <a:endParaRPr lang="en-US" sz="2300" b="0" i="1" dirty="0" smtClean="0">
              <a:latin typeface="Cambria Math" panose="02040503050406030204" pitchFamily="18" charset="0"/>
              <a:cs typeface="Vani" panose="020B0502040204020203" pitchFamily="34" charset="0"/>
            </a:endParaRPr>
          </a:p>
          <a:p>
            <a:pPr>
              <a:lnSpc>
                <a:spcPct val="150000"/>
              </a:lnSpc>
            </a:pPr>
            <a:r>
              <a:rPr lang="en-US" sz="2300" dirty="0" smtClean="0">
                <a:latin typeface="Vani" panose="020B0502040204020203" pitchFamily="34" charset="0"/>
                <a:cs typeface="Vani" panose="020B0502040204020203" pitchFamily="34" charset="0"/>
              </a:rPr>
              <a:t>(a.)	A pregnant woman is expected to have twins.  Determine the probability that she will have identical twins.	</a:t>
            </a:r>
            <a:endParaRPr lang="en-US" sz="2300" b="0" dirty="0" smtClean="0">
              <a:latin typeface="Vani" panose="020B0502040204020203" pitchFamily="34" charset="0"/>
              <a:cs typeface="Vani" panose="020B0502040204020203" pitchFamily="34" charset="0"/>
            </a:endParaRPr>
          </a:p>
          <a:p>
            <a:pPr marL="0" indent="0">
              <a:lnSpc>
                <a:spcPct val="150000"/>
              </a:lnSpc>
              <a:buNone/>
            </a:pPr>
            <a:endParaRPr lang="en-US" sz="2300" dirty="0">
              <a:latin typeface="Vani" panose="020B0502040204020203" pitchFamily="34" charset="0"/>
              <a:cs typeface="Vani" panose="020B0502040204020203" pitchFamily="34" charset="0"/>
            </a:endParaRPr>
          </a:p>
          <a:p>
            <a:pPr>
              <a:lnSpc>
                <a:spcPct val="150000"/>
              </a:lnSpc>
            </a:pPr>
            <a:endParaRPr lang="en-US" sz="2300" b="0" dirty="0" smtClean="0">
              <a:latin typeface="Vani" panose="020B0502040204020203" pitchFamily="34" charset="0"/>
              <a:cs typeface="Vani" panose="020B0502040204020203" pitchFamily="34" charset="0"/>
            </a:endParaRPr>
          </a:p>
        </p:txBody>
      </p:sp>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nvPr>
            </p:nvGraphicFramePr>
            <p:xfrm>
              <a:off x="0" y="3825331"/>
              <a:ext cx="12192000" cy="1483360"/>
            </p:xfrm>
            <a:graphic>
              <a:graphicData uri="http://schemas.openxmlformats.org/drawingml/2006/table">
                <a:tbl>
                  <a:tblPr firstRow="1" bandRow="1">
                    <a:tableStyleId>{5C22544A-7EE6-4342-B048-85BDC9FD1C3A}</a:tableStyleId>
                  </a:tblPr>
                  <a:tblGrid>
                    <a:gridCol w="2438400"/>
                    <a:gridCol w="2438400"/>
                    <a:gridCol w="2438400"/>
                    <a:gridCol w="2438400"/>
                    <a:gridCol w="2438400"/>
                  </a:tblGrid>
                  <a:tr h="370840">
                    <a:tc gridSpan="5">
                      <a:txBody>
                        <a:bodyPr/>
                        <a:lstStyle/>
                        <a:p>
                          <a:pPr algn="ctr"/>
                          <a:r>
                            <a:rPr lang="en-US" dirty="0" smtClean="0"/>
                            <a:t>Sexes of Twins</a:t>
                          </a:r>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r>
                  <a:tr h="370840">
                    <a:tc>
                      <a:txBody>
                        <a:bodyPr/>
                        <a:lstStyle/>
                        <a:p>
                          <a:pPr algn="ctr"/>
                          <a:endParaRPr lang="en-US" dirty="0"/>
                        </a:p>
                      </a:txBody>
                      <a:tcPr/>
                    </a:tc>
                    <a:tc>
                      <a:txBody>
                        <a:bodyPr/>
                        <a:lstStyle/>
                        <a:p>
                          <a:pPr algn="ctr"/>
                          <a:r>
                            <a:rPr lang="en-US" dirty="0" smtClean="0"/>
                            <a:t>boy/boy</a:t>
                          </a:r>
                          <a:endParaRPr lang="en-US" dirty="0"/>
                        </a:p>
                      </a:txBody>
                      <a:tcPr/>
                    </a:tc>
                    <a:tc>
                      <a:txBody>
                        <a:bodyPr/>
                        <a:lstStyle/>
                        <a:p>
                          <a:pPr algn="ctr"/>
                          <a:r>
                            <a:rPr lang="en-US" dirty="0" smtClean="0"/>
                            <a:t>boy/girl</a:t>
                          </a:r>
                          <a:endParaRPr lang="en-US" dirty="0"/>
                        </a:p>
                      </a:txBody>
                      <a:tcPr/>
                    </a:tc>
                    <a:tc>
                      <a:txBody>
                        <a:bodyPr/>
                        <a:lstStyle/>
                        <a:p>
                          <a:pPr algn="ctr"/>
                          <a:r>
                            <a:rPr lang="en-US" dirty="0" smtClean="0"/>
                            <a:t>girl/boy</a:t>
                          </a:r>
                          <a:endParaRPr lang="en-US" dirty="0"/>
                        </a:p>
                      </a:txBody>
                      <a:tcPr/>
                    </a:tc>
                    <a:tc>
                      <a:txBody>
                        <a:bodyPr/>
                        <a:lstStyle/>
                        <a:p>
                          <a:pPr algn="ctr"/>
                          <a:r>
                            <a:rPr lang="en-US" dirty="0" smtClean="0"/>
                            <a:t>girl/girl</a:t>
                          </a:r>
                          <a:endParaRPr lang="en-US" dirty="0"/>
                        </a:p>
                      </a:txBody>
                      <a:tcPr/>
                    </a:tc>
                  </a:tr>
                  <a:tr h="370840">
                    <a:tc>
                      <a:txBody>
                        <a:bodyPr/>
                        <a:lstStyle/>
                        <a:p>
                          <a:pPr algn="ctr"/>
                          <a:r>
                            <a:rPr lang="en-US" dirty="0" smtClean="0"/>
                            <a:t>Identical</a:t>
                          </a:r>
                          <a:r>
                            <a:rPr lang="en-US" baseline="0" dirty="0" smtClean="0"/>
                            <a:t> Twins</a:t>
                          </a:r>
                          <a:endParaRPr lang="en-US" dirty="0"/>
                        </a:p>
                      </a:txBody>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6</m:t>
                                </m:r>
                              </m:oMath>
                            </m:oMathPara>
                          </a14:m>
                          <a:endParaRPr lang="en-US" dirty="0"/>
                        </a:p>
                      </a:txBody>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dirty="0"/>
                        </a:p>
                      </a:txBody>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dirty="0"/>
                        </a:p>
                      </a:txBody>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6</m:t>
                                </m:r>
                              </m:oMath>
                            </m:oMathPara>
                          </a14:m>
                          <a:endParaRPr lang="en-US" dirty="0"/>
                        </a:p>
                      </a:txBody>
                      <a:tcPr/>
                    </a:tc>
                  </a:tr>
                  <a:tr h="370840">
                    <a:tc>
                      <a:txBody>
                        <a:bodyPr/>
                        <a:lstStyle/>
                        <a:p>
                          <a:pPr algn="ctr"/>
                          <a:r>
                            <a:rPr lang="en-US" dirty="0" smtClean="0"/>
                            <a:t>Fraternal Twins</a:t>
                          </a:r>
                          <a:endParaRPr lang="en-US" dirty="0"/>
                        </a:p>
                      </a:txBody>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7</m:t>
                                </m:r>
                              </m:oMath>
                            </m:oMathPara>
                          </a14:m>
                          <a:endParaRPr lang="en-US" dirty="0"/>
                        </a:p>
                      </a:txBody>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7</m:t>
                                </m:r>
                              </m:oMath>
                            </m:oMathPara>
                          </a14:m>
                          <a:endParaRPr lang="en-US" dirty="0"/>
                        </a:p>
                      </a:txBody>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7</m:t>
                                </m:r>
                              </m:oMath>
                            </m:oMathPara>
                          </a14:m>
                          <a:endParaRPr lang="en-US" dirty="0"/>
                        </a:p>
                      </a:txBody>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7</m:t>
                                </m:r>
                              </m:oMath>
                            </m:oMathPara>
                          </a14:m>
                          <a:endParaRPr lang="en-US" dirty="0"/>
                        </a:p>
                      </a:txBody>
                      <a:tcPr/>
                    </a:tc>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4006091442"/>
                  </p:ext>
                </p:extLst>
              </p:nvPr>
            </p:nvGraphicFramePr>
            <p:xfrm>
              <a:off x="0" y="3825331"/>
              <a:ext cx="12192000" cy="1483360"/>
            </p:xfrm>
            <a:graphic>
              <a:graphicData uri="http://schemas.openxmlformats.org/drawingml/2006/table">
                <a:tbl>
                  <a:tblPr firstRow="1" bandRow="1">
                    <a:tableStyleId>{5C22544A-7EE6-4342-B048-85BDC9FD1C3A}</a:tableStyleId>
                  </a:tblPr>
                  <a:tblGrid>
                    <a:gridCol w="2438400"/>
                    <a:gridCol w="2438400"/>
                    <a:gridCol w="2438400"/>
                    <a:gridCol w="2438400"/>
                    <a:gridCol w="2438400"/>
                  </a:tblGrid>
                  <a:tr h="370840">
                    <a:tc gridSpan="5">
                      <a:txBody>
                        <a:bodyPr/>
                        <a:lstStyle/>
                        <a:p>
                          <a:pPr algn="ctr"/>
                          <a:r>
                            <a:rPr lang="en-US" dirty="0" smtClean="0"/>
                            <a:t>Sexes of Twins</a:t>
                          </a:r>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r>
                  <a:tr h="370840">
                    <a:tc>
                      <a:txBody>
                        <a:bodyPr/>
                        <a:lstStyle/>
                        <a:p>
                          <a:pPr algn="ctr"/>
                          <a:endParaRPr lang="en-US" dirty="0"/>
                        </a:p>
                      </a:txBody>
                      <a:tcPr/>
                    </a:tc>
                    <a:tc>
                      <a:txBody>
                        <a:bodyPr/>
                        <a:lstStyle/>
                        <a:p>
                          <a:pPr algn="ctr"/>
                          <a:r>
                            <a:rPr lang="en-US" dirty="0" smtClean="0"/>
                            <a:t>boy/boy</a:t>
                          </a:r>
                          <a:endParaRPr lang="en-US" dirty="0"/>
                        </a:p>
                      </a:txBody>
                      <a:tcPr/>
                    </a:tc>
                    <a:tc>
                      <a:txBody>
                        <a:bodyPr/>
                        <a:lstStyle/>
                        <a:p>
                          <a:pPr algn="ctr"/>
                          <a:r>
                            <a:rPr lang="en-US" dirty="0" smtClean="0"/>
                            <a:t>boy/girl</a:t>
                          </a:r>
                          <a:endParaRPr lang="en-US" dirty="0"/>
                        </a:p>
                      </a:txBody>
                      <a:tcPr/>
                    </a:tc>
                    <a:tc>
                      <a:txBody>
                        <a:bodyPr/>
                        <a:lstStyle/>
                        <a:p>
                          <a:pPr algn="ctr"/>
                          <a:r>
                            <a:rPr lang="en-US" dirty="0" smtClean="0"/>
                            <a:t>girl/boy</a:t>
                          </a:r>
                          <a:endParaRPr lang="en-US" dirty="0"/>
                        </a:p>
                      </a:txBody>
                      <a:tcPr/>
                    </a:tc>
                    <a:tc>
                      <a:txBody>
                        <a:bodyPr/>
                        <a:lstStyle/>
                        <a:p>
                          <a:pPr algn="ctr"/>
                          <a:r>
                            <a:rPr lang="en-US" dirty="0" smtClean="0"/>
                            <a:t>girl/girl</a:t>
                          </a:r>
                          <a:endParaRPr lang="en-US" dirty="0"/>
                        </a:p>
                      </a:txBody>
                      <a:tcPr/>
                    </a:tc>
                  </a:tr>
                  <a:tr h="370840">
                    <a:tc>
                      <a:txBody>
                        <a:bodyPr/>
                        <a:lstStyle/>
                        <a:p>
                          <a:pPr algn="ctr"/>
                          <a:r>
                            <a:rPr lang="en-US" dirty="0" smtClean="0"/>
                            <a:t>Identical</a:t>
                          </a:r>
                          <a:r>
                            <a:rPr lang="en-US" baseline="0" dirty="0" smtClean="0"/>
                            <a:t> Twins</a:t>
                          </a:r>
                          <a:endParaRPr lang="en-US" dirty="0"/>
                        </a:p>
                      </a:txBody>
                      <a:tcPr/>
                    </a:tc>
                    <a:tc>
                      <a:txBody>
                        <a:bodyPr/>
                        <a:lstStyle/>
                        <a:p>
                          <a:endParaRPr lang="en-US"/>
                        </a:p>
                      </a:txBody>
                      <a:tcPr>
                        <a:blipFill rotWithShape="0">
                          <a:blip r:embed="rId2"/>
                          <a:stretch>
                            <a:fillRect l="-100500" t="-208197" r="-301250" b="-124590"/>
                          </a:stretch>
                        </a:blipFill>
                      </a:tcPr>
                    </a:tc>
                    <a:tc>
                      <a:txBody>
                        <a:bodyPr/>
                        <a:lstStyle/>
                        <a:p>
                          <a:endParaRPr lang="en-US"/>
                        </a:p>
                      </a:txBody>
                      <a:tcPr>
                        <a:blipFill rotWithShape="0">
                          <a:blip r:embed="rId2"/>
                          <a:stretch>
                            <a:fillRect l="-200500" t="-208197" r="-201250" b="-124590"/>
                          </a:stretch>
                        </a:blipFill>
                      </a:tcPr>
                    </a:tc>
                    <a:tc>
                      <a:txBody>
                        <a:bodyPr/>
                        <a:lstStyle/>
                        <a:p>
                          <a:endParaRPr lang="en-US"/>
                        </a:p>
                      </a:txBody>
                      <a:tcPr>
                        <a:blipFill rotWithShape="0">
                          <a:blip r:embed="rId2"/>
                          <a:stretch>
                            <a:fillRect l="-300500" t="-208197" r="-101250" b="-124590"/>
                          </a:stretch>
                        </a:blipFill>
                      </a:tcPr>
                    </a:tc>
                    <a:tc>
                      <a:txBody>
                        <a:bodyPr/>
                        <a:lstStyle/>
                        <a:p>
                          <a:endParaRPr lang="en-US"/>
                        </a:p>
                      </a:txBody>
                      <a:tcPr>
                        <a:blipFill rotWithShape="0">
                          <a:blip r:embed="rId2"/>
                          <a:stretch>
                            <a:fillRect l="-400500" t="-208197" r="-1250" b="-124590"/>
                          </a:stretch>
                        </a:blipFill>
                      </a:tcPr>
                    </a:tc>
                  </a:tr>
                  <a:tr h="370840">
                    <a:tc>
                      <a:txBody>
                        <a:bodyPr/>
                        <a:lstStyle/>
                        <a:p>
                          <a:pPr algn="ctr"/>
                          <a:r>
                            <a:rPr lang="en-US" dirty="0" smtClean="0"/>
                            <a:t>Fraternal Twins</a:t>
                          </a:r>
                          <a:endParaRPr lang="en-US" dirty="0"/>
                        </a:p>
                      </a:txBody>
                      <a:tcPr/>
                    </a:tc>
                    <a:tc>
                      <a:txBody>
                        <a:bodyPr/>
                        <a:lstStyle/>
                        <a:p>
                          <a:endParaRPr lang="en-US"/>
                        </a:p>
                      </a:txBody>
                      <a:tcPr>
                        <a:blipFill rotWithShape="0">
                          <a:blip r:embed="rId2"/>
                          <a:stretch>
                            <a:fillRect l="-100500" t="-308197" r="-301250" b="-24590"/>
                          </a:stretch>
                        </a:blipFill>
                      </a:tcPr>
                    </a:tc>
                    <a:tc>
                      <a:txBody>
                        <a:bodyPr/>
                        <a:lstStyle/>
                        <a:p>
                          <a:endParaRPr lang="en-US"/>
                        </a:p>
                      </a:txBody>
                      <a:tcPr>
                        <a:blipFill rotWithShape="0">
                          <a:blip r:embed="rId2"/>
                          <a:stretch>
                            <a:fillRect l="-200500" t="-308197" r="-201250" b="-24590"/>
                          </a:stretch>
                        </a:blipFill>
                      </a:tcPr>
                    </a:tc>
                    <a:tc>
                      <a:txBody>
                        <a:bodyPr/>
                        <a:lstStyle/>
                        <a:p>
                          <a:endParaRPr lang="en-US"/>
                        </a:p>
                      </a:txBody>
                      <a:tcPr>
                        <a:blipFill rotWithShape="0">
                          <a:blip r:embed="rId2"/>
                          <a:stretch>
                            <a:fillRect l="-300500" t="-308197" r="-101250" b="-24590"/>
                          </a:stretch>
                        </a:blipFill>
                      </a:tcPr>
                    </a:tc>
                    <a:tc>
                      <a:txBody>
                        <a:bodyPr/>
                        <a:lstStyle/>
                        <a:p>
                          <a:endParaRPr lang="en-US"/>
                        </a:p>
                      </a:txBody>
                      <a:tcPr>
                        <a:blipFill rotWithShape="0">
                          <a:blip r:embed="rId2"/>
                          <a:stretch>
                            <a:fillRect l="-400500" t="-308197" r="-1250" b="-24590"/>
                          </a:stretch>
                        </a:blipFill>
                      </a:tcPr>
                    </a:tc>
                  </a:tr>
                </a:tbl>
              </a:graphicData>
            </a:graphic>
          </p:graphicFrame>
        </mc:Fallback>
      </mc:AlternateContent>
    </p:spTree>
    <p:extLst>
      <p:ext uri="{BB962C8B-B14F-4D97-AF65-F5344CB8AC3E}">
        <p14:creationId xmlns:p14="http://schemas.microsoft.com/office/powerpoint/2010/main" val="20533401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0" y="295562"/>
            <a:ext cx="12192000" cy="1008247"/>
          </a:xfrm>
        </p:spPr>
        <p:txBody>
          <a:bodyPr/>
          <a:lstStyle/>
          <a:p>
            <a:r>
              <a:rPr lang="en-US" dirty="0" smtClean="0"/>
              <a:t>Questions and Answers							</a:t>
            </a:r>
            <a:r>
              <a:rPr lang="en-US" dirty="0" smtClean="0"/>
              <a:t>15-2</a:t>
            </a:r>
            <a:r>
              <a:rPr lang="en-US" dirty="0" smtClean="0"/>
              <a:t>.</a:t>
            </a:r>
            <a:endParaRPr dirty="0"/>
          </a:p>
        </p:txBody>
      </p:sp>
      <mc:AlternateContent xmlns:mc="http://schemas.openxmlformats.org/markup-compatibility/2006" xmlns:a14="http://schemas.microsoft.com/office/drawing/2010/main">
        <mc:Choice Requires="a14">
          <p:sp>
            <p:nvSpPr>
              <p:cNvPr id="14" name="Content Placeholder 13"/>
              <p:cNvSpPr>
                <a:spLocks noGrp="1"/>
              </p:cNvSpPr>
              <p:nvPr>
                <p:ph idx="1"/>
              </p:nvPr>
            </p:nvSpPr>
            <p:spPr>
              <a:xfrm>
                <a:off x="0" y="1738184"/>
                <a:ext cx="12192000" cy="5119816"/>
              </a:xfrm>
            </p:spPr>
            <p:txBody>
              <a:bodyPr>
                <a:normAutofit/>
              </a:bodyPr>
              <a:lstStyle/>
              <a:p>
                <a:pPr>
                  <a:lnSpc>
                    <a:spcPct val="150000"/>
                  </a:lnSpc>
                </a:pPr>
                <a14:m>
                  <m:oMath xmlns:m="http://schemas.openxmlformats.org/officeDocument/2006/math">
                    <m:r>
                      <a:rPr lang="en-US" sz="2300" b="0" i="1" smtClean="0">
                        <a:latin typeface="Cambria Math" panose="02040503050406030204" pitchFamily="18" charset="0"/>
                        <a:cs typeface="Vani" panose="020B0502040204020203" pitchFamily="34" charset="0"/>
                      </a:rPr>
                      <m:t>𝐿𝑒𝑡</m:t>
                    </m:r>
                    <m:r>
                      <a:rPr lang="en-US" sz="2300" b="0" i="1" smtClean="0">
                        <a:latin typeface="Cambria Math" panose="02040503050406030204" pitchFamily="18" charset="0"/>
                        <a:cs typeface="Vani" panose="020B0502040204020203" pitchFamily="34" charset="0"/>
                      </a:rPr>
                      <m:t> </m:t>
                    </m:r>
                    <m:r>
                      <a:rPr lang="en-US" sz="2300" b="0" i="1" smtClean="0">
                        <a:latin typeface="Cambria Math" panose="02040503050406030204" pitchFamily="18" charset="0"/>
                        <a:cs typeface="Vani" panose="020B0502040204020203" pitchFamily="34" charset="0"/>
                      </a:rPr>
                      <m:t>𝐼𝑑𝑒𝑛𝑡𝑖𝑐𝑎𝑙</m:t>
                    </m:r>
                    <m:r>
                      <a:rPr lang="en-US" sz="2300" b="0" i="1" smtClean="0">
                        <a:latin typeface="Cambria Math" panose="02040503050406030204" pitchFamily="18" charset="0"/>
                        <a:cs typeface="Vani" panose="020B0502040204020203" pitchFamily="34" charset="0"/>
                      </a:rPr>
                      <m:t> </m:t>
                    </m:r>
                    <m:r>
                      <a:rPr lang="en-US" sz="2300" b="0" i="1" smtClean="0">
                        <a:latin typeface="Cambria Math" panose="02040503050406030204" pitchFamily="18" charset="0"/>
                        <a:cs typeface="Vani" panose="020B0502040204020203" pitchFamily="34" charset="0"/>
                      </a:rPr>
                      <m:t>𝑇𝑤𝑖𝑛𝑠</m:t>
                    </m:r>
                    <m:r>
                      <a:rPr lang="en-US" sz="2300" b="0" i="1" smtClean="0">
                        <a:latin typeface="Cambria Math" panose="02040503050406030204" pitchFamily="18" charset="0"/>
                        <a:cs typeface="Vani" panose="020B0502040204020203" pitchFamily="34" charset="0"/>
                      </a:rPr>
                      <m:t>=</m:t>
                    </m:r>
                    <m:r>
                      <a:rPr lang="en-US" sz="2300" b="0" i="1" smtClean="0">
                        <a:latin typeface="Cambria Math" panose="02040503050406030204" pitchFamily="18" charset="0"/>
                        <a:cs typeface="Vani" panose="020B0502040204020203" pitchFamily="34" charset="0"/>
                      </a:rPr>
                      <m:t>𝐼𝐷𝑇𝑊</m:t>
                    </m:r>
                    <m:r>
                      <a:rPr lang="en-US" sz="2300" b="0" i="1" smtClean="0">
                        <a:latin typeface="Cambria Math" panose="02040503050406030204" pitchFamily="18" charset="0"/>
                        <a:cs typeface="Vani" panose="020B0502040204020203" pitchFamily="34" charset="0"/>
                      </a:rPr>
                      <m:t>   </m:t>
                    </m:r>
                    <m:r>
                      <a:rPr lang="en-US" sz="2300" b="0" i="1" smtClean="0">
                        <a:latin typeface="Cambria Math" panose="02040503050406030204" pitchFamily="18" charset="0"/>
                        <a:cs typeface="Vani" panose="020B0502040204020203" pitchFamily="34" charset="0"/>
                      </a:rPr>
                      <m:t>𝑎𝑛𝑑</m:t>
                    </m:r>
                    <m:r>
                      <a:rPr lang="en-US" sz="2300" b="0" i="1" smtClean="0">
                        <a:latin typeface="Cambria Math" panose="02040503050406030204" pitchFamily="18" charset="0"/>
                        <a:cs typeface="Vani" panose="020B0502040204020203" pitchFamily="34" charset="0"/>
                      </a:rPr>
                      <m:t>    </m:t>
                    </m:r>
                    <m:r>
                      <a:rPr lang="en-US" sz="2300" b="0" i="1" smtClean="0">
                        <a:latin typeface="Cambria Math" panose="02040503050406030204" pitchFamily="18" charset="0"/>
                        <a:cs typeface="Vani" panose="020B0502040204020203" pitchFamily="34" charset="0"/>
                      </a:rPr>
                      <m:t>𝐹𝑟𝑎𝑡𝑒𝑟𝑛𝑎𝑙</m:t>
                    </m:r>
                    <m:r>
                      <a:rPr lang="en-US" sz="2300" b="0" i="1" smtClean="0">
                        <a:latin typeface="Cambria Math" panose="02040503050406030204" pitchFamily="18" charset="0"/>
                        <a:cs typeface="Vani" panose="020B0502040204020203" pitchFamily="34" charset="0"/>
                      </a:rPr>
                      <m:t> </m:t>
                    </m:r>
                    <m:r>
                      <a:rPr lang="en-US" sz="2300" b="0" i="1" smtClean="0">
                        <a:latin typeface="Cambria Math" panose="02040503050406030204" pitchFamily="18" charset="0"/>
                        <a:cs typeface="Vani" panose="020B0502040204020203" pitchFamily="34" charset="0"/>
                      </a:rPr>
                      <m:t>𝑇𝑤𝑖𝑛𝑠</m:t>
                    </m:r>
                    <m:r>
                      <a:rPr lang="en-US" sz="2300" b="0" i="1" smtClean="0">
                        <a:latin typeface="Cambria Math" panose="02040503050406030204" pitchFamily="18" charset="0"/>
                        <a:cs typeface="Vani" panose="020B0502040204020203" pitchFamily="34" charset="0"/>
                      </a:rPr>
                      <m:t>=</m:t>
                    </m:r>
                    <m:r>
                      <a:rPr lang="en-US" sz="2300" b="0" i="1" smtClean="0">
                        <a:latin typeface="Cambria Math" panose="02040503050406030204" pitchFamily="18" charset="0"/>
                        <a:cs typeface="Vani" panose="020B0502040204020203" pitchFamily="34" charset="0"/>
                      </a:rPr>
                      <m:t>𝐹𝑅𝑇𝑊</m:t>
                    </m:r>
                  </m:oMath>
                </a14:m>
                <a:endParaRPr lang="en-US" sz="2300" b="0" dirty="0" smtClean="0">
                  <a:latin typeface="Vani" panose="020B0502040204020203" pitchFamily="34" charset="0"/>
                  <a:cs typeface="Vani" panose="020B0502040204020203" pitchFamily="34" charset="0"/>
                </a:endParaRPr>
              </a:p>
              <a:p>
                <a:pPr>
                  <a:lnSpc>
                    <a:spcPct val="150000"/>
                  </a:lnSpc>
                </a:pPr>
                <a14:m>
                  <m:oMath xmlns:m="http://schemas.openxmlformats.org/officeDocument/2006/math">
                    <m:r>
                      <a:rPr lang="en-US" sz="2300" b="0" i="1" smtClean="0">
                        <a:latin typeface="Cambria Math" panose="02040503050406030204" pitchFamily="18" charset="0"/>
                        <a:cs typeface="Vani" panose="020B0502040204020203" pitchFamily="34" charset="0"/>
                      </a:rPr>
                      <m:t>𝑛</m:t>
                    </m:r>
                    <m:d>
                      <m:dPr>
                        <m:ctrlPr>
                          <a:rPr lang="en-US" sz="2300" b="0" i="1" smtClean="0">
                            <a:latin typeface="Cambria Math" panose="02040503050406030204" pitchFamily="18" charset="0"/>
                            <a:cs typeface="Vani" panose="020B0502040204020203" pitchFamily="34" charset="0"/>
                          </a:rPr>
                        </m:ctrlPr>
                      </m:dPr>
                      <m:e>
                        <m:r>
                          <a:rPr lang="en-US" sz="2300" b="0" i="1" smtClean="0">
                            <a:latin typeface="Cambria Math" panose="02040503050406030204" pitchFamily="18" charset="0"/>
                            <a:cs typeface="Vani" panose="020B0502040204020203" pitchFamily="34" charset="0"/>
                          </a:rPr>
                          <m:t>𝐼𝐷𝑇𝑊</m:t>
                        </m:r>
                      </m:e>
                    </m:d>
                    <m:r>
                      <a:rPr lang="en-US" sz="2300" b="0" i="1" smtClean="0">
                        <a:latin typeface="Cambria Math" panose="02040503050406030204" pitchFamily="18" charset="0"/>
                        <a:cs typeface="Vani" panose="020B0502040204020203" pitchFamily="34" charset="0"/>
                      </a:rPr>
                      <m:t>=6+6=12         </m:t>
                    </m:r>
                    <m:r>
                      <a:rPr lang="en-US" sz="2300" b="0" i="1" smtClean="0">
                        <a:latin typeface="Cambria Math" panose="02040503050406030204" pitchFamily="18" charset="0"/>
                        <a:cs typeface="Vani" panose="020B0502040204020203" pitchFamily="34" charset="0"/>
                      </a:rPr>
                      <m:t>𝑛</m:t>
                    </m:r>
                    <m:d>
                      <m:dPr>
                        <m:ctrlPr>
                          <a:rPr lang="en-US" sz="2300" b="0" i="1" smtClean="0">
                            <a:latin typeface="Cambria Math" panose="02040503050406030204" pitchFamily="18" charset="0"/>
                            <a:cs typeface="Vani" panose="020B0502040204020203" pitchFamily="34" charset="0"/>
                          </a:rPr>
                        </m:ctrlPr>
                      </m:dPr>
                      <m:e>
                        <m:r>
                          <a:rPr lang="en-US" sz="2300" b="0" i="1" smtClean="0">
                            <a:latin typeface="Cambria Math" panose="02040503050406030204" pitchFamily="18" charset="0"/>
                            <a:cs typeface="Vani" panose="020B0502040204020203" pitchFamily="34" charset="0"/>
                          </a:rPr>
                          <m:t>𝐹𝑅𝑇𝑊</m:t>
                        </m:r>
                      </m:e>
                    </m:d>
                    <m:r>
                      <a:rPr lang="en-US" sz="2300" b="0" i="1" smtClean="0">
                        <a:latin typeface="Cambria Math" panose="02040503050406030204" pitchFamily="18" charset="0"/>
                        <a:cs typeface="Vani" panose="020B0502040204020203" pitchFamily="34" charset="0"/>
                      </a:rPr>
                      <m:t>=7+7+7+7=28         </m:t>
                    </m:r>
                    <m:r>
                      <a:rPr lang="en-US" sz="2300" b="0" i="1" smtClean="0">
                        <a:latin typeface="Cambria Math" panose="02040503050406030204" pitchFamily="18" charset="0"/>
                        <a:cs typeface="Vani" panose="020B0502040204020203" pitchFamily="34" charset="0"/>
                      </a:rPr>
                      <m:t>𝑛</m:t>
                    </m:r>
                    <m:d>
                      <m:dPr>
                        <m:ctrlPr>
                          <a:rPr lang="en-US" sz="2300" b="0" i="1" smtClean="0">
                            <a:latin typeface="Cambria Math" panose="02040503050406030204" pitchFamily="18" charset="0"/>
                            <a:cs typeface="Vani" panose="020B0502040204020203" pitchFamily="34" charset="0"/>
                          </a:rPr>
                        </m:ctrlPr>
                      </m:dPr>
                      <m:e>
                        <m:r>
                          <a:rPr lang="en-US" sz="2300" b="0" i="1" smtClean="0">
                            <a:latin typeface="Cambria Math" panose="02040503050406030204" pitchFamily="18" charset="0"/>
                            <a:cs typeface="Vani" panose="020B0502040204020203" pitchFamily="34" charset="0"/>
                          </a:rPr>
                          <m:t>𝑆</m:t>
                        </m:r>
                      </m:e>
                    </m:d>
                    <m:r>
                      <a:rPr lang="en-US" sz="2300" b="0" i="1" smtClean="0">
                        <a:latin typeface="Cambria Math" panose="02040503050406030204" pitchFamily="18" charset="0"/>
                        <a:cs typeface="Vani" panose="020B0502040204020203" pitchFamily="34" charset="0"/>
                      </a:rPr>
                      <m:t>=12+28=40</m:t>
                    </m:r>
                  </m:oMath>
                </a14:m>
                <a:endParaRPr lang="en-US" sz="2300" b="0" dirty="0" smtClean="0">
                  <a:latin typeface="Vani" panose="020B0502040204020203" pitchFamily="34" charset="0"/>
                  <a:cs typeface="Vani" panose="020B0502040204020203" pitchFamily="34" charset="0"/>
                </a:endParaRPr>
              </a:p>
              <a:p>
                <a:pPr>
                  <a:lnSpc>
                    <a:spcPct val="150000"/>
                  </a:lnSpc>
                </a:pPr>
                <a:r>
                  <a:rPr lang="en-US" sz="2500" dirty="0" smtClean="0">
                    <a:latin typeface="Vani" panose="020B0502040204020203" pitchFamily="34" charset="0"/>
                    <a:cs typeface="Vani" panose="020B0502040204020203" pitchFamily="34" charset="0"/>
                  </a:rPr>
                  <a:t>(a.)	</a:t>
                </a:r>
                <a14:m>
                  <m:oMath xmlns:m="http://schemas.openxmlformats.org/officeDocument/2006/math">
                    <m:r>
                      <a:rPr lang="en-US" sz="2500" b="0" i="1" smtClean="0">
                        <a:latin typeface="Cambria Math" panose="02040503050406030204" pitchFamily="18" charset="0"/>
                        <a:cs typeface="Vani" panose="020B0502040204020203" pitchFamily="34" charset="0"/>
                      </a:rPr>
                      <m:t>𝑃</m:t>
                    </m:r>
                    <m:d>
                      <m:dPr>
                        <m:ctrlPr>
                          <a:rPr lang="en-US" sz="2500" b="0" i="1" smtClean="0">
                            <a:latin typeface="Cambria Math" panose="02040503050406030204" pitchFamily="18" charset="0"/>
                            <a:cs typeface="Vani" panose="020B0502040204020203" pitchFamily="34" charset="0"/>
                          </a:rPr>
                        </m:ctrlPr>
                      </m:dPr>
                      <m:e>
                        <m:r>
                          <a:rPr lang="en-US" sz="2500" b="0" i="1" smtClean="0">
                            <a:latin typeface="Cambria Math" panose="02040503050406030204" pitchFamily="18" charset="0"/>
                            <a:cs typeface="Vani" panose="020B0502040204020203" pitchFamily="34" charset="0"/>
                          </a:rPr>
                          <m:t>𝐼𝐷𝑇𝑊</m:t>
                        </m:r>
                      </m:e>
                    </m:d>
                    <m:r>
                      <a:rPr lang="en-US" sz="2500" b="0" i="1" smtClean="0">
                        <a:latin typeface="Cambria Math" panose="02040503050406030204" pitchFamily="18" charset="0"/>
                        <a:cs typeface="Vani" panose="020B0502040204020203" pitchFamily="34" charset="0"/>
                      </a:rPr>
                      <m:t>=</m:t>
                    </m:r>
                    <m:f>
                      <m:fPr>
                        <m:ctrlPr>
                          <a:rPr lang="en-US" sz="2500" b="0" i="1" smtClean="0">
                            <a:latin typeface="Cambria Math" panose="02040503050406030204" pitchFamily="18" charset="0"/>
                            <a:cs typeface="Vani" panose="020B0502040204020203" pitchFamily="34" charset="0"/>
                          </a:rPr>
                        </m:ctrlPr>
                      </m:fPr>
                      <m:num>
                        <m:r>
                          <a:rPr lang="en-US" sz="2500" b="0" i="1" smtClean="0">
                            <a:latin typeface="Cambria Math" panose="02040503050406030204" pitchFamily="18" charset="0"/>
                            <a:cs typeface="Vani" panose="020B0502040204020203" pitchFamily="34" charset="0"/>
                          </a:rPr>
                          <m:t>𝑛</m:t>
                        </m:r>
                        <m:d>
                          <m:dPr>
                            <m:ctrlPr>
                              <a:rPr lang="en-US" sz="2500" b="0" i="1" smtClean="0">
                                <a:latin typeface="Cambria Math" panose="02040503050406030204" pitchFamily="18" charset="0"/>
                                <a:cs typeface="Vani" panose="020B0502040204020203" pitchFamily="34" charset="0"/>
                              </a:rPr>
                            </m:ctrlPr>
                          </m:dPr>
                          <m:e>
                            <m:r>
                              <a:rPr lang="en-US" sz="2500" b="0" i="1" smtClean="0">
                                <a:latin typeface="Cambria Math" panose="02040503050406030204" pitchFamily="18" charset="0"/>
                                <a:cs typeface="Vani" panose="020B0502040204020203" pitchFamily="34" charset="0"/>
                              </a:rPr>
                              <m:t>𝐼𝐷𝑇𝑊</m:t>
                            </m:r>
                          </m:e>
                        </m:d>
                      </m:num>
                      <m:den>
                        <m:r>
                          <a:rPr lang="en-US" sz="2500" b="0" i="1" smtClean="0">
                            <a:latin typeface="Cambria Math" panose="02040503050406030204" pitchFamily="18" charset="0"/>
                            <a:cs typeface="Vani" panose="020B0502040204020203" pitchFamily="34" charset="0"/>
                          </a:rPr>
                          <m:t>𝑛</m:t>
                        </m:r>
                        <m:r>
                          <a:rPr lang="en-US" sz="2500" b="0" i="1" smtClean="0">
                            <a:latin typeface="Cambria Math" panose="02040503050406030204" pitchFamily="18" charset="0"/>
                            <a:cs typeface="Vani" panose="020B0502040204020203" pitchFamily="34" charset="0"/>
                          </a:rPr>
                          <m:t>(</m:t>
                        </m:r>
                        <m:r>
                          <a:rPr lang="en-US" sz="2500" b="0" i="1" smtClean="0">
                            <a:latin typeface="Cambria Math" panose="02040503050406030204" pitchFamily="18" charset="0"/>
                            <a:cs typeface="Vani" panose="020B0502040204020203" pitchFamily="34" charset="0"/>
                          </a:rPr>
                          <m:t>𝑆</m:t>
                        </m:r>
                        <m:r>
                          <a:rPr lang="en-US" sz="2500" b="0" i="1" smtClean="0">
                            <a:latin typeface="Cambria Math" panose="02040503050406030204" pitchFamily="18" charset="0"/>
                            <a:cs typeface="Vani" panose="020B0502040204020203" pitchFamily="34" charset="0"/>
                          </a:rPr>
                          <m:t>)</m:t>
                        </m:r>
                      </m:den>
                    </m:f>
                    <m:r>
                      <a:rPr lang="en-US" sz="2500" b="0" i="1" smtClean="0">
                        <a:latin typeface="Cambria Math" panose="02040503050406030204" pitchFamily="18" charset="0"/>
                        <a:cs typeface="Vani" panose="020B0502040204020203" pitchFamily="34" charset="0"/>
                      </a:rPr>
                      <m:t>=</m:t>
                    </m:r>
                    <m:f>
                      <m:fPr>
                        <m:ctrlPr>
                          <a:rPr lang="en-US" sz="2500" b="0" i="1" smtClean="0">
                            <a:latin typeface="Cambria Math" panose="02040503050406030204" pitchFamily="18" charset="0"/>
                            <a:cs typeface="Vani" panose="020B0502040204020203" pitchFamily="34" charset="0"/>
                          </a:rPr>
                        </m:ctrlPr>
                      </m:fPr>
                      <m:num>
                        <m:r>
                          <a:rPr lang="en-US" sz="2500" b="0" i="1" smtClean="0">
                            <a:latin typeface="Cambria Math" panose="02040503050406030204" pitchFamily="18" charset="0"/>
                            <a:cs typeface="Vani" panose="020B0502040204020203" pitchFamily="34" charset="0"/>
                          </a:rPr>
                          <m:t>12</m:t>
                        </m:r>
                      </m:num>
                      <m:den>
                        <m:r>
                          <a:rPr lang="en-US" sz="2500" b="0" i="1" smtClean="0">
                            <a:latin typeface="Cambria Math" panose="02040503050406030204" pitchFamily="18" charset="0"/>
                            <a:cs typeface="Vani" panose="020B0502040204020203" pitchFamily="34" charset="0"/>
                          </a:rPr>
                          <m:t>40</m:t>
                        </m:r>
                      </m:den>
                    </m:f>
                    <m:r>
                      <a:rPr lang="en-US" sz="2500" b="0" i="1" smtClean="0">
                        <a:latin typeface="Cambria Math" panose="02040503050406030204" pitchFamily="18" charset="0"/>
                        <a:cs typeface="Vani" panose="020B0502040204020203" pitchFamily="34" charset="0"/>
                      </a:rPr>
                      <m:t>=</m:t>
                    </m:r>
                    <m:f>
                      <m:fPr>
                        <m:ctrlPr>
                          <a:rPr lang="en-US" sz="2500" b="0" i="1" smtClean="0">
                            <a:solidFill>
                              <a:srgbClr val="FF0000"/>
                            </a:solidFill>
                            <a:latin typeface="Cambria Math" panose="02040503050406030204" pitchFamily="18" charset="0"/>
                            <a:cs typeface="Vani" panose="020B0502040204020203" pitchFamily="34" charset="0"/>
                          </a:rPr>
                        </m:ctrlPr>
                      </m:fPr>
                      <m:num>
                        <m:r>
                          <a:rPr lang="en-US" sz="2500" b="0" i="1" smtClean="0">
                            <a:solidFill>
                              <a:srgbClr val="FF0000"/>
                            </a:solidFill>
                            <a:latin typeface="Cambria Math" panose="02040503050406030204" pitchFamily="18" charset="0"/>
                            <a:cs typeface="Vani" panose="020B0502040204020203" pitchFamily="34" charset="0"/>
                          </a:rPr>
                          <m:t>3</m:t>
                        </m:r>
                      </m:num>
                      <m:den>
                        <m:r>
                          <a:rPr lang="en-US" sz="2500" b="0" i="1" smtClean="0">
                            <a:solidFill>
                              <a:srgbClr val="FF0000"/>
                            </a:solidFill>
                            <a:latin typeface="Cambria Math" panose="02040503050406030204" pitchFamily="18" charset="0"/>
                            <a:cs typeface="Vani" panose="020B0502040204020203" pitchFamily="34" charset="0"/>
                          </a:rPr>
                          <m:t>10</m:t>
                        </m:r>
                      </m:den>
                    </m:f>
                  </m:oMath>
                </a14:m>
                <a:endParaRPr lang="en-US" sz="2500" b="0" dirty="0" smtClean="0">
                  <a:latin typeface="Vani" panose="020B0502040204020203" pitchFamily="34" charset="0"/>
                  <a:cs typeface="Vani" panose="020B0502040204020203" pitchFamily="34" charset="0"/>
                </a:endParaRPr>
              </a:p>
              <a:p>
                <a:pPr>
                  <a:lnSpc>
                    <a:spcPct val="150000"/>
                  </a:lnSpc>
                </a:pPr>
                <a:r>
                  <a:rPr lang="en-US" sz="2300" dirty="0" smtClean="0">
                    <a:latin typeface="Vani" panose="020B0502040204020203" pitchFamily="34" charset="0"/>
                    <a:cs typeface="Vani" panose="020B0502040204020203" pitchFamily="34" charset="0"/>
                  </a:rPr>
                  <a:t>(b.)	Determine the probability that she will have identical twins given that the twins are boys.</a:t>
                </a:r>
              </a:p>
              <a:p>
                <a:pPr>
                  <a:lnSpc>
                    <a:spcPct val="150000"/>
                  </a:lnSpc>
                </a:pPr>
                <a14:m>
                  <m:oMath xmlns:m="http://schemas.openxmlformats.org/officeDocument/2006/math">
                    <m:r>
                      <a:rPr lang="en-US" sz="2500" b="0" i="1" smtClean="0">
                        <a:latin typeface="Cambria Math" panose="02040503050406030204" pitchFamily="18" charset="0"/>
                        <a:cs typeface="Vani" panose="020B0502040204020203" pitchFamily="34" charset="0"/>
                      </a:rPr>
                      <m:t>𝑃</m:t>
                    </m:r>
                    <m:d>
                      <m:dPr>
                        <m:endChr m:val="|"/>
                        <m:ctrlPr>
                          <a:rPr lang="en-US" sz="2500" b="0" i="1" smtClean="0">
                            <a:latin typeface="Cambria Math" panose="02040503050406030204" pitchFamily="18" charset="0"/>
                            <a:cs typeface="Vani" panose="020B0502040204020203" pitchFamily="34" charset="0"/>
                          </a:rPr>
                        </m:ctrlPr>
                      </m:dPr>
                      <m:e>
                        <m:r>
                          <a:rPr lang="en-US" sz="2500" b="0" i="1" smtClean="0">
                            <a:latin typeface="Cambria Math" panose="02040503050406030204" pitchFamily="18" charset="0"/>
                            <a:cs typeface="Vani" panose="020B0502040204020203" pitchFamily="34" charset="0"/>
                          </a:rPr>
                          <m:t>𝐼𝐷𝑇𝑊</m:t>
                        </m:r>
                        <m:r>
                          <a:rPr lang="en-US" sz="2500" b="0" i="1" smtClean="0">
                            <a:latin typeface="Cambria Math" panose="02040503050406030204" pitchFamily="18" charset="0"/>
                            <a:cs typeface="Vani" panose="020B0502040204020203" pitchFamily="34" charset="0"/>
                          </a:rPr>
                          <m:t> </m:t>
                        </m:r>
                      </m:e>
                    </m:d>
                    <m:r>
                      <a:rPr lang="en-US" sz="2500" b="0" i="1" smtClean="0">
                        <a:latin typeface="Cambria Math" panose="02040503050406030204" pitchFamily="18" charset="0"/>
                        <a:cs typeface="Vani" panose="020B0502040204020203" pitchFamily="34" charset="0"/>
                      </a:rPr>
                      <m:t> </m:t>
                    </m:r>
                    <m:r>
                      <a:rPr lang="en-US" sz="2500" b="0" i="1" smtClean="0">
                        <a:latin typeface="Cambria Math" panose="02040503050406030204" pitchFamily="18" charset="0"/>
                        <a:cs typeface="Vani" panose="020B0502040204020203" pitchFamily="34" charset="0"/>
                      </a:rPr>
                      <m:t>𝑏𝑜𝑦</m:t>
                    </m:r>
                    <m:r>
                      <a:rPr lang="en-US" sz="2500" b="0" i="1" smtClean="0">
                        <a:latin typeface="Cambria Math" panose="02040503050406030204" pitchFamily="18" charset="0"/>
                        <a:cs typeface="Vani" panose="020B0502040204020203" pitchFamily="34" charset="0"/>
                      </a:rPr>
                      <m:t>/</m:t>
                    </m:r>
                    <m:r>
                      <a:rPr lang="en-US" sz="2500" b="0" i="1" smtClean="0">
                        <a:latin typeface="Cambria Math" panose="02040503050406030204" pitchFamily="18" charset="0"/>
                        <a:cs typeface="Vani" panose="020B0502040204020203" pitchFamily="34" charset="0"/>
                      </a:rPr>
                      <m:t>𝑏𝑜𝑦</m:t>
                    </m:r>
                    <m:r>
                      <a:rPr lang="en-US" sz="2500" b="0" i="1" smtClean="0">
                        <a:latin typeface="Cambria Math" panose="02040503050406030204" pitchFamily="18" charset="0"/>
                        <a:cs typeface="Vani" panose="020B0502040204020203" pitchFamily="34" charset="0"/>
                      </a:rPr>
                      <m:t>)=</m:t>
                    </m:r>
                    <m:f>
                      <m:fPr>
                        <m:ctrlPr>
                          <a:rPr lang="en-US" sz="2500" b="0" i="1" smtClean="0">
                            <a:latin typeface="Cambria Math" panose="02040503050406030204" pitchFamily="18" charset="0"/>
                            <a:cs typeface="Vani" panose="020B0502040204020203" pitchFamily="34" charset="0"/>
                          </a:rPr>
                        </m:ctrlPr>
                      </m:fPr>
                      <m:num>
                        <m:r>
                          <a:rPr lang="en-US" sz="2500" i="1">
                            <a:latin typeface="Cambria Math" panose="02040503050406030204" pitchFamily="18" charset="0"/>
                            <a:cs typeface="Vani" panose="020B0502040204020203" pitchFamily="34" charset="0"/>
                          </a:rPr>
                          <m:t>𝑛</m:t>
                        </m:r>
                        <m:d>
                          <m:dPr>
                            <m:ctrlPr>
                              <a:rPr lang="en-US" sz="2500" i="1">
                                <a:latin typeface="Cambria Math" panose="02040503050406030204" pitchFamily="18" charset="0"/>
                                <a:cs typeface="Vani" panose="020B0502040204020203" pitchFamily="34" charset="0"/>
                              </a:rPr>
                            </m:ctrlPr>
                          </m:dPr>
                          <m:e>
                            <m:r>
                              <a:rPr lang="en-US" sz="2500" i="1">
                                <a:latin typeface="Cambria Math" panose="02040503050406030204" pitchFamily="18" charset="0"/>
                                <a:cs typeface="Vani" panose="020B0502040204020203" pitchFamily="34" charset="0"/>
                              </a:rPr>
                              <m:t>𝐼𝐷𝑇𝑊</m:t>
                            </m:r>
                            <m:r>
                              <a:rPr lang="en-US" sz="2500" b="0" i="1" smtClean="0">
                                <a:latin typeface="Cambria Math" panose="02040503050406030204" pitchFamily="18" charset="0"/>
                                <a:cs typeface="Vani" panose="020B0502040204020203" pitchFamily="34" charset="0"/>
                              </a:rPr>
                              <m:t> </m:t>
                            </m:r>
                            <m:r>
                              <a:rPr lang="en-US" sz="2500" i="1">
                                <a:latin typeface="Cambria Math" panose="02040503050406030204" pitchFamily="18" charset="0"/>
                                <a:ea typeface="Cambria Math" panose="02040503050406030204" pitchFamily="18" charset="0"/>
                                <a:cs typeface="Vani" panose="020B0502040204020203" pitchFamily="34" charset="0"/>
                              </a:rPr>
                              <m:t>∩</m:t>
                            </m:r>
                            <m:r>
                              <a:rPr lang="en-US" sz="2500" b="0" i="1" smtClean="0">
                                <a:latin typeface="Cambria Math" panose="02040503050406030204" pitchFamily="18" charset="0"/>
                                <a:ea typeface="Cambria Math" panose="02040503050406030204" pitchFamily="18" charset="0"/>
                                <a:cs typeface="Vani" panose="020B0502040204020203" pitchFamily="34" charset="0"/>
                              </a:rPr>
                              <m:t> </m:t>
                            </m:r>
                            <m:r>
                              <a:rPr lang="en-US" sz="2500" b="0" i="1" smtClean="0">
                                <a:latin typeface="Cambria Math" panose="02040503050406030204" pitchFamily="18" charset="0"/>
                                <a:ea typeface="Cambria Math" panose="02040503050406030204" pitchFamily="18" charset="0"/>
                                <a:cs typeface="Vani" panose="020B0502040204020203" pitchFamily="34" charset="0"/>
                              </a:rPr>
                              <m:t>𝑏𝑜𝑦</m:t>
                            </m:r>
                            <m:r>
                              <a:rPr lang="en-US" sz="2500" b="0" i="1" smtClean="0">
                                <a:latin typeface="Cambria Math" panose="02040503050406030204" pitchFamily="18" charset="0"/>
                                <a:ea typeface="Cambria Math" panose="02040503050406030204" pitchFamily="18" charset="0"/>
                                <a:cs typeface="Vani" panose="020B0502040204020203" pitchFamily="34" charset="0"/>
                              </a:rPr>
                              <m:t>−</m:t>
                            </m:r>
                            <m:r>
                              <a:rPr lang="en-US" sz="2500" b="0" i="1" smtClean="0">
                                <a:latin typeface="Cambria Math" panose="02040503050406030204" pitchFamily="18" charset="0"/>
                                <a:ea typeface="Cambria Math" panose="02040503050406030204" pitchFamily="18" charset="0"/>
                                <a:cs typeface="Vani" panose="020B0502040204020203" pitchFamily="34" charset="0"/>
                              </a:rPr>
                              <m:t>𝑏𝑜𝑦</m:t>
                            </m:r>
                          </m:e>
                        </m:d>
                      </m:num>
                      <m:den>
                        <m:r>
                          <a:rPr lang="en-US" sz="2500" b="0" i="1" smtClean="0">
                            <a:latin typeface="Cambria Math" panose="02040503050406030204" pitchFamily="18" charset="0"/>
                            <a:cs typeface="Vani" panose="020B0502040204020203" pitchFamily="34" charset="0"/>
                          </a:rPr>
                          <m:t>𝑛</m:t>
                        </m:r>
                        <m:d>
                          <m:dPr>
                            <m:ctrlPr>
                              <a:rPr lang="en-US" sz="2500" b="0" i="1" smtClean="0">
                                <a:latin typeface="Cambria Math" panose="02040503050406030204" pitchFamily="18" charset="0"/>
                                <a:cs typeface="Vani" panose="020B0502040204020203" pitchFamily="34" charset="0"/>
                              </a:rPr>
                            </m:ctrlPr>
                          </m:dPr>
                          <m:e>
                            <m:r>
                              <a:rPr lang="en-US" sz="2500" b="0" i="1" smtClean="0">
                                <a:latin typeface="Cambria Math" panose="02040503050406030204" pitchFamily="18" charset="0"/>
                                <a:cs typeface="Vani" panose="020B0502040204020203" pitchFamily="34" charset="0"/>
                              </a:rPr>
                              <m:t>𝑏𝑜𝑦</m:t>
                            </m:r>
                            <m:r>
                              <a:rPr lang="en-US" sz="2500" b="0" i="1" smtClean="0">
                                <a:latin typeface="Cambria Math" panose="02040503050406030204" pitchFamily="18" charset="0"/>
                                <a:cs typeface="Vani" panose="020B0502040204020203" pitchFamily="34" charset="0"/>
                              </a:rPr>
                              <m:t>−</m:t>
                            </m:r>
                            <m:r>
                              <a:rPr lang="en-US" sz="2500" b="0" i="1" smtClean="0">
                                <a:latin typeface="Cambria Math" panose="02040503050406030204" pitchFamily="18" charset="0"/>
                                <a:cs typeface="Vani" panose="020B0502040204020203" pitchFamily="34" charset="0"/>
                              </a:rPr>
                              <m:t>𝑏𝑜𝑦</m:t>
                            </m:r>
                          </m:e>
                        </m:d>
                      </m:den>
                    </m:f>
                    <m:r>
                      <a:rPr lang="en-US" sz="2500" b="0" i="1" smtClean="0">
                        <a:latin typeface="Cambria Math" panose="02040503050406030204" pitchFamily="18" charset="0"/>
                        <a:cs typeface="Vani" panose="020B0502040204020203" pitchFamily="34" charset="0"/>
                      </a:rPr>
                      <m:t>=</m:t>
                    </m:r>
                    <m:f>
                      <m:fPr>
                        <m:ctrlPr>
                          <a:rPr lang="en-US" sz="2500" b="0" i="1" smtClean="0">
                            <a:latin typeface="Cambria Math" panose="02040503050406030204" pitchFamily="18" charset="0"/>
                            <a:cs typeface="Vani" panose="020B0502040204020203" pitchFamily="34" charset="0"/>
                          </a:rPr>
                        </m:ctrlPr>
                      </m:fPr>
                      <m:num>
                        <m:r>
                          <a:rPr lang="en-US" sz="2500" b="0" i="1" smtClean="0">
                            <a:latin typeface="Cambria Math" panose="02040503050406030204" pitchFamily="18" charset="0"/>
                            <a:cs typeface="Vani" panose="020B0502040204020203" pitchFamily="34" charset="0"/>
                          </a:rPr>
                          <m:t>6</m:t>
                        </m:r>
                      </m:num>
                      <m:den>
                        <m:r>
                          <a:rPr lang="en-US" sz="2500" b="0" i="1" smtClean="0">
                            <a:latin typeface="Cambria Math" panose="02040503050406030204" pitchFamily="18" charset="0"/>
                            <a:cs typeface="Vani" panose="020B0502040204020203" pitchFamily="34" charset="0"/>
                          </a:rPr>
                          <m:t>6+7</m:t>
                        </m:r>
                      </m:den>
                    </m:f>
                    <m:r>
                      <a:rPr lang="en-US" sz="2500" b="0" i="1" smtClean="0">
                        <a:latin typeface="Cambria Math" panose="02040503050406030204" pitchFamily="18" charset="0"/>
                        <a:cs typeface="Vani" panose="020B0502040204020203" pitchFamily="34" charset="0"/>
                      </a:rPr>
                      <m:t>=</m:t>
                    </m:r>
                    <m:f>
                      <m:fPr>
                        <m:ctrlPr>
                          <a:rPr lang="en-US" sz="2500" b="0" i="1" smtClean="0">
                            <a:solidFill>
                              <a:srgbClr val="FF0000"/>
                            </a:solidFill>
                            <a:latin typeface="Cambria Math" panose="02040503050406030204" pitchFamily="18" charset="0"/>
                            <a:cs typeface="Vani" panose="020B0502040204020203" pitchFamily="34" charset="0"/>
                          </a:rPr>
                        </m:ctrlPr>
                      </m:fPr>
                      <m:num>
                        <m:r>
                          <a:rPr lang="en-US" sz="2500" b="0" i="1" smtClean="0">
                            <a:solidFill>
                              <a:srgbClr val="FF0000"/>
                            </a:solidFill>
                            <a:latin typeface="Cambria Math" panose="02040503050406030204" pitchFamily="18" charset="0"/>
                            <a:cs typeface="Vani" panose="020B0502040204020203" pitchFamily="34" charset="0"/>
                          </a:rPr>
                          <m:t>6</m:t>
                        </m:r>
                      </m:num>
                      <m:den>
                        <m:r>
                          <a:rPr lang="en-US" sz="2500" b="0" i="1" smtClean="0">
                            <a:solidFill>
                              <a:srgbClr val="FF0000"/>
                            </a:solidFill>
                            <a:latin typeface="Cambria Math" panose="02040503050406030204" pitchFamily="18" charset="0"/>
                            <a:cs typeface="Vani" panose="020B0502040204020203" pitchFamily="34" charset="0"/>
                          </a:rPr>
                          <m:t>13</m:t>
                        </m:r>
                      </m:den>
                    </m:f>
                  </m:oMath>
                </a14:m>
                <a:r>
                  <a:rPr lang="en-US" sz="2300" dirty="0" smtClean="0">
                    <a:latin typeface="Vani" panose="020B0502040204020203" pitchFamily="34" charset="0"/>
                    <a:cs typeface="Vani" panose="020B0502040204020203" pitchFamily="34" charset="0"/>
                  </a:rPr>
                  <a:t>	</a:t>
                </a:r>
                <a:endParaRPr lang="en-US" sz="2300" dirty="0">
                  <a:latin typeface="Vani" panose="020B0502040204020203" pitchFamily="34" charset="0"/>
                  <a:cs typeface="Vani" panose="020B0502040204020203" pitchFamily="34" charset="0"/>
                </a:endParaRPr>
              </a:p>
              <a:p>
                <a:pPr>
                  <a:lnSpc>
                    <a:spcPct val="150000"/>
                  </a:lnSpc>
                </a:pPr>
                <a:endParaRPr lang="en-US" sz="2300" b="0" dirty="0" smtClean="0">
                  <a:latin typeface="Vani" panose="020B0502040204020203" pitchFamily="34" charset="0"/>
                  <a:cs typeface="Vani" panose="020B0502040204020203" pitchFamily="34" charset="0"/>
                </a:endParaRPr>
              </a:p>
            </p:txBody>
          </p:sp>
        </mc:Choice>
        <mc:Fallback xmlns="">
          <p:sp>
            <p:nvSpPr>
              <p:cNvPr id="14" name="Content Placeholder 13"/>
              <p:cNvSpPr>
                <a:spLocks noGrp="1" noRot="1" noChangeAspect="1" noMove="1" noResize="1" noEditPoints="1" noAdjustHandles="1" noChangeArrowheads="1" noChangeShapeType="1" noTextEdit="1"/>
              </p:cNvSpPr>
              <p:nvPr>
                <p:ph idx="1"/>
              </p:nvPr>
            </p:nvSpPr>
            <p:spPr>
              <a:xfrm>
                <a:off x="0" y="1738184"/>
                <a:ext cx="12192000" cy="5119816"/>
              </a:xfrm>
              <a:blipFill rotWithShape="0">
                <a:blip r:embed="rId2"/>
                <a:stretch>
                  <a:fillRect l="-1450"/>
                </a:stretch>
              </a:blipFill>
            </p:spPr>
            <p:txBody>
              <a:bodyPr/>
              <a:lstStyle/>
              <a:p>
                <a:r>
                  <a:rPr lang="en-US">
                    <a:noFill/>
                  </a:rPr>
                  <a:t> </a:t>
                </a:r>
              </a:p>
            </p:txBody>
          </p:sp>
        </mc:Fallback>
      </mc:AlternateContent>
    </p:spTree>
    <p:extLst>
      <p:ext uri="{BB962C8B-B14F-4D97-AF65-F5344CB8AC3E}">
        <p14:creationId xmlns:p14="http://schemas.microsoft.com/office/powerpoint/2010/main" val="7320593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0" y="295562"/>
            <a:ext cx="12192000" cy="1008247"/>
          </a:xfrm>
        </p:spPr>
        <p:txBody>
          <a:bodyPr/>
          <a:lstStyle/>
          <a:p>
            <a:r>
              <a:rPr lang="en-US" dirty="0" smtClean="0"/>
              <a:t>Questions and Answers							</a:t>
            </a:r>
            <a:r>
              <a:rPr lang="en-US" dirty="0" smtClean="0"/>
              <a:t>15-3</a:t>
            </a:r>
            <a:r>
              <a:rPr lang="en-US" dirty="0" smtClean="0"/>
              <a:t>.</a:t>
            </a:r>
            <a:endParaRPr dirty="0"/>
          </a:p>
        </p:txBody>
      </p:sp>
      <mc:AlternateContent xmlns:mc="http://schemas.openxmlformats.org/markup-compatibility/2006" xmlns:a14="http://schemas.microsoft.com/office/drawing/2010/main">
        <mc:Choice Requires="a14">
          <p:sp>
            <p:nvSpPr>
              <p:cNvPr id="14" name="Content Placeholder 13"/>
              <p:cNvSpPr>
                <a:spLocks noGrp="1"/>
              </p:cNvSpPr>
              <p:nvPr>
                <p:ph idx="1"/>
              </p:nvPr>
            </p:nvSpPr>
            <p:spPr>
              <a:xfrm>
                <a:off x="0" y="1738184"/>
                <a:ext cx="12192000" cy="5119816"/>
              </a:xfrm>
            </p:spPr>
            <p:txBody>
              <a:bodyPr>
                <a:normAutofit/>
              </a:bodyPr>
              <a:lstStyle/>
              <a:p>
                <a:pPr>
                  <a:lnSpc>
                    <a:spcPct val="150000"/>
                  </a:lnSpc>
                </a:pPr>
                <a:r>
                  <a:rPr lang="en-US" sz="2300" b="0" dirty="0" smtClean="0">
                    <a:latin typeface="Vani" panose="020B0502040204020203" pitchFamily="34" charset="0"/>
                    <a:cs typeface="Vani" panose="020B0502040204020203" pitchFamily="34" charset="0"/>
                  </a:rPr>
                  <a:t>(c.)	The pregnant woman was told she would have </a:t>
                </a:r>
                <a:r>
                  <a:rPr lang="en-US" sz="2300" dirty="0" smtClean="0">
                    <a:latin typeface="Vani" panose="020B0502040204020203" pitchFamily="34" charset="0"/>
                    <a:cs typeface="Vani" panose="020B0502040204020203" pitchFamily="34" charset="0"/>
                  </a:rPr>
                  <a:t>fraternal twins. Determine the probability that she will have one child of each sex.</a:t>
                </a:r>
              </a:p>
              <a:p>
                <a:pPr>
                  <a:lnSpc>
                    <a:spcPct val="150000"/>
                  </a:lnSpc>
                </a:pPr>
                <a:r>
                  <a:rPr lang="en-US" sz="2300" dirty="0" smtClean="0">
                    <a:latin typeface="Vani" panose="020B0502040204020203" pitchFamily="34" charset="0"/>
                    <a:cs typeface="Vani" panose="020B0502040204020203" pitchFamily="34" charset="0"/>
                  </a:rPr>
                  <a:t>In other words, determine the probability that the pregnant woman will have twins of opposite sex given that they are fraternal twins. </a:t>
                </a:r>
              </a:p>
              <a:p>
                <a:pPr>
                  <a:lnSpc>
                    <a:spcPct val="150000"/>
                  </a:lnSpc>
                </a:pPr>
                <a:r>
                  <a:rPr lang="en-US" sz="2300" dirty="0" smtClean="0">
                    <a:latin typeface="Vani" panose="020B0502040204020203" pitchFamily="34" charset="0"/>
                    <a:cs typeface="Vani" panose="020B0502040204020203" pitchFamily="34" charset="0"/>
                  </a:rPr>
                  <a:t>Fraternal twins of opposite sex could be boy/girl or girl/boy</a:t>
                </a:r>
              </a:p>
              <a:p>
                <a:pPr>
                  <a:lnSpc>
                    <a:spcPct val="150000"/>
                  </a:lnSpc>
                </a:pPr>
                <a14:m>
                  <m:oMath xmlns:m="http://schemas.openxmlformats.org/officeDocument/2006/math">
                    <m:r>
                      <a:rPr lang="en-US" sz="2400" i="1">
                        <a:latin typeface="Cambria Math" panose="02040503050406030204" pitchFamily="18" charset="0"/>
                        <a:cs typeface="Vani" panose="020B0502040204020203" pitchFamily="34" charset="0"/>
                      </a:rPr>
                      <m:t>𝑃</m:t>
                    </m:r>
                    <m:d>
                      <m:dPr>
                        <m:ctrlPr>
                          <a:rPr lang="en-US" sz="2400" i="1">
                            <a:latin typeface="Cambria Math" panose="02040503050406030204" pitchFamily="18" charset="0"/>
                            <a:cs typeface="Vani" panose="020B0502040204020203" pitchFamily="34" charset="0"/>
                          </a:rPr>
                        </m:ctrlPr>
                      </m:dPr>
                      <m:e>
                        <m:r>
                          <a:rPr lang="en-US" sz="2400" b="0" i="1" smtClean="0">
                            <a:latin typeface="Cambria Math" panose="02040503050406030204" pitchFamily="18" charset="0"/>
                            <a:cs typeface="Vani" panose="020B0502040204020203" pitchFamily="34" charset="0"/>
                          </a:rPr>
                          <m:t>𝑡𝑤𝑖𝑛𝑠</m:t>
                        </m:r>
                        <m:r>
                          <a:rPr lang="en-US" sz="2400" b="0" i="1" smtClean="0">
                            <a:latin typeface="Cambria Math" panose="02040503050406030204" pitchFamily="18" charset="0"/>
                            <a:cs typeface="Vani" panose="020B0502040204020203" pitchFamily="34" charset="0"/>
                          </a:rPr>
                          <m:t> </m:t>
                        </m:r>
                        <m:r>
                          <a:rPr lang="en-US" sz="2400" b="0" i="1" smtClean="0">
                            <a:latin typeface="Cambria Math" panose="02040503050406030204" pitchFamily="18" charset="0"/>
                            <a:cs typeface="Vani" panose="020B0502040204020203" pitchFamily="34" charset="0"/>
                          </a:rPr>
                          <m:t>𝑜𝑓</m:t>
                        </m:r>
                        <m:r>
                          <a:rPr lang="en-US" sz="2400" b="0" i="1" smtClean="0">
                            <a:latin typeface="Cambria Math" panose="02040503050406030204" pitchFamily="18" charset="0"/>
                            <a:cs typeface="Vani" panose="020B0502040204020203" pitchFamily="34" charset="0"/>
                          </a:rPr>
                          <m:t> </m:t>
                        </m:r>
                        <m:r>
                          <a:rPr lang="en-US" sz="2400" b="0" i="1" smtClean="0">
                            <a:latin typeface="Cambria Math" panose="02040503050406030204" pitchFamily="18" charset="0"/>
                            <a:cs typeface="Vani" panose="020B0502040204020203" pitchFamily="34" charset="0"/>
                          </a:rPr>
                          <m:t>𝑜𝑝𝑝𝑜𝑠𝑖𝑡𝑒</m:t>
                        </m:r>
                        <m:r>
                          <a:rPr lang="en-US" sz="2400" b="0" i="1" smtClean="0">
                            <a:latin typeface="Cambria Math" panose="02040503050406030204" pitchFamily="18" charset="0"/>
                            <a:cs typeface="Vani" panose="020B0502040204020203" pitchFamily="34" charset="0"/>
                          </a:rPr>
                          <m:t> </m:t>
                        </m:r>
                        <m:r>
                          <a:rPr lang="en-US" sz="2400" b="0" i="1" smtClean="0">
                            <a:latin typeface="Cambria Math" panose="02040503050406030204" pitchFamily="18" charset="0"/>
                            <a:cs typeface="Vani" panose="020B0502040204020203" pitchFamily="34" charset="0"/>
                          </a:rPr>
                          <m:t>𝑠𝑒𝑥</m:t>
                        </m:r>
                        <m:r>
                          <a:rPr lang="en-US" sz="2400" b="0" i="1" smtClean="0">
                            <a:latin typeface="Cambria Math" panose="02040503050406030204" pitchFamily="18" charset="0"/>
                            <a:cs typeface="Vani" panose="020B0502040204020203" pitchFamily="34" charset="0"/>
                          </a:rPr>
                          <m:t> | </m:t>
                        </m:r>
                        <m:r>
                          <a:rPr lang="en-US" sz="2400" b="0" i="1" smtClean="0">
                            <a:latin typeface="Cambria Math" panose="02040503050406030204" pitchFamily="18" charset="0"/>
                            <a:cs typeface="Vani" panose="020B0502040204020203" pitchFamily="34" charset="0"/>
                          </a:rPr>
                          <m:t>𝐹𝑅𝑇𝑊</m:t>
                        </m:r>
                      </m:e>
                    </m:d>
                    <m:r>
                      <a:rPr lang="en-US" sz="2400" i="1">
                        <a:latin typeface="Cambria Math" panose="02040503050406030204" pitchFamily="18" charset="0"/>
                        <a:cs typeface="Vani" panose="020B0502040204020203" pitchFamily="34" charset="0"/>
                      </a:rPr>
                      <m:t>=</m:t>
                    </m:r>
                    <m:f>
                      <m:fPr>
                        <m:ctrlPr>
                          <a:rPr lang="en-US" sz="2400" i="1">
                            <a:latin typeface="Cambria Math" panose="02040503050406030204" pitchFamily="18" charset="0"/>
                            <a:cs typeface="Vani" panose="020B0502040204020203" pitchFamily="34" charset="0"/>
                          </a:rPr>
                        </m:ctrlPr>
                      </m:fPr>
                      <m:num>
                        <m:r>
                          <a:rPr lang="en-US" sz="2400" i="1">
                            <a:latin typeface="Cambria Math" panose="02040503050406030204" pitchFamily="18" charset="0"/>
                            <a:cs typeface="Vani" panose="020B0502040204020203" pitchFamily="34" charset="0"/>
                          </a:rPr>
                          <m:t>𝑛</m:t>
                        </m:r>
                        <m:d>
                          <m:dPr>
                            <m:ctrlPr>
                              <a:rPr lang="en-US" sz="2400" i="1">
                                <a:latin typeface="Cambria Math" panose="02040503050406030204" pitchFamily="18" charset="0"/>
                                <a:cs typeface="Vani" panose="020B0502040204020203" pitchFamily="34" charset="0"/>
                              </a:rPr>
                            </m:ctrlPr>
                          </m:dPr>
                          <m:e>
                            <m:r>
                              <a:rPr lang="en-US" sz="2400" b="0" i="1" smtClean="0">
                                <a:latin typeface="Cambria Math" panose="02040503050406030204" pitchFamily="18" charset="0"/>
                                <a:cs typeface="Vani" panose="020B0502040204020203" pitchFamily="34" charset="0"/>
                              </a:rPr>
                              <m:t>𝑡𝑤𝑖𝑛𝑠</m:t>
                            </m:r>
                            <m:r>
                              <a:rPr lang="en-US" sz="2400" b="0" i="1" smtClean="0">
                                <a:latin typeface="Cambria Math" panose="02040503050406030204" pitchFamily="18" charset="0"/>
                                <a:cs typeface="Vani" panose="020B0502040204020203" pitchFamily="34" charset="0"/>
                              </a:rPr>
                              <m:t> </m:t>
                            </m:r>
                            <m:r>
                              <a:rPr lang="en-US" sz="2400" b="0" i="1" smtClean="0">
                                <a:latin typeface="Cambria Math" panose="02040503050406030204" pitchFamily="18" charset="0"/>
                                <a:cs typeface="Vani" panose="020B0502040204020203" pitchFamily="34" charset="0"/>
                              </a:rPr>
                              <m:t>𝑜𝑓</m:t>
                            </m:r>
                            <m:r>
                              <a:rPr lang="en-US" sz="2400" b="0" i="1" smtClean="0">
                                <a:latin typeface="Cambria Math" panose="02040503050406030204" pitchFamily="18" charset="0"/>
                                <a:cs typeface="Vani" panose="020B0502040204020203" pitchFamily="34" charset="0"/>
                              </a:rPr>
                              <m:t> </m:t>
                            </m:r>
                            <m:r>
                              <a:rPr lang="en-US" sz="2400" b="0" i="1" smtClean="0">
                                <a:latin typeface="Cambria Math" panose="02040503050406030204" pitchFamily="18" charset="0"/>
                                <a:cs typeface="Vani" panose="020B0502040204020203" pitchFamily="34" charset="0"/>
                              </a:rPr>
                              <m:t>𝑜𝑝𝑝𝑜𝑠𝑖𝑡𝑒</m:t>
                            </m:r>
                            <m:r>
                              <a:rPr lang="en-US" sz="2400" b="0" i="1" smtClean="0">
                                <a:latin typeface="Cambria Math" panose="02040503050406030204" pitchFamily="18" charset="0"/>
                                <a:cs typeface="Vani" panose="020B0502040204020203" pitchFamily="34" charset="0"/>
                              </a:rPr>
                              <m:t> </m:t>
                            </m:r>
                            <m:r>
                              <a:rPr lang="en-US" sz="2400" b="0" i="1" smtClean="0">
                                <a:latin typeface="Cambria Math" panose="02040503050406030204" pitchFamily="18" charset="0"/>
                                <a:cs typeface="Vani" panose="020B0502040204020203" pitchFamily="34" charset="0"/>
                              </a:rPr>
                              <m:t>𝑠𝑒𝑥</m:t>
                            </m:r>
                            <m:r>
                              <a:rPr lang="en-US" sz="2400" b="0" i="1" smtClean="0">
                                <a:latin typeface="Cambria Math" panose="02040503050406030204" pitchFamily="18" charset="0"/>
                                <a:cs typeface="Vani" panose="020B0502040204020203" pitchFamily="34" charset="0"/>
                              </a:rPr>
                              <m:t> ∩ </m:t>
                            </m:r>
                            <m:r>
                              <a:rPr lang="en-US" sz="2400" b="0" i="1" smtClean="0">
                                <a:latin typeface="Cambria Math" panose="02040503050406030204" pitchFamily="18" charset="0"/>
                                <a:ea typeface="Cambria Math" panose="02040503050406030204" pitchFamily="18" charset="0"/>
                                <a:cs typeface="Vani" panose="020B0502040204020203" pitchFamily="34" charset="0"/>
                              </a:rPr>
                              <m:t>𝐹𝑅𝑇𝑊</m:t>
                            </m:r>
                          </m:e>
                        </m:d>
                      </m:num>
                      <m:den>
                        <m:r>
                          <a:rPr lang="en-US" sz="2400" i="1">
                            <a:latin typeface="Cambria Math" panose="02040503050406030204" pitchFamily="18" charset="0"/>
                            <a:cs typeface="Vani" panose="020B0502040204020203" pitchFamily="34" charset="0"/>
                          </a:rPr>
                          <m:t>𝑛</m:t>
                        </m:r>
                        <m:r>
                          <a:rPr lang="en-US" sz="2400" i="1">
                            <a:latin typeface="Cambria Math" panose="02040503050406030204" pitchFamily="18" charset="0"/>
                            <a:cs typeface="Vani" panose="020B0502040204020203" pitchFamily="34" charset="0"/>
                          </a:rPr>
                          <m:t>(</m:t>
                        </m:r>
                        <m:r>
                          <a:rPr lang="en-US" sz="2400" b="0" i="1" smtClean="0">
                            <a:latin typeface="Cambria Math" panose="02040503050406030204" pitchFamily="18" charset="0"/>
                            <a:cs typeface="Vani" panose="020B0502040204020203" pitchFamily="34" charset="0"/>
                          </a:rPr>
                          <m:t>𝐹𝑅𝑇𝑊</m:t>
                        </m:r>
                        <m:r>
                          <a:rPr lang="en-US" sz="2400" i="1">
                            <a:latin typeface="Cambria Math" panose="02040503050406030204" pitchFamily="18" charset="0"/>
                            <a:cs typeface="Vani" panose="020B0502040204020203" pitchFamily="34" charset="0"/>
                          </a:rPr>
                          <m:t>)</m:t>
                        </m:r>
                      </m:den>
                    </m:f>
                    <m:r>
                      <a:rPr lang="en-US" sz="2400" i="1">
                        <a:latin typeface="Cambria Math" panose="02040503050406030204" pitchFamily="18" charset="0"/>
                        <a:cs typeface="Vani" panose="020B0502040204020203" pitchFamily="34" charset="0"/>
                      </a:rPr>
                      <m:t>=</m:t>
                    </m:r>
                    <m:f>
                      <m:fPr>
                        <m:ctrlPr>
                          <a:rPr lang="en-US" sz="2400" i="1">
                            <a:latin typeface="Cambria Math" panose="02040503050406030204" pitchFamily="18" charset="0"/>
                            <a:cs typeface="Vani" panose="020B0502040204020203" pitchFamily="34" charset="0"/>
                          </a:rPr>
                        </m:ctrlPr>
                      </m:fPr>
                      <m:num>
                        <m:r>
                          <a:rPr lang="en-US" sz="2400" b="0" i="1" smtClean="0">
                            <a:latin typeface="Cambria Math" panose="02040503050406030204" pitchFamily="18" charset="0"/>
                            <a:cs typeface="Vani" panose="020B0502040204020203" pitchFamily="34" charset="0"/>
                          </a:rPr>
                          <m:t>7+7</m:t>
                        </m:r>
                      </m:num>
                      <m:den>
                        <m:r>
                          <a:rPr lang="en-US" sz="2400" b="0" i="1" smtClean="0">
                            <a:latin typeface="Cambria Math" panose="02040503050406030204" pitchFamily="18" charset="0"/>
                            <a:cs typeface="Vani" panose="020B0502040204020203" pitchFamily="34" charset="0"/>
                          </a:rPr>
                          <m:t>28</m:t>
                        </m:r>
                      </m:den>
                    </m:f>
                    <m:r>
                      <a:rPr lang="en-US" sz="2400" b="0" i="1" smtClean="0">
                        <a:latin typeface="Cambria Math" panose="02040503050406030204" pitchFamily="18" charset="0"/>
                        <a:cs typeface="Vani" panose="020B0502040204020203" pitchFamily="34" charset="0"/>
                      </a:rPr>
                      <m:t>=</m:t>
                    </m:r>
                    <m:f>
                      <m:fPr>
                        <m:ctrlPr>
                          <a:rPr lang="en-US" sz="2400" b="0" i="1" smtClean="0">
                            <a:latin typeface="Cambria Math" panose="02040503050406030204" pitchFamily="18" charset="0"/>
                            <a:cs typeface="Vani" panose="020B0502040204020203" pitchFamily="34" charset="0"/>
                          </a:rPr>
                        </m:ctrlPr>
                      </m:fPr>
                      <m:num>
                        <m:r>
                          <a:rPr lang="en-US" sz="2400" b="0" i="1" smtClean="0">
                            <a:latin typeface="Cambria Math" panose="02040503050406030204" pitchFamily="18" charset="0"/>
                            <a:cs typeface="Vani" panose="020B0502040204020203" pitchFamily="34" charset="0"/>
                          </a:rPr>
                          <m:t>14</m:t>
                        </m:r>
                      </m:num>
                      <m:den>
                        <m:r>
                          <a:rPr lang="en-US" sz="2400" b="0" i="1" smtClean="0">
                            <a:latin typeface="Cambria Math" panose="02040503050406030204" pitchFamily="18" charset="0"/>
                            <a:cs typeface="Vani" panose="020B0502040204020203" pitchFamily="34" charset="0"/>
                          </a:rPr>
                          <m:t>28</m:t>
                        </m:r>
                      </m:den>
                    </m:f>
                    <m:r>
                      <a:rPr lang="en-US" sz="2400" b="0" i="1" smtClean="0">
                        <a:latin typeface="Cambria Math" panose="02040503050406030204" pitchFamily="18" charset="0"/>
                        <a:cs typeface="Vani" panose="020B0502040204020203" pitchFamily="34" charset="0"/>
                      </a:rPr>
                      <m:t>=</m:t>
                    </m:r>
                    <m:f>
                      <m:fPr>
                        <m:ctrlPr>
                          <a:rPr lang="en-US" sz="2400" i="1">
                            <a:solidFill>
                              <a:srgbClr val="FF0000"/>
                            </a:solidFill>
                            <a:latin typeface="Cambria Math" panose="02040503050406030204" pitchFamily="18" charset="0"/>
                            <a:cs typeface="Vani" panose="020B0502040204020203" pitchFamily="34" charset="0"/>
                          </a:rPr>
                        </m:ctrlPr>
                      </m:fPr>
                      <m:num>
                        <m:r>
                          <a:rPr lang="en-US" sz="2400" b="0" i="1" smtClean="0">
                            <a:solidFill>
                              <a:srgbClr val="FF0000"/>
                            </a:solidFill>
                            <a:latin typeface="Cambria Math" panose="02040503050406030204" pitchFamily="18" charset="0"/>
                            <a:cs typeface="Vani" panose="020B0502040204020203" pitchFamily="34" charset="0"/>
                          </a:rPr>
                          <m:t>1</m:t>
                        </m:r>
                      </m:num>
                      <m:den>
                        <m:r>
                          <a:rPr lang="en-US" sz="2400" b="0" i="1" smtClean="0">
                            <a:solidFill>
                              <a:srgbClr val="FF0000"/>
                            </a:solidFill>
                            <a:latin typeface="Cambria Math" panose="02040503050406030204" pitchFamily="18" charset="0"/>
                            <a:cs typeface="Vani" panose="020B0502040204020203" pitchFamily="34" charset="0"/>
                          </a:rPr>
                          <m:t>2</m:t>
                        </m:r>
                      </m:den>
                    </m:f>
                  </m:oMath>
                </a14:m>
                <a:endParaRPr lang="en-US" sz="2300" b="0" i="1" dirty="0" smtClean="0">
                  <a:solidFill>
                    <a:srgbClr val="FF0000"/>
                  </a:solidFill>
                  <a:latin typeface="Cambria Math" panose="02040503050406030204" pitchFamily="18" charset="0"/>
                  <a:cs typeface="Vani" panose="020B0502040204020203" pitchFamily="34" charset="0"/>
                </a:endParaRPr>
              </a:p>
              <a:p>
                <a:pPr>
                  <a:lnSpc>
                    <a:spcPct val="150000"/>
                  </a:lnSpc>
                </a:pPr>
                <a:endParaRPr lang="en-US" sz="2500" dirty="0" smtClean="0">
                  <a:latin typeface="Vani" panose="020B0502040204020203" pitchFamily="34" charset="0"/>
                  <a:cs typeface="Vani" panose="020B0502040204020203" pitchFamily="34" charset="0"/>
                </a:endParaRPr>
              </a:p>
              <a:p>
                <a:pPr>
                  <a:lnSpc>
                    <a:spcPct val="150000"/>
                  </a:lnSpc>
                </a:pPr>
                <a:endParaRPr lang="en-US" sz="2500" b="0" dirty="0" smtClean="0">
                  <a:latin typeface="Vani" panose="020B0502040204020203" pitchFamily="34" charset="0"/>
                  <a:cs typeface="Vani" panose="020B0502040204020203" pitchFamily="34" charset="0"/>
                </a:endParaRPr>
              </a:p>
              <a:p>
                <a:pPr>
                  <a:lnSpc>
                    <a:spcPct val="150000"/>
                  </a:lnSpc>
                </a:pPr>
                <a:endParaRPr lang="en-US" sz="2500" dirty="0">
                  <a:latin typeface="Vani" panose="020B0502040204020203" pitchFamily="34" charset="0"/>
                  <a:cs typeface="Vani" panose="020B0502040204020203" pitchFamily="34" charset="0"/>
                </a:endParaRPr>
              </a:p>
              <a:p>
                <a:pPr>
                  <a:lnSpc>
                    <a:spcPct val="150000"/>
                  </a:lnSpc>
                </a:pPr>
                <a:endParaRPr lang="en-US" sz="2500" b="0" dirty="0" smtClean="0">
                  <a:latin typeface="Vani" panose="020B0502040204020203" pitchFamily="34" charset="0"/>
                  <a:cs typeface="Vani" panose="020B0502040204020203" pitchFamily="34" charset="0"/>
                </a:endParaRPr>
              </a:p>
            </p:txBody>
          </p:sp>
        </mc:Choice>
        <mc:Fallback xmlns="">
          <p:sp>
            <p:nvSpPr>
              <p:cNvPr id="14" name="Content Placeholder 13"/>
              <p:cNvSpPr>
                <a:spLocks noGrp="1" noRot="1" noChangeAspect="1" noMove="1" noResize="1" noEditPoints="1" noAdjustHandles="1" noChangeArrowheads="1" noChangeShapeType="1" noTextEdit="1"/>
              </p:cNvSpPr>
              <p:nvPr>
                <p:ph idx="1"/>
              </p:nvPr>
            </p:nvSpPr>
            <p:spPr>
              <a:xfrm>
                <a:off x="0" y="1738184"/>
                <a:ext cx="12192000" cy="5119816"/>
              </a:xfrm>
              <a:blipFill rotWithShape="0">
                <a:blip r:embed="rId2"/>
                <a:stretch>
                  <a:fillRect l="-1350"/>
                </a:stretch>
              </a:blipFill>
            </p:spPr>
            <p:txBody>
              <a:bodyPr/>
              <a:lstStyle/>
              <a:p>
                <a:r>
                  <a:rPr lang="en-US">
                    <a:noFill/>
                  </a:rPr>
                  <a:t> </a:t>
                </a:r>
              </a:p>
            </p:txBody>
          </p:sp>
        </mc:Fallback>
      </mc:AlternateContent>
    </p:spTree>
    <p:extLst>
      <p:ext uri="{BB962C8B-B14F-4D97-AF65-F5344CB8AC3E}">
        <p14:creationId xmlns:p14="http://schemas.microsoft.com/office/powerpoint/2010/main" val="36909877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0" y="295562"/>
            <a:ext cx="12192000" cy="1008247"/>
          </a:xfrm>
        </p:spPr>
        <p:txBody>
          <a:bodyPr/>
          <a:lstStyle/>
          <a:p>
            <a:r>
              <a:rPr lang="en-US" dirty="0" smtClean="0"/>
              <a:t>Questions and Answers							</a:t>
            </a:r>
            <a:r>
              <a:rPr lang="en-US" dirty="0" smtClean="0"/>
              <a:t>16-1</a:t>
            </a:r>
            <a:r>
              <a:rPr lang="en-US" dirty="0" smtClean="0"/>
              <a:t>.</a:t>
            </a:r>
            <a:endParaRPr dirty="0"/>
          </a:p>
        </p:txBody>
      </p:sp>
      <mc:AlternateContent xmlns:mc="http://schemas.openxmlformats.org/markup-compatibility/2006">
        <mc:Choice xmlns:a14="http://schemas.microsoft.com/office/drawing/2010/main" Requires="a14">
          <p:sp>
            <p:nvSpPr>
              <p:cNvPr id="14" name="Content Placeholder 13"/>
              <p:cNvSpPr>
                <a:spLocks noGrp="1"/>
              </p:cNvSpPr>
              <p:nvPr>
                <p:ph idx="1"/>
              </p:nvPr>
            </p:nvSpPr>
            <p:spPr>
              <a:xfrm>
                <a:off x="0" y="1738184"/>
                <a:ext cx="12192000" cy="5119816"/>
              </a:xfrm>
            </p:spPr>
            <p:txBody>
              <a:bodyPr>
                <a:normAutofit/>
              </a:bodyPr>
              <a:lstStyle/>
              <a:p>
                <a:pPr>
                  <a:lnSpc>
                    <a:spcPct val="150000"/>
                  </a:lnSpc>
                </a:pPr>
                <a:r>
                  <a:rPr lang="en-US" sz="2300" b="0" dirty="0" smtClean="0">
                    <a:solidFill>
                      <a:srgbClr val="7030A0"/>
                    </a:solidFill>
                    <a:latin typeface="Vani" panose="020B0502040204020203" pitchFamily="34" charset="0"/>
                    <a:cs typeface="Vani" panose="020B0502040204020203" pitchFamily="34" charset="0"/>
                  </a:rPr>
                  <a:t>(16.)</a:t>
                </a:r>
                <a:r>
                  <a:rPr lang="en-US" sz="2300" dirty="0">
                    <a:latin typeface="Vani" panose="020B0502040204020203" pitchFamily="34" charset="0"/>
                    <a:cs typeface="Vani" panose="020B0502040204020203" pitchFamily="34" charset="0"/>
                  </a:rPr>
                  <a:t>	</a:t>
                </a:r>
                <a:r>
                  <a:rPr lang="en-US" sz="2300" dirty="0" smtClean="0">
                    <a:latin typeface="Vani" panose="020B0502040204020203" pitchFamily="34" charset="0"/>
                    <a:cs typeface="Vani" panose="020B0502040204020203" pitchFamily="34" charset="0"/>
                  </a:rPr>
                  <a:t>There </a:t>
                </a:r>
                <a:r>
                  <a:rPr lang="en-US" sz="2300" dirty="0" smtClean="0">
                    <a:latin typeface="Vani" panose="020B0502040204020203" pitchFamily="34" charset="0"/>
                    <a:cs typeface="Vani" panose="020B0502040204020203" pitchFamily="34" charset="0"/>
                  </a:rPr>
                  <a:t>is an 8% rate of </a:t>
                </a:r>
                <a:r>
                  <a:rPr lang="en-US" sz="2300" dirty="0" smtClean="0">
                    <a:latin typeface="Vani" panose="020B0502040204020203" pitchFamily="34" charset="0"/>
                    <a:cs typeface="Vani" panose="020B0502040204020203" pitchFamily="34" charset="0"/>
                  </a:rPr>
                  <a:t>failure in flash drives produced by </a:t>
                </a:r>
                <a:r>
                  <a:rPr lang="en-US" sz="2300" dirty="0" err="1" smtClean="0">
                    <a:latin typeface="Vani" panose="020B0502040204020203" pitchFamily="34" charset="0"/>
                    <a:cs typeface="Vani" panose="020B0502040204020203" pitchFamily="34" charset="0"/>
                  </a:rPr>
                  <a:t>CompDrives</a:t>
                </a:r>
                <a:r>
                  <a:rPr lang="en-US" sz="2300" dirty="0" smtClean="0">
                    <a:latin typeface="Vani" panose="020B0502040204020203" pitchFamily="34" charset="0"/>
                    <a:cs typeface="Vani" panose="020B0502040204020203" pitchFamily="34" charset="0"/>
                  </a:rPr>
                  <a:t> Ltd. </a:t>
                </a:r>
                <a:endParaRPr lang="en-US" sz="2300" dirty="0" smtClean="0">
                  <a:latin typeface="Vani" panose="020B0502040204020203" pitchFamily="34" charset="0"/>
                  <a:cs typeface="Vani" panose="020B0502040204020203" pitchFamily="34" charset="0"/>
                </a:endParaRPr>
              </a:p>
              <a:p>
                <a:pPr>
                  <a:lnSpc>
                    <a:spcPct val="150000"/>
                  </a:lnSpc>
                </a:pPr>
                <a:r>
                  <a:rPr lang="en-US" sz="2300" dirty="0" smtClean="0">
                    <a:latin typeface="Vani" panose="020B0502040204020203"/>
                    <a:ea typeface="Cambria Math" panose="02040503050406030204" pitchFamily="18" charset="0"/>
                  </a:rPr>
                  <a:t>(</a:t>
                </a:r>
                <a:r>
                  <a:rPr lang="en-US" sz="2300" dirty="0" smtClean="0">
                    <a:latin typeface="Vani" panose="020B0502040204020203"/>
                    <a:ea typeface="Cambria Math" panose="02040503050406030204" pitchFamily="18" charset="0"/>
                  </a:rPr>
                  <a:t>a.)	</a:t>
                </a:r>
                <a:r>
                  <a:rPr lang="en-US" sz="2300" dirty="0" smtClean="0">
                    <a:latin typeface="Vani" panose="020B0502040204020203"/>
                    <a:ea typeface="Cambria Math" panose="02040503050406030204" pitchFamily="18" charset="0"/>
                  </a:rPr>
                  <a:t>Lucy stores all her computer data in a drive, and saves a copy on a second drive. Determine the probability that at least one of her drives would work. Round to 4 </a:t>
                </a:r>
                <a:r>
                  <a:rPr lang="en-US" sz="2300" dirty="0" err="1" smtClean="0">
                    <a:latin typeface="Vani" panose="020B0502040204020203"/>
                    <a:ea typeface="Cambria Math" panose="02040503050406030204" pitchFamily="18" charset="0"/>
                  </a:rPr>
                  <a:t>d.p</a:t>
                </a:r>
                <a:r>
                  <a:rPr lang="en-US" sz="2300" dirty="0" err="1">
                    <a:latin typeface="Vani" panose="020B0502040204020203"/>
                    <a:ea typeface="Cambria Math" panose="02040503050406030204" pitchFamily="18" charset="0"/>
                  </a:rPr>
                  <a:t>.</a:t>
                </a:r>
                <a:endParaRPr lang="en-US" sz="2300" dirty="0" smtClean="0">
                  <a:latin typeface="Vani" panose="020B0502040204020203"/>
                  <a:ea typeface="Cambria Math" panose="02040503050406030204" pitchFamily="18" charset="0"/>
                </a:endParaRPr>
              </a:p>
              <a:p>
                <a:pPr>
                  <a:lnSpc>
                    <a:spcPct val="150000"/>
                  </a:lnSpc>
                </a:pPr>
                <a14:m>
                  <m:oMath xmlns:m="http://schemas.openxmlformats.org/officeDocument/2006/math">
                    <m:r>
                      <a:rPr lang="en-US" sz="2300" b="0" i="1" smtClean="0">
                        <a:latin typeface="Cambria Math" panose="02040503050406030204" pitchFamily="18" charset="0"/>
                        <a:ea typeface="Cambria Math" panose="02040503050406030204" pitchFamily="18" charset="0"/>
                      </a:rPr>
                      <m:t>𝐿𝑒𝑡</m:t>
                    </m:r>
                    <m:r>
                      <a:rPr lang="en-US" sz="2300" b="0" i="1" smtClean="0">
                        <a:latin typeface="Cambria Math" panose="02040503050406030204" pitchFamily="18" charset="0"/>
                        <a:ea typeface="Cambria Math" panose="02040503050406030204" pitchFamily="18" charset="0"/>
                      </a:rPr>
                      <m:t> </m:t>
                    </m:r>
                    <m:r>
                      <a:rPr lang="en-US" sz="2300" b="0" i="1" smtClean="0">
                        <a:latin typeface="Cambria Math" panose="02040503050406030204" pitchFamily="18" charset="0"/>
                        <a:ea typeface="Cambria Math" panose="02040503050406030204" pitchFamily="18" charset="0"/>
                      </a:rPr>
                      <m:t>𝑑𝑟𝑖𝑣𝑒</m:t>
                    </m:r>
                    <m:r>
                      <a:rPr lang="en-US" sz="2300" b="0" i="1" smtClean="0">
                        <a:latin typeface="Cambria Math" panose="02040503050406030204" pitchFamily="18" charset="0"/>
                        <a:ea typeface="Cambria Math" panose="02040503050406030204" pitchFamily="18" charset="0"/>
                      </a:rPr>
                      <m:t> </m:t>
                    </m:r>
                    <m:r>
                      <a:rPr lang="en-US" sz="2300" b="0" i="1" smtClean="0">
                        <a:latin typeface="Cambria Math" panose="02040503050406030204" pitchFamily="18" charset="0"/>
                        <a:ea typeface="Cambria Math" panose="02040503050406030204" pitchFamily="18" charset="0"/>
                      </a:rPr>
                      <m:t>𝑓𝑎𝑖𝑙𝑢𝑟𝑒</m:t>
                    </m:r>
                    <m:r>
                      <a:rPr lang="en-US" sz="2300" b="0" i="1" smtClean="0">
                        <a:latin typeface="Cambria Math" panose="02040503050406030204" pitchFamily="18" charset="0"/>
                        <a:ea typeface="Cambria Math" panose="02040503050406030204" pitchFamily="18" charset="0"/>
                      </a:rPr>
                      <m:t>=</m:t>
                    </m:r>
                    <m:r>
                      <a:rPr lang="en-US" sz="2300" b="0" i="1" smtClean="0">
                        <a:latin typeface="Cambria Math" panose="02040503050406030204" pitchFamily="18" charset="0"/>
                        <a:ea typeface="Cambria Math" panose="02040503050406030204" pitchFamily="18" charset="0"/>
                      </a:rPr>
                      <m:t>𝐷𝐹</m:t>
                    </m:r>
                    <m:r>
                      <a:rPr lang="en-US" sz="2300" b="0" i="1" smtClean="0">
                        <a:latin typeface="Cambria Math" panose="02040503050406030204" pitchFamily="18" charset="0"/>
                        <a:ea typeface="Cambria Math" panose="02040503050406030204" pitchFamily="18" charset="0"/>
                      </a:rPr>
                      <m:t> </m:t>
                    </m:r>
                    <m:r>
                      <a:rPr lang="en-US" sz="2300" b="0" i="1" smtClean="0">
                        <a:latin typeface="Cambria Math" panose="02040503050406030204" pitchFamily="18" charset="0"/>
                        <a:ea typeface="Cambria Math" panose="02040503050406030204" pitchFamily="18" charset="0"/>
                      </a:rPr>
                      <m:t>𝑎𝑛𝑑</m:t>
                    </m:r>
                    <m:r>
                      <a:rPr lang="en-US" sz="2300" b="0" i="1" smtClean="0">
                        <a:latin typeface="Cambria Math" panose="02040503050406030204" pitchFamily="18" charset="0"/>
                        <a:ea typeface="Cambria Math" panose="02040503050406030204" pitchFamily="18" charset="0"/>
                      </a:rPr>
                      <m:t> </m:t>
                    </m:r>
                    <m:r>
                      <a:rPr lang="en-US" sz="2300" b="0" i="1" smtClean="0">
                        <a:latin typeface="Cambria Math" panose="02040503050406030204" pitchFamily="18" charset="0"/>
                        <a:ea typeface="Cambria Math" panose="02040503050406030204" pitchFamily="18" charset="0"/>
                      </a:rPr>
                      <m:t>𝑑𝑟𝑖𝑣𝑒</m:t>
                    </m:r>
                    <m:r>
                      <a:rPr lang="en-US" sz="2300" b="0" i="1" smtClean="0">
                        <a:latin typeface="Cambria Math" panose="02040503050406030204" pitchFamily="18" charset="0"/>
                        <a:ea typeface="Cambria Math" panose="02040503050406030204" pitchFamily="18" charset="0"/>
                      </a:rPr>
                      <m:t> </m:t>
                    </m:r>
                    <m:r>
                      <a:rPr lang="en-US" sz="2300" b="0" i="1" smtClean="0">
                        <a:latin typeface="Cambria Math" panose="02040503050406030204" pitchFamily="18" charset="0"/>
                        <a:ea typeface="Cambria Math" panose="02040503050406030204" pitchFamily="18" charset="0"/>
                      </a:rPr>
                      <m:t>𝑠𝑢𝑐𝑐𝑒𝑠𝑠</m:t>
                    </m:r>
                    <m:r>
                      <a:rPr lang="en-US" sz="2300" b="0" i="1" smtClean="0">
                        <a:latin typeface="Cambria Math" panose="02040503050406030204" pitchFamily="18" charset="0"/>
                        <a:ea typeface="Cambria Math" panose="02040503050406030204" pitchFamily="18" charset="0"/>
                      </a:rPr>
                      <m:t>=</m:t>
                    </m:r>
                    <m:r>
                      <a:rPr lang="en-US" sz="2300" b="0" i="1" smtClean="0">
                        <a:latin typeface="Cambria Math" panose="02040503050406030204" pitchFamily="18" charset="0"/>
                        <a:ea typeface="Cambria Math" panose="02040503050406030204" pitchFamily="18" charset="0"/>
                      </a:rPr>
                      <m:t>𝐷𝑆</m:t>
                    </m:r>
                    <m:r>
                      <a:rPr lang="en-US" sz="2300" b="0" i="1" smtClean="0">
                        <a:latin typeface="Cambria Math" panose="02040503050406030204" pitchFamily="18" charset="0"/>
                        <a:ea typeface="Cambria Math" panose="02040503050406030204" pitchFamily="18" charset="0"/>
                      </a:rPr>
                      <m:t>         </m:t>
                    </m:r>
                  </m:oMath>
                </a14:m>
                <a:endParaRPr lang="en-US" sz="2300" b="0" i="1" dirty="0" smtClean="0">
                  <a:latin typeface="Cambria Math" panose="02040503050406030204" pitchFamily="18" charset="0"/>
                  <a:ea typeface="Cambria Math" panose="02040503050406030204" pitchFamily="18" charset="0"/>
                </a:endParaRPr>
              </a:p>
              <a:p>
                <a:pPr>
                  <a:lnSpc>
                    <a:spcPct val="150000"/>
                  </a:lnSpc>
                </a:pPr>
                <a14:m>
                  <m:oMath xmlns:m="http://schemas.openxmlformats.org/officeDocument/2006/math">
                    <m:r>
                      <a:rPr lang="en-US" sz="2300" b="0" i="1" smtClean="0">
                        <a:latin typeface="Cambria Math" panose="02040503050406030204" pitchFamily="18" charset="0"/>
                        <a:ea typeface="Cambria Math" panose="02040503050406030204" pitchFamily="18" charset="0"/>
                      </a:rPr>
                      <m:t>𝑃</m:t>
                    </m:r>
                    <m:d>
                      <m:dPr>
                        <m:ctrlPr>
                          <a:rPr lang="en-US" sz="2300" b="0" i="1" smtClean="0">
                            <a:latin typeface="Cambria Math" panose="02040503050406030204" pitchFamily="18" charset="0"/>
                            <a:ea typeface="Cambria Math" panose="02040503050406030204" pitchFamily="18" charset="0"/>
                          </a:rPr>
                        </m:ctrlPr>
                      </m:dPr>
                      <m:e>
                        <m:r>
                          <a:rPr lang="en-US" sz="2300" b="0" i="1" smtClean="0">
                            <a:latin typeface="Cambria Math" panose="02040503050406030204" pitchFamily="18" charset="0"/>
                            <a:ea typeface="Cambria Math" panose="02040503050406030204" pitchFamily="18" charset="0"/>
                          </a:rPr>
                          <m:t>𝐷𝐹</m:t>
                        </m:r>
                      </m:e>
                    </m:d>
                    <m:r>
                      <a:rPr lang="en-US" sz="2300" b="0" i="1" smtClean="0">
                        <a:latin typeface="Cambria Math" panose="02040503050406030204" pitchFamily="18" charset="0"/>
                        <a:ea typeface="Cambria Math" panose="02040503050406030204" pitchFamily="18" charset="0"/>
                      </a:rPr>
                      <m:t>=8%=0.08                  </m:t>
                    </m:r>
                    <m:r>
                      <a:rPr lang="en-US" sz="2300" b="0" i="1" smtClean="0">
                        <a:latin typeface="Cambria Math" panose="02040503050406030204" pitchFamily="18" charset="0"/>
                        <a:ea typeface="Cambria Math" panose="02040503050406030204" pitchFamily="18" charset="0"/>
                      </a:rPr>
                      <m:t>𝑃</m:t>
                    </m:r>
                    <m:d>
                      <m:dPr>
                        <m:ctrlPr>
                          <a:rPr lang="en-US" sz="2300" b="0" i="1" smtClean="0">
                            <a:latin typeface="Cambria Math" panose="02040503050406030204" pitchFamily="18" charset="0"/>
                            <a:ea typeface="Cambria Math" panose="02040503050406030204" pitchFamily="18" charset="0"/>
                          </a:rPr>
                        </m:ctrlPr>
                      </m:dPr>
                      <m:e>
                        <m:r>
                          <a:rPr lang="en-US" sz="2300" b="0" i="1" smtClean="0">
                            <a:latin typeface="Cambria Math" panose="02040503050406030204" pitchFamily="18" charset="0"/>
                            <a:ea typeface="Cambria Math" panose="02040503050406030204" pitchFamily="18" charset="0"/>
                          </a:rPr>
                          <m:t>𝐷𝑆</m:t>
                        </m:r>
                      </m:e>
                    </m:d>
                    <m:r>
                      <a:rPr lang="en-US" sz="2300" b="0" i="1" smtClean="0">
                        <a:latin typeface="Cambria Math" panose="02040503050406030204" pitchFamily="18" charset="0"/>
                        <a:ea typeface="Cambria Math" panose="02040503050406030204" pitchFamily="18" charset="0"/>
                      </a:rPr>
                      <m:t>=1−0.08=0.92</m:t>
                    </m:r>
                  </m:oMath>
                </a14:m>
                <a:endParaRPr lang="en-US" sz="2300" b="0" i="1" dirty="0" smtClean="0">
                  <a:latin typeface="Cambria Math" panose="02040503050406030204" pitchFamily="18" charset="0"/>
                  <a:ea typeface="Cambria Math" panose="02040503050406030204" pitchFamily="18" charset="0"/>
                </a:endParaRPr>
              </a:p>
              <a:p>
                <a:pPr>
                  <a:lnSpc>
                    <a:spcPct val="150000"/>
                  </a:lnSpc>
                </a:pPr>
                <a:r>
                  <a:rPr lang="en-US" sz="2300" dirty="0">
                    <a:latin typeface="Vani" panose="020B0502040204020203"/>
                    <a:ea typeface="Cambria Math" panose="02040503050406030204" pitchFamily="18" charset="0"/>
                  </a:rPr>
                  <a:t>(a</a:t>
                </a:r>
                <a:r>
                  <a:rPr lang="en-US" sz="2300" dirty="0" smtClean="0">
                    <a:latin typeface="Vani" panose="020B0502040204020203"/>
                    <a:ea typeface="Cambria Math" panose="02040503050406030204" pitchFamily="18" charset="0"/>
                  </a:rPr>
                  <a:t>.)	Of 2 flash drives, at least 1 works means that: either the 1</a:t>
                </a:r>
                <a:r>
                  <a:rPr lang="en-US" sz="2300" baseline="30000" dirty="0" smtClean="0">
                    <a:latin typeface="Vani" panose="020B0502040204020203"/>
                    <a:ea typeface="Cambria Math" panose="02040503050406030204" pitchFamily="18" charset="0"/>
                  </a:rPr>
                  <a:t>st</a:t>
                </a:r>
                <a:r>
                  <a:rPr lang="en-US" sz="2300" dirty="0" smtClean="0">
                    <a:latin typeface="Vani" panose="020B0502040204020203"/>
                    <a:ea typeface="Cambria Math" panose="02040503050406030204" pitchFamily="18" charset="0"/>
                  </a:rPr>
                  <a:t> works and the 2</a:t>
                </a:r>
                <a:r>
                  <a:rPr lang="en-US" sz="2300" baseline="30000" dirty="0" smtClean="0">
                    <a:latin typeface="Vani" panose="020B0502040204020203"/>
                    <a:ea typeface="Cambria Math" panose="02040503050406030204" pitchFamily="18" charset="0"/>
                  </a:rPr>
                  <a:t>nd</a:t>
                </a:r>
                <a:r>
                  <a:rPr lang="en-US" sz="2300" dirty="0" smtClean="0">
                    <a:latin typeface="Vani" panose="020B0502040204020203"/>
                    <a:ea typeface="Cambria Math" panose="02040503050406030204" pitchFamily="18" charset="0"/>
                  </a:rPr>
                  <a:t> does not; or the 1</a:t>
                </a:r>
                <a:r>
                  <a:rPr lang="en-US" sz="2300" baseline="30000" dirty="0" smtClean="0">
                    <a:latin typeface="Vani" panose="020B0502040204020203"/>
                    <a:ea typeface="Cambria Math" panose="02040503050406030204" pitchFamily="18" charset="0"/>
                  </a:rPr>
                  <a:t>st</a:t>
                </a:r>
                <a:r>
                  <a:rPr lang="en-US" sz="2300" dirty="0" smtClean="0">
                    <a:latin typeface="Vani" panose="020B0502040204020203"/>
                    <a:ea typeface="Cambria Math" panose="02040503050406030204" pitchFamily="18" charset="0"/>
                  </a:rPr>
                  <a:t> does not and the 2</a:t>
                </a:r>
                <a:r>
                  <a:rPr lang="en-US" sz="2300" baseline="30000" dirty="0" smtClean="0">
                    <a:latin typeface="Vani" panose="020B0502040204020203"/>
                    <a:ea typeface="Cambria Math" panose="02040503050406030204" pitchFamily="18" charset="0"/>
                  </a:rPr>
                  <a:t>nd</a:t>
                </a:r>
                <a:r>
                  <a:rPr lang="en-US" sz="2300" dirty="0" smtClean="0">
                    <a:latin typeface="Vani" panose="020B0502040204020203"/>
                    <a:ea typeface="Cambria Math" panose="02040503050406030204" pitchFamily="18" charset="0"/>
                  </a:rPr>
                  <a:t> works, or both the 1</a:t>
                </a:r>
                <a:r>
                  <a:rPr lang="en-US" sz="2300" baseline="30000" dirty="0" smtClean="0">
                    <a:latin typeface="Vani" panose="020B0502040204020203"/>
                    <a:ea typeface="Cambria Math" panose="02040503050406030204" pitchFamily="18" charset="0"/>
                  </a:rPr>
                  <a:t>st</a:t>
                </a:r>
                <a:r>
                  <a:rPr lang="en-US" sz="2300" dirty="0" smtClean="0">
                    <a:latin typeface="Vani" panose="020B0502040204020203"/>
                    <a:ea typeface="Cambria Math" panose="02040503050406030204" pitchFamily="18" charset="0"/>
                  </a:rPr>
                  <a:t> and the 2</a:t>
                </a:r>
                <a:r>
                  <a:rPr lang="en-US" sz="2300" baseline="30000" dirty="0" smtClean="0">
                    <a:latin typeface="Vani" panose="020B0502040204020203"/>
                    <a:ea typeface="Cambria Math" panose="02040503050406030204" pitchFamily="18" charset="0"/>
                  </a:rPr>
                  <a:t>nd</a:t>
                </a:r>
                <a:r>
                  <a:rPr lang="en-US" sz="2300" dirty="0" smtClean="0">
                    <a:latin typeface="Vani" panose="020B0502040204020203"/>
                    <a:ea typeface="Cambria Math" panose="02040503050406030204" pitchFamily="18" charset="0"/>
                  </a:rPr>
                  <a:t> works. We can solve it that way OR we can also say that:</a:t>
                </a:r>
                <a:endParaRPr lang="en-US" sz="2300" i="1" dirty="0" smtClean="0">
                  <a:latin typeface="Cambria Math" panose="02040503050406030204" pitchFamily="18" charset="0"/>
                  <a:ea typeface="Cambria Math" panose="02040503050406030204" pitchFamily="18" charset="0"/>
                </a:endParaRPr>
              </a:p>
              <a:p>
                <a:pPr>
                  <a:lnSpc>
                    <a:spcPct val="150000"/>
                  </a:lnSpc>
                </a:pPr>
                <a:endParaRPr lang="en-US" sz="2300" dirty="0" smtClean="0">
                  <a:latin typeface="Vani" panose="020B0502040204020203" pitchFamily="34" charset="0"/>
                  <a:cs typeface="Vani" panose="020B0502040204020203" pitchFamily="34" charset="0"/>
                </a:endParaRPr>
              </a:p>
              <a:p>
                <a:pPr>
                  <a:lnSpc>
                    <a:spcPct val="150000"/>
                  </a:lnSpc>
                </a:pPr>
                <a:endParaRPr lang="en-US" sz="2300" b="0" dirty="0" smtClean="0">
                  <a:latin typeface="Vani" panose="020B0502040204020203" pitchFamily="34" charset="0"/>
                  <a:cs typeface="Vani" panose="020B0502040204020203" pitchFamily="34" charset="0"/>
                </a:endParaRPr>
              </a:p>
              <a:p>
                <a:pPr>
                  <a:lnSpc>
                    <a:spcPct val="150000"/>
                  </a:lnSpc>
                </a:pPr>
                <a:endParaRPr lang="en-US" sz="2300" dirty="0">
                  <a:latin typeface="Vani" panose="020B0502040204020203" pitchFamily="34" charset="0"/>
                  <a:cs typeface="Vani" panose="020B0502040204020203" pitchFamily="34" charset="0"/>
                </a:endParaRPr>
              </a:p>
              <a:p>
                <a:pPr>
                  <a:lnSpc>
                    <a:spcPct val="150000"/>
                  </a:lnSpc>
                </a:pPr>
                <a:endParaRPr lang="en-US" sz="2300" b="0" dirty="0" smtClean="0">
                  <a:latin typeface="Vani" panose="020B0502040204020203" pitchFamily="34" charset="0"/>
                  <a:cs typeface="Vani" panose="020B0502040204020203" pitchFamily="34" charset="0"/>
                </a:endParaRPr>
              </a:p>
            </p:txBody>
          </p:sp>
        </mc:Choice>
        <mc:Fallback>
          <p:sp>
            <p:nvSpPr>
              <p:cNvPr id="14" name="Content Placeholder 13"/>
              <p:cNvSpPr>
                <a:spLocks noGrp="1" noRot="1" noChangeAspect="1" noMove="1" noResize="1" noEditPoints="1" noAdjustHandles="1" noChangeArrowheads="1" noChangeShapeType="1" noTextEdit="1"/>
              </p:cNvSpPr>
              <p:nvPr>
                <p:ph idx="1"/>
              </p:nvPr>
            </p:nvSpPr>
            <p:spPr>
              <a:xfrm>
                <a:off x="0" y="1738184"/>
                <a:ext cx="12192000" cy="5119816"/>
              </a:xfrm>
              <a:blipFill rotWithShape="0">
                <a:blip r:embed="rId2"/>
                <a:stretch>
                  <a:fillRect l="-1350" r="-300"/>
                </a:stretch>
              </a:blipFill>
            </p:spPr>
            <p:txBody>
              <a:bodyPr/>
              <a:lstStyle/>
              <a:p>
                <a:r>
                  <a:rPr lang="en-US">
                    <a:noFill/>
                  </a:rPr>
                  <a:t> </a:t>
                </a:r>
              </a:p>
            </p:txBody>
          </p:sp>
        </mc:Fallback>
      </mc:AlternateContent>
    </p:spTree>
    <p:extLst>
      <p:ext uri="{BB962C8B-B14F-4D97-AF65-F5344CB8AC3E}">
        <p14:creationId xmlns:p14="http://schemas.microsoft.com/office/powerpoint/2010/main" val="3703282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0" y="295562"/>
            <a:ext cx="12192000" cy="1008247"/>
          </a:xfrm>
        </p:spPr>
        <p:txBody>
          <a:bodyPr/>
          <a:lstStyle/>
          <a:p>
            <a:r>
              <a:rPr lang="en-US" dirty="0" smtClean="0"/>
              <a:t>Questions and Answers							</a:t>
            </a:r>
            <a:r>
              <a:rPr lang="en-US" dirty="0" smtClean="0"/>
              <a:t>16-2.</a:t>
            </a:r>
            <a:endParaRPr dirty="0"/>
          </a:p>
        </p:txBody>
      </p:sp>
      <mc:AlternateContent xmlns:mc="http://schemas.openxmlformats.org/markup-compatibility/2006">
        <mc:Choice xmlns:a14="http://schemas.microsoft.com/office/drawing/2010/main" Requires="a14">
          <p:sp>
            <p:nvSpPr>
              <p:cNvPr id="14" name="Content Placeholder 13"/>
              <p:cNvSpPr>
                <a:spLocks noGrp="1"/>
              </p:cNvSpPr>
              <p:nvPr>
                <p:ph idx="1"/>
              </p:nvPr>
            </p:nvSpPr>
            <p:spPr>
              <a:xfrm>
                <a:off x="0" y="1738184"/>
                <a:ext cx="12192000" cy="5119816"/>
              </a:xfrm>
            </p:spPr>
            <p:txBody>
              <a:bodyPr>
                <a:normAutofit/>
              </a:bodyPr>
              <a:lstStyle/>
              <a:p>
                <a:pPr>
                  <a:lnSpc>
                    <a:spcPct val="150000"/>
                  </a:lnSpc>
                </a:pPr>
                <a:r>
                  <a:rPr lang="en-US" sz="2300" dirty="0" smtClean="0">
                    <a:latin typeface="Vani" panose="020B0502040204020203"/>
                    <a:ea typeface="Cambria Math" panose="02040503050406030204" pitchFamily="18" charset="0"/>
                  </a:rPr>
                  <a:t>The probability </a:t>
                </a:r>
                <a:r>
                  <a:rPr lang="en-US" sz="2300" dirty="0">
                    <a:latin typeface="Vani" panose="020B0502040204020203"/>
                    <a:ea typeface="Cambria Math" panose="02040503050406030204" pitchFamily="18" charset="0"/>
                  </a:rPr>
                  <a:t>that at least one works </a:t>
                </a:r>
                <a:r>
                  <a:rPr lang="en-US" sz="2300" dirty="0" smtClean="0">
                    <a:latin typeface="Vani" panose="020B0502040204020203"/>
                    <a:ea typeface="Cambria Math" panose="02040503050406030204" pitchFamily="18" charset="0"/>
                  </a:rPr>
                  <a:t>= 1 – the probability that none of them work.</a:t>
                </a:r>
                <a:endParaRPr lang="en-US" sz="2300" i="1" dirty="0">
                  <a:latin typeface="Cambria Math" panose="02040503050406030204" pitchFamily="18" charset="0"/>
                  <a:ea typeface="Cambria Math" panose="02040503050406030204" pitchFamily="18" charset="0"/>
                </a:endParaRPr>
              </a:p>
              <a:p>
                <a:pPr>
                  <a:lnSpc>
                    <a:spcPct val="150000"/>
                  </a:lnSpc>
                </a:pPr>
                <a:r>
                  <a:rPr lang="en-US" sz="2300" u="sng" dirty="0" smtClean="0">
                    <a:latin typeface="Vani" panose="020B0502040204020203"/>
                    <a:ea typeface="Cambria Math" panose="02040503050406030204" pitchFamily="18" charset="0"/>
                  </a:rPr>
                  <a:t>1</a:t>
                </a:r>
                <a:r>
                  <a:rPr lang="en-US" sz="2300" u="sng" baseline="30000" dirty="0" smtClean="0">
                    <a:latin typeface="Vani" panose="020B0502040204020203"/>
                    <a:ea typeface="Cambria Math" panose="02040503050406030204" pitchFamily="18" charset="0"/>
                  </a:rPr>
                  <a:t>st</a:t>
                </a:r>
                <a:r>
                  <a:rPr lang="en-US" sz="2300" u="sng" dirty="0" smtClean="0">
                    <a:latin typeface="Vani" panose="020B0502040204020203"/>
                    <a:ea typeface="Cambria Math" panose="02040503050406030204" pitchFamily="18" charset="0"/>
                  </a:rPr>
                  <a:t> Method (Multiplication Rule)</a:t>
                </a:r>
              </a:p>
              <a:p>
                <a:pPr>
                  <a:lnSpc>
                    <a:spcPct val="150000"/>
                  </a:lnSpc>
                </a:pPr>
                <a14:m>
                  <m:oMath xmlns:m="http://schemas.openxmlformats.org/officeDocument/2006/math">
                    <m:r>
                      <a:rPr lang="en-US" sz="2300" b="0" i="1" smtClean="0">
                        <a:latin typeface="Cambria Math" panose="02040503050406030204" pitchFamily="18" charset="0"/>
                        <a:ea typeface="Cambria Math" panose="02040503050406030204" pitchFamily="18" charset="0"/>
                      </a:rPr>
                      <m:t>𝑃</m:t>
                    </m:r>
                    <m:d>
                      <m:dPr>
                        <m:ctrlPr>
                          <a:rPr lang="en-US" sz="2300" b="0" i="1" smtClean="0">
                            <a:latin typeface="Cambria Math" panose="02040503050406030204" pitchFamily="18" charset="0"/>
                            <a:ea typeface="Cambria Math" panose="02040503050406030204" pitchFamily="18" charset="0"/>
                          </a:rPr>
                        </m:ctrlPr>
                      </m:dPr>
                      <m:e>
                        <m:r>
                          <a:rPr lang="en-US" sz="2300" b="0" i="1" smtClean="0">
                            <a:latin typeface="Cambria Math" panose="02040503050406030204" pitchFamily="18" charset="0"/>
                            <a:ea typeface="Cambria Math" panose="02040503050406030204" pitchFamily="18" charset="0"/>
                          </a:rPr>
                          <m:t>𝑎𝑡</m:t>
                        </m:r>
                        <m:r>
                          <a:rPr lang="en-US" sz="2300" b="0" i="1" smtClean="0">
                            <a:latin typeface="Cambria Math" panose="02040503050406030204" pitchFamily="18" charset="0"/>
                            <a:ea typeface="Cambria Math" panose="02040503050406030204" pitchFamily="18" charset="0"/>
                          </a:rPr>
                          <m:t> </m:t>
                        </m:r>
                        <m:r>
                          <a:rPr lang="en-US" sz="2300" b="0" i="1" smtClean="0">
                            <a:latin typeface="Cambria Math" panose="02040503050406030204" pitchFamily="18" charset="0"/>
                            <a:ea typeface="Cambria Math" panose="02040503050406030204" pitchFamily="18" charset="0"/>
                          </a:rPr>
                          <m:t>𝑙𝑒𝑎𝑠𝑡</m:t>
                        </m:r>
                        <m:r>
                          <a:rPr lang="en-US" sz="2300" b="0" i="1" smtClean="0">
                            <a:latin typeface="Cambria Math" panose="02040503050406030204" pitchFamily="18" charset="0"/>
                            <a:ea typeface="Cambria Math" panose="02040503050406030204" pitchFamily="18" charset="0"/>
                          </a:rPr>
                          <m:t> 1 </m:t>
                        </m:r>
                        <m:r>
                          <a:rPr lang="en-US" sz="2300" b="0" i="1" smtClean="0">
                            <a:latin typeface="Cambria Math" panose="02040503050406030204" pitchFamily="18" charset="0"/>
                            <a:ea typeface="Cambria Math" panose="02040503050406030204" pitchFamily="18" charset="0"/>
                          </a:rPr>
                          <m:t>𝐷𝑆</m:t>
                        </m:r>
                      </m:e>
                    </m:d>
                    <m:r>
                      <a:rPr lang="en-US" sz="2300" b="0" i="1" smtClean="0">
                        <a:latin typeface="Cambria Math" panose="02040503050406030204" pitchFamily="18" charset="0"/>
                        <a:ea typeface="Cambria Math" panose="02040503050406030204" pitchFamily="18" charset="0"/>
                      </a:rPr>
                      <m:t>=</m:t>
                    </m:r>
                    <m:r>
                      <a:rPr lang="en-US" sz="2300" b="0" i="1" smtClean="0">
                        <a:latin typeface="Cambria Math" panose="02040503050406030204" pitchFamily="18" charset="0"/>
                        <a:ea typeface="Cambria Math" panose="02040503050406030204" pitchFamily="18" charset="0"/>
                      </a:rPr>
                      <m:t>𝑃</m:t>
                    </m:r>
                    <m:d>
                      <m:dPr>
                        <m:ctrlPr>
                          <a:rPr lang="en-US" sz="2300" b="0" i="1" smtClean="0">
                            <a:latin typeface="Cambria Math" panose="02040503050406030204" pitchFamily="18" charset="0"/>
                            <a:ea typeface="Cambria Math" panose="02040503050406030204" pitchFamily="18" charset="0"/>
                          </a:rPr>
                        </m:ctrlPr>
                      </m:dPr>
                      <m:e>
                        <m:r>
                          <a:rPr lang="en-US" sz="2300" b="0" i="1" smtClean="0">
                            <a:latin typeface="Cambria Math" panose="02040503050406030204" pitchFamily="18" charset="0"/>
                            <a:ea typeface="Cambria Math" panose="02040503050406030204" pitchFamily="18" charset="0"/>
                          </a:rPr>
                          <m:t>≥1 </m:t>
                        </m:r>
                        <m:r>
                          <a:rPr lang="en-US" sz="2300" b="0" i="1" smtClean="0">
                            <a:latin typeface="Cambria Math" panose="02040503050406030204" pitchFamily="18" charset="0"/>
                            <a:ea typeface="Cambria Math" panose="02040503050406030204" pitchFamily="18" charset="0"/>
                          </a:rPr>
                          <m:t>𝐷𝑆</m:t>
                        </m:r>
                      </m:e>
                    </m:d>
                    <m:r>
                      <a:rPr lang="en-US" sz="2300" b="0" i="1" smtClean="0">
                        <a:latin typeface="Cambria Math" panose="02040503050406030204" pitchFamily="18" charset="0"/>
                        <a:ea typeface="Cambria Math" panose="02040503050406030204" pitchFamily="18" charset="0"/>
                      </a:rPr>
                      <m:t>=</m:t>
                    </m:r>
                    <m:r>
                      <a:rPr lang="en-US" sz="2300" b="0" i="1" smtClean="0">
                        <a:latin typeface="Cambria Math" panose="02040503050406030204" pitchFamily="18" charset="0"/>
                        <a:ea typeface="Cambria Math" panose="02040503050406030204" pitchFamily="18" charset="0"/>
                      </a:rPr>
                      <m:t>𝑃</m:t>
                    </m:r>
                    <m:d>
                      <m:dPr>
                        <m:ctrlPr>
                          <a:rPr lang="en-US" sz="2300" b="0" i="1" smtClean="0">
                            <a:latin typeface="Cambria Math" panose="02040503050406030204" pitchFamily="18" charset="0"/>
                            <a:ea typeface="Cambria Math" panose="02040503050406030204" pitchFamily="18" charset="0"/>
                          </a:rPr>
                        </m:ctrlPr>
                      </m:dPr>
                      <m:e>
                        <m:r>
                          <a:rPr lang="en-US" sz="2300" b="0" i="1" smtClean="0">
                            <a:latin typeface="Cambria Math" panose="02040503050406030204" pitchFamily="18" charset="0"/>
                            <a:ea typeface="Cambria Math" panose="02040503050406030204" pitchFamily="18" charset="0"/>
                          </a:rPr>
                          <m:t>𝐷𝑆</m:t>
                        </m:r>
                        <m:r>
                          <a:rPr lang="en-US" sz="2300" b="0" i="1" smtClean="0">
                            <a:latin typeface="Cambria Math" panose="02040503050406030204" pitchFamily="18" charset="0"/>
                            <a:ea typeface="Cambria Math" panose="02040503050406030204" pitchFamily="18" charset="0"/>
                          </a:rPr>
                          <m:t>−</m:t>
                        </m:r>
                        <m:r>
                          <a:rPr lang="en-US" sz="2300" b="0" i="1" smtClean="0">
                            <a:latin typeface="Cambria Math" panose="02040503050406030204" pitchFamily="18" charset="0"/>
                            <a:ea typeface="Cambria Math" panose="02040503050406030204" pitchFamily="18" charset="0"/>
                          </a:rPr>
                          <m:t>𝐷𝐹</m:t>
                        </m:r>
                      </m:e>
                    </m:d>
                    <m:r>
                      <a:rPr lang="en-US" sz="2300" b="0" i="1" smtClean="0">
                        <a:latin typeface="Cambria Math" panose="02040503050406030204" pitchFamily="18" charset="0"/>
                        <a:ea typeface="Cambria Math" panose="02040503050406030204" pitchFamily="18" charset="0"/>
                      </a:rPr>
                      <m:t>+ </m:t>
                    </m:r>
                    <m:r>
                      <a:rPr lang="en-US" sz="2300" b="0" i="1" smtClean="0">
                        <a:latin typeface="Cambria Math" panose="02040503050406030204" pitchFamily="18" charset="0"/>
                        <a:ea typeface="Cambria Math" panose="02040503050406030204" pitchFamily="18" charset="0"/>
                      </a:rPr>
                      <m:t>𝑃</m:t>
                    </m:r>
                    <m:d>
                      <m:dPr>
                        <m:ctrlPr>
                          <a:rPr lang="en-US" sz="2300" b="0" i="1" smtClean="0">
                            <a:latin typeface="Cambria Math" panose="02040503050406030204" pitchFamily="18" charset="0"/>
                            <a:ea typeface="Cambria Math" panose="02040503050406030204" pitchFamily="18" charset="0"/>
                          </a:rPr>
                        </m:ctrlPr>
                      </m:dPr>
                      <m:e>
                        <m:r>
                          <a:rPr lang="en-US" sz="2300" b="0" i="1" smtClean="0">
                            <a:latin typeface="Cambria Math" panose="02040503050406030204" pitchFamily="18" charset="0"/>
                            <a:ea typeface="Cambria Math" panose="02040503050406030204" pitchFamily="18" charset="0"/>
                          </a:rPr>
                          <m:t>𝐷𝐹</m:t>
                        </m:r>
                        <m:r>
                          <a:rPr lang="en-US" sz="2300" b="0" i="1" smtClean="0">
                            <a:latin typeface="Cambria Math" panose="02040503050406030204" pitchFamily="18" charset="0"/>
                            <a:ea typeface="Cambria Math" panose="02040503050406030204" pitchFamily="18" charset="0"/>
                          </a:rPr>
                          <m:t>−</m:t>
                        </m:r>
                        <m:r>
                          <a:rPr lang="en-US" sz="2300" b="0" i="1" smtClean="0">
                            <a:latin typeface="Cambria Math" panose="02040503050406030204" pitchFamily="18" charset="0"/>
                            <a:ea typeface="Cambria Math" panose="02040503050406030204" pitchFamily="18" charset="0"/>
                          </a:rPr>
                          <m:t>𝐷𝑆</m:t>
                        </m:r>
                      </m:e>
                    </m:d>
                    <m:r>
                      <a:rPr lang="en-US" sz="2300" b="0" i="1" smtClean="0">
                        <a:latin typeface="Cambria Math" panose="02040503050406030204" pitchFamily="18" charset="0"/>
                        <a:ea typeface="Cambria Math" panose="02040503050406030204" pitchFamily="18" charset="0"/>
                      </a:rPr>
                      <m:t>+</m:t>
                    </m:r>
                    <m:r>
                      <a:rPr lang="en-US" sz="2300" b="0" i="1" smtClean="0">
                        <a:latin typeface="Cambria Math" panose="02040503050406030204" pitchFamily="18" charset="0"/>
                        <a:ea typeface="Cambria Math" panose="02040503050406030204" pitchFamily="18" charset="0"/>
                      </a:rPr>
                      <m:t>𝑃</m:t>
                    </m:r>
                    <m:r>
                      <a:rPr lang="en-US" sz="2300" b="0" i="1" smtClean="0">
                        <a:latin typeface="Cambria Math" panose="02040503050406030204" pitchFamily="18" charset="0"/>
                        <a:ea typeface="Cambria Math" panose="02040503050406030204" pitchFamily="18" charset="0"/>
                      </a:rPr>
                      <m:t>(</m:t>
                    </m:r>
                    <m:r>
                      <a:rPr lang="en-US" sz="2300" b="0" i="1" smtClean="0">
                        <a:latin typeface="Cambria Math" panose="02040503050406030204" pitchFamily="18" charset="0"/>
                        <a:ea typeface="Cambria Math" panose="02040503050406030204" pitchFamily="18" charset="0"/>
                      </a:rPr>
                      <m:t>𝐷𝑆</m:t>
                    </m:r>
                    <m:r>
                      <a:rPr lang="en-US" sz="2300" b="0" i="1" smtClean="0">
                        <a:latin typeface="Cambria Math" panose="02040503050406030204" pitchFamily="18" charset="0"/>
                        <a:ea typeface="Cambria Math" panose="02040503050406030204" pitchFamily="18" charset="0"/>
                      </a:rPr>
                      <m:t>−</m:t>
                    </m:r>
                    <m:r>
                      <a:rPr lang="en-US" sz="2300" b="0" i="1" smtClean="0">
                        <a:latin typeface="Cambria Math" panose="02040503050406030204" pitchFamily="18" charset="0"/>
                        <a:ea typeface="Cambria Math" panose="02040503050406030204" pitchFamily="18" charset="0"/>
                      </a:rPr>
                      <m:t>𝐷𝑆</m:t>
                    </m:r>
                    <m:r>
                      <a:rPr lang="en-US" sz="2300" b="0" i="1" smtClean="0">
                        <a:latin typeface="Cambria Math" panose="02040503050406030204" pitchFamily="18" charset="0"/>
                        <a:ea typeface="Cambria Math" panose="02040503050406030204" pitchFamily="18" charset="0"/>
                      </a:rPr>
                      <m:t>) </m:t>
                    </m:r>
                  </m:oMath>
                </a14:m>
                <a:endParaRPr lang="en-US" sz="2300" b="0" i="1" dirty="0" smtClean="0">
                  <a:latin typeface="Cambria Math" panose="02040503050406030204" pitchFamily="18" charset="0"/>
                  <a:ea typeface="Cambria Math" panose="02040503050406030204" pitchFamily="18" charset="0"/>
                </a:endParaRPr>
              </a:p>
              <a:p>
                <a:pPr>
                  <a:lnSpc>
                    <a:spcPct val="150000"/>
                  </a:lnSpc>
                </a:pPr>
                <a14:m>
                  <m:oMath xmlns:m="http://schemas.openxmlformats.org/officeDocument/2006/math">
                    <m:r>
                      <a:rPr lang="en-US" sz="2300" i="1">
                        <a:latin typeface="Cambria Math" panose="02040503050406030204" pitchFamily="18" charset="0"/>
                        <a:ea typeface="Cambria Math" panose="02040503050406030204" pitchFamily="18" charset="0"/>
                      </a:rPr>
                      <m:t>𝑃</m:t>
                    </m:r>
                    <m:d>
                      <m:dPr>
                        <m:ctrlPr>
                          <a:rPr lang="en-US" sz="2300" i="1">
                            <a:latin typeface="Cambria Math" panose="02040503050406030204" pitchFamily="18" charset="0"/>
                            <a:ea typeface="Cambria Math" panose="02040503050406030204" pitchFamily="18" charset="0"/>
                          </a:rPr>
                        </m:ctrlPr>
                      </m:dPr>
                      <m:e>
                        <m:r>
                          <a:rPr lang="en-US" sz="2300" i="1">
                            <a:latin typeface="Cambria Math" panose="02040503050406030204" pitchFamily="18" charset="0"/>
                            <a:ea typeface="Cambria Math" panose="02040503050406030204" pitchFamily="18" charset="0"/>
                          </a:rPr>
                          <m:t>𝑎𝑡</m:t>
                        </m:r>
                        <m:r>
                          <a:rPr lang="en-US" sz="2300" i="1">
                            <a:latin typeface="Cambria Math" panose="02040503050406030204" pitchFamily="18" charset="0"/>
                            <a:ea typeface="Cambria Math" panose="02040503050406030204" pitchFamily="18" charset="0"/>
                          </a:rPr>
                          <m:t> </m:t>
                        </m:r>
                        <m:r>
                          <a:rPr lang="en-US" sz="2300" i="1">
                            <a:latin typeface="Cambria Math" panose="02040503050406030204" pitchFamily="18" charset="0"/>
                            <a:ea typeface="Cambria Math" panose="02040503050406030204" pitchFamily="18" charset="0"/>
                          </a:rPr>
                          <m:t>𝑙𝑒𝑎𝑠𝑡</m:t>
                        </m:r>
                        <m:r>
                          <a:rPr lang="en-US" sz="2300" i="1">
                            <a:latin typeface="Cambria Math" panose="02040503050406030204" pitchFamily="18" charset="0"/>
                            <a:ea typeface="Cambria Math" panose="02040503050406030204" pitchFamily="18" charset="0"/>
                          </a:rPr>
                          <m:t> 1 </m:t>
                        </m:r>
                        <m:r>
                          <a:rPr lang="en-US" sz="2300" i="1">
                            <a:latin typeface="Cambria Math" panose="02040503050406030204" pitchFamily="18" charset="0"/>
                            <a:ea typeface="Cambria Math" panose="02040503050406030204" pitchFamily="18" charset="0"/>
                          </a:rPr>
                          <m:t>𝐷𝑆</m:t>
                        </m:r>
                      </m:e>
                    </m:d>
                    <m:r>
                      <a:rPr lang="en-US" sz="2300" i="1">
                        <a:latin typeface="Cambria Math" panose="02040503050406030204" pitchFamily="18" charset="0"/>
                        <a:ea typeface="Cambria Math" panose="02040503050406030204" pitchFamily="18" charset="0"/>
                      </a:rPr>
                      <m:t>=</m:t>
                    </m:r>
                    <m:d>
                      <m:dPr>
                        <m:ctrlPr>
                          <a:rPr lang="en-US" sz="2300" b="0" i="1" smtClean="0">
                            <a:latin typeface="Cambria Math" panose="02040503050406030204" pitchFamily="18" charset="0"/>
                            <a:ea typeface="Cambria Math" panose="02040503050406030204" pitchFamily="18" charset="0"/>
                          </a:rPr>
                        </m:ctrlPr>
                      </m:dPr>
                      <m:e>
                        <m:r>
                          <a:rPr lang="en-US" sz="2300" b="0" i="1" smtClean="0">
                            <a:latin typeface="Cambria Math" panose="02040503050406030204" pitchFamily="18" charset="0"/>
                            <a:ea typeface="Cambria Math" panose="02040503050406030204" pitchFamily="18" charset="0"/>
                          </a:rPr>
                          <m:t>0.92∗0.08</m:t>
                        </m:r>
                      </m:e>
                    </m:d>
                    <m:r>
                      <a:rPr lang="en-US" sz="2300" b="0" i="1" smtClean="0">
                        <a:latin typeface="Cambria Math" panose="02040503050406030204" pitchFamily="18" charset="0"/>
                        <a:ea typeface="Cambria Math" panose="02040503050406030204" pitchFamily="18" charset="0"/>
                      </a:rPr>
                      <m:t>+</m:t>
                    </m:r>
                    <m:d>
                      <m:dPr>
                        <m:ctrlPr>
                          <a:rPr lang="en-US" sz="2300" b="0" i="1" smtClean="0">
                            <a:latin typeface="Cambria Math" panose="02040503050406030204" pitchFamily="18" charset="0"/>
                            <a:ea typeface="Cambria Math" panose="02040503050406030204" pitchFamily="18" charset="0"/>
                          </a:rPr>
                        </m:ctrlPr>
                      </m:dPr>
                      <m:e>
                        <m:r>
                          <a:rPr lang="en-US" sz="2300" b="0" i="1" smtClean="0">
                            <a:latin typeface="Cambria Math" panose="02040503050406030204" pitchFamily="18" charset="0"/>
                            <a:ea typeface="Cambria Math" panose="02040503050406030204" pitchFamily="18" charset="0"/>
                          </a:rPr>
                          <m:t>0.08∗0.92</m:t>
                        </m:r>
                      </m:e>
                    </m:d>
                    <m:r>
                      <a:rPr lang="en-US" sz="2300" b="0" i="1" smtClean="0">
                        <a:latin typeface="Cambria Math" panose="02040503050406030204" pitchFamily="18" charset="0"/>
                        <a:ea typeface="Cambria Math" panose="02040503050406030204" pitchFamily="18" charset="0"/>
                      </a:rPr>
                      <m:t>+</m:t>
                    </m:r>
                    <m:d>
                      <m:dPr>
                        <m:ctrlPr>
                          <a:rPr lang="en-US" sz="2300" b="0" i="1" smtClean="0">
                            <a:latin typeface="Cambria Math" panose="02040503050406030204" pitchFamily="18" charset="0"/>
                            <a:ea typeface="Cambria Math" panose="02040503050406030204" pitchFamily="18" charset="0"/>
                          </a:rPr>
                        </m:ctrlPr>
                      </m:dPr>
                      <m:e>
                        <m:r>
                          <a:rPr lang="en-US" sz="2300" b="0" i="1" smtClean="0">
                            <a:latin typeface="Cambria Math" panose="02040503050406030204" pitchFamily="18" charset="0"/>
                            <a:ea typeface="Cambria Math" panose="02040503050406030204" pitchFamily="18" charset="0"/>
                          </a:rPr>
                          <m:t>0.92∗0.92</m:t>
                        </m:r>
                      </m:e>
                    </m:d>
                    <m:r>
                      <a:rPr lang="en-US" sz="2300" b="0" i="1" smtClean="0">
                        <a:latin typeface="Cambria Math" panose="02040503050406030204" pitchFamily="18" charset="0"/>
                        <a:ea typeface="Cambria Math" panose="02040503050406030204" pitchFamily="18" charset="0"/>
                      </a:rPr>
                      <m:t>=0.0736+0.0736+0.8464</m:t>
                    </m:r>
                  </m:oMath>
                </a14:m>
                <a:endParaRPr lang="en-US" sz="2300" b="0" i="1" dirty="0" smtClean="0">
                  <a:latin typeface="Cambria Math" panose="02040503050406030204" pitchFamily="18" charset="0"/>
                  <a:ea typeface="Cambria Math" panose="02040503050406030204" pitchFamily="18" charset="0"/>
                </a:endParaRPr>
              </a:p>
              <a:p>
                <a:pPr>
                  <a:lnSpc>
                    <a:spcPct val="150000"/>
                  </a:lnSpc>
                </a:pPr>
                <a14:m>
                  <m:oMath xmlns:m="http://schemas.openxmlformats.org/officeDocument/2006/math">
                    <m:r>
                      <a:rPr lang="en-US" sz="2300" i="1">
                        <a:latin typeface="Cambria Math" panose="02040503050406030204" pitchFamily="18" charset="0"/>
                        <a:ea typeface="Cambria Math" panose="02040503050406030204" pitchFamily="18" charset="0"/>
                      </a:rPr>
                      <m:t>𝑃</m:t>
                    </m:r>
                    <m:d>
                      <m:dPr>
                        <m:ctrlPr>
                          <a:rPr lang="en-US" sz="2300" i="1">
                            <a:latin typeface="Cambria Math" panose="02040503050406030204" pitchFamily="18" charset="0"/>
                            <a:ea typeface="Cambria Math" panose="02040503050406030204" pitchFamily="18" charset="0"/>
                          </a:rPr>
                        </m:ctrlPr>
                      </m:dPr>
                      <m:e>
                        <m:r>
                          <a:rPr lang="en-US" sz="2300" i="1">
                            <a:latin typeface="Cambria Math" panose="02040503050406030204" pitchFamily="18" charset="0"/>
                            <a:ea typeface="Cambria Math" panose="02040503050406030204" pitchFamily="18" charset="0"/>
                          </a:rPr>
                          <m:t>𝑎𝑡</m:t>
                        </m:r>
                        <m:r>
                          <a:rPr lang="en-US" sz="2300" i="1">
                            <a:latin typeface="Cambria Math" panose="02040503050406030204" pitchFamily="18" charset="0"/>
                            <a:ea typeface="Cambria Math" panose="02040503050406030204" pitchFamily="18" charset="0"/>
                          </a:rPr>
                          <m:t> </m:t>
                        </m:r>
                        <m:r>
                          <a:rPr lang="en-US" sz="2300" i="1">
                            <a:latin typeface="Cambria Math" panose="02040503050406030204" pitchFamily="18" charset="0"/>
                            <a:ea typeface="Cambria Math" panose="02040503050406030204" pitchFamily="18" charset="0"/>
                          </a:rPr>
                          <m:t>𝑙𝑒𝑎𝑠𝑡</m:t>
                        </m:r>
                        <m:r>
                          <a:rPr lang="en-US" sz="2300" i="1">
                            <a:latin typeface="Cambria Math" panose="02040503050406030204" pitchFamily="18" charset="0"/>
                            <a:ea typeface="Cambria Math" panose="02040503050406030204" pitchFamily="18" charset="0"/>
                          </a:rPr>
                          <m:t> 1 </m:t>
                        </m:r>
                        <m:r>
                          <a:rPr lang="en-US" sz="2300" i="1">
                            <a:latin typeface="Cambria Math" panose="02040503050406030204" pitchFamily="18" charset="0"/>
                            <a:ea typeface="Cambria Math" panose="02040503050406030204" pitchFamily="18" charset="0"/>
                          </a:rPr>
                          <m:t>𝐷𝑆</m:t>
                        </m:r>
                      </m:e>
                    </m:d>
                    <m:r>
                      <a:rPr lang="en-US" sz="2300" i="1">
                        <a:latin typeface="Cambria Math" panose="02040503050406030204" pitchFamily="18" charset="0"/>
                        <a:ea typeface="Cambria Math" panose="02040503050406030204" pitchFamily="18" charset="0"/>
                      </a:rPr>
                      <m:t>=</m:t>
                    </m:r>
                    <m:r>
                      <a:rPr lang="en-US" sz="2300" b="0" i="1" smtClean="0">
                        <a:solidFill>
                          <a:srgbClr val="FF0000"/>
                        </a:solidFill>
                        <a:latin typeface="Cambria Math" panose="02040503050406030204" pitchFamily="18" charset="0"/>
                        <a:ea typeface="Cambria Math" panose="02040503050406030204" pitchFamily="18" charset="0"/>
                      </a:rPr>
                      <m:t>0.9936</m:t>
                    </m:r>
                  </m:oMath>
                </a14:m>
                <a:endParaRPr lang="en-US" sz="2300" b="0" i="1" dirty="0" smtClean="0">
                  <a:solidFill>
                    <a:srgbClr val="FF0000"/>
                  </a:solidFill>
                  <a:latin typeface="Cambria Math" panose="02040503050406030204" pitchFamily="18" charset="0"/>
                  <a:ea typeface="Cambria Math" panose="02040503050406030204" pitchFamily="18" charset="0"/>
                </a:endParaRPr>
              </a:p>
              <a:p>
                <a:pPr>
                  <a:lnSpc>
                    <a:spcPct val="150000"/>
                  </a:lnSpc>
                </a:pPr>
                <a:r>
                  <a:rPr lang="en-US" sz="2300" u="sng" dirty="0" smtClean="0">
                    <a:latin typeface="Vani" panose="020B0502040204020203"/>
                    <a:ea typeface="Cambria Math" panose="02040503050406030204" pitchFamily="18" charset="0"/>
                  </a:rPr>
                  <a:t>2</a:t>
                </a:r>
                <a:r>
                  <a:rPr lang="en-US" sz="2300" u="sng" baseline="30000" dirty="0" smtClean="0">
                    <a:latin typeface="Vani" panose="020B0502040204020203"/>
                    <a:ea typeface="Cambria Math" panose="02040503050406030204" pitchFamily="18" charset="0"/>
                  </a:rPr>
                  <a:t>nd</a:t>
                </a:r>
                <a:r>
                  <a:rPr lang="en-US" sz="2300" u="sng" dirty="0">
                    <a:latin typeface="Vani" panose="020B0502040204020203"/>
                    <a:ea typeface="Cambria Math" panose="02040503050406030204" pitchFamily="18" charset="0"/>
                  </a:rPr>
                  <a:t> </a:t>
                </a:r>
                <a:r>
                  <a:rPr lang="en-US" sz="2300" u="sng" dirty="0" smtClean="0">
                    <a:latin typeface="Vani" panose="020B0502040204020203"/>
                    <a:ea typeface="Cambria Math" panose="02040503050406030204" pitchFamily="18" charset="0"/>
                  </a:rPr>
                  <a:t>Method (Complementary Rule)</a:t>
                </a:r>
              </a:p>
              <a:p>
                <a:pPr>
                  <a:lnSpc>
                    <a:spcPct val="150000"/>
                  </a:lnSpc>
                </a:pPr>
                <a14:m>
                  <m:oMath xmlns:m="http://schemas.openxmlformats.org/officeDocument/2006/math">
                    <m:r>
                      <a:rPr lang="en-US" sz="2300" i="1">
                        <a:latin typeface="Cambria Math" panose="02040503050406030204" pitchFamily="18" charset="0"/>
                        <a:ea typeface="Cambria Math" panose="02040503050406030204" pitchFamily="18" charset="0"/>
                      </a:rPr>
                      <m:t>𝑃</m:t>
                    </m:r>
                    <m:d>
                      <m:dPr>
                        <m:ctrlPr>
                          <a:rPr lang="en-US" sz="2300" i="1">
                            <a:latin typeface="Cambria Math" panose="02040503050406030204" pitchFamily="18" charset="0"/>
                            <a:ea typeface="Cambria Math" panose="02040503050406030204" pitchFamily="18" charset="0"/>
                          </a:rPr>
                        </m:ctrlPr>
                      </m:dPr>
                      <m:e>
                        <m:r>
                          <a:rPr lang="en-US" sz="2300" i="1">
                            <a:latin typeface="Cambria Math" panose="02040503050406030204" pitchFamily="18" charset="0"/>
                            <a:ea typeface="Cambria Math" panose="02040503050406030204" pitchFamily="18" charset="0"/>
                          </a:rPr>
                          <m:t>𝑎𝑡</m:t>
                        </m:r>
                        <m:r>
                          <a:rPr lang="en-US" sz="2300" i="1">
                            <a:latin typeface="Cambria Math" panose="02040503050406030204" pitchFamily="18" charset="0"/>
                            <a:ea typeface="Cambria Math" panose="02040503050406030204" pitchFamily="18" charset="0"/>
                          </a:rPr>
                          <m:t> </m:t>
                        </m:r>
                        <m:r>
                          <a:rPr lang="en-US" sz="2300" i="1">
                            <a:latin typeface="Cambria Math" panose="02040503050406030204" pitchFamily="18" charset="0"/>
                            <a:ea typeface="Cambria Math" panose="02040503050406030204" pitchFamily="18" charset="0"/>
                          </a:rPr>
                          <m:t>𝑙𝑒𝑎𝑠𝑡</m:t>
                        </m:r>
                        <m:r>
                          <a:rPr lang="en-US" sz="2300" i="1">
                            <a:latin typeface="Cambria Math" panose="02040503050406030204" pitchFamily="18" charset="0"/>
                            <a:ea typeface="Cambria Math" panose="02040503050406030204" pitchFamily="18" charset="0"/>
                          </a:rPr>
                          <m:t> 1 </m:t>
                        </m:r>
                        <m:r>
                          <a:rPr lang="en-US" sz="2300" i="1">
                            <a:latin typeface="Cambria Math" panose="02040503050406030204" pitchFamily="18" charset="0"/>
                            <a:ea typeface="Cambria Math" panose="02040503050406030204" pitchFamily="18" charset="0"/>
                          </a:rPr>
                          <m:t>𝐷𝑆</m:t>
                        </m:r>
                      </m:e>
                    </m:d>
                    <m:r>
                      <a:rPr lang="en-US" sz="2300" b="0" i="1" smtClean="0">
                        <a:latin typeface="Cambria Math" panose="02040503050406030204" pitchFamily="18" charset="0"/>
                        <a:ea typeface="Cambria Math" panose="02040503050406030204" pitchFamily="18" charset="0"/>
                      </a:rPr>
                      <m:t>=1−</m:t>
                    </m:r>
                    <m:r>
                      <a:rPr lang="en-US" sz="2300" b="0" i="1" smtClean="0">
                        <a:latin typeface="Cambria Math" panose="02040503050406030204" pitchFamily="18" charset="0"/>
                        <a:ea typeface="Cambria Math" panose="02040503050406030204" pitchFamily="18" charset="0"/>
                      </a:rPr>
                      <m:t>𝑃</m:t>
                    </m:r>
                    <m:d>
                      <m:dPr>
                        <m:ctrlPr>
                          <a:rPr lang="en-US" sz="2300" b="0" i="1" smtClean="0">
                            <a:latin typeface="Cambria Math" panose="02040503050406030204" pitchFamily="18" charset="0"/>
                            <a:ea typeface="Cambria Math" panose="02040503050406030204" pitchFamily="18" charset="0"/>
                          </a:rPr>
                        </m:ctrlPr>
                      </m:dPr>
                      <m:e>
                        <m:r>
                          <a:rPr lang="en-US" sz="2300" b="0" i="1" smtClean="0">
                            <a:latin typeface="Cambria Math" panose="02040503050406030204" pitchFamily="18" charset="0"/>
                            <a:ea typeface="Cambria Math" panose="02040503050406030204" pitchFamily="18" charset="0"/>
                          </a:rPr>
                          <m:t>𝐷𝐹</m:t>
                        </m:r>
                        <m:r>
                          <a:rPr lang="en-US" sz="2300" b="0" i="1" smtClean="0">
                            <a:latin typeface="Cambria Math" panose="02040503050406030204" pitchFamily="18" charset="0"/>
                            <a:ea typeface="Cambria Math" panose="02040503050406030204" pitchFamily="18" charset="0"/>
                          </a:rPr>
                          <m:t>−</m:t>
                        </m:r>
                        <m:r>
                          <a:rPr lang="en-US" sz="2300" b="0" i="1" smtClean="0">
                            <a:latin typeface="Cambria Math" panose="02040503050406030204" pitchFamily="18" charset="0"/>
                            <a:ea typeface="Cambria Math" panose="02040503050406030204" pitchFamily="18" charset="0"/>
                          </a:rPr>
                          <m:t>𝐷𝐹</m:t>
                        </m:r>
                      </m:e>
                    </m:d>
                    <m:r>
                      <a:rPr lang="en-US" sz="2300" b="0" i="1" smtClean="0">
                        <a:latin typeface="Cambria Math" panose="02040503050406030204" pitchFamily="18" charset="0"/>
                        <a:ea typeface="Cambria Math" panose="02040503050406030204" pitchFamily="18" charset="0"/>
                      </a:rPr>
                      <m:t>=1−</m:t>
                    </m:r>
                    <m:d>
                      <m:dPr>
                        <m:ctrlPr>
                          <a:rPr lang="en-US" sz="2300" b="0" i="1" smtClean="0">
                            <a:latin typeface="Cambria Math" panose="02040503050406030204" pitchFamily="18" charset="0"/>
                            <a:ea typeface="Cambria Math" panose="02040503050406030204" pitchFamily="18" charset="0"/>
                          </a:rPr>
                        </m:ctrlPr>
                      </m:dPr>
                      <m:e>
                        <m:r>
                          <a:rPr lang="en-US" sz="2300" b="0" i="1" smtClean="0">
                            <a:latin typeface="Cambria Math" panose="02040503050406030204" pitchFamily="18" charset="0"/>
                            <a:ea typeface="Cambria Math" panose="02040503050406030204" pitchFamily="18" charset="0"/>
                          </a:rPr>
                          <m:t>0.08∗0.08</m:t>
                        </m:r>
                      </m:e>
                    </m:d>
                    <m:r>
                      <a:rPr lang="en-US" sz="2300" b="0" i="1" smtClean="0">
                        <a:latin typeface="Cambria Math" panose="02040503050406030204" pitchFamily="18" charset="0"/>
                        <a:ea typeface="Cambria Math" panose="02040503050406030204" pitchFamily="18" charset="0"/>
                      </a:rPr>
                      <m:t>=1−0.0064=</m:t>
                    </m:r>
                    <m:r>
                      <a:rPr lang="en-US" sz="2300" b="0" i="1" smtClean="0">
                        <a:solidFill>
                          <a:srgbClr val="FF0000"/>
                        </a:solidFill>
                        <a:latin typeface="Cambria Math" panose="02040503050406030204" pitchFamily="18" charset="0"/>
                        <a:ea typeface="Cambria Math" panose="02040503050406030204" pitchFamily="18" charset="0"/>
                      </a:rPr>
                      <m:t>0.9936</m:t>
                    </m:r>
                  </m:oMath>
                </a14:m>
                <a:endParaRPr lang="en-US" sz="2300" dirty="0">
                  <a:solidFill>
                    <a:srgbClr val="FF0000"/>
                  </a:solidFill>
                  <a:latin typeface="Vani" panose="020B0502040204020203"/>
                  <a:ea typeface="Cambria Math" panose="02040503050406030204" pitchFamily="18" charset="0"/>
                </a:endParaRPr>
              </a:p>
              <a:p>
                <a:pPr>
                  <a:lnSpc>
                    <a:spcPct val="150000"/>
                  </a:lnSpc>
                </a:pPr>
                <a:endParaRPr lang="en-US" sz="2300" b="1" i="1" dirty="0" smtClean="0">
                  <a:latin typeface="Cambria Math" panose="02040503050406030204" pitchFamily="18" charset="0"/>
                  <a:ea typeface="Cambria Math" panose="02040503050406030204" pitchFamily="18" charset="0"/>
                </a:endParaRPr>
              </a:p>
              <a:p>
                <a:pPr>
                  <a:lnSpc>
                    <a:spcPct val="150000"/>
                  </a:lnSpc>
                </a:pPr>
                <a:endParaRPr lang="en-US" sz="2300" dirty="0" smtClean="0">
                  <a:latin typeface="Vani" panose="020B0502040204020203" pitchFamily="34" charset="0"/>
                  <a:cs typeface="Vani" panose="020B0502040204020203" pitchFamily="34" charset="0"/>
                </a:endParaRPr>
              </a:p>
              <a:p>
                <a:pPr>
                  <a:lnSpc>
                    <a:spcPct val="150000"/>
                  </a:lnSpc>
                </a:pPr>
                <a:endParaRPr lang="en-US" sz="2300" b="0" dirty="0" smtClean="0">
                  <a:latin typeface="Vani" panose="020B0502040204020203" pitchFamily="34" charset="0"/>
                  <a:cs typeface="Vani" panose="020B0502040204020203" pitchFamily="34" charset="0"/>
                </a:endParaRPr>
              </a:p>
              <a:p>
                <a:pPr>
                  <a:lnSpc>
                    <a:spcPct val="150000"/>
                  </a:lnSpc>
                </a:pPr>
                <a:endParaRPr lang="en-US" sz="2300" dirty="0">
                  <a:latin typeface="Vani" panose="020B0502040204020203" pitchFamily="34" charset="0"/>
                  <a:cs typeface="Vani" panose="020B0502040204020203" pitchFamily="34" charset="0"/>
                </a:endParaRPr>
              </a:p>
              <a:p>
                <a:pPr>
                  <a:lnSpc>
                    <a:spcPct val="150000"/>
                  </a:lnSpc>
                </a:pPr>
                <a:endParaRPr lang="en-US" sz="2300" b="0" dirty="0" smtClean="0">
                  <a:latin typeface="Vani" panose="020B0502040204020203" pitchFamily="34" charset="0"/>
                  <a:cs typeface="Vani" panose="020B0502040204020203" pitchFamily="34" charset="0"/>
                </a:endParaRPr>
              </a:p>
            </p:txBody>
          </p:sp>
        </mc:Choice>
        <mc:Fallback>
          <p:sp>
            <p:nvSpPr>
              <p:cNvPr id="14" name="Content Placeholder 13"/>
              <p:cNvSpPr>
                <a:spLocks noGrp="1" noRot="1" noChangeAspect="1" noMove="1" noResize="1" noEditPoints="1" noAdjustHandles="1" noChangeArrowheads="1" noChangeShapeType="1" noTextEdit="1"/>
              </p:cNvSpPr>
              <p:nvPr>
                <p:ph idx="1"/>
              </p:nvPr>
            </p:nvSpPr>
            <p:spPr>
              <a:xfrm>
                <a:off x="0" y="1738184"/>
                <a:ext cx="12192000" cy="5119816"/>
              </a:xfrm>
              <a:blipFill rotWithShape="0">
                <a:blip r:embed="rId2"/>
                <a:stretch>
                  <a:fillRect l="-1350"/>
                </a:stretch>
              </a:blipFill>
            </p:spPr>
            <p:txBody>
              <a:bodyPr/>
              <a:lstStyle/>
              <a:p>
                <a:r>
                  <a:rPr lang="en-US">
                    <a:noFill/>
                  </a:rPr>
                  <a:t> </a:t>
                </a:r>
              </a:p>
            </p:txBody>
          </p:sp>
        </mc:Fallback>
      </mc:AlternateContent>
    </p:spTree>
    <p:extLst>
      <p:ext uri="{BB962C8B-B14F-4D97-AF65-F5344CB8AC3E}">
        <p14:creationId xmlns:p14="http://schemas.microsoft.com/office/powerpoint/2010/main" val="241865662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0" y="295562"/>
            <a:ext cx="12192000" cy="1008247"/>
          </a:xfrm>
        </p:spPr>
        <p:txBody>
          <a:bodyPr/>
          <a:lstStyle/>
          <a:p>
            <a:r>
              <a:rPr lang="en-US" dirty="0" smtClean="0"/>
              <a:t>Questions and Answers							</a:t>
            </a:r>
            <a:r>
              <a:rPr lang="en-US" dirty="0" smtClean="0"/>
              <a:t>16-3.</a:t>
            </a:r>
            <a:endParaRPr dirty="0"/>
          </a:p>
        </p:txBody>
      </p:sp>
      <mc:AlternateContent xmlns:mc="http://schemas.openxmlformats.org/markup-compatibility/2006">
        <mc:Choice xmlns:a14="http://schemas.microsoft.com/office/drawing/2010/main" Requires="a14">
          <p:sp>
            <p:nvSpPr>
              <p:cNvPr id="14" name="Content Placeholder 13"/>
              <p:cNvSpPr>
                <a:spLocks noGrp="1"/>
              </p:cNvSpPr>
              <p:nvPr>
                <p:ph idx="1"/>
              </p:nvPr>
            </p:nvSpPr>
            <p:spPr>
              <a:xfrm>
                <a:off x="0" y="1738184"/>
                <a:ext cx="12192000" cy="5119816"/>
              </a:xfrm>
            </p:spPr>
            <p:txBody>
              <a:bodyPr>
                <a:normAutofit/>
              </a:bodyPr>
              <a:lstStyle/>
              <a:p>
                <a:pPr lvl="0">
                  <a:lnSpc>
                    <a:spcPct val="150000"/>
                  </a:lnSpc>
                </a:pPr>
                <a:r>
                  <a:rPr lang="en-US" sz="2300" dirty="0" smtClean="0">
                    <a:latin typeface="Vani" panose="020B0502040204020203"/>
                    <a:ea typeface="Cambria Math" panose="02040503050406030204" pitchFamily="18" charset="0"/>
                  </a:rPr>
                  <a:t>(b.)	</a:t>
                </a:r>
                <a:r>
                  <a:rPr lang="en-US" sz="2300" dirty="0">
                    <a:solidFill>
                      <a:srgbClr val="115981"/>
                    </a:solidFill>
                    <a:latin typeface="Vani" panose="020B0502040204020203"/>
                    <a:ea typeface="Cambria Math" panose="02040503050406030204" pitchFamily="18" charset="0"/>
                  </a:rPr>
                  <a:t>Lucy stores all her computer data in a drive, and saves </a:t>
                </a:r>
                <a:r>
                  <a:rPr lang="en-US" sz="2300" dirty="0" smtClean="0">
                    <a:solidFill>
                      <a:srgbClr val="115981"/>
                    </a:solidFill>
                    <a:latin typeface="Vani" panose="020B0502040204020203"/>
                    <a:ea typeface="Cambria Math" panose="02040503050406030204" pitchFamily="18" charset="0"/>
                  </a:rPr>
                  <a:t>copies on four other drives. </a:t>
                </a:r>
                <a:r>
                  <a:rPr lang="en-US" sz="2300" dirty="0">
                    <a:solidFill>
                      <a:srgbClr val="115981"/>
                    </a:solidFill>
                    <a:latin typeface="Vani" panose="020B0502040204020203"/>
                    <a:ea typeface="Cambria Math" panose="02040503050406030204" pitchFamily="18" charset="0"/>
                  </a:rPr>
                  <a:t>Determine the probability that at least one of her drives would work</a:t>
                </a:r>
                <a:r>
                  <a:rPr lang="en-US" sz="2300" dirty="0" smtClean="0">
                    <a:solidFill>
                      <a:srgbClr val="115981"/>
                    </a:solidFill>
                    <a:latin typeface="Vani" panose="020B0502040204020203"/>
                    <a:ea typeface="Cambria Math" panose="02040503050406030204" pitchFamily="18" charset="0"/>
                  </a:rPr>
                  <a:t>. Round to six decimal places as needed.</a:t>
                </a:r>
              </a:p>
              <a:p>
                <a:pPr lvl="0">
                  <a:lnSpc>
                    <a:spcPct val="150000"/>
                  </a:lnSpc>
                </a:pPr>
                <a:r>
                  <a:rPr lang="en-US" sz="2300" dirty="0" smtClean="0">
                    <a:solidFill>
                      <a:srgbClr val="115981"/>
                    </a:solidFill>
                    <a:latin typeface="Vani" panose="020B0502040204020203"/>
                    <a:ea typeface="Cambria Math" panose="02040503050406030204" pitchFamily="18" charset="0"/>
                  </a:rPr>
                  <a:t>It is best to do this with the 2</a:t>
                </a:r>
                <a:r>
                  <a:rPr lang="en-US" sz="2300" baseline="30000" dirty="0" smtClean="0">
                    <a:solidFill>
                      <a:srgbClr val="115981"/>
                    </a:solidFill>
                    <a:latin typeface="Vani" panose="020B0502040204020203"/>
                    <a:ea typeface="Cambria Math" panose="02040503050406030204" pitchFamily="18" charset="0"/>
                  </a:rPr>
                  <a:t>nd</a:t>
                </a:r>
                <a:r>
                  <a:rPr lang="en-US" sz="2300" dirty="0" smtClean="0">
                    <a:solidFill>
                      <a:srgbClr val="115981"/>
                    </a:solidFill>
                    <a:latin typeface="Vani" panose="020B0502040204020203"/>
                    <a:ea typeface="Cambria Math" panose="02040503050406030204" pitchFamily="18" charset="0"/>
                  </a:rPr>
                  <a:t> Method because the 1</a:t>
                </a:r>
                <a:r>
                  <a:rPr lang="en-US" sz="2300" baseline="30000" dirty="0" smtClean="0">
                    <a:solidFill>
                      <a:srgbClr val="115981"/>
                    </a:solidFill>
                    <a:latin typeface="Vani" panose="020B0502040204020203"/>
                    <a:ea typeface="Cambria Math" panose="02040503050406030204" pitchFamily="18" charset="0"/>
                  </a:rPr>
                  <a:t>st</a:t>
                </a:r>
                <a:r>
                  <a:rPr lang="en-US" sz="2300" dirty="0" smtClean="0">
                    <a:solidFill>
                      <a:srgbClr val="115981"/>
                    </a:solidFill>
                    <a:latin typeface="Vani" panose="020B0502040204020203"/>
                    <a:ea typeface="Cambria Math" panose="02040503050406030204" pitchFamily="18" charset="0"/>
                  </a:rPr>
                  <a:t> Method would be cumbersome </a:t>
                </a:r>
                <a:r>
                  <a:rPr lang="en-US" sz="2300" dirty="0" smtClean="0">
                    <a:solidFill>
                      <a:srgbClr val="115981"/>
                    </a:solidFill>
                    <a:latin typeface="Vani" panose="020B0502040204020203"/>
                    <a:ea typeface="Cambria Math" panose="02040503050406030204" pitchFamily="18" charset="0"/>
                    <a:sym typeface="Wingdings" panose="05000000000000000000" pitchFamily="2" charset="2"/>
                  </a:rPr>
                  <a:t></a:t>
                </a:r>
              </a:p>
              <a:p>
                <a:pPr lvl="0">
                  <a:lnSpc>
                    <a:spcPct val="150000"/>
                  </a:lnSpc>
                </a:pPr>
                <a:r>
                  <a:rPr lang="en-US" sz="2300" dirty="0" smtClean="0">
                    <a:solidFill>
                      <a:srgbClr val="115981"/>
                    </a:solidFill>
                    <a:latin typeface="Vani" panose="020B0502040204020203"/>
                    <a:ea typeface="Cambria Math" panose="02040503050406030204" pitchFamily="18" charset="0"/>
                    <a:sym typeface="Wingdings" panose="05000000000000000000" pitchFamily="2" charset="2"/>
                  </a:rPr>
                  <a:t>(b.)	</a:t>
                </a:r>
                <a14:m>
                  <m:oMath xmlns:m="http://schemas.openxmlformats.org/officeDocument/2006/math">
                    <m:r>
                      <a:rPr lang="en-US" sz="2300" b="0" i="1" smtClean="0">
                        <a:solidFill>
                          <a:srgbClr val="115981"/>
                        </a:solidFill>
                        <a:latin typeface="Cambria Math" panose="02040503050406030204" pitchFamily="18" charset="0"/>
                        <a:ea typeface="Cambria Math" panose="02040503050406030204" pitchFamily="18" charset="0"/>
                        <a:sym typeface="Wingdings" panose="05000000000000000000" pitchFamily="2" charset="2"/>
                      </a:rPr>
                      <m:t>𝑃</m:t>
                    </m:r>
                    <m:d>
                      <m:dPr>
                        <m:ctrlPr>
                          <a:rPr lang="en-US" sz="2300" b="0" i="1" smtClean="0">
                            <a:solidFill>
                              <a:srgbClr val="115981"/>
                            </a:solidFill>
                            <a:latin typeface="Cambria Math" panose="02040503050406030204" pitchFamily="18" charset="0"/>
                            <a:ea typeface="Cambria Math" panose="02040503050406030204" pitchFamily="18" charset="0"/>
                            <a:sym typeface="Wingdings" panose="05000000000000000000" pitchFamily="2" charset="2"/>
                          </a:rPr>
                        </m:ctrlPr>
                      </m:dPr>
                      <m:e>
                        <m:r>
                          <a:rPr lang="en-US" sz="2300" b="0" i="1" smtClean="0">
                            <a:solidFill>
                              <a:srgbClr val="115981"/>
                            </a:solidFill>
                            <a:latin typeface="Cambria Math" panose="02040503050406030204" pitchFamily="18" charset="0"/>
                            <a:ea typeface="Cambria Math" panose="02040503050406030204" pitchFamily="18" charset="0"/>
                            <a:sym typeface="Wingdings" panose="05000000000000000000" pitchFamily="2" charset="2"/>
                          </a:rPr>
                          <m:t>𝑎𝑡</m:t>
                        </m:r>
                        <m:r>
                          <a:rPr lang="en-US" sz="2300" b="0" i="1" smtClean="0">
                            <a:solidFill>
                              <a:srgbClr val="115981"/>
                            </a:solidFill>
                            <a:latin typeface="Cambria Math" panose="02040503050406030204" pitchFamily="18" charset="0"/>
                            <a:ea typeface="Cambria Math" panose="02040503050406030204" pitchFamily="18" charset="0"/>
                            <a:sym typeface="Wingdings" panose="05000000000000000000" pitchFamily="2" charset="2"/>
                          </a:rPr>
                          <m:t> </m:t>
                        </m:r>
                        <m:r>
                          <a:rPr lang="en-US" sz="2300" b="0" i="1" smtClean="0">
                            <a:solidFill>
                              <a:srgbClr val="115981"/>
                            </a:solidFill>
                            <a:latin typeface="Cambria Math" panose="02040503050406030204" pitchFamily="18" charset="0"/>
                            <a:ea typeface="Cambria Math" panose="02040503050406030204" pitchFamily="18" charset="0"/>
                            <a:sym typeface="Wingdings" panose="05000000000000000000" pitchFamily="2" charset="2"/>
                          </a:rPr>
                          <m:t>𝑙𝑒𝑎𝑠𝑡</m:t>
                        </m:r>
                        <m:r>
                          <a:rPr lang="en-US" sz="2300" b="0" i="1" smtClean="0">
                            <a:solidFill>
                              <a:srgbClr val="115981"/>
                            </a:solidFill>
                            <a:latin typeface="Cambria Math" panose="02040503050406030204" pitchFamily="18" charset="0"/>
                            <a:ea typeface="Cambria Math" panose="02040503050406030204" pitchFamily="18" charset="0"/>
                            <a:sym typeface="Wingdings" panose="05000000000000000000" pitchFamily="2" charset="2"/>
                          </a:rPr>
                          <m:t> 1 </m:t>
                        </m:r>
                        <m:r>
                          <a:rPr lang="en-US" sz="2300" b="0" i="1" smtClean="0">
                            <a:solidFill>
                              <a:srgbClr val="115981"/>
                            </a:solidFill>
                            <a:latin typeface="Cambria Math" panose="02040503050406030204" pitchFamily="18" charset="0"/>
                            <a:ea typeface="Cambria Math" panose="02040503050406030204" pitchFamily="18" charset="0"/>
                            <a:sym typeface="Wingdings" panose="05000000000000000000" pitchFamily="2" charset="2"/>
                          </a:rPr>
                          <m:t>𝑜𝑓</m:t>
                        </m:r>
                        <m:r>
                          <a:rPr lang="en-US" sz="2300" b="0" i="1" smtClean="0">
                            <a:solidFill>
                              <a:srgbClr val="115981"/>
                            </a:solidFill>
                            <a:latin typeface="Cambria Math" panose="02040503050406030204" pitchFamily="18" charset="0"/>
                            <a:ea typeface="Cambria Math" panose="02040503050406030204" pitchFamily="18" charset="0"/>
                            <a:sym typeface="Wingdings" panose="05000000000000000000" pitchFamily="2" charset="2"/>
                          </a:rPr>
                          <m:t> </m:t>
                        </m:r>
                        <m:r>
                          <a:rPr lang="en-US" sz="2300" b="0" i="1" smtClean="0">
                            <a:solidFill>
                              <a:srgbClr val="115981"/>
                            </a:solidFill>
                            <a:latin typeface="Cambria Math" panose="02040503050406030204" pitchFamily="18" charset="0"/>
                            <a:ea typeface="Cambria Math" panose="02040503050406030204" pitchFamily="18" charset="0"/>
                            <a:sym typeface="Wingdings" panose="05000000000000000000" pitchFamily="2" charset="2"/>
                          </a:rPr>
                          <m:t>𝑡h𝑒</m:t>
                        </m:r>
                        <m:r>
                          <a:rPr lang="en-US" sz="2300" b="0" i="1" smtClean="0">
                            <a:solidFill>
                              <a:srgbClr val="115981"/>
                            </a:solidFill>
                            <a:latin typeface="Cambria Math" panose="02040503050406030204" pitchFamily="18" charset="0"/>
                            <a:ea typeface="Cambria Math" panose="02040503050406030204" pitchFamily="18" charset="0"/>
                            <a:sym typeface="Wingdings" panose="05000000000000000000" pitchFamily="2" charset="2"/>
                          </a:rPr>
                          <m:t> 4 </m:t>
                        </m:r>
                        <m:r>
                          <a:rPr lang="en-US" sz="2300" b="0" i="1" smtClean="0">
                            <a:solidFill>
                              <a:srgbClr val="115981"/>
                            </a:solidFill>
                            <a:latin typeface="Cambria Math" panose="02040503050406030204" pitchFamily="18" charset="0"/>
                            <a:ea typeface="Cambria Math" panose="02040503050406030204" pitchFamily="18" charset="0"/>
                            <a:sym typeface="Wingdings" panose="05000000000000000000" pitchFamily="2" charset="2"/>
                          </a:rPr>
                          <m:t>𝑤𝑜𝑟𝑘𝑠</m:t>
                        </m:r>
                      </m:e>
                    </m:d>
                    <m:r>
                      <a:rPr lang="en-US" sz="2300" b="0" i="1" smtClean="0">
                        <a:solidFill>
                          <a:srgbClr val="115981"/>
                        </a:solidFill>
                        <a:latin typeface="Cambria Math" panose="02040503050406030204" pitchFamily="18" charset="0"/>
                        <a:ea typeface="Cambria Math" panose="02040503050406030204" pitchFamily="18" charset="0"/>
                        <a:sym typeface="Wingdings" panose="05000000000000000000" pitchFamily="2" charset="2"/>
                      </a:rPr>
                      <m:t>=1−</m:t>
                    </m:r>
                    <m:r>
                      <a:rPr lang="en-US" sz="2300" b="0" i="1" smtClean="0">
                        <a:solidFill>
                          <a:srgbClr val="115981"/>
                        </a:solidFill>
                        <a:latin typeface="Cambria Math" panose="02040503050406030204" pitchFamily="18" charset="0"/>
                        <a:ea typeface="Cambria Math" panose="02040503050406030204" pitchFamily="18" charset="0"/>
                        <a:sym typeface="Wingdings" panose="05000000000000000000" pitchFamily="2" charset="2"/>
                      </a:rPr>
                      <m:t>𝑃</m:t>
                    </m:r>
                    <m:d>
                      <m:dPr>
                        <m:ctrlPr>
                          <a:rPr lang="en-US" sz="2300" b="0" i="1" smtClean="0">
                            <a:solidFill>
                              <a:srgbClr val="115981"/>
                            </a:solidFill>
                            <a:latin typeface="Cambria Math" panose="02040503050406030204" pitchFamily="18" charset="0"/>
                            <a:ea typeface="Cambria Math" panose="02040503050406030204" pitchFamily="18" charset="0"/>
                            <a:sym typeface="Wingdings" panose="05000000000000000000" pitchFamily="2" charset="2"/>
                          </a:rPr>
                        </m:ctrlPr>
                      </m:dPr>
                      <m:e>
                        <m:r>
                          <a:rPr lang="en-US" sz="2300" b="0" i="1" smtClean="0">
                            <a:solidFill>
                              <a:srgbClr val="115981"/>
                            </a:solidFill>
                            <a:latin typeface="Cambria Math" panose="02040503050406030204" pitchFamily="18" charset="0"/>
                            <a:ea typeface="Cambria Math" panose="02040503050406030204" pitchFamily="18" charset="0"/>
                            <a:sym typeface="Wingdings" panose="05000000000000000000" pitchFamily="2" charset="2"/>
                          </a:rPr>
                          <m:t>𝑛𝑜𝑛𝑒</m:t>
                        </m:r>
                        <m:r>
                          <a:rPr lang="en-US" sz="2300" b="0" i="1" smtClean="0">
                            <a:solidFill>
                              <a:srgbClr val="115981"/>
                            </a:solidFill>
                            <a:latin typeface="Cambria Math" panose="02040503050406030204" pitchFamily="18" charset="0"/>
                            <a:ea typeface="Cambria Math" panose="02040503050406030204" pitchFamily="18" charset="0"/>
                            <a:sym typeface="Wingdings" panose="05000000000000000000" pitchFamily="2" charset="2"/>
                          </a:rPr>
                          <m:t> </m:t>
                        </m:r>
                        <m:r>
                          <a:rPr lang="en-US" sz="2300" b="0" i="1" smtClean="0">
                            <a:solidFill>
                              <a:srgbClr val="115981"/>
                            </a:solidFill>
                            <a:latin typeface="Cambria Math" panose="02040503050406030204" pitchFamily="18" charset="0"/>
                            <a:ea typeface="Cambria Math" panose="02040503050406030204" pitchFamily="18" charset="0"/>
                            <a:sym typeface="Wingdings" panose="05000000000000000000" pitchFamily="2" charset="2"/>
                          </a:rPr>
                          <m:t>𝑜𝑓</m:t>
                        </m:r>
                        <m:r>
                          <a:rPr lang="en-US" sz="2300" b="0" i="1" smtClean="0">
                            <a:solidFill>
                              <a:srgbClr val="115981"/>
                            </a:solidFill>
                            <a:latin typeface="Cambria Math" panose="02040503050406030204" pitchFamily="18" charset="0"/>
                            <a:ea typeface="Cambria Math" panose="02040503050406030204" pitchFamily="18" charset="0"/>
                            <a:sym typeface="Wingdings" panose="05000000000000000000" pitchFamily="2" charset="2"/>
                          </a:rPr>
                          <m:t> </m:t>
                        </m:r>
                        <m:r>
                          <a:rPr lang="en-US" sz="2300" b="0" i="1" smtClean="0">
                            <a:solidFill>
                              <a:srgbClr val="115981"/>
                            </a:solidFill>
                            <a:latin typeface="Cambria Math" panose="02040503050406030204" pitchFamily="18" charset="0"/>
                            <a:ea typeface="Cambria Math" panose="02040503050406030204" pitchFamily="18" charset="0"/>
                            <a:sym typeface="Wingdings" panose="05000000000000000000" pitchFamily="2" charset="2"/>
                          </a:rPr>
                          <m:t>𝑡h𝑒</m:t>
                        </m:r>
                        <m:r>
                          <a:rPr lang="en-US" sz="2300" b="0" i="1" smtClean="0">
                            <a:solidFill>
                              <a:srgbClr val="115981"/>
                            </a:solidFill>
                            <a:latin typeface="Cambria Math" panose="02040503050406030204" pitchFamily="18" charset="0"/>
                            <a:ea typeface="Cambria Math" panose="02040503050406030204" pitchFamily="18" charset="0"/>
                            <a:sym typeface="Wingdings" panose="05000000000000000000" pitchFamily="2" charset="2"/>
                          </a:rPr>
                          <m:t> 4 </m:t>
                        </m:r>
                        <m:r>
                          <a:rPr lang="en-US" sz="2300" b="0" i="1" smtClean="0">
                            <a:solidFill>
                              <a:srgbClr val="115981"/>
                            </a:solidFill>
                            <a:latin typeface="Cambria Math" panose="02040503050406030204" pitchFamily="18" charset="0"/>
                            <a:ea typeface="Cambria Math" panose="02040503050406030204" pitchFamily="18" charset="0"/>
                            <a:sym typeface="Wingdings" panose="05000000000000000000" pitchFamily="2" charset="2"/>
                          </a:rPr>
                          <m:t>𝑤𝑜𝑟𝑘</m:t>
                        </m:r>
                      </m:e>
                    </m:d>
                  </m:oMath>
                </a14:m>
                <a:endParaRPr lang="en-US" sz="2300" b="0" dirty="0" smtClean="0">
                  <a:solidFill>
                    <a:srgbClr val="115981"/>
                  </a:solidFill>
                  <a:latin typeface="Vani" panose="020B0502040204020203"/>
                  <a:ea typeface="Cambria Math" panose="02040503050406030204" pitchFamily="18" charset="0"/>
                  <a:sym typeface="Wingdings" panose="05000000000000000000" pitchFamily="2" charset="2"/>
                </a:endParaRPr>
              </a:p>
              <a:p>
                <a:pPr lvl="0">
                  <a:lnSpc>
                    <a:spcPct val="150000"/>
                  </a:lnSpc>
                </a:pPr>
                <a14:m>
                  <m:oMath xmlns:m="http://schemas.openxmlformats.org/officeDocument/2006/math">
                    <m:r>
                      <a:rPr lang="en-US" sz="2300" i="1">
                        <a:latin typeface="Cambria Math" panose="02040503050406030204" pitchFamily="18" charset="0"/>
                        <a:ea typeface="Cambria Math" panose="02040503050406030204" pitchFamily="18" charset="0"/>
                      </a:rPr>
                      <m:t>𝑃</m:t>
                    </m:r>
                    <m:d>
                      <m:dPr>
                        <m:ctrlPr>
                          <a:rPr lang="en-US" sz="2300" i="1">
                            <a:latin typeface="Cambria Math" panose="02040503050406030204" pitchFamily="18" charset="0"/>
                            <a:ea typeface="Cambria Math" panose="02040503050406030204" pitchFamily="18" charset="0"/>
                          </a:rPr>
                        </m:ctrlPr>
                      </m:dPr>
                      <m:e>
                        <m:r>
                          <a:rPr lang="en-US" sz="2300" i="1">
                            <a:latin typeface="Cambria Math" panose="02040503050406030204" pitchFamily="18" charset="0"/>
                            <a:ea typeface="Cambria Math" panose="02040503050406030204" pitchFamily="18" charset="0"/>
                          </a:rPr>
                          <m:t>𝑎𝑡</m:t>
                        </m:r>
                        <m:r>
                          <a:rPr lang="en-US" sz="2300" i="1">
                            <a:latin typeface="Cambria Math" panose="02040503050406030204" pitchFamily="18" charset="0"/>
                            <a:ea typeface="Cambria Math" panose="02040503050406030204" pitchFamily="18" charset="0"/>
                          </a:rPr>
                          <m:t> </m:t>
                        </m:r>
                        <m:r>
                          <a:rPr lang="en-US" sz="2300" i="1">
                            <a:latin typeface="Cambria Math" panose="02040503050406030204" pitchFamily="18" charset="0"/>
                            <a:ea typeface="Cambria Math" panose="02040503050406030204" pitchFamily="18" charset="0"/>
                          </a:rPr>
                          <m:t>𝑙𝑒𝑎𝑠𝑡</m:t>
                        </m:r>
                        <m:r>
                          <a:rPr lang="en-US" sz="2300" i="1">
                            <a:latin typeface="Cambria Math" panose="02040503050406030204" pitchFamily="18" charset="0"/>
                            <a:ea typeface="Cambria Math" panose="02040503050406030204" pitchFamily="18" charset="0"/>
                          </a:rPr>
                          <m:t> 1 </m:t>
                        </m:r>
                        <m:r>
                          <a:rPr lang="en-US" sz="2300" i="1">
                            <a:latin typeface="Cambria Math" panose="02040503050406030204" pitchFamily="18" charset="0"/>
                            <a:ea typeface="Cambria Math" panose="02040503050406030204" pitchFamily="18" charset="0"/>
                          </a:rPr>
                          <m:t>𝐷𝑆</m:t>
                        </m:r>
                      </m:e>
                    </m:d>
                    <m:r>
                      <a:rPr lang="en-US" sz="2300" b="0" i="1" smtClean="0">
                        <a:latin typeface="Cambria Math" panose="02040503050406030204" pitchFamily="18" charset="0"/>
                        <a:ea typeface="Cambria Math" panose="02040503050406030204" pitchFamily="18" charset="0"/>
                      </a:rPr>
                      <m:t>=1−</m:t>
                    </m:r>
                    <m:d>
                      <m:dPr>
                        <m:ctrlPr>
                          <a:rPr lang="en-US" sz="2300" b="0" i="1" smtClean="0">
                            <a:latin typeface="Cambria Math" panose="02040503050406030204" pitchFamily="18" charset="0"/>
                            <a:ea typeface="Cambria Math" panose="02040503050406030204" pitchFamily="18" charset="0"/>
                          </a:rPr>
                        </m:ctrlPr>
                      </m:dPr>
                      <m:e>
                        <m:r>
                          <a:rPr lang="en-US" sz="2300" b="0" i="1" smtClean="0">
                            <a:latin typeface="Cambria Math" panose="02040503050406030204" pitchFamily="18" charset="0"/>
                            <a:ea typeface="Cambria Math" panose="02040503050406030204" pitchFamily="18" charset="0"/>
                          </a:rPr>
                          <m:t>0.08∗0.08∗0.08∗0.08</m:t>
                        </m:r>
                      </m:e>
                    </m:d>
                    <m:r>
                      <a:rPr lang="en-US" sz="2300" b="0" i="1" smtClean="0">
                        <a:latin typeface="Cambria Math" panose="02040503050406030204" pitchFamily="18" charset="0"/>
                        <a:ea typeface="Cambria Math" panose="02040503050406030204" pitchFamily="18" charset="0"/>
                      </a:rPr>
                      <m:t>=1−</m:t>
                    </m:r>
                    <m:sSup>
                      <m:sSupPr>
                        <m:ctrlPr>
                          <a:rPr lang="en-US" sz="2300" b="0" i="1" smtClean="0">
                            <a:latin typeface="Cambria Math" panose="02040503050406030204" pitchFamily="18" charset="0"/>
                            <a:ea typeface="Cambria Math" panose="02040503050406030204" pitchFamily="18" charset="0"/>
                          </a:rPr>
                        </m:ctrlPr>
                      </m:sSupPr>
                      <m:e>
                        <m:r>
                          <a:rPr lang="en-US" sz="2300" b="0" i="1" smtClean="0">
                            <a:latin typeface="Cambria Math" panose="02040503050406030204" pitchFamily="18" charset="0"/>
                            <a:ea typeface="Cambria Math" panose="02040503050406030204" pitchFamily="18" charset="0"/>
                          </a:rPr>
                          <m:t>0.08</m:t>
                        </m:r>
                      </m:e>
                      <m:sup>
                        <m:r>
                          <a:rPr lang="en-US" sz="2300" b="0" i="1" smtClean="0">
                            <a:latin typeface="Cambria Math" panose="02040503050406030204" pitchFamily="18" charset="0"/>
                            <a:ea typeface="Cambria Math" panose="02040503050406030204" pitchFamily="18" charset="0"/>
                          </a:rPr>
                          <m:t>4</m:t>
                        </m:r>
                      </m:sup>
                    </m:sSup>
                    <m:r>
                      <a:rPr lang="en-US" sz="2300" b="0" i="1" smtClean="0">
                        <a:latin typeface="Cambria Math" panose="02040503050406030204" pitchFamily="18" charset="0"/>
                        <a:ea typeface="Cambria Math" panose="02040503050406030204" pitchFamily="18" charset="0"/>
                      </a:rPr>
                      <m:t>=1−0.00004096</m:t>
                    </m:r>
                  </m:oMath>
                </a14:m>
                <a:endParaRPr lang="en-US" sz="2300" b="0" dirty="0" smtClean="0">
                  <a:solidFill>
                    <a:srgbClr val="115981"/>
                  </a:solidFill>
                  <a:latin typeface="Vani" panose="020B0502040204020203"/>
                  <a:ea typeface="Cambria Math" panose="02040503050406030204" pitchFamily="18" charset="0"/>
                  <a:sym typeface="Wingdings" panose="05000000000000000000" pitchFamily="2" charset="2"/>
                </a:endParaRPr>
              </a:p>
              <a:p>
                <a:pPr lvl="0">
                  <a:lnSpc>
                    <a:spcPct val="150000"/>
                  </a:lnSpc>
                </a:pPr>
                <a14:m>
                  <m:oMath xmlns:m="http://schemas.openxmlformats.org/officeDocument/2006/math">
                    <m:r>
                      <a:rPr lang="en-US" sz="2300" i="1">
                        <a:latin typeface="Cambria Math" panose="02040503050406030204" pitchFamily="18" charset="0"/>
                        <a:ea typeface="Cambria Math" panose="02040503050406030204" pitchFamily="18" charset="0"/>
                      </a:rPr>
                      <m:t>𝑃</m:t>
                    </m:r>
                    <m:d>
                      <m:dPr>
                        <m:ctrlPr>
                          <a:rPr lang="en-US" sz="2300" i="1">
                            <a:latin typeface="Cambria Math" panose="02040503050406030204" pitchFamily="18" charset="0"/>
                            <a:ea typeface="Cambria Math" panose="02040503050406030204" pitchFamily="18" charset="0"/>
                          </a:rPr>
                        </m:ctrlPr>
                      </m:dPr>
                      <m:e>
                        <m:r>
                          <a:rPr lang="en-US" sz="2300" i="1">
                            <a:latin typeface="Cambria Math" panose="02040503050406030204" pitchFamily="18" charset="0"/>
                            <a:ea typeface="Cambria Math" panose="02040503050406030204" pitchFamily="18" charset="0"/>
                          </a:rPr>
                          <m:t>𝑎𝑡</m:t>
                        </m:r>
                        <m:r>
                          <a:rPr lang="en-US" sz="2300" i="1">
                            <a:latin typeface="Cambria Math" panose="02040503050406030204" pitchFamily="18" charset="0"/>
                            <a:ea typeface="Cambria Math" panose="02040503050406030204" pitchFamily="18" charset="0"/>
                          </a:rPr>
                          <m:t> </m:t>
                        </m:r>
                        <m:r>
                          <a:rPr lang="en-US" sz="2300" i="1">
                            <a:latin typeface="Cambria Math" panose="02040503050406030204" pitchFamily="18" charset="0"/>
                            <a:ea typeface="Cambria Math" panose="02040503050406030204" pitchFamily="18" charset="0"/>
                          </a:rPr>
                          <m:t>𝑙𝑒𝑎𝑠𝑡</m:t>
                        </m:r>
                        <m:r>
                          <a:rPr lang="en-US" sz="2300" i="1">
                            <a:latin typeface="Cambria Math" panose="02040503050406030204" pitchFamily="18" charset="0"/>
                            <a:ea typeface="Cambria Math" panose="02040503050406030204" pitchFamily="18" charset="0"/>
                          </a:rPr>
                          <m:t> 1 </m:t>
                        </m:r>
                        <m:r>
                          <a:rPr lang="en-US" sz="2300" i="1">
                            <a:latin typeface="Cambria Math" panose="02040503050406030204" pitchFamily="18" charset="0"/>
                            <a:ea typeface="Cambria Math" panose="02040503050406030204" pitchFamily="18" charset="0"/>
                          </a:rPr>
                          <m:t>𝐷𝑆</m:t>
                        </m:r>
                      </m:e>
                    </m:d>
                    <m:r>
                      <a:rPr lang="en-US" sz="2300" i="1">
                        <a:latin typeface="Cambria Math" panose="02040503050406030204" pitchFamily="18" charset="0"/>
                        <a:ea typeface="Cambria Math" panose="02040503050406030204" pitchFamily="18" charset="0"/>
                      </a:rPr>
                      <m:t>=</m:t>
                    </m:r>
                    <m:r>
                      <a:rPr lang="en-US" sz="2300" b="0" i="1" smtClean="0">
                        <a:solidFill>
                          <a:srgbClr val="FF0000"/>
                        </a:solidFill>
                        <a:latin typeface="Cambria Math" panose="02040503050406030204" pitchFamily="18" charset="0"/>
                        <a:ea typeface="Cambria Math" panose="02040503050406030204" pitchFamily="18" charset="0"/>
                      </a:rPr>
                      <m:t>0.999959</m:t>
                    </m:r>
                  </m:oMath>
                </a14:m>
                <a:endParaRPr lang="en-US" sz="2300" b="0" dirty="0" smtClean="0">
                  <a:solidFill>
                    <a:srgbClr val="FF0000"/>
                  </a:solidFill>
                  <a:latin typeface="Vani" panose="020B0502040204020203"/>
                  <a:ea typeface="Cambria Math" panose="02040503050406030204" pitchFamily="18" charset="0"/>
                  <a:sym typeface="Wingdings" panose="05000000000000000000" pitchFamily="2" charset="2"/>
                </a:endParaRPr>
              </a:p>
              <a:p>
                <a:pPr lvl="0">
                  <a:lnSpc>
                    <a:spcPct val="150000"/>
                  </a:lnSpc>
                </a:pPr>
                <a:endParaRPr lang="en-US" sz="2300" dirty="0">
                  <a:solidFill>
                    <a:srgbClr val="115981"/>
                  </a:solidFill>
                  <a:latin typeface="Vani" panose="020B0502040204020203"/>
                  <a:ea typeface="Cambria Math" panose="02040503050406030204" pitchFamily="18" charset="0"/>
                </a:endParaRPr>
              </a:p>
              <a:p>
                <a:pPr>
                  <a:lnSpc>
                    <a:spcPct val="150000"/>
                  </a:lnSpc>
                </a:pPr>
                <a:endParaRPr lang="en-US" sz="2300" b="1" i="1" dirty="0" smtClean="0">
                  <a:latin typeface="Cambria Math" panose="02040503050406030204" pitchFamily="18" charset="0"/>
                  <a:ea typeface="Cambria Math" panose="02040503050406030204" pitchFamily="18" charset="0"/>
                </a:endParaRPr>
              </a:p>
              <a:p>
                <a:pPr>
                  <a:lnSpc>
                    <a:spcPct val="150000"/>
                  </a:lnSpc>
                </a:pPr>
                <a:endParaRPr lang="en-US" sz="2300" dirty="0" smtClean="0">
                  <a:latin typeface="Vani" panose="020B0502040204020203" pitchFamily="34" charset="0"/>
                  <a:cs typeface="Vani" panose="020B0502040204020203" pitchFamily="34" charset="0"/>
                </a:endParaRPr>
              </a:p>
              <a:p>
                <a:pPr>
                  <a:lnSpc>
                    <a:spcPct val="150000"/>
                  </a:lnSpc>
                </a:pPr>
                <a:endParaRPr lang="en-US" sz="2300" b="0" dirty="0" smtClean="0">
                  <a:latin typeface="Vani" panose="020B0502040204020203" pitchFamily="34" charset="0"/>
                  <a:cs typeface="Vani" panose="020B0502040204020203" pitchFamily="34" charset="0"/>
                </a:endParaRPr>
              </a:p>
              <a:p>
                <a:pPr>
                  <a:lnSpc>
                    <a:spcPct val="150000"/>
                  </a:lnSpc>
                </a:pPr>
                <a:endParaRPr lang="en-US" sz="2300" dirty="0">
                  <a:latin typeface="Vani" panose="020B0502040204020203" pitchFamily="34" charset="0"/>
                  <a:cs typeface="Vani" panose="020B0502040204020203" pitchFamily="34" charset="0"/>
                </a:endParaRPr>
              </a:p>
              <a:p>
                <a:pPr>
                  <a:lnSpc>
                    <a:spcPct val="150000"/>
                  </a:lnSpc>
                </a:pPr>
                <a:endParaRPr lang="en-US" sz="2300" b="0" dirty="0" smtClean="0">
                  <a:latin typeface="Vani" panose="020B0502040204020203" pitchFamily="34" charset="0"/>
                  <a:cs typeface="Vani" panose="020B0502040204020203" pitchFamily="34" charset="0"/>
                </a:endParaRPr>
              </a:p>
            </p:txBody>
          </p:sp>
        </mc:Choice>
        <mc:Fallback>
          <p:sp>
            <p:nvSpPr>
              <p:cNvPr id="14" name="Content Placeholder 13"/>
              <p:cNvSpPr>
                <a:spLocks noGrp="1" noRot="1" noChangeAspect="1" noMove="1" noResize="1" noEditPoints="1" noAdjustHandles="1" noChangeArrowheads="1" noChangeShapeType="1" noTextEdit="1"/>
              </p:cNvSpPr>
              <p:nvPr>
                <p:ph idx="1"/>
              </p:nvPr>
            </p:nvSpPr>
            <p:spPr>
              <a:xfrm>
                <a:off x="0" y="1738184"/>
                <a:ext cx="12192000" cy="5119816"/>
              </a:xfrm>
              <a:blipFill rotWithShape="0">
                <a:blip r:embed="rId2"/>
                <a:stretch>
                  <a:fillRect l="-1350"/>
                </a:stretch>
              </a:blipFill>
            </p:spPr>
            <p:txBody>
              <a:bodyPr/>
              <a:lstStyle/>
              <a:p>
                <a:r>
                  <a:rPr lang="en-US">
                    <a:noFill/>
                  </a:rPr>
                  <a:t> </a:t>
                </a:r>
              </a:p>
            </p:txBody>
          </p:sp>
        </mc:Fallback>
      </mc:AlternateContent>
    </p:spTree>
    <p:extLst>
      <p:ext uri="{BB962C8B-B14F-4D97-AF65-F5344CB8AC3E}">
        <p14:creationId xmlns:p14="http://schemas.microsoft.com/office/powerpoint/2010/main" val="289721378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0" y="295562"/>
            <a:ext cx="12192000" cy="1008247"/>
          </a:xfrm>
        </p:spPr>
        <p:txBody>
          <a:bodyPr/>
          <a:lstStyle/>
          <a:p>
            <a:r>
              <a:rPr lang="en-US" dirty="0" smtClean="0"/>
              <a:t>Questions and Answers							</a:t>
            </a:r>
            <a:r>
              <a:rPr lang="en-US" dirty="0" smtClean="0"/>
              <a:t>17-1.</a:t>
            </a:r>
            <a:endParaRPr dirty="0"/>
          </a:p>
        </p:txBody>
      </p:sp>
      <mc:AlternateContent xmlns:mc="http://schemas.openxmlformats.org/markup-compatibility/2006">
        <mc:Choice xmlns:a14="http://schemas.microsoft.com/office/drawing/2010/main" Requires="a14">
          <p:sp>
            <p:nvSpPr>
              <p:cNvPr id="14" name="Content Placeholder 13"/>
              <p:cNvSpPr>
                <a:spLocks noGrp="1"/>
              </p:cNvSpPr>
              <p:nvPr>
                <p:ph idx="1"/>
              </p:nvPr>
            </p:nvSpPr>
            <p:spPr>
              <a:xfrm>
                <a:off x="0" y="1738184"/>
                <a:ext cx="12192000" cy="5119816"/>
              </a:xfrm>
            </p:spPr>
            <p:txBody>
              <a:bodyPr>
                <a:normAutofit/>
              </a:bodyPr>
              <a:lstStyle/>
              <a:p>
                <a:pPr>
                  <a:lnSpc>
                    <a:spcPct val="150000"/>
                  </a:lnSpc>
                </a:pPr>
                <a:r>
                  <a:rPr lang="en-US" sz="2300" dirty="0" smtClean="0">
                    <a:solidFill>
                      <a:srgbClr val="7030A0"/>
                    </a:solidFill>
                    <a:latin typeface="Vani" panose="020B0502040204020203" pitchFamily="34" charset="0"/>
                    <a:cs typeface="Vani" panose="020B0502040204020203" pitchFamily="34" charset="0"/>
                  </a:rPr>
                  <a:t>(17.)</a:t>
                </a:r>
                <a:r>
                  <a:rPr lang="en-US" sz="2300" dirty="0">
                    <a:latin typeface="Vani" panose="020B0502040204020203" pitchFamily="34" charset="0"/>
                    <a:cs typeface="Vani" panose="020B0502040204020203" pitchFamily="34" charset="0"/>
                  </a:rPr>
                  <a:t>	</a:t>
                </a:r>
                <a:r>
                  <a:rPr lang="en-US" sz="2300" dirty="0" smtClean="0">
                    <a:latin typeface="Vani" panose="020B0502040204020203" pitchFamily="34" charset="0"/>
                    <a:cs typeface="Vani" panose="020B0502040204020203" pitchFamily="34" charset="0"/>
                  </a:rPr>
                  <a:t>To reduce laboratory costs, water samples from three households in the City of Surprise, Arizona are combined for one test for the presence of nitrogen. Further testing is done only if the combined sample tests positive. Based on past results, there is a </a:t>
                </a:r>
                <a14:m>
                  <m:oMath xmlns:m="http://schemas.openxmlformats.org/officeDocument/2006/math">
                    <m:r>
                      <a:rPr lang="en-US" sz="2300" i="1" dirty="0" smtClean="0">
                        <a:latin typeface="Cambria Math" panose="02040503050406030204" pitchFamily="18" charset="0"/>
                        <a:cs typeface="Vani" panose="020B0502040204020203" pitchFamily="34" charset="0"/>
                      </a:rPr>
                      <m:t>0.007</m:t>
                    </m:r>
                  </m:oMath>
                </a14:m>
                <a:r>
                  <a:rPr lang="en-US" sz="2300" dirty="0" smtClean="0">
                    <a:latin typeface="Vani" panose="020B0502040204020203" pitchFamily="34" charset="0"/>
                    <a:cs typeface="Vani" panose="020B0502040204020203" pitchFamily="34" charset="0"/>
                  </a:rPr>
                  <a:t> probability of finding nitrogen in the city’s public water supply. </a:t>
                </a:r>
              </a:p>
              <a:p>
                <a:pPr>
                  <a:lnSpc>
                    <a:spcPct val="150000"/>
                  </a:lnSpc>
                </a:pPr>
                <a:r>
                  <a:rPr lang="en-US" sz="2300" dirty="0" smtClean="0">
                    <a:latin typeface="Vani" panose="020B0502040204020203" pitchFamily="34" charset="0"/>
                    <a:cs typeface="Vani" panose="020B0502040204020203" pitchFamily="34" charset="0"/>
                  </a:rPr>
                  <a:t>(a.)	Determine the probability that a combined sample from the three households will reveal the presence of nitrogen. </a:t>
                </a:r>
              </a:p>
              <a:p>
                <a:pPr>
                  <a:lnSpc>
                    <a:spcPct val="150000"/>
                  </a:lnSpc>
                </a:pPr>
                <a14:m>
                  <m:oMath xmlns:m="http://schemas.openxmlformats.org/officeDocument/2006/math">
                    <m:r>
                      <a:rPr lang="en-US" sz="2300" b="0" i="1" smtClean="0">
                        <a:latin typeface="Cambria Math" panose="02040503050406030204" pitchFamily="18" charset="0"/>
                        <a:cs typeface="Vani" panose="020B0502040204020203" pitchFamily="34" charset="0"/>
                      </a:rPr>
                      <m:t>𝐿𝑒𝑡</m:t>
                    </m:r>
                    <m:r>
                      <a:rPr lang="en-US" sz="2300" b="0" i="1" smtClean="0">
                        <a:latin typeface="Cambria Math" panose="02040503050406030204" pitchFamily="18" charset="0"/>
                        <a:cs typeface="Vani" panose="020B0502040204020203" pitchFamily="34" charset="0"/>
                      </a:rPr>
                      <m:t> </m:t>
                    </m:r>
                    <m:r>
                      <a:rPr lang="en-US" sz="2300" b="0" i="1" smtClean="0">
                        <a:latin typeface="Cambria Math" panose="02040503050406030204" pitchFamily="18" charset="0"/>
                        <a:cs typeface="Vani" panose="020B0502040204020203" pitchFamily="34" charset="0"/>
                      </a:rPr>
                      <m:t>𝑡h𝑒</m:t>
                    </m:r>
                    <m:r>
                      <a:rPr lang="en-US" sz="2300" b="0" i="1" smtClean="0">
                        <a:latin typeface="Cambria Math" panose="02040503050406030204" pitchFamily="18" charset="0"/>
                        <a:cs typeface="Vani" panose="020B0502040204020203" pitchFamily="34" charset="0"/>
                      </a:rPr>
                      <m:t> </m:t>
                    </m:r>
                    <m:r>
                      <a:rPr lang="en-US" sz="2300" b="0" i="1" smtClean="0">
                        <a:latin typeface="Cambria Math" panose="02040503050406030204" pitchFamily="18" charset="0"/>
                        <a:cs typeface="Vani" panose="020B0502040204020203" pitchFamily="34" charset="0"/>
                      </a:rPr>
                      <m:t>𝑝𝑟𝑒𝑠𝑒𝑛𝑐𝑒</m:t>
                    </m:r>
                    <m:r>
                      <a:rPr lang="en-US" sz="2300" b="0" i="1" smtClean="0">
                        <a:latin typeface="Cambria Math" panose="02040503050406030204" pitchFamily="18" charset="0"/>
                        <a:cs typeface="Vani" panose="020B0502040204020203" pitchFamily="34" charset="0"/>
                      </a:rPr>
                      <m:t> </m:t>
                    </m:r>
                    <m:r>
                      <a:rPr lang="en-US" sz="2300" b="0" i="1" smtClean="0">
                        <a:latin typeface="Cambria Math" panose="02040503050406030204" pitchFamily="18" charset="0"/>
                        <a:cs typeface="Vani" panose="020B0502040204020203" pitchFamily="34" charset="0"/>
                      </a:rPr>
                      <m:t>𝑜𝑓</m:t>
                    </m:r>
                    <m:r>
                      <a:rPr lang="en-US" sz="2300" b="0" i="1" smtClean="0">
                        <a:latin typeface="Cambria Math" panose="02040503050406030204" pitchFamily="18" charset="0"/>
                        <a:cs typeface="Vani" panose="020B0502040204020203" pitchFamily="34" charset="0"/>
                      </a:rPr>
                      <m:t> </m:t>
                    </m:r>
                    <m:r>
                      <a:rPr lang="en-US" sz="2300" b="0" i="1" smtClean="0">
                        <a:latin typeface="Cambria Math" panose="02040503050406030204" pitchFamily="18" charset="0"/>
                        <a:cs typeface="Vani" panose="020B0502040204020203" pitchFamily="34" charset="0"/>
                      </a:rPr>
                      <m:t>𝑛𝑖𝑡𝑟𝑜𝑔𝑒𝑛</m:t>
                    </m:r>
                    <m:r>
                      <a:rPr lang="en-US" sz="2300" b="0" i="1" smtClean="0">
                        <a:latin typeface="Cambria Math" panose="02040503050406030204" pitchFamily="18" charset="0"/>
                        <a:cs typeface="Vani" panose="020B0502040204020203" pitchFamily="34" charset="0"/>
                      </a:rPr>
                      <m:t>=</m:t>
                    </m:r>
                    <m:r>
                      <a:rPr lang="en-US" sz="2300" b="0" i="1" smtClean="0">
                        <a:latin typeface="Cambria Math" panose="02040503050406030204" pitchFamily="18" charset="0"/>
                        <a:cs typeface="Vani" panose="020B0502040204020203" pitchFamily="34" charset="0"/>
                      </a:rPr>
                      <m:t>𝑁</m:t>
                    </m:r>
                    <m:r>
                      <a:rPr lang="en-US" sz="2300" b="0" i="1" smtClean="0">
                        <a:latin typeface="Cambria Math" panose="02040503050406030204" pitchFamily="18" charset="0"/>
                        <a:cs typeface="Vani" panose="020B0502040204020203" pitchFamily="34" charset="0"/>
                      </a:rPr>
                      <m:t>       </m:t>
                    </m:r>
                    <m:r>
                      <a:rPr lang="en-US" sz="2300" b="0" i="1" smtClean="0">
                        <a:latin typeface="Cambria Math" panose="02040503050406030204" pitchFamily="18" charset="0"/>
                        <a:cs typeface="Vani" panose="020B0502040204020203" pitchFamily="34" charset="0"/>
                      </a:rPr>
                      <m:t>𝑃</m:t>
                    </m:r>
                    <m:d>
                      <m:dPr>
                        <m:ctrlPr>
                          <a:rPr lang="en-US" sz="2300" b="0" i="1" smtClean="0">
                            <a:latin typeface="Cambria Math" panose="02040503050406030204" pitchFamily="18" charset="0"/>
                            <a:cs typeface="Vani" panose="020B0502040204020203" pitchFamily="34" charset="0"/>
                          </a:rPr>
                        </m:ctrlPr>
                      </m:dPr>
                      <m:e>
                        <m:r>
                          <a:rPr lang="en-US" sz="2300" b="0" i="1" smtClean="0">
                            <a:latin typeface="Cambria Math" panose="02040503050406030204" pitchFamily="18" charset="0"/>
                            <a:cs typeface="Vani" panose="020B0502040204020203" pitchFamily="34" charset="0"/>
                          </a:rPr>
                          <m:t>𝑁</m:t>
                        </m:r>
                      </m:e>
                    </m:d>
                    <m:r>
                      <a:rPr lang="en-US" sz="2300" b="0" i="1" smtClean="0">
                        <a:latin typeface="Cambria Math" panose="02040503050406030204" pitchFamily="18" charset="0"/>
                        <a:cs typeface="Vani" panose="020B0502040204020203" pitchFamily="34" charset="0"/>
                      </a:rPr>
                      <m:t>=0.007</m:t>
                    </m:r>
                  </m:oMath>
                </a14:m>
                <a:endParaRPr lang="en-US" sz="2300" dirty="0" smtClean="0">
                  <a:latin typeface="Vani" panose="020B0502040204020203" pitchFamily="34" charset="0"/>
                  <a:cs typeface="Vani" panose="020B0502040204020203" pitchFamily="34" charset="0"/>
                </a:endParaRPr>
              </a:p>
              <a:p>
                <a:pPr>
                  <a:lnSpc>
                    <a:spcPct val="150000"/>
                  </a:lnSpc>
                </a:pPr>
                <a14:m>
                  <m:oMath xmlns:m="http://schemas.openxmlformats.org/officeDocument/2006/math">
                    <m:r>
                      <a:rPr lang="en-US" sz="2300" b="0" i="1" smtClean="0">
                        <a:latin typeface="Cambria Math" panose="02040503050406030204" pitchFamily="18" charset="0"/>
                        <a:cs typeface="Vani" panose="020B0502040204020203" pitchFamily="34" charset="0"/>
                      </a:rPr>
                      <m:t>𝑃</m:t>
                    </m:r>
                    <m:d>
                      <m:dPr>
                        <m:ctrlPr>
                          <a:rPr lang="en-US" sz="2300" b="0" i="1" smtClean="0">
                            <a:latin typeface="Cambria Math" panose="02040503050406030204" pitchFamily="18" charset="0"/>
                            <a:cs typeface="Vani" panose="020B0502040204020203" pitchFamily="34" charset="0"/>
                          </a:rPr>
                        </m:ctrlPr>
                      </m:dPr>
                      <m:e>
                        <m:r>
                          <a:rPr lang="en-US" sz="2300" b="0" i="1" smtClean="0">
                            <a:latin typeface="Cambria Math" panose="02040503050406030204" pitchFamily="18" charset="0"/>
                            <a:cs typeface="Vani" panose="020B0502040204020203" pitchFamily="34" charset="0"/>
                          </a:rPr>
                          <m:t>𝑁</m:t>
                        </m:r>
                      </m:e>
                    </m:d>
                    <m:r>
                      <a:rPr lang="en-US" sz="2300" b="0" i="1" smtClean="0">
                        <a:latin typeface="Cambria Math" panose="02040503050406030204" pitchFamily="18" charset="0"/>
                        <a:cs typeface="Vani" panose="020B0502040204020203" pitchFamily="34" charset="0"/>
                      </a:rPr>
                      <m:t>𝑓𝑜𝑟</m:t>
                    </m:r>
                    <m:r>
                      <a:rPr lang="en-US" sz="2300" b="0" i="1" smtClean="0">
                        <a:latin typeface="Cambria Math" panose="02040503050406030204" pitchFamily="18" charset="0"/>
                        <a:cs typeface="Vani" panose="020B0502040204020203" pitchFamily="34" charset="0"/>
                      </a:rPr>
                      <m:t> 3 </m:t>
                    </m:r>
                    <m:r>
                      <a:rPr lang="en-US" sz="2300" b="0" i="1" smtClean="0">
                        <a:latin typeface="Cambria Math" panose="02040503050406030204" pitchFamily="18" charset="0"/>
                        <a:cs typeface="Vani" panose="020B0502040204020203" pitchFamily="34" charset="0"/>
                      </a:rPr>
                      <m:t>h𝑜𝑢𝑠𝑒h𝑜𝑙𝑑𝑠</m:t>
                    </m:r>
                    <m:r>
                      <a:rPr lang="en-US" sz="2300" b="0" i="1" smtClean="0">
                        <a:latin typeface="Cambria Math" panose="02040503050406030204" pitchFamily="18" charset="0"/>
                        <a:cs typeface="Vani" panose="020B0502040204020203" pitchFamily="34" charset="0"/>
                      </a:rPr>
                      <m:t>=</m:t>
                    </m:r>
                    <m:r>
                      <a:rPr lang="en-US" sz="2300" b="0" i="1" smtClean="0">
                        <a:latin typeface="Cambria Math" panose="02040503050406030204" pitchFamily="18" charset="0"/>
                        <a:cs typeface="Vani" panose="020B0502040204020203" pitchFamily="34" charset="0"/>
                      </a:rPr>
                      <m:t>𝑃</m:t>
                    </m:r>
                    <m:d>
                      <m:dPr>
                        <m:ctrlPr>
                          <a:rPr lang="en-US" sz="2300" b="0" i="1" smtClean="0">
                            <a:latin typeface="Cambria Math" panose="02040503050406030204" pitchFamily="18" charset="0"/>
                            <a:cs typeface="Vani" panose="020B0502040204020203" pitchFamily="34" charset="0"/>
                          </a:rPr>
                        </m:ctrlPr>
                      </m:dPr>
                      <m:e>
                        <m:r>
                          <a:rPr lang="en-US" sz="2300" b="0" i="1" smtClean="0">
                            <a:latin typeface="Cambria Math" panose="02040503050406030204" pitchFamily="18" charset="0"/>
                            <a:cs typeface="Vani" panose="020B0502040204020203" pitchFamily="34" charset="0"/>
                          </a:rPr>
                          <m:t>𝑁𝑁𝑁</m:t>
                        </m:r>
                      </m:e>
                    </m:d>
                    <m:r>
                      <a:rPr lang="en-US" sz="2300" b="0" i="1" smtClean="0">
                        <a:latin typeface="Cambria Math" panose="02040503050406030204" pitchFamily="18" charset="0"/>
                        <a:cs typeface="Vani" panose="020B0502040204020203" pitchFamily="34" charset="0"/>
                      </a:rPr>
                      <m:t>=0.007∗0.007∗0.007=</m:t>
                    </m:r>
                    <m:sSup>
                      <m:sSupPr>
                        <m:ctrlPr>
                          <a:rPr lang="en-US" sz="2300" b="0" i="1" smtClean="0">
                            <a:latin typeface="Cambria Math" panose="02040503050406030204" pitchFamily="18" charset="0"/>
                            <a:cs typeface="Vani" panose="020B0502040204020203" pitchFamily="34" charset="0"/>
                          </a:rPr>
                        </m:ctrlPr>
                      </m:sSupPr>
                      <m:e>
                        <m:r>
                          <a:rPr lang="en-US" sz="2300" b="0" i="1" smtClean="0">
                            <a:latin typeface="Cambria Math" panose="02040503050406030204" pitchFamily="18" charset="0"/>
                            <a:cs typeface="Vani" panose="020B0502040204020203" pitchFamily="34" charset="0"/>
                          </a:rPr>
                          <m:t>0.007</m:t>
                        </m:r>
                      </m:e>
                      <m:sup>
                        <m:r>
                          <a:rPr lang="en-US" sz="2300" b="0" i="1" smtClean="0">
                            <a:latin typeface="Cambria Math" panose="02040503050406030204" pitchFamily="18" charset="0"/>
                            <a:cs typeface="Vani" panose="020B0502040204020203" pitchFamily="34" charset="0"/>
                          </a:rPr>
                          <m:t>3</m:t>
                        </m:r>
                      </m:sup>
                    </m:sSup>
                    <m:r>
                      <a:rPr lang="en-US" sz="2300" b="0" i="1" smtClean="0">
                        <a:latin typeface="Cambria Math" panose="02040503050406030204" pitchFamily="18" charset="0"/>
                        <a:cs typeface="Vani" panose="020B0502040204020203" pitchFamily="34" charset="0"/>
                      </a:rPr>
                      <m:t>=</m:t>
                    </m:r>
                    <m:r>
                      <a:rPr lang="en-US" sz="2300" b="0" i="1" smtClean="0">
                        <a:solidFill>
                          <a:srgbClr val="FF0000"/>
                        </a:solidFill>
                        <a:latin typeface="Cambria Math" panose="02040503050406030204" pitchFamily="18" charset="0"/>
                        <a:cs typeface="Vani" panose="020B0502040204020203" pitchFamily="34" charset="0"/>
                      </a:rPr>
                      <m:t>0.021</m:t>
                    </m:r>
                  </m:oMath>
                </a14:m>
                <a:endParaRPr lang="en-US" sz="2300" dirty="0" smtClean="0">
                  <a:solidFill>
                    <a:srgbClr val="FF0000"/>
                  </a:solidFill>
                  <a:latin typeface="Vani" panose="020B0502040204020203" pitchFamily="34" charset="0"/>
                  <a:cs typeface="Vani" panose="020B0502040204020203" pitchFamily="34" charset="0"/>
                </a:endParaRPr>
              </a:p>
              <a:p>
                <a:pPr>
                  <a:lnSpc>
                    <a:spcPct val="150000"/>
                  </a:lnSpc>
                </a:pPr>
                <a:endParaRPr lang="en-US" sz="2300" dirty="0">
                  <a:latin typeface="Vani" panose="020B0502040204020203" pitchFamily="34" charset="0"/>
                  <a:cs typeface="Vani" panose="020B0502040204020203" pitchFamily="34" charset="0"/>
                </a:endParaRPr>
              </a:p>
              <a:p>
                <a:pPr>
                  <a:lnSpc>
                    <a:spcPct val="150000"/>
                  </a:lnSpc>
                </a:pPr>
                <a:endParaRPr lang="en-US" sz="2300" dirty="0" smtClean="0">
                  <a:latin typeface="Vani" panose="020B0502040204020203" pitchFamily="34" charset="0"/>
                  <a:cs typeface="Vani" panose="020B0502040204020203" pitchFamily="34" charset="0"/>
                </a:endParaRPr>
              </a:p>
              <a:p>
                <a:pPr>
                  <a:lnSpc>
                    <a:spcPct val="150000"/>
                  </a:lnSpc>
                </a:pPr>
                <a:endParaRPr lang="en-US" sz="2300" dirty="0" smtClean="0">
                  <a:latin typeface="Vani" panose="020B0502040204020203" pitchFamily="34" charset="0"/>
                  <a:cs typeface="Vani" panose="020B0502040204020203" pitchFamily="34" charset="0"/>
                </a:endParaRPr>
              </a:p>
            </p:txBody>
          </p:sp>
        </mc:Choice>
        <mc:Fallback>
          <p:sp>
            <p:nvSpPr>
              <p:cNvPr id="14" name="Content Placeholder 13"/>
              <p:cNvSpPr>
                <a:spLocks noGrp="1" noRot="1" noChangeAspect="1" noMove="1" noResize="1" noEditPoints="1" noAdjustHandles="1" noChangeArrowheads="1" noChangeShapeType="1" noTextEdit="1"/>
              </p:cNvSpPr>
              <p:nvPr>
                <p:ph idx="1"/>
              </p:nvPr>
            </p:nvSpPr>
            <p:spPr>
              <a:xfrm>
                <a:off x="0" y="1738184"/>
                <a:ext cx="12192000" cy="5119816"/>
              </a:xfrm>
              <a:blipFill rotWithShape="0">
                <a:blip r:embed="rId2"/>
                <a:stretch>
                  <a:fillRect l="-1350"/>
                </a:stretch>
              </a:blipFill>
            </p:spPr>
            <p:txBody>
              <a:bodyPr/>
              <a:lstStyle/>
              <a:p>
                <a:r>
                  <a:rPr lang="en-US">
                    <a:noFill/>
                  </a:rPr>
                  <a:t> </a:t>
                </a:r>
              </a:p>
            </p:txBody>
          </p:sp>
        </mc:Fallback>
      </mc:AlternateContent>
    </p:spTree>
    <p:extLst>
      <p:ext uri="{BB962C8B-B14F-4D97-AF65-F5344CB8AC3E}">
        <p14:creationId xmlns:p14="http://schemas.microsoft.com/office/powerpoint/2010/main" val="15360543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0" y="295562"/>
            <a:ext cx="12192000" cy="1008247"/>
          </a:xfrm>
        </p:spPr>
        <p:txBody>
          <a:bodyPr/>
          <a:lstStyle/>
          <a:p>
            <a:r>
              <a:rPr lang="en-US" dirty="0" smtClean="0"/>
              <a:t>Questions and Answers							</a:t>
            </a:r>
            <a:r>
              <a:rPr lang="en-US" dirty="0" smtClean="0"/>
              <a:t>17-2</a:t>
            </a:r>
            <a:r>
              <a:rPr lang="en-US" dirty="0" smtClean="0"/>
              <a:t>.</a:t>
            </a:r>
            <a:endParaRPr dirty="0"/>
          </a:p>
        </p:txBody>
      </p:sp>
      <p:sp>
        <p:nvSpPr>
          <p:cNvPr id="14" name="Content Placeholder 13"/>
          <p:cNvSpPr>
            <a:spLocks noGrp="1"/>
          </p:cNvSpPr>
          <p:nvPr>
            <p:ph idx="1"/>
          </p:nvPr>
        </p:nvSpPr>
        <p:spPr>
          <a:xfrm>
            <a:off x="0" y="1738184"/>
            <a:ext cx="12192000" cy="5119816"/>
          </a:xfrm>
        </p:spPr>
        <p:txBody>
          <a:bodyPr>
            <a:normAutofit/>
          </a:bodyPr>
          <a:lstStyle/>
          <a:p>
            <a:pPr>
              <a:lnSpc>
                <a:spcPct val="150000"/>
              </a:lnSpc>
            </a:pPr>
            <a:r>
              <a:rPr lang="en-US" sz="2300" dirty="0" smtClean="0">
                <a:latin typeface="Vani" panose="020B0502040204020203" pitchFamily="34" charset="0"/>
                <a:cs typeface="Vani" panose="020B0502040204020203" pitchFamily="34" charset="0"/>
              </a:rPr>
              <a:t>(</a:t>
            </a:r>
            <a:r>
              <a:rPr lang="en-US" sz="2300" dirty="0" smtClean="0">
                <a:latin typeface="Vani" panose="020B0502040204020203" pitchFamily="34" charset="0"/>
                <a:cs typeface="Vani" panose="020B0502040204020203" pitchFamily="34" charset="0"/>
              </a:rPr>
              <a:t>b.)	</a:t>
            </a:r>
            <a:r>
              <a:rPr lang="en-US" sz="2300" dirty="0" smtClean="0">
                <a:latin typeface="Vani" panose="020B0502040204020203" pitchFamily="34" charset="0"/>
                <a:cs typeface="Vani" panose="020B0502040204020203" pitchFamily="34" charset="0"/>
              </a:rPr>
              <a:t>Is the probability low enough so that further testing of the individual samples is rarely needed</a:t>
            </a:r>
            <a:r>
              <a:rPr lang="en-US" sz="2300" dirty="0" smtClean="0">
                <a:latin typeface="Vani" panose="020B0502040204020203" pitchFamily="34" charset="0"/>
                <a:cs typeface="Vani" panose="020B0502040204020203" pitchFamily="34" charset="0"/>
              </a:rPr>
              <a:t>?</a:t>
            </a:r>
            <a:endParaRPr lang="en-US" sz="2300" dirty="0" smtClean="0">
              <a:latin typeface="Vani" panose="020B0502040204020203" pitchFamily="34" charset="0"/>
              <a:cs typeface="Vani" panose="020B0502040204020203" pitchFamily="34" charset="0"/>
            </a:endParaRPr>
          </a:p>
          <a:p>
            <a:pPr>
              <a:lnSpc>
                <a:spcPct val="150000"/>
              </a:lnSpc>
            </a:pPr>
            <a:r>
              <a:rPr lang="en-US" sz="2300" dirty="0" smtClean="0">
                <a:solidFill>
                  <a:srgbClr val="FF0000"/>
                </a:solidFill>
                <a:latin typeface="Vani" panose="020B0502040204020203" pitchFamily="34" charset="0"/>
                <a:cs typeface="Vani" panose="020B0502040204020203" pitchFamily="34" charset="0"/>
              </a:rPr>
              <a:t>Yes, the probability value </a:t>
            </a:r>
            <a:r>
              <a:rPr lang="en-US" sz="2300" dirty="0" smtClean="0">
                <a:solidFill>
                  <a:srgbClr val="FF0000"/>
                </a:solidFill>
                <a:latin typeface="Vani" panose="020B0502040204020203" pitchFamily="34" charset="0"/>
                <a:cs typeface="Vani" panose="020B0502040204020203" pitchFamily="34" charset="0"/>
              </a:rPr>
              <a:t>is low enough to indicate that further testing of the individual samples will be rarely needed.</a:t>
            </a:r>
            <a:endParaRPr lang="en-US" sz="2300" dirty="0" smtClean="0">
              <a:solidFill>
                <a:srgbClr val="FF0000"/>
              </a:solidFill>
              <a:latin typeface="Vani" panose="020B0502040204020203" pitchFamily="34" charset="0"/>
              <a:cs typeface="Vani" panose="020B0502040204020203" pitchFamily="34" charset="0"/>
            </a:endParaRPr>
          </a:p>
          <a:p>
            <a:pPr>
              <a:lnSpc>
                <a:spcPct val="150000"/>
              </a:lnSpc>
            </a:pPr>
            <a:endParaRPr lang="en-US" sz="2300" dirty="0">
              <a:latin typeface="Vani" panose="020B0502040204020203" pitchFamily="34" charset="0"/>
              <a:cs typeface="Vani" panose="020B0502040204020203" pitchFamily="34" charset="0"/>
            </a:endParaRPr>
          </a:p>
          <a:p>
            <a:pPr>
              <a:lnSpc>
                <a:spcPct val="150000"/>
              </a:lnSpc>
            </a:pPr>
            <a:endParaRPr lang="en-US" sz="2300" dirty="0" smtClean="0">
              <a:latin typeface="Vani" panose="020B0502040204020203" pitchFamily="34" charset="0"/>
              <a:cs typeface="Vani" panose="020B0502040204020203" pitchFamily="34" charset="0"/>
            </a:endParaRPr>
          </a:p>
        </p:txBody>
      </p:sp>
    </p:spTree>
    <p:extLst>
      <p:ext uri="{BB962C8B-B14F-4D97-AF65-F5344CB8AC3E}">
        <p14:creationId xmlns:p14="http://schemas.microsoft.com/office/powerpoint/2010/main" val="25043927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0" y="295562"/>
            <a:ext cx="12192000" cy="1008247"/>
          </a:xfrm>
        </p:spPr>
        <p:txBody>
          <a:bodyPr/>
          <a:lstStyle/>
          <a:p>
            <a:r>
              <a:rPr lang="en-US" dirty="0" smtClean="0"/>
              <a:t>Questions and Answers							</a:t>
            </a:r>
            <a:r>
              <a:rPr lang="en-US" dirty="0" smtClean="0"/>
              <a:t>18-1</a:t>
            </a:r>
            <a:r>
              <a:rPr lang="en-US" dirty="0" smtClean="0"/>
              <a:t>.</a:t>
            </a:r>
            <a:endParaRPr dirty="0"/>
          </a:p>
        </p:txBody>
      </p:sp>
      <mc:AlternateContent xmlns:mc="http://schemas.openxmlformats.org/markup-compatibility/2006">
        <mc:Choice xmlns:a14="http://schemas.microsoft.com/office/drawing/2010/main" Requires="a14">
          <p:sp>
            <p:nvSpPr>
              <p:cNvPr id="14" name="Content Placeholder 13"/>
              <p:cNvSpPr>
                <a:spLocks noGrp="1"/>
              </p:cNvSpPr>
              <p:nvPr>
                <p:ph idx="1"/>
              </p:nvPr>
            </p:nvSpPr>
            <p:spPr>
              <a:xfrm>
                <a:off x="0" y="1738184"/>
                <a:ext cx="12192000" cy="5119816"/>
              </a:xfrm>
            </p:spPr>
            <p:txBody>
              <a:bodyPr>
                <a:normAutofit/>
              </a:bodyPr>
              <a:lstStyle/>
              <a:p>
                <a:pPr>
                  <a:lnSpc>
                    <a:spcPct val="150000"/>
                  </a:lnSpc>
                </a:pPr>
                <a:r>
                  <a:rPr lang="en-US" sz="2300" dirty="0" smtClean="0">
                    <a:solidFill>
                      <a:srgbClr val="7030A0"/>
                    </a:solidFill>
                    <a:latin typeface="Vani" panose="020B0502040204020203" pitchFamily="34" charset="0"/>
                    <a:cs typeface="Vani" panose="020B0502040204020203" pitchFamily="34" charset="0"/>
                  </a:rPr>
                  <a:t>(18.)</a:t>
                </a:r>
                <a:r>
                  <a:rPr lang="en-US" sz="2300" dirty="0">
                    <a:latin typeface="Vani" panose="020B0502040204020203" pitchFamily="34" charset="0"/>
                    <a:cs typeface="Vani" panose="020B0502040204020203" pitchFamily="34" charset="0"/>
                  </a:rPr>
                  <a:t>	</a:t>
                </a:r>
                <a:r>
                  <a:rPr lang="en-US" sz="2300" dirty="0" smtClean="0">
                    <a:latin typeface="Vani" panose="020B0502040204020203" pitchFamily="34" charset="0"/>
                    <a:cs typeface="Vani" panose="020B0502040204020203" pitchFamily="34" charset="0"/>
                  </a:rPr>
                  <a:t>An electrician was testing for current in a cable with 11 color-coded wires. He used a meter to test 3 wires at a time. How many different tests are required for every possible pairing of 3 wires?</a:t>
                </a:r>
              </a:p>
              <a:p>
                <a:pPr>
                  <a:lnSpc>
                    <a:spcPct val="150000"/>
                  </a:lnSpc>
                </a:pPr>
                <a:r>
                  <a:rPr lang="en-US" sz="2300" dirty="0" smtClean="0">
                    <a:latin typeface="Vani" panose="020B0502040204020203" pitchFamily="34" charset="0"/>
                    <a:cs typeface="Vani" panose="020B0502040204020203" pitchFamily="34" charset="0"/>
                  </a:rPr>
                  <a:t>This is a case of </a:t>
                </a:r>
                <a:r>
                  <a:rPr lang="en-US" sz="2300" dirty="0" smtClean="0">
                    <a:latin typeface="Vani" panose="020B0502040204020203" pitchFamily="34" charset="0"/>
                    <a:cs typeface="Vani" panose="020B0502040204020203" pitchFamily="34" charset="0"/>
                    <a:hlinkClick r:id="rId2"/>
                  </a:rPr>
                  <a:t>Combination</a:t>
                </a:r>
                <a:r>
                  <a:rPr lang="en-US" sz="2300" dirty="0" smtClean="0">
                    <a:latin typeface="Vani" panose="020B0502040204020203" pitchFamily="34" charset="0"/>
                    <a:cs typeface="Vani" panose="020B0502040204020203" pitchFamily="34" charset="0"/>
                  </a:rPr>
                  <a:t>.</a:t>
                </a:r>
              </a:p>
              <a:p>
                <a:pPr>
                  <a:lnSpc>
                    <a:spcPct val="150000"/>
                  </a:lnSpc>
                </a:pPr>
                <a14:m>
                  <m:oMath xmlns:m="http://schemas.openxmlformats.org/officeDocument/2006/math">
                    <m:r>
                      <a:rPr lang="en-US" sz="2300" b="0" i="1" smtClean="0">
                        <a:latin typeface="Cambria Math" panose="02040503050406030204" pitchFamily="18" charset="0"/>
                        <a:cs typeface="Vani" panose="020B0502040204020203" pitchFamily="34" charset="0"/>
                      </a:rPr>
                      <m:t>𝐶</m:t>
                    </m:r>
                    <m:d>
                      <m:dPr>
                        <m:ctrlPr>
                          <a:rPr lang="en-US" sz="2300" b="0" i="1" smtClean="0">
                            <a:latin typeface="Cambria Math" panose="02040503050406030204" pitchFamily="18" charset="0"/>
                            <a:cs typeface="Vani" panose="020B0502040204020203" pitchFamily="34" charset="0"/>
                          </a:rPr>
                        </m:ctrlPr>
                      </m:dPr>
                      <m:e>
                        <m:r>
                          <a:rPr lang="en-US" sz="2300" b="0" i="1" smtClean="0">
                            <a:latin typeface="Cambria Math" panose="02040503050406030204" pitchFamily="18" charset="0"/>
                            <a:cs typeface="Vani" panose="020B0502040204020203" pitchFamily="34" charset="0"/>
                          </a:rPr>
                          <m:t>𝑛</m:t>
                        </m:r>
                        <m:r>
                          <a:rPr lang="en-US" sz="2300" b="0" i="1" smtClean="0">
                            <a:latin typeface="Cambria Math" panose="02040503050406030204" pitchFamily="18" charset="0"/>
                            <a:cs typeface="Vani" panose="020B0502040204020203" pitchFamily="34" charset="0"/>
                          </a:rPr>
                          <m:t>, </m:t>
                        </m:r>
                        <m:r>
                          <a:rPr lang="en-US" sz="2300" b="0" i="1" smtClean="0">
                            <a:latin typeface="Cambria Math" panose="02040503050406030204" pitchFamily="18" charset="0"/>
                            <a:cs typeface="Vani" panose="020B0502040204020203" pitchFamily="34" charset="0"/>
                          </a:rPr>
                          <m:t>𝑟</m:t>
                        </m:r>
                      </m:e>
                    </m:d>
                    <m:r>
                      <a:rPr lang="en-US" sz="2300" b="0" i="1" smtClean="0">
                        <a:latin typeface="Cambria Math" panose="02040503050406030204" pitchFamily="18" charset="0"/>
                        <a:cs typeface="Vani" panose="020B0502040204020203" pitchFamily="34" charset="0"/>
                      </a:rPr>
                      <m:t>=</m:t>
                    </m:r>
                    <m:f>
                      <m:fPr>
                        <m:ctrlPr>
                          <a:rPr lang="en-US" sz="2300" b="0" i="1" smtClean="0">
                            <a:latin typeface="Cambria Math" panose="02040503050406030204" pitchFamily="18" charset="0"/>
                            <a:cs typeface="Vani" panose="020B0502040204020203" pitchFamily="34" charset="0"/>
                          </a:rPr>
                        </m:ctrlPr>
                      </m:fPr>
                      <m:num>
                        <m:r>
                          <a:rPr lang="en-US" sz="2300" b="0" i="1" smtClean="0">
                            <a:latin typeface="Cambria Math" panose="02040503050406030204" pitchFamily="18" charset="0"/>
                            <a:cs typeface="Vani" panose="020B0502040204020203" pitchFamily="34" charset="0"/>
                          </a:rPr>
                          <m:t>𝑛</m:t>
                        </m:r>
                        <m:r>
                          <a:rPr lang="en-US" sz="2300" b="0" i="1" smtClean="0">
                            <a:latin typeface="Cambria Math" panose="02040503050406030204" pitchFamily="18" charset="0"/>
                            <a:cs typeface="Vani" panose="020B0502040204020203" pitchFamily="34" charset="0"/>
                          </a:rPr>
                          <m:t>!</m:t>
                        </m:r>
                      </m:num>
                      <m:den>
                        <m:d>
                          <m:dPr>
                            <m:ctrlPr>
                              <a:rPr lang="en-US" sz="2300" b="0" i="1" smtClean="0">
                                <a:latin typeface="Cambria Math" panose="02040503050406030204" pitchFamily="18" charset="0"/>
                                <a:cs typeface="Vani" panose="020B0502040204020203" pitchFamily="34" charset="0"/>
                              </a:rPr>
                            </m:ctrlPr>
                          </m:dPr>
                          <m:e>
                            <m:r>
                              <a:rPr lang="en-US" sz="2300" b="0" i="1" smtClean="0">
                                <a:latin typeface="Cambria Math" panose="02040503050406030204" pitchFamily="18" charset="0"/>
                                <a:cs typeface="Vani" panose="020B0502040204020203" pitchFamily="34" charset="0"/>
                              </a:rPr>
                              <m:t>𝑛</m:t>
                            </m:r>
                            <m:r>
                              <a:rPr lang="en-US" sz="2300" b="0" i="1" smtClean="0">
                                <a:latin typeface="Cambria Math" panose="02040503050406030204" pitchFamily="18" charset="0"/>
                                <a:cs typeface="Vani" panose="020B0502040204020203" pitchFamily="34" charset="0"/>
                              </a:rPr>
                              <m:t>−</m:t>
                            </m:r>
                            <m:r>
                              <a:rPr lang="en-US" sz="2300" b="0" i="1" smtClean="0">
                                <a:latin typeface="Cambria Math" panose="02040503050406030204" pitchFamily="18" charset="0"/>
                                <a:cs typeface="Vani" panose="020B0502040204020203" pitchFamily="34" charset="0"/>
                              </a:rPr>
                              <m:t>𝑟</m:t>
                            </m:r>
                          </m:e>
                        </m:d>
                        <m:r>
                          <a:rPr lang="en-US" sz="2300" b="0" i="1" smtClean="0">
                            <a:latin typeface="Cambria Math" panose="02040503050406030204" pitchFamily="18" charset="0"/>
                            <a:cs typeface="Vani" panose="020B0502040204020203" pitchFamily="34" charset="0"/>
                          </a:rPr>
                          <m:t>!</m:t>
                        </m:r>
                        <m:r>
                          <a:rPr lang="en-US" sz="2300" b="0" i="1" smtClean="0">
                            <a:latin typeface="Cambria Math" panose="02040503050406030204" pitchFamily="18" charset="0"/>
                            <a:cs typeface="Vani" panose="020B0502040204020203" pitchFamily="34" charset="0"/>
                          </a:rPr>
                          <m:t>𝑟</m:t>
                        </m:r>
                        <m:r>
                          <a:rPr lang="en-US" sz="2300" b="0" i="1" smtClean="0">
                            <a:latin typeface="Cambria Math" panose="02040503050406030204" pitchFamily="18" charset="0"/>
                            <a:cs typeface="Vani" panose="020B0502040204020203" pitchFamily="34" charset="0"/>
                          </a:rPr>
                          <m:t>!</m:t>
                        </m:r>
                      </m:den>
                    </m:f>
                  </m:oMath>
                </a14:m>
                <a:endParaRPr lang="en-US" sz="2300" dirty="0" smtClean="0">
                  <a:latin typeface="Vani" panose="020B0502040204020203" pitchFamily="34" charset="0"/>
                  <a:cs typeface="Vani" panose="020B0502040204020203" pitchFamily="34" charset="0"/>
                </a:endParaRPr>
              </a:p>
              <a:p>
                <a:pPr>
                  <a:lnSpc>
                    <a:spcPct val="150000"/>
                  </a:lnSpc>
                </a:pPr>
                <a14:m>
                  <m:oMath xmlns:m="http://schemas.openxmlformats.org/officeDocument/2006/math">
                    <m:r>
                      <a:rPr lang="en-US" sz="2300" b="0" i="1" smtClean="0">
                        <a:latin typeface="Cambria Math" panose="02040503050406030204" pitchFamily="18" charset="0"/>
                        <a:cs typeface="Vani" panose="020B0502040204020203" pitchFamily="34" charset="0"/>
                      </a:rPr>
                      <m:t>𝑁𝑢𝑚𝑏𝑒𝑟</m:t>
                    </m:r>
                    <m:r>
                      <a:rPr lang="en-US" sz="2300" b="0" i="1" smtClean="0">
                        <a:latin typeface="Cambria Math" panose="02040503050406030204" pitchFamily="18" charset="0"/>
                        <a:cs typeface="Vani" panose="020B0502040204020203" pitchFamily="34" charset="0"/>
                      </a:rPr>
                      <m:t> </m:t>
                    </m:r>
                    <m:r>
                      <a:rPr lang="en-US" sz="2300" b="0" i="1" smtClean="0">
                        <a:latin typeface="Cambria Math" panose="02040503050406030204" pitchFamily="18" charset="0"/>
                        <a:cs typeface="Vani" panose="020B0502040204020203" pitchFamily="34" charset="0"/>
                      </a:rPr>
                      <m:t>𝑜𝑓</m:t>
                    </m:r>
                    <m:r>
                      <a:rPr lang="en-US" sz="2300" b="0" i="1" smtClean="0">
                        <a:latin typeface="Cambria Math" panose="02040503050406030204" pitchFamily="18" charset="0"/>
                        <a:cs typeface="Vani" panose="020B0502040204020203" pitchFamily="34" charset="0"/>
                      </a:rPr>
                      <m:t> </m:t>
                    </m:r>
                    <m:r>
                      <a:rPr lang="en-US" sz="2300" b="0" i="1" smtClean="0">
                        <a:latin typeface="Cambria Math" panose="02040503050406030204" pitchFamily="18" charset="0"/>
                        <a:cs typeface="Vani" panose="020B0502040204020203" pitchFamily="34" charset="0"/>
                      </a:rPr>
                      <m:t>𝑡𝑒𝑠𝑡𝑠</m:t>
                    </m:r>
                    <m:r>
                      <a:rPr lang="en-US" sz="2300" b="0" i="1" smtClean="0">
                        <a:latin typeface="Cambria Math" panose="02040503050406030204" pitchFamily="18" charset="0"/>
                        <a:cs typeface="Vani" panose="020B0502040204020203" pitchFamily="34" charset="0"/>
                      </a:rPr>
                      <m:t>=</m:t>
                    </m:r>
                    <m:r>
                      <a:rPr lang="en-US" sz="2300" b="0" i="1" smtClean="0">
                        <a:latin typeface="Cambria Math" panose="02040503050406030204" pitchFamily="18" charset="0"/>
                        <a:cs typeface="Vani" panose="020B0502040204020203" pitchFamily="34" charset="0"/>
                      </a:rPr>
                      <m:t>𝐶</m:t>
                    </m:r>
                    <m:d>
                      <m:dPr>
                        <m:ctrlPr>
                          <a:rPr lang="en-US" sz="2300" b="0" i="1" smtClean="0">
                            <a:latin typeface="Cambria Math" panose="02040503050406030204" pitchFamily="18" charset="0"/>
                            <a:cs typeface="Vani" panose="020B0502040204020203" pitchFamily="34" charset="0"/>
                          </a:rPr>
                        </m:ctrlPr>
                      </m:dPr>
                      <m:e>
                        <m:r>
                          <a:rPr lang="en-US" sz="2300" b="0" i="1" smtClean="0">
                            <a:latin typeface="Cambria Math" panose="02040503050406030204" pitchFamily="18" charset="0"/>
                            <a:cs typeface="Vani" panose="020B0502040204020203" pitchFamily="34" charset="0"/>
                          </a:rPr>
                          <m:t>11, 3</m:t>
                        </m:r>
                      </m:e>
                    </m:d>
                    <m:r>
                      <a:rPr lang="en-US" sz="2300" b="0" i="1" smtClean="0">
                        <a:latin typeface="Cambria Math" panose="02040503050406030204" pitchFamily="18" charset="0"/>
                        <a:cs typeface="Vani" panose="020B0502040204020203" pitchFamily="34" charset="0"/>
                      </a:rPr>
                      <m:t>=</m:t>
                    </m:r>
                    <m:f>
                      <m:fPr>
                        <m:ctrlPr>
                          <a:rPr lang="en-US" sz="2300" b="0" i="1" smtClean="0">
                            <a:latin typeface="Cambria Math" panose="02040503050406030204" pitchFamily="18" charset="0"/>
                            <a:cs typeface="Vani" panose="020B0502040204020203" pitchFamily="34" charset="0"/>
                          </a:rPr>
                        </m:ctrlPr>
                      </m:fPr>
                      <m:num>
                        <m:r>
                          <a:rPr lang="en-US" sz="2300" b="0" i="1" smtClean="0">
                            <a:latin typeface="Cambria Math" panose="02040503050406030204" pitchFamily="18" charset="0"/>
                            <a:cs typeface="Vani" panose="020B0502040204020203" pitchFamily="34" charset="0"/>
                          </a:rPr>
                          <m:t>11!</m:t>
                        </m:r>
                      </m:num>
                      <m:den>
                        <m:d>
                          <m:dPr>
                            <m:ctrlPr>
                              <a:rPr lang="en-US" sz="2300" b="0" i="1" smtClean="0">
                                <a:latin typeface="Cambria Math" panose="02040503050406030204" pitchFamily="18" charset="0"/>
                                <a:cs typeface="Vani" panose="020B0502040204020203" pitchFamily="34" charset="0"/>
                              </a:rPr>
                            </m:ctrlPr>
                          </m:dPr>
                          <m:e>
                            <m:r>
                              <a:rPr lang="en-US" sz="2300" b="0" i="1" smtClean="0">
                                <a:latin typeface="Cambria Math" panose="02040503050406030204" pitchFamily="18" charset="0"/>
                                <a:cs typeface="Vani" panose="020B0502040204020203" pitchFamily="34" charset="0"/>
                              </a:rPr>
                              <m:t>11−3</m:t>
                            </m:r>
                          </m:e>
                        </m:d>
                        <m:r>
                          <a:rPr lang="en-US" sz="2300" b="0" i="1" smtClean="0">
                            <a:latin typeface="Cambria Math" panose="02040503050406030204" pitchFamily="18" charset="0"/>
                            <a:cs typeface="Vani" panose="020B0502040204020203" pitchFamily="34" charset="0"/>
                          </a:rPr>
                          <m:t>!3!</m:t>
                        </m:r>
                      </m:den>
                    </m:f>
                    <m:r>
                      <a:rPr lang="en-US" sz="2300" b="0" i="1" smtClean="0">
                        <a:latin typeface="Cambria Math" panose="02040503050406030204" pitchFamily="18" charset="0"/>
                        <a:cs typeface="Vani" panose="020B0502040204020203" pitchFamily="34" charset="0"/>
                      </a:rPr>
                      <m:t>=</m:t>
                    </m:r>
                    <m:f>
                      <m:fPr>
                        <m:ctrlPr>
                          <a:rPr lang="en-US" sz="2300" b="0" i="1" smtClean="0">
                            <a:latin typeface="Cambria Math" panose="02040503050406030204" pitchFamily="18" charset="0"/>
                            <a:cs typeface="Vani" panose="020B0502040204020203" pitchFamily="34" charset="0"/>
                          </a:rPr>
                        </m:ctrlPr>
                      </m:fPr>
                      <m:num>
                        <m:r>
                          <a:rPr lang="en-US" sz="2300" b="0" i="1" smtClean="0">
                            <a:latin typeface="Cambria Math" panose="02040503050406030204" pitchFamily="18" charset="0"/>
                            <a:cs typeface="Vani" panose="020B0502040204020203" pitchFamily="34" charset="0"/>
                          </a:rPr>
                          <m:t>11!</m:t>
                        </m:r>
                      </m:num>
                      <m:den>
                        <m:r>
                          <a:rPr lang="en-US" sz="2300" b="0" i="1" smtClean="0">
                            <a:latin typeface="Cambria Math" panose="02040503050406030204" pitchFamily="18" charset="0"/>
                            <a:cs typeface="Vani" panose="020B0502040204020203" pitchFamily="34" charset="0"/>
                          </a:rPr>
                          <m:t>8!∗3!</m:t>
                        </m:r>
                      </m:den>
                    </m:f>
                    <m:r>
                      <a:rPr lang="en-US" sz="2300" b="0" i="1" smtClean="0">
                        <a:latin typeface="Cambria Math" panose="02040503050406030204" pitchFamily="18" charset="0"/>
                        <a:cs typeface="Vani" panose="020B0502040204020203" pitchFamily="34" charset="0"/>
                      </a:rPr>
                      <m:t>=</m:t>
                    </m:r>
                    <m:f>
                      <m:fPr>
                        <m:ctrlPr>
                          <a:rPr lang="en-US" sz="2300" b="0" i="1" smtClean="0">
                            <a:latin typeface="Cambria Math" panose="02040503050406030204" pitchFamily="18" charset="0"/>
                            <a:cs typeface="Vani" panose="020B0502040204020203" pitchFamily="34" charset="0"/>
                          </a:rPr>
                        </m:ctrlPr>
                      </m:fPr>
                      <m:num>
                        <m:r>
                          <a:rPr lang="en-US" sz="2300" b="0" i="1" smtClean="0">
                            <a:latin typeface="Cambria Math" panose="02040503050406030204" pitchFamily="18" charset="0"/>
                            <a:cs typeface="Vani" panose="020B0502040204020203" pitchFamily="34" charset="0"/>
                          </a:rPr>
                          <m:t>11∗10∗9∗8!</m:t>
                        </m:r>
                      </m:num>
                      <m:den>
                        <m:r>
                          <a:rPr lang="en-US" sz="2300" b="0" i="1" smtClean="0">
                            <a:latin typeface="Cambria Math" panose="02040503050406030204" pitchFamily="18" charset="0"/>
                            <a:cs typeface="Vani" panose="020B0502040204020203" pitchFamily="34" charset="0"/>
                          </a:rPr>
                          <m:t>8!∗3∗2∗1</m:t>
                        </m:r>
                      </m:den>
                    </m:f>
                    <m:r>
                      <a:rPr lang="en-US" sz="2300" b="0" i="1" smtClean="0">
                        <a:latin typeface="Cambria Math" panose="02040503050406030204" pitchFamily="18" charset="0"/>
                        <a:cs typeface="Vani" panose="020B0502040204020203" pitchFamily="34" charset="0"/>
                      </a:rPr>
                      <m:t>=11∗5∗3=</m:t>
                    </m:r>
                    <m:r>
                      <a:rPr lang="en-US" sz="2300" b="0" i="1" smtClean="0">
                        <a:solidFill>
                          <a:srgbClr val="FF0000"/>
                        </a:solidFill>
                        <a:latin typeface="Cambria Math" panose="02040503050406030204" pitchFamily="18" charset="0"/>
                        <a:cs typeface="Vani" panose="020B0502040204020203" pitchFamily="34" charset="0"/>
                      </a:rPr>
                      <m:t>165</m:t>
                    </m:r>
                  </m:oMath>
                </a14:m>
                <a:endParaRPr lang="en-US" sz="2300" dirty="0">
                  <a:latin typeface="Vani" panose="020B0502040204020203" pitchFamily="34" charset="0"/>
                  <a:cs typeface="Vani" panose="020B0502040204020203" pitchFamily="34" charset="0"/>
                </a:endParaRPr>
              </a:p>
              <a:p>
                <a:pPr>
                  <a:lnSpc>
                    <a:spcPct val="150000"/>
                  </a:lnSpc>
                </a:pPr>
                <a:endParaRPr lang="en-US" sz="2300" dirty="0" smtClean="0">
                  <a:latin typeface="Vani" panose="020B0502040204020203" pitchFamily="34" charset="0"/>
                  <a:cs typeface="Vani" panose="020B0502040204020203" pitchFamily="34" charset="0"/>
                </a:endParaRPr>
              </a:p>
            </p:txBody>
          </p:sp>
        </mc:Choice>
        <mc:Fallback>
          <p:sp>
            <p:nvSpPr>
              <p:cNvPr id="14" name="Content Placeholder 13"/>
              <p:cNvSpPr>
                <a:spLocks noGrp="1" noRot="1" noChangeAspect="1" noMove="1" noResize="1" noEditPoints="1" noAdjustHandles="1" noChangeArrowheads="1" noChangeShapeType="1" noTextEdit="1"/>
              </p:cNvSpPr>
              <p:nvPr>
                <p:ph idx="1"/>
              </p:nvPr>
            </p:nvSpPr>
            <p:spPr>
              <a:xfrm>
                <a:off x="0" y="1738184"/>
                <a:ext cx="12192000" cy="5119816"/>
              </a:xfrm>
              <a:blipFill rotWithShape="0">
                <a:blip r:embed="rId3"/>
                <a:stretch>
                  <a:fillRect l="-1350"/>
                </a:stretch>
              </a:blipFill>
            </p:spPr>
            <p:txBody>
              <a:bodyPr/>
              <a:lstStyle/>
              <a:p>
                <a:r>
                  <a:rPr lang="en-US">
                    <a:noFill/>
                  </a:rPr>
                  <a:t> </a:t>
                </a:r>
              </a:p>
            </p:txBody>
          </p:sp>
        </mc:Fallback>
      </mc:AlternateContent>
    </p:spTree>
    <p:extLst>
      <p:ext uri="{BB962C8B-B14F-4D97-AF65-F5344CB8AC3E}">
        <p14:creationId xmlns:p14="http://schemas.microsoft.com/office/powerpoint/2010/main" val="15193726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0" y="295562"/>
            <a:ext cx="12192000" cy="1008247"/>
          </a:xfrm>
        </p:spPr>
        <p:txBody>
          <a:bodyPr/>
          <a:lstStyle/>
          <a:p>
            <a:r>
              <a:rPr lang="en-US" dirty="0" smtClean="0"/>
              <a:t>Questions and Answers							</a:t>
            </a:r>
            <a:r>
              <a:rPr lang="en-US" dirty="0" smtClean="0"/>
              <a:t>19-1</a:t>
            </a:r>
            <a:r>
              <a:rPr lang="en-US" dirty="0" smtClean="0"/>
              <a:t>.</a:t>
            </a:r>
            <a:endParaRPr dirty="0"/>
          </a:p>
        </p:txBody>
      </p:sp>
      <mc:AlternateContent xmlns:mc="http://schemas.openxmlformats.org/markup-compatibility/2006">
        <mc:Choice xmlns:a14="http://schemas.microsoft.com/office/drawing/2010/main" Requires="a14">
          <p:sp>
            <p:nvSpPr>
              <p:cNvPr id="14" name="Content Placeholder 13"/>
              <p:cNvSpPr>
                <a:spLocks noGrp="1"/>
              </p:cNvSpPr>
              <p:nvPr>
                <p:ph idx="1"/>
              </p:nvPr>
            </p:nvSpPr>
            <p:spPr>
              <a:xfrm>
                <a:off x="0" y="1738184"/>
                <a:ext cx="12192000" cy="5119816"/>
              </a:xfrm>
            </p:spPr>
            <p:txBody>
              <a:bodyPr>
                <a:normAutofit/>
              </a:bodyPr>
              <a:lstStyle/>
              <a:p>
                <a:pPr>
                  <a:lnSpc>
                    <a:spcPct val="150000"/>
                  </a:lnSpc>
                </a:pPr>
                <a:r>
                  <a:rPr lang="en-US" sz="2300" dirty="0" smtClean="0">
                    <a:solidFill>
                      <a:srgbClr val="7030A0"/>
                    </a:solidFill>
                    <a:latin typeface="Vani" panose="020B0502040204020203" pitchFamily="34" charset="0"/>
                    <a:cs typeface="Vani" panose="020B0502040204020203" pitchFamily="34" charset="0"/>
                  </a:rPr>
                  <a:t>(19.)</a:t>
                </a:r>
                <a:r>
                  <a:rPr lang="en-US" sz="2300" dirty="0">
                    <a:latin typeface="Vani" panose="020B0502040204020203" pitchFamily="34" charset="0"/>
                    <a:cs typeface="Vani" panose="020B0502040204020203" pitchFamily="34" charset="0"/>
                  </a:rPr>
                  <a:t>	</a:t>
                </a:r>
                <a:r>
                  <a:rPr lang="en-US" sz="2300" dirty="0" smtClean="0">
                    <a:latin typeface="Vani" panose="020B0502040204020203" pitchFamily="34" charset="0"/>
                    <a:cs typeface="Vani" panose="020B0502040204020203" pitchFamily="34" charset="0"/>
                  </a:rPr>
                  <a:t>Deoxyribonucleic acid (DNA) is made up of nucleotides. Each nucleotide can contain any one of these nitrogenous bases: Adenine (A); Cytosine (C); Guanine (G); or Thymine (T). If one of these bases must be selected 8 times to form a linear octuplet, how many different octuplets are possible? </a:t>
                </a:r>
                <a:r>
                  <a:rPr lang="en-US" sz="2300" dirty="0" smtClean="0">
                    <a:latin typeface="Vani" panose="020B0502040204020203" pitchFamily="34" charset="0"/>
                    <a:cs typeface="Vani" panose="020B0502040204020203" pitchFamily="34" charset="0"/>
                  </a:rPr>
                  <a:t>All 4 bases can be selected for each of the 8 components of the octuplet.</a:t>
                </a:r>
                <a:endParaRPr lang="en-US" sz="2300" dirty="0" smtClean="0">
                  <a:latin typeface="Vani" panose="020B0502040204020203" pitchFamily="34" charset="0"/>
                  <a:cs typeface="Vani" panose="020B0502040204020203" pitchFamily="34" charset="0"/>
                </a:endParaRPr>
              </a:p>
              <a:p>
                <a:pPr>
                  <a:lnSpc>
                    <a:spcPct val="150000"/>
                  </a:lnSpc>
                </a:pPr>
                <a:r>
                  <a:rPr lang="en-US" sz="2300" dirty="0" smtClean="0">
                    <a:latin typeface="Vani" panose="020B0502040204020203" pitchFamily="34" charset="0"/>
                    <a:cs typeface="Vani" panose="020B0502040204020203" pitchFamily="34" charset="0"/>
                  </a:rPr>
                  <a:t>This is a case of the </a:t>
                </a:r>
                <a:r>
                  <a:rPr lang="en-US" sz="2300" dirty="0" smtClean="0">
                    <a:latin typeface="Vani" panose="020B0502040204020203" pitchFamily="34" charset="0"/>
                    <a:cs typeface="Vani" panose="020B0502040204020203" pitchFamily="34" charset="0"/>
                    <a:hlinkClick r:id="rId2"/>
                  </a:rPr>
                  <a:t>Fundamental Counting Principle</a:t>
                </a:r>
                <a:r>
                  <a:rPr lang="en-US" sz="2300" dirty="0" smtClean="0">
                    <a:latin typeface="Vani" panose="020B0502040204020203" pitchFamily="34" charset="0"/>
                    <a:cs typeface="Vani" panose="020B0502040204020203" pitchFamily="34" charset="0"/>
                  </a:rPr>
                  <a:t>.</a:t>
                </a:r>
              </a:p>
              <a:p>
                <a:pPr>
                  <a:lnSpc>
                    <a:spcPct val="150000"/>
                  </a:lnSpc>
                </a:pPr>
                <a14:m>
                  <m:oMath xmlns:m="http://schemas.openxmlformats.org/officeDocument/2006/math">
                    <m:r>
                      <a:rPr lang="en-US" sz="2300" b="0" i="1" smtClean="0">
                        <a:latin typeface="Cambria Math" panose="02040503050406030204" pitchFamily="18" charset="0"/>
                        <a:cs typeface="Vani" panose="020B0502040204020203" pitchFamily="34" charset="0"/>
                      </a:rPr>
                      <m:t>𝑁𝑢𝑚𝑏𝑒𝑟</m:t>
                    </m:r>
                    <m:r>
                      <a:rPr lang="en-US" sz="2300" b="0" i="1" smtClean="0">
                        <a:latin typeface="Cambria Math" panose="02040503050406030204" pitchFamily="18" charset="0"/>
                        <a:cs typeface="Vani" panose="020B0502040204020203" pitchFamily="34" charset="0"/>
                      </a:rPr>
                      <m:t> </m:t>
                    </m:r>
                    <m:r>
                      <a:rPr lang="en-US" sz="2300" b="0" i="1" smtClean="0">
                        <a:latin typeface="Cambria Math" panose="02040503050406030204" pitchFamily="18" charset="0"/>
                        <a:cs typeface="Vani" panose="020B0502040204020203" pitchFamily="34" charset="0"/>
                      </a:rPr>
                      <m:t>𝑜𝑓</m:t>
                    </m:r>
                    <m:r>
                      <a:rPr lang="en-US" sz="2300" b="0" i="1" smtClean="0">
                        <a:latin typeface="Cambria Math" panose="02040503050406030204" pitchFamily="18" charset="0"/>
                        <a:cs typeface="Vani" panose="020B0502040204020203" pitchFamily="34" charset="0"/>
                      </a:rPr>
                      <m:t> </m:t>
                    </m:r>
                    <m:r>
                      <a:rPr lang="en-US" sz="2300" b="0" i="1" smtClean="0">
                        <a:latin typeface="Cambria Math" panose="02040503050406030204" pitchFamily="18" charset="0"/>
                        <a:cs typeface="Vani" panose="020B0502040204020203" pitchFamily="34" charset="0"/>
                      </a:rPr>
                      <m:t>𝑝𝑜𝑠𝑠𝑖𝑏𝑙𝑒</m:t>
                    </m:r>
                    <m:r>
                      <a:rPr lang="en-US" sz="2300" b="0" i="1" smtClean="0">
                        <a:latin typeface="Cambria Math" panose="02040503050406030204" pitchFamily="18" charset="0"/>
                        <a:cs typeface="Vani" panose="020B0502040204020203" pitchFamily="34" charset="0"/>
                      </a:rPr>
                      <m:t> </m:t>
                    </m:r>
                    <m:r>
                      <a:rPr lang="en-US" sz="2300" b="0" i="1" smtClean="0">
                        <a:latin typeface="Cambria Math" panose="02040503050406030204" pitchFamily="18" charset="0"/>
                        <a:cs typeface="Vani" panose="020B0502040204020203" pitchFamily="34" charset="0"/>
                      </a:rPr>
                      <m:t>𝑑𝑖𝑓𝑓𝑒𝑟𝑒𝑛𝑡</m:t>
                    </m:r>
                    <m:r>
                      <a:rPr lang="en-US" sz="2300" b="0" i="1" smtClean="0">
                        <a:latin typeface="Cambria Math" panose="02040503050406030204" pitchFamily="18" charset="0"/>
                        <a:cs typeface="Vani" panose="020B0502040204020203" pitchFamily="34" charset="0"/>
                      </a:rPr>
                      <m:t> </m:t>
                    </m:r>
                    <m:r>
                      <a:rPr lang="en-US" sz="2300" b="0" i="1" smtClean="0">
                        <a:latin typeface="Cambria Math" panose="02040503050406030204" pitchFamily="18" charset="0"/>
                        <a:cs typeface="Vani" panose="020B0502040204020203" pitchFamily="34" charset="0"/>
                      </a:rPr>
                      <m:t>𝑜𝑐𝑡𝑢𝑝𝑙𝑒𝑡𝑠</m:t>
                    </m:r>
                    <m:r>
                      <a:rPr lang="en-US" sz="2300" b="0" i="1" smtClean="0">
                        <a:latin typeface="Cambria Math" panose="02040503050406030204" pitchFamily="18" charset="0"/>
                        <a:cs typeface="Vani" panose="020B0502040204020203" pitchFamily="34" charset="0"/>
                      </a:rPr>
                      <m:t>=4∗4∗4∗4∗4∗4∗4∗4=</m:t>
                    </m:r>
                    <m:sSup>
                      <m:sSupPr>
                        <m:ctrlPr>
                          <a:rPr lang="en-US" sz="2300" b="0" i="1" smtClean="0">
                            <a:latin typeface="Cambria Math" panose="02040503050406030204" pitchFamily="18" charset="0"/>
                            <a:cs typeface="Vani" panose="020B0502040204020203" pitchFamily="34" charset="0"/>
                          </a:rPr>
                        </m:ctrlPr>
                      </m:sSupPr>
                      <m:e>
                        <m:r>
                          <a:rPr lang="en-US" sz="2300" b="0" i="1" smtClean="0">
                            <a:latin typeface="Cambria Math" panose="02040503050406030204" pitchFamily="18" charset="0"/>
                            <a:cs typeface="Vani" panose="020B0502040204020203" pitchFamily="34" charset="0"/>
                          </a:rPr>
                          <m:t>4</m:t>
                        </m:r>
                      </m:e>
                      <m:sup>
                        <m:r>
                          <a:rPr lang="en-US" sz="2300" b="0" i="1" smtClean="0">
                            <a:latin typeface="Cambria Math" panose="02040503050406030204" pitchFamily="18" charset="0"/>
                            <a:cs typeface="Vani" panose="020B0502040204020203" pitchFamily="34" charset="0"/>
                          </a:rPr>
                          <m:t>8</m:t>
                        </m:r>
                      </m:sup>
                    </m:sSup>
                    <m:r>
                      <a:rPr lang="en-US" sz="2300" b="0" i="1" smtClean="0">
                        <a:latin typeface="Cambria Math" panose="02040503050406030204" pitchFamily="18" charset="0"/>
                        <a:cs typeface="Vani" panose="020B0502040204020203" pitchFamily="34" charset="0"/>
                      </a:rPr>
                      <m:t>=</m:t>
                    </m:r>
                    <m:r>
                      <a:rPr lang="en-US" sz="2300" b="0" i="1" smtClean="0">
                        <a:solidFill>
                          <a:srgbClr val="FF0000"/>
                        </a:solidFill>
                        <a:latin typeface="Cambria Math" panose="02040503050406030204" pitchFamily="18" charset="0"/>
                        <a:cs typeface="Vani" panose="020B0502040204020203" pitchFamily="34" charset="0"/>
                      </a:rPr>
                      <m:t>65536</m:t>
                    </m:r>
                  </m:oMath>
                </a14:m>
                <a:endParaRPr lang="en-US" sz="2300" dirty="0" smtClean="0">
                  <a:solidFill>
                    <a:srgbClr val="FF0000"/>
                  </a:solidFill>
                  <a:latin typeface="Vani" panose="020B0502040204020203" pitchFamily="34" charset="0"/>
                  <a:cs typeface="Vani" panose="020B0502040204020203" pitchFamily="34" charset="0"/>
                </a:endParaRPr>
              </a:p>
              <a:p>
                <a:pPr>
                  <a:lnSpc>
                    <a:spcPct val="150000"/>
                  </a:lnSpc>
                </a:pPr>
                <a:endParaRPr lang="en-US" sz="2300" dirty="0">
                  <a:latin typeface="Vani" panose="020B0502040204020203" pitchFamily="34" charset="0"/>
                  <a:cs typeface="Vani" panose="020B0502040204020203" pitchFamily="34" charset="0"/>
                </a:endParaRPr>
              </a:p>
              <a:p>
                <a:pPr>
                  <a:lnSpc>
                    <a:spcPct val="150000"/>
                  </a:lnSpc>
                </a:pPr>
                <a:endParaRPr lang="en-US" sz="2300" dirty="0" smtClean="0">
                  <a:latin typeface="Vani" panose="020B0502040204020203" pitchFamily="34" charset="0"/>
                  <a:cs typeface="Vani" panose="020B0502040204020203" pitchFamily="34" charset="0"/>
                </a:endParaRPr>
              </a:p>
            </p:txBody>
          </p:sp>
        </mc:Choice>
        <mc:Fallback>
          <p:sp>
            <p:nvSpPr>
              <p:cNvPr id="14" name="Content Placeholder 13"/>
              <p:cNvSpPr>
                <a:spLocks noGrp="1" noRot="1" noChangeAspect="1" noMove="1" noResize="1" noEditPoints="1" noAdjustHandles="1" noChangeArrowheads="1" noChangeShapeType="1" noTextEdit="1"/>
              </p:cNvSpPr>
              <p:nvPr>
                <p:ph idx="1"/>
              </p:nvPr>
            </p:nvSpPr>
            <p:spPr>
              <a:xfrm>
                <a:off x="0" y="1738184"/>
                <a:ext cx="12192000" cy="5119816"/>
              </a:xfrm>
              <a:blipFill rotWithShape="0">
                <a:blip r:embed="rId3"/>
                <a:stretch>
                  <a:fillRect l="-1350" r="-1550"/>
                </a:stretch>
              </a:blipFill>
            </p:spPr>
            <p:txBody>
              <a:bodyPr/>
              <a:lstStyle/>
              <a:p>
                <a:r>
                  <a:rPr lang="en-US">
                    <a:noFill/>
                  </a:rPr>
                  <a:t> </a:t>
                </a:r>
              </a:p>
            </p:txBody>
          </p:sp>
        </mc:Fallback>
      </mc:AlternateContent>
    </p:spTree>
    <p:extLst>
      <p:ext uri="{BB962C8B-B14F-4D97-AF65-F5344CB8AC3E}">
        <p14:creationId xmlns:p14="http://schemas.microsoft.com/office/powerpoint/2010/main" val="34646590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0" y="295562"/>
            <a:ext cx="12192000" cy="1008247"/>
          </a:xfrm>
        </p:spPr>
        <p:txBody>
          <a:bodyPr/>
          <a:lstStyle/>
          <a:p>
            <a:r>
              <a:rPr lang="en-US" dirty="0" smtClean="0"/>
              <a:t>Questions and Answers							</a:t>
            </a:r>
            <a:r>
              <a:rPr lang="en-US" dirty="0" smtClean="0"/>
              <a:t>20-1</a:t>
            </a:r>
            <a:r>
              <a:rPr lang="en-US" dirty="0" smtClean="0"/>
              <a:t>.</a:t>
            </a:r>
            <a:endParaRPr dirty="0"/>
          </a:p>
        </p:txBody>
      </p:sp>
      <mc:AlternateContent xmlns:mc="http://schemas.openxmlformats.org/markup-compatibility/2006">
        <mc:Choice xmlns:a14="http://schemas.microsoft.com/office/drawing/2010/main" Requires="a14">
          <p:sp>
            <p:nvSpPr>
              <p:cNvPr id="14" name="Content Placeholder 13"/>
              <p:cNvSpPr>
                <a:spLocks noGrp="1"/>
              </p:cNvSpPr>
              <p:nvPr>
                <p:ph idx="1"/>
              </p:nvPr>
            </p:nvSpPr>
            <p:spPr>
              <a:xfrm>
                <a:off x="0" y="1738184"/>
                <a:ext cx="12192000" cy="5119816"/>
              </a:xfrm>
            </p:spPr>
            <p:txBody>
              <a:bodyPr>
                <a:normAutofit fontScale="92500"/>
              </a:bodyPr>
              <a:lstStyle/>
              <a:p>
                <a:pPr>
                  <a:lnSpc>
                    <a:spcPct val="150000"/>
                  </a:lnSpc>
                </a:pPr>
                <a:r>
                  <a:rPr lang="en-US" sz="2300" dirty="0" smtClean="0">
                    <a:solidFill>
                      <a:srgbClr val="7030A0"/>
                    </a:solidFill>
                    <a:latin typeface="Vani" panose="020B0502040204020203" pitchFamily="34" charset="0"/>
                    <a:cs typeface="Vani" panose="020B0502040204020203" pitchFamily="34" charset="0"/>
                  </a:rPr>
                  <a:t>(20.)</a:t>
                </a:r>
                <a:r>
                  <a:rPr lang="en-US" sz="2300" dirty="0" smtClean="0">
                    <a:latin typeface="Vani" panose="020B0502040204020203" pitchFamily="34" charset="0"/>
                    <a:cs typeface="Vani" panose="020B0502040204020203" pitchFamily="34" charset="0"/>
                  </a:rPr>
                  <a:t>	</a:t>
                </a:r>
                <a:r>
                  <a:rPr lang="en-US" sz="2300" dirty="0" smtClean="0">
                    <a:latin typeface="Vani" panose="020B0502040204020203" pitchFamily="34" charset="0"/>
                    <a:cs typeface="Vani" panose="020B0502040204020203" pitchFamily="34" charset="0"/>
                  </a:rPr>
                  <a:t>To win the jackpot in the lottery organized by a certain county, the winner must select 5 numbers between 1 and 32 in a drawing; and also select the correct single number between 1 and 32 in a separate drawing. Determine the probability of winning the jackpot.</a:t>
                </a:r>
              </a:p>
              <a:p>
                <a:pPr>
                  <a:lnSpc>
                    <a:spcPct val="150000"/>
                  </a:lnSpc>
                </a:pPr>
                <a:r>
                  <a:rPr lang="en-US" sz="2300" dirty="0">
                    <a:latin typeface="Vani" panose="020B0502040204020203" pitchFamily="34" charset="0"/>
                    <a:cs typeface="Vani" panose="020B0502040204020203" pitchFamily="34" charset="0"/>
                  </a:rPr>
                  <a:t>This is a case of </a:t>
                </a:r>
                <a:r>
                  <a:rPr lang="en-US" sz="2300" dirty="0" smtClean="0">
                    <a:latin typeface="Vani" panose="020B0502040204020203" pitchFamily="34" charset="0"/>
                    <a:cs typeface="Vani" panose="020B0502040204020203" pitchFamily="34" charset="0"/>
                    <a:hlinkClick r:id="rId2"/>
                  </a:rPr>
                  <a:t>Combination</a:t>
                </a:r>
                <a:r>
                  <a:rPr lang="en-US" sz="2300" dirty="0">
                    <a:latin typeface="Vani" panose="020B0502040204020203" pitchFamily="34" charset="0"/>
                    <a:cs typeface="Vani" panose="020B0502040204020203" pitchFamily="34" charset="0"/>
                  </a:rPr>
                  <a:t> </a:t>
                </a:r>
                <a:r>
                  <a:rPr lang="en-US" sz="2300" dirty="0" smtClean="0">
                    <a:latin typeface="Vani" panose="020B0502040204020203" pitchFamily="34" charset="0"/>
                    <a:cs typeface="Vani" panose="020B0502040204020203" pitchFamily="34" charset="0"/>
                  </a:rPr>
                  <a:t>and </a:t>
                </a:r>
                <a:r>
                  <a:rPr lang="en-US" sz="2300" dirty="0" smtClean="0">
                    <a:latin typeface="Vani" panose="020B0502040204020203" pitchFamily="34" charset="0"/>
                    <a:cs typeface="Vani" panose="020B0502040204020203" pitchFamily="34" charset="0"/>
                    <a:hlinkClick r:id="rId3"/>
                  </a:rPr>
                  <a:t>Multiplication Rule for Independent Events</a:t>
                </a:r>
                <a:r>
                  <a:rPr lang="en-US" sz="2300" dirty="0" smtClean="0">
                    <a:latin typeface="Vani" panose="020B0502040204020203" pitchFamily="34" charset="0"/>
                    <a:cs typeface="Vani" panose="020B0502040204020203" pitchFamily="34" charset="0"/>
                  </a:rPr>
                  <a:t>.</a:t>
                </a:r>
              </a:p>
              <a:p>
                <a:pPr>
                  <a:lnSpc>
                    <a:spcPct val="150000"/>
                  </a:lnSpc>
                </a:pPr>
                <a14:m>
                  <m:oMath xmlns:m="http://schemas.openxmlformats.org/officeDocument/2006/math">
                    <m:r>
                      <a:rPr lang="en-US" sz="2300" b="0" i="1" smtClean="0">
                        <a:latin typeface="Cambria Math" panose="02040503050406030204" pitchFamily="18" charset="0"/>
                        <a:cs typeface="Vani" panose="020B0502040204020203" pitchFamily="34" charset="0"/>
                      </a:rPr>
                      <m:t>𝑃</m:t>
                    </m:r>
                    <m:d>
                      <m:dPr>
                        <m:ctrlPr>
                          <a:rPr lang="en-US" sz="2300" b="0" i="1" smtClean="0">
                            <a:latin typeface="Cambria Math" panose="02040503050406030204" pitchFamily="18" charset="0"/>
                            <a:cs typeface="Vani" panose="020B0502040204020203" pitchFamily="34" charset="0"/>
                          </a:rPr>
                        </m:ctrlPr>
                      </m:dPr>
                      <m:e>
                        <m:r>
                          <a:rPr lang="en-US" sz="2300" b="0" i="1" smtClean="0">
                            <a:latin typeface="Cambria Math" panose="02040503050406030204" pitchFamily="18" charset="0"/>
                            <a:cs typeface="Vani" panose="020B0502040204020203" pitchFamily="34" charset="0"/>
                          </a:rPr>
                          <m:t>𝑤𝑖𝑛𝑛𝑖𝑛𝑔</m:t>
                        </m:r>
                        <m:r>
                          <a:rPr lang="en-US" sz="2300" b="0" i="1" smtClean="0">
                            <a:latin typeface="Cambria Math" panose="02040503050406030204" pitchFamily="18" charset="0"/>
                            <a:cs typeface="Vani" panose="020B0502040204020203" pitchFamily="34" charset="0"/>
                          </a:rPr>
                          <m:t> </m:t>
                        </m:r>
                        <m:r>
                          <a:rPr lang="en-US" sz="2300" b="0" i="1" smtClean="0">
                            <a:latin typeface="Cambria Math" panose="02040503050406030204" pitchFamily="18" charset="0"/>
                            <a:cs typeface="Vani" panose="020B0502040204020203" pitchFamily="34" charset="0"/>
                          </a:rPr>
                          <m:t>𝑡h𝑒</m:t>
                        </m:r>
                        <m:r>
                          <a:rPr lang="en-US" sz="2300" b="0" i="1" smtClean="0">
                            <a:latin typeface="Cambria Math" panose="02040503050406030204" pitchFamily="18" charset="0"/>
                            <a:cs typeface="Vani" panose="020B0502040204020203" pitchFamily="34" charset="0"/>
                          </a:rPr>
                          <m:t> </m:t>
                        </m:r>
                        <m:r>
                          <a:rPr lang="en-US" sz="2300" b="0" i="1" smtClean="0">
                            <a:latin typeface="Cambria Math" panose="02040503050406030204" pitchFamily="18" charset="0"/>
                            <a:cs typeface="Vani" panose="020B0502040204020203" pitchFamily="34" charset="0"/>
                          </a:rPr>
                          <m:t>𝑗𝑎𝑐𝑘𝑝𝑜𝑡</m:t>
                        </m:r>
                      </m:e>
                    </m:d>
                    <m:r>
                      <a:rPr lang="en-US" sz="2300" b="0" i="1" smtClean="0">
                        <a:latin typeface="Cambria Math" panose="02040503050406030204" pitchFamily="18" charset="0"/>
                        <a:cs typeface="Vani" panose="020B0502040204020203" pitchFamily="34" charset="0"/>
                      </a:rPr>
                      <m:t>=</m:t>
                    </m:r>
                    <m:f>
                      <m:fPr>
                        <m:ctrlPr>
                          <a:rPr lang="en-US" sz="2300" b="0" i="1" smtClean="0">
                            <a:latin typeface="Cambria Math" panose="02040503050406030204" pitchFamily="18" charset="0"/>
                            <a:cs typeface="Vani" panose="020B0502040204020203" pitchFamily="34" charset="0"/>
                          </a:rPr>
                        </m:ctrlPr>
                      </m:fPr>
                      <m:num>
                        <m:r>
                          <a:rPr lang="en-US" sz="2300" b="0" i="1" smtClean="0">
                            <a:latin typeface="Cambria Math" panose="02040503050406030204" pitchFamily="18" charset="0"/>
                            <a:cs typeface="Vani" panose="020B0502040204020203" pitchFamily="34" charset="0"/>
                          </a:rPr>
                          <m:t>𝐶</m:t>
                        </m:r>
                        <m:r>
                          <a:rPr lang="en-US" sz="2300" b="0" i="1" smtClean="0">
                            <a:latin typeface="Cambria Math" panose="02040503050406030204" pitchFamily="18" charset="0"/>
                            <a:cs typeface="Vani" panose="020B0502040204020203" pitchFamily="34" charset="0"/>
                          </a:rPr>
                          <m:t>(5, 5)</m:t>
                        </m:r>
                      </m:num>
                      <m:den>
                        <m:r>
                          <a:rPr lang="en-US" sz="2300" i="1">
                            <a:latin typeface="Cambria Math" panose="02040503050406030204" pitchFamily="18" charset="0"/>
                            <a:cs typeface="Vani" panose="020B0502040204020203" pitchFamily="34" charset="0"/>
                          </a:rPr>
                          <m:t>𝐶</m:t>
                        </m:r>
                        <m:d>
                          <m:dPr>
                            <m:ctrlPr>
                              <a:rPr lang="en-US" sz="2300" i="1">
                                <a:latin typeface="Cambria Math" panose="02040503050406030204" pitchFamily="18" charset="0"/>
                                <a:cs typeface="Vani" panose="020B0502040204020203" pitchFamily="34" charset="0"/>
                              </a:rPr>
                            </m:ctrlPr>
                          </m:dPr>
                          <m:e>
                            <m:r>
                              <a:rPr lang="en-US" sz="2300" i="1">
                                <a:latin typeface="Cambria Math" panose="02040503050406030204" pitchFamily="18" charset="0"/>
                                <a:cs typeface="Vani" panose="020B0502040204020203" pitchFamily="34" charset="0"/>
                              </a:rPr>
                              <m:t>32, 5</m:t>
                            </m:r>
                          </m:e>
                        </m:d>
                      </m:den>
                    </m:f>
                    <m:r>
                      <a:rPr lang="en-US" sz="2300" b="0" i="1" smtClean="0">
                        <a:latin typeface="Cambria Math" panose="02040503050406030204" pitchFamily="18" charset="0"/>
                        <a:cs typeface="Vani" panose="020B0502040204020203" pitchFamily="34" charset="0"/>
                      </a:rPr>
                      <m:t>∗</m:t>
                    </m:r>
                    <m:f>
                      <m:fPr>
                        <m:ctrlPr>
                          <a:rPr lang="en-US" sz="2300" i="1">
                            <a:latin typeface="Cambria Math" panose="02040503050406030204" pitchFamily="18" charset="0"/>
                            <a:cs typeface="Vani" panose="020B0502040204020203" pitchFamily="34" charset="0"/>
                          </a:rPr>
                        </m:ctrlPr>
                      </m:fPr>
                      <m:num>
                        <m:r>
                          <a:rPr lang="en-US" sz="2300" i="1">
                            <a:latin typeface="Cambria Math" panose="02040503050406030204" pitchFamily="18" charset="0"/>
                            <a:cs typeface="Vani" panose="020B0502040204020203" pitchFamily="34" charset="0"/>
                          </a:rPr>
                          <m:t>𝐶</m:t>
                        </m:r>
                        <m:d>
                          <m:dPr>
                            <m:ctrlPr>
                              <a:rPr lang="en-US" sz="2300" i="1">
                                <a:latin typeface="Cambria Math" panose="02040503050406030204" pitchFamily="18" charset="0"/>
                                <a:cs typeface="Vani" panose="020B0502040204020203" pitchFamily="34" charset="0"/>
                              </a:rPr>
                            </m:ctrlPr>
                          </m:dPr>
                          <m:e>
                            <m:r>
                              <a:rPr lang="en-US" sz="2300" b="0" i="1" smtClean="0">
                                <a:latin typeface="Cambria Math" panose="02040503050406030204" pitchFamily="18" charset="0"/>
                                <a:cs typeface="Vani" panose="020B0502040204020203" pitchFamily="34" charset="0"/>
                              </a:rPr>
                              <m:t>1</m:t>
                            </m:r>
                            <m:r>
                              <a:rPr lang="en-US" sz="2300" i="1">
                                <a:latin typeface="Cambria Math" panose="02040503050406030204" pitchFamily="18" charset="0"/>
                                <a:cs typeface="Vani" panose="020B0502040204020203" pitchFamily="34" charset="0"/>
                              </a:rPr>
                              <m:t>, </m:t>
                            </m:r>
                            <m:r>
                              <a:rPr lang="en-US" sz="2300" b="0" i="1" smtClean="0">
                                <a:latin typeface="Cambria Math" panose="02040503050406030204" pitchFamily="18" charset="0"/>
                                <a:cs typeface="Vani" panose="020B0502040204020203" pitchFamily="34" charset="0"/>
                              </a:rPr>
                              <m:t>1</m:t>
                            </m:r>
                          </m:e>
                        </m:d>
                      </m:num>
                      <m:den>
                        <m:r>
                          <a:rPr lang="en-US" sz="2300" i="1">
                            <a:latin typeface="Cambria Math" panose="02040503050406030204" pitchFamily="18" charset="0"/>
                            <a:cs typeface="Vani" panose="020B0502040204020203" pitchFamily="34" charset="0"/>
                          </a:rPr>
                          <m:t>𝐶</m:t>
                        </m:r>
                        <m:d>
                          <m:dPr>
                            <m:ctrlPr>
                              <a:rPr lang="en-US" sz="2300" i="1">
                                <a:latin typeface="Cambria Math" panose="02040503050406030204" pitchFamily="18" charset="0"/>
                                <a:cs typeface="Vani" panose="020B0502040204020203" pitchFamily="34" charset="0"/>
                              </a:rPr>
                            </m:ctrlPr>
                          </m:dPr>
                          <m:e>
                            <m:r>
                              <a:rPr lang="en-US" sz="2300" i="1">
                                <a:latin typeface="Cambria Math" panose="02040503050406030204" pitchFamily="18" charset="0"/>
                                <a:cs typeface="Vani" panose="020B0502040204020203" pitchFamily="34" charset="0"/>
                              </a:rPr>
                              <m:t>32, </m:t>
                            </m:r>
                            <m:r>
                              <a:rPr lang="en-US" sz="2300" b="0" i="1" smtClean="0">
                                <a:latin typeface="Cambria Math" panose="02040503050406030204" pitchFamily="18" charset="0"/>
                                <a:cs typeface="Vani" panose="020B0502040204020203" pitchFamily="34" charset="0"/>
                              </a:rPr>
                              <m:t>1</m:t>
                            </m:r>
                          </m:e>
                        </m:d>
                      </m:den>
                    </m:f>
                    <m:r>
                      <a:rPr lang="en-US" sz="2300" b="0" i="1" smtClean="0">
                        <a:latin typeface="Cambria Math" panose="02040503050406030204" pitchFamily="18" charset="0"/>
                        <a:cs typeface="Vani" panose="020B0502040204020203" pitchFamily="34" charset="0"/>
                      </a:rPr>
                      <m:t>=</m:t>
                    </m:r>
                    <m:f>
                      <m:fPr>
                        <m:ctrlPr>
                          <a:rPr lang="en-US" sz="2300" b="0" i="1" smtClean="0">
                            <a:latin typeface="Cambria Math" panose="02040503050406030204" pitchFamily="18" charset="0"/>
                            <a:cs typeface="Vani" panose="020B0502040204020203" pitchFamily="34" charset="0"/>
                          </a:rPr>
                        </m:ctrlPr>
                      </m:fPr>
                      <m:num>
                        <m:r>
                          <a:rPr lang="en-US" sz="2300" b="0" i="1" smtClean="0">
                            <a:latin typeface="Cambria Math" panose="02040503050406030204" pitchFamily="18" charset="0"/>
                            <a:cs typeface="Vani" panose="020B0502040204020203" pitchFamily="34" charset="0"/>
                          </a:rPr>
                          <m:t>1</m:t>
                        </m:r>
                      </m:num>
                      <m:den>
                        <m:r>
                          <a:rPr lang="en-US" sz="2300" b="0" i="1" smtClean="0">
                            <a:latin typeface="Cambria Math" panose="02040503050406030204" pitchFamily="18" charset="0"/>
                            <a:cs typeface="Vani" panose="020B0502040204020203" pitchFamily="34" charset="0"/>
                          </a:rPr>
                          <m:t>201376</m:t>
                        </m:r>
                      </m:den>
                    </m:f>
                    <m:r>
                      <a:rPr lang="en-US" sz="2300" b="0" i="1" smtClean="0">
                        <a:latin typeface="Cambria Math" panose="02040503050406030204" pitchFamily="18" charset="0"/>
                        <a:cs typeface="Vani" panose="020B0502040204020203" pitchFamily="34" charset="0"/>
                      </a:rPr>
                      <m:t>∗</m:t>
                    </m:r>
                    <m:f>
                      <m:fPr>
                        <m:ctrlPr>
                          <a:rPr lang="en-US" sz="2300" b="0" i="1" smtClean="0">
                            <a:latin typeface="Cambria Math" panose="02040503050406030204" pitchFamily="18" charset="0"/>
                            <a:cs typeface="Vani" panose="020B0502040204020203" pitchFamily="34" charset="0"/>
                          </a:rPr>
                        </m:ctrlPr>
                      </m:fPr>
                      <m:num>
                        <m:r>
                          <a:rPr lang="en-US" sz="2300" b="0" i="1" smtClean="0">
                            <a:latin typeface="Cambria Math" panose="02040503050406030204" pitchFamily="18" charset="0"/>
                            <a:cs typeface="Vani" panose="020B0502040204020203" pitchFamily="34" charset="0"/>
                          </a:rPr>
                          <m:t>1</m:t>
                        </m:r>
                      </m:num>
                      <m:den>
                        <m:r>
                          <a:rPr lang="en-US" sz="2300" b="0" i="1" smtClean="0">
                            <a:latin typeface="Cambria Math" panose="02040503050406030204" pitchFamily="18" charset="0"/>
                            <a:cs typeface="Vani" panose="020B0502040204020203" pitchFamily="34" charset="0"/>
                          </a:rPr>
                          <m:t>32</m:t>
                        </m:r>
                      </m:den>
                    </m:f>
                    <m:r>
                      <a:rPr lang="en-US" sz="2300" b="0" i="1" smtClean="0">
                        <a:latin typeface="Cambria Math" panose="02040503050406030204" pitchFamily="18" charset="0"/>
                        <a:cs typeface="Vani" panose="020B0502040204020203" pitchFamily="34" charset="0"/>
                      </a:rPr>
                      <m:t>=</m:t>
                    </m:r>
                    <m:f>
                      <m:fPr>
                        <m:ctrlPr>
                          <a:rPr lang="en-US" sz="2300" b="0" i="1" smtClean="0">
                            <a:solidFill>
                              <a:srgbClr val="FF0000"/>
                            </a:solidFill>
                            <a:latin typeface="Cambria Math" panose="02040503050406030204" pitchFamily="18" charset="0"/>
                            <a:cs typeface="Vani" panose="020B0502040204020203" pitchFamily="34" charset="0"/>
                          </a:rPr>
                        </m:ctrlPr>
                      </m:fPr>
                      <m:num>
                        <m:r>
                          <a:rPr lang="en-US" sz="2300" b="0" i="1" smtClean="0">
                            <a:solidFill>
                              <a:srgbClr val="FF0000"/>
                            </a:solidFill>
                            <a:latin typeface="Cambria Math" panose="02040503050406030204" pitchFamily="18" charset="0"/>
                            <a:cs typeface="Vani" panose="020B0502040204020203" pitchFamily="34" charset="0"/>
                          </a:rPr>
                          <m:t>1</m:t>
                        </m:r>
                      </m:num>
                      <m:den>
                        <m:r>
                          <a:rPr lang="en-US" sz="2300" b="0" i="1" smtClean="0">
                            <a:solidFill>
                              <a:srgbClr val="FF0000"/>
                            </a:solidFill>
                            <a:latin typeface="Cambria Math" panose="02040503050406030204" pitchFamily="18" charset="0"/>
                            <a:cs typeface="Vani" panose="020B0502040204020203" pitchFamily="34" charset="0"/>
                          </a:rPr>
                          <m:t>6444032</m:t>
                        </m:r>
                      </m:den>
                    </m:f>
                  </m:oMath>
                </a14:m>
                <a:endParaRPr lang="en-US" sz="2300" dirty="0" smtClean="0">
                  <a:latin typeface="Vani" panose="020B0502040204020203" pitchFamily="34" charset="0"/>
                  <a:cs typeface="Vani" panose="020B0502040204020203" pitchFamily="34" charset="0"/>
                </a:endParaRPr>
              </a:p>
              <a:p>
                <a:pPr>
                  <a:lnSpc>
                    <a:spcPct val="150000"/>
                  </a:lnSpc>
                </a:pPr>
                <a14:m>
                  <m:oMath xmlns:m="http://schemas.openxmlformats.org/officeDocument/2006/math">
                    <m:r>
                      <a:rPr lang="en-US" sz="2300" b="0" i="1" smtClean="0">
                        <a:latin typeface="Cambria Math" panose="02040503050406030204" pitchFamily="18" charset="0"/>
                        <a:cs typeface="Vani" panose="020B0502040204020203" pitchFamily="34" charset="0"/>
                      </a:rPr>
                      <m:t>𝐶</m:t>
                    </m:r>
                    <m:d>
                      <m:dPr>
                        <m:ctrlPr>
                          <a:rPr lang="en-US" sz="2300" b="0" i="1" smtClean="0">
                            <a:latin typeface="Cambria Math" panose="02040503050406030204" pitchFamily="18" charset="0"/>
                            <a:cs typeface="Vani" panose="020B0502040204020203" pitchFamily="34" charset="0"/>
                          </a:rPr>
                        </m:ctrlPr>
                      </m:dPr>
                      <m:e>
                        <m:r>
                          <a:rPr lang="en-US" sz="2300" b="0" i="1" smtClean="0">
                            <a:latin typeface="Cambria Math" panose="02040503050406030204" pitchFamily="18" charset="0"/>
                            <a:cs typeface="Vani" panose="020B0502040204020203" pitchFamily="34" charset="0"/>
                          </a:rPr>
                          <m:t>5,5</m:t>
                        </m:r>
                      </m:e>
                    </m:d>
                    <m:r>
                      <a:rPr lang="en-US" sz="2300" b="0" i="1" smtClean="0">
                        <a:latin typeface="Cambria Math" panose="02040503050406030204" pitchFamily="18" charset="0"/>
                        <a:cs typeface="Vani" panose="020B0502040204020203" pitchFamily="34" charset="0"/>
                      </a:rPr>
                      <m:t>=</m:t>
                    </m:r>
                    <m:f>
                      <m:fPr>
                        <m:ctrlPr>
                          <a:rPr lang="en-US" sz="2300" b="0" i="1" smtClean="0">
                            <a:latin typeface="Cambria Math" panose="02040503050406030204" pitchFamily="18" charset="0"/>
                            <a:cs typeface="Vani" panose="020B0502040204020203" pitchFamily="34" charset="0"/>
                          </a:rPr>
                        </m:ctrlPr>
                      </m:fPr>
                      <m:num>
                        <m:r>
                          <a:rPr lang="en-US" sz="2300" b="0" i="1" smtClean="0">
                            <a:latin typeface="Cambria Math" panose="02040503050406030204" pitchFamily="18" charset="0"/>
                            <a:cs typeface="Vani" panose="020B0502040204020203" pitchFamily="34" charset="0"/>
                          </a:rPr>
                          <m:t>5!</m:t>
                        </m:r>
                      </m:num>
                      <m:den>
                        <m:d>
                          <m:dPr>
                            <m:ctrlPr>
                              <a:rPr lang="en-US" sz="2300" b="0" i="1" smtClean="0">
                                <a:latin typeface="Cambria Math" panose="02040503050406030204" pitchFamily="18" charset="0"/>
                                <a:cs typeface="Vani" panose="020B0502040204020203" pitchFamily="34" charset="0"/>
                              </a:rPr>
                            </m:ctrlPr>
                          </m:dPr>
                          <m:e>
                            <m:r>
                              <a:rPr lang="en-US" sz="2300" b="0" i="1" smtClean="0">
                                <a:latin typeface="Cambria Math" panose="02040503050406030204" pitchFamily="18" charset="0"/>
                                <a:cs typeface="Vani" panose="020B0502040204020203" pitchFamily="34" charset="0"/>
                              </a:rPr>
                              <m:t>5−5</m:t>
                            </m:r>
                          </m:e>
                        </m:d>
                        <m:r>
                          <a:rPr lang="en-US" sz="2300" b="0" i="1" smtClean="0">
                            <a:latin typeface="Cambria Math" panose="02040503050406030204" pitchFamily="18" charset="0"/>
                            <a:cs typeface="Vani" panose="020B0502040204020203" pitchFamily="34" charset="0"/>
                          </a:rPr>
                          <m:t>!5!</m:t>
                        </m:r>
                      </m:den>
                    </m:f>
                    <m:r>
                      <a:rPr lang="en-US" sz="2300" b="0" i="1" smtClean="0">
                        <a:latin typeface="Cambria Math" panose="02040503050406030204" pitchFamily="18" charset="0"/>
                        <a:cs typeface="Vani" panose="020B0502040204020203" pitchFamily="34" charset="0"/>
                      </a:rPr>
                      <m:t>=</m:t>
                    </m:r>
                    <m:f>
                      <m:fPr>
                        <m:ctrlPr>
                          <a:rPr lang="en-US" sz="2300" b="0" i="1" smtClean="0">
                            <a:latin typeface="Cambria Math" panose="02040503050406030204" pitchFamily="18" charset="0"/>
                            <a:cs typeface="Vani" panose="020B0502040204020203" pitchFamily="34" charset="0"/>
                          </a:rPr>
                        </m:ctrlPr>
                      </m:fPr>
                      <m:num>
                        <m:r>
                          <a:rPr lang="en-US" sz="2300" b="0" i="1" smtClean="0">
                            <a:latin typeface="Cambria Math" panose="02040503050406030204" pitchFamily="18" charset="0"/>
                            <a:cs typeface="Vani" panose="020B0502040204020203" pitchFamily="34" charset="0"/>
                          </a:rPr>
                          <m:t>5!</m:t>
                        </m:r>
                      </m:num>
                      <m:den>
                        <m:r>
                          <a:rPr lang="en-US" sz="2300" b="0" i="1" smtClean="0">
                            <a:latin typeface="Cambria Math" panose="02040503050406030204" pitchFamily="18" charset="0"/>
                            <a:cs typeface="Vani" panose="020B0502040204020203" pitchFamily="34" charset="0"/>
                          </a:rPr>
                          <m:t>0!∗5!</m:t>
                        </m:r>
                      </m:den>
                    </m:f>
                    <m:r>
                      <a:rPr lang="en-US" sz="2300" i="1">
                        <a:latin typeface="Cambria Math" panose="02040503050406030204" pitchFamily="18" charset="0"/>
                        <a:cs typeface="Vani" panose="020B0502040204020203" pitchFamily="34" charset="0"/>
                      </a:rPr>
                      <m:t>=1</m:t>
                    </m:r>
                    <m:r>
                      <a:rPr lang="en-US" sz="2300" b="0" i="1" smtClean="0">
                        <a:latin typeface="Cambria Math" panose="02040503050406030204" pitchFamily="18" charset="0"/>
                        <a:cs typeface="Vani" panose="020B0502040204020203" pitchFamily="34" charset="0"/>
                      </a:rPr>
                      <m:t>          </m:t>
                    </m:r>
                    <m:r>
                      <a:rPr lang="en-US" sz="2300" i="1">
                        <a:latin typeface="Cambria Math" panose="02040503050406030204" pitchFamily="18" charset="0"/>
                        <a:cs typeface="Vani" panose="020B0502040204020203" pitchFamily="34" charset="0"/>
                      </a:rPr>
                      <m:t>𝐶</m:t>
                    </m:r>
                    <m:d>
                      <m:dPr>
                        <m:ctrlPr>
                          <a:rPr lang="en-US" sz="2300" i="1">
                            <a:latin typeface="Cambria Math" panose="02040503050406030204" pitchFamily="18" charset="0"/>
                            <a:cs typeface="Vani" panose="020B0502040204020203" pitchFamily="34" charset="0"/>
                          </a:rPr>
                        </m:ctrlPr>
                      </m:dPr>
                      <m:e>
                        <m:r>
                          <a:rPr lang="en-US" sz="2300" b="0" i="1" smtClean="0">
                            <a:latin typeface="Cambria Math" panose="02040503050406030204" pitchFamily="18" charset="0"/>
                            <a:cs typeface="Vani" panose="020B0502040204020203" pitchFamily="34" charset="0"/>
                          </a:rPr>
                          <m:t>32</m:t>
                        </m:r>
                        <m:r>
                          <a:rPr lang="en-US" sz="2300" i="1">
                            <a:latin typeface="Cambria Math" panose="02040503050406030204" pitchFamily="18" charset="0"/>
                            <a:cs typeface="Vani" panose="020B0502040204020203" pitchFamily="34" charset="0"/>
                          </a:rPr>
                          <m:t>,5</m:t>
                        </m:r>
                      </m:e>
                    </m:d>
                    <m:r>
                      <a:rPr lang="en-US" sz="2300" i="1">
                        <a:latin typeface="Cambria Math" panose="02040503050406030204" pitchFamily="18" charset="0"/>
                        <a:cs typeface="Vani" panose="020B0502040204020203" pitchFamily="34" charset="0"/>
                      </a:rPr>
                      <m:t>=</m:t>
                    </m:r>
                    <m:f>
                      <m:fPr>
                        <m:ctrlPr>
                          <a:rPr lang="en-US" sz="2300" i="1">
                            <a:latin typeface="Cambria Math" panose="02040503050406030204" pitchFamily="18" charset="0"/>
                            <a:cs typeface="Vani" panose="020B0502040204020203" pitchFamily="34" charset="0"/>
                          </a:rPr>
                        </m:ctrlPr>
                      </m:fPr>
                      <m:num>
                        <m:r>
                          <a:rPr lang="en-US" sz="2300" b="0" i="1" smtClean="0">
                            <a:latin typeface="Cambria Math" panose="02040503050406030204" pitchFamily="18" charset="0"/>
                            <a:cs typeface="Vani" panose="020B0502040204020203" pitchFamily="34" charset="0"/>
                          </a:rPr>
                          <m:t>32</m:t>
                        </m:r>
                        <m:r>
                          <a:rPr lang="en-US" sz="2300" i="1">
                            <a:latin typeface="Cambria Math" panose="02040503050406030204" pitchFamily="18" charset="0"/>
                            <a:cs typeface="Vani" panose="020B0502040204020203" pitchFamily="34" charset="0"/>
                          </a:rPr>
                          <m:t>!</m:t>
                        </m:r>
                      </m:num>
                      <m:den>
                        <m:d>
                          <m:dPr>
                            <m:ctrlPr>
                              <a:rPr lang="en-US" sz="2300" i="1">
                                <a:latin typeface="Cambria Math" panose="02040503050406030204" pitchFamily="18" charset="0"/>
                                <a:cs typeface="Vani" panose="020B0502040204020203" pitchFamily="34" charset="0"/>
                              </a:rPr>
                            </m:ctrlPr>
                          </m:dPr>
                          <m:e>
                            <m:r>
                              <a:rPr lang="en-US" sz="2300" b="0" i="1" smtClean="0">
                                <a:latin typeface="Cambria Math" panose="02040503050406030204" pitchFamily="18" charset="0"/>
                                <a:cs typeface="Vani" panose="020B0502040204020203" pitchFamily="34" charset="0"/>
                              </a:rPr>
                              <m:t>32</m:t>
                            </m:r>
                            <m:r>
                              <a:rPr lang="en-US" sz="2300" i="1">
                                <a:latin typeface="Cambria Math" panose="02040503050406030204" pitchFamily="18" charset="0"/>
                                <a:cs typeface="Vani" panose="020B0502040204020203" pitchFamily="34" charset="0"/>
                              </a:rPr>
                              <m:t>−5</m:t>
                            </m:r>
                          </m:e>
                        </m:d>
                        <m:r>
                          <a:rPr lang="en-US" sz="2300" i="1">
                            <a:latin typeface="Cambria Math" panose="02040503050406030204" pitchFamily="18" charset="0"/>
                            <a:cs typeface="Vani" panose="020B0502040204020203" pitchFamily="34" charset="0"/>
                          </a:rPr>
                          <m:t>!5!</m:t>
                        </m:r>
                      </m:den>
                    </m:f>
                    <m:r>
                      <a:rPr lang="en-US" sz="2300" i="1">
                        <a:latin typeface="Cambria Math" panose="02040503050406030204" pitchFamily="18" charset="0"/>
                        <a:cs typeface="Vani" panose="020B0502040204020203" pitchFamily="34" charset="0"/>
                      </a:rPr>
                      <m:t>=</m:t>
                    </m:r>
                    <m:f>
                      <m:fPr>
                        <m:ctrlPr>
                          <a:rPr lang="en-US" sz="2300" i="1">
                            <a:latin typeface="Cambria Math" panose="02040503050406030204" pitchFamily="18" charset="0"/>
                            <a:cs typeface="Vani" panose="020B0502040204020203" pitchFamily="34" charset="0"/>
                          </a:rPr>
                        </m:ctrlPr>
                      </m:fPr>
                      <m:num>
                        <m:r>
                          <a:rPr lang="en-US" sz="2300" b="0" i="1" smtClean="0">
                            <a:latin typeface="Cambria Math" panose="02040503050406030204" pitchFamily="18" charset="0"/>
                            <a:cs typeface="Vani" panose="020B0502040204020203" pitchFamily="34" charset="0"/>
                          </a:rPr>
                          <m:t>32</m:t>
                        </m:r>
                        <m:r>
                          <a:rPr lang="en-US" sz="2300" i="1">
                            <a:latin typeface="Cambria Math" panose="02040503050406030204" pitchFamily="18" charset="0"/>
                            <a:cs typeface="Vani" panose="020B0502040204020203" pitchFamily="34" charset="0"/>
                          </a:rPr>
                          <m:t>!</m:t>
                        </m:r>
                      </m:num>
                      <m:den>
                        <m:r>
                          <a:rPr lang="en-US" sz="2300" b="0" i="1" smtClean="0">
                            <a:latin typeface="Cambria Math" panose="02040503050406030204" pitchFamily="18" charset="0"/>
                            <a:cs typeface="Vani" panose="020B0502040204020203" pitchFamily="34" charset="0"/>
                          </a:rPr>
                          <m:t>27</m:t>
                        </m:r>
                        <m:r>
                          <a:rPr lang="en-US" sz="2300" i="1">
                            <a:latin typeface="Cambria Math" panose="02040503050406030204" pitchFamily="18" charset="0"/>
                            <a:cs typeface="Vani" panose="020B0502040204020203" pitchFamily="34" charset="0"/>
                          </a:rPr>
                          <m:t>!∗5!</m:t>
                        </m:r>
                      </m:den>
                    </m:f>
                    <m:r>
                      <a:rPr lang="en-US" sz="2300" i="1">
                        <a:latin typeface="Cambria Math" panose="02040503050406030204" pitchFamily="18" charset="0"/>
                        <a:cs typeface="Vani" panose="020B0502040204020203" pitchFamily="34" charset="0"/>
                      </a:rPr>
                      <m:t>=</m:t>
                    </m:r>
                    <m:r>
                      <a:rPr lang="en-US" sz="2300" b="0" i="1" smtClean="0">
                        <a:latin typeface="Cambria Math" panose="02040503050406030204" pitchFamily="18" charset="0"/>
                        <a:cs typeface="Vani" panose="020B0502040204020203" pitchFamily="34" charset="0"/>
                      </a:rPr>
                      <m:t>20</m:t>
                    </m:r>
                    <m:r>
                      <a:rPr lang="en-US" sz="2300" i="1">
                        <a:latin typeface="Cambria Math" panose="02040503050406030204" pitchFamily="18" charset="0"/>
                        <a:cs typeface="Vani" panose="020B0502040204020203" pitchFamily="34" charset="0"/>
                      </a:rPr>
                      <m:t>1</m:t>
                    </m:r>
                    <m:r>
                      <a:rPr lang="en-US" sz="2300" b="0" i="1" smtClean="0">
                        <a:latin typeface="Cambria Math" panose="02040503050406030204" pitchFamily="18" charset="0"/>
                        <a:cs typeface="Vani" panose="020B0502040204020203" pitchFamily="34" charset="0"/>
                      </a:rPr>
                      <m:t>376</m:t>
                    </m:r>
                  </m:oMath>
                </a14:m>
                <a:endParaRPr lang="en-US" sz="2300" b="0" dirty="0" smtClean="0">
                  <a:latin typeface="Vani" panose="020B0502040204020203" pitchFamily="34" charset="0"/>
                  <a:cs typeface="Vani" panose="020B0502040204020203" pitchFamily="34" charset="0"/>
                </a:endParaRPr>
              </a:p>
              <a:p>
                <a:pPr>
                  <a:lnSpc>
                    <a:spcPct val="150000"/>
                  </a:lnSpc>
                </a:pPr>
                <a14:m>
                  <m:oMath xmlns:m="http://schemas.openxmlformats.org/officeDocument/2006/math">
                    <m:r>
                      <a:rPr lang="en-US" sz="2300" i="1">
                        <a:latin typeface="Cambria Math" panose="02040503050406030204" pitchFamily="18" charset="0"/>
                        <a:cs typeface="Vani" panose="020B0502040204020203" pitchFamily="34" charset="0"/>
                      </a:rPr>
                      <m:t>𝐶</m:t>
                    </m:r>
                    <m:d>
                      <m:dPr>
                        <m:ctrlPr>
                          <a:rPr lang="en-US" sz="2300" i="1">
                            <a:latin typeface="Cambria Math" panose="02040503050406030204" pitchFamily="18" charset="0"/>
                            <a:cs typeface="Vani" panose="020B0502040204020203" pitchFamily="34" charset="0"/>
                          </a:rPr>
                        </m:ctrlPr>
                      </m:dPr>
                      <m:e>
                        <m:r>
                          <a:rPr lang="en-US" sz="2300" b="0" i="1" smtClean="0">
                            <a:latin typeface="Cambria Math" panose="02040503050406030204" pitchFamily="18" charset="0"/>
                            <a:cs typeface="Vani" panose="020B0502040204020203" pitchFamily="34" charset="0"/>
                          </a:rPr>
                          <m:t>1</m:t>
                        </m:r>
                        <m:r>
                          <a:rPr lang="en-US" sz="2300" i="1">
                            <a:latin typeface="Cambria Math" panose="02040503050406030204" pitchFamily="18" charset="0"/>
                            <a:cs typeface="Vani" panose="020B0502040204020203" pitchFamily="34" charset="0"/>
                          </a:rPr>
                          <m:t>,</m:t>
                        </m:r>
                        <m:r>
                          <a:rPr lang="en-US" sz="2300" b="0" i="1" smtClean="0">
                            <a:latin typeface="Cambria Math" panose="02040503050406030204" pitchFamily="18" charset="0"/>
                            <a:cs typeface="Vani" panose="020B0502040204020203" pitchFamily="34" charset="0"/>
                          </a:rPr>
                          <m:t>1</m:t>
                        </m:r>
                      </m:e>
                    </m:d>
                    <m:r>
                      <a:rPr lang="en-US" sz="2300" i="1">
                        <a:latin typeface="Cambria Math" panose="02040503050406030204" pitchFamily="18" charset="0"/>
                        <a:cs typeface="Vani" panose="020B0502040204020203" pitchFamily="34" charset="0"/>
                      </a:rPr>
                      <m:t>=</m:t>
                    </m:r>
                    <m:f>
                      <m:fPr>
                        <m:ctrlPr>
                          <a:rPr lang="en-US" sz="2300" i="1">
                            <a:latin typeface="Cambria Math" panose="02040503050406030204" pitchFamily="18" charset="0"/>
                            <a:cs typeface="Vani" panose="020B0502040204020203" pitchFamily="34" charset="0"/>
                          </a:rPr>
                        </m:ctrlPr>
                      </m:fPr>
                      <m:num>
                        <m:r>
                          <a:rPr lang="en-US" sz="2300" b="0" i="1" smtClean="0">
                            <a:latin typeface="Cambria Math" panose="02040503050406030204" pitchFamily="18" charset="0"/>
                            <a:cs typeface="Vani" panose="020B0502040204020203" pitchFamily="34" charset="0"/>
                          </a:rPr>
                          <m:t>1</m:t>
                        </m:r>
                        <m:r>
                          <a:rPr lang="en-US" sz="2300" i="1">
                            <a:latin typeface="Cambria Math" panose="02040503050406030204" pitchFamily="18" charset="0"/>
                            <a:cs typeface="Vani" panose="020B0502040204020203" pitchFamily="34" charset="0"/>
                          </a:rPr>
                          <m:t>!</m:t>
                        </m:r>
                      </m:num>
                      <m:den>
                        <m:d>
                          <m:dPr>
                            <m:ctrlPr>
                              <a:rPr lang="en-US" sz="2300" i="1">
                                <a:latin typeface="Cambria Math" panose="02040503050406030204" pitchFamily="18" charset="0"/>
                                <a:cs typeface="Vani" panose="020B0502040204020203" pitchFamily="34" charset="0"/>
                              </a:rPr>
                            </m:ctrlPr>
                          </m:dPr>
                          <m:e>
                            <m:r>
                              <a:rPr lang="en-US" sz="2300" b="0" i="1" smtClean="0">
                                <a:latin typeface="Cambria Math" panose="02040503050406030204" pitchFamily="18" charset="0"/>
                                <a:cs typeface="Vani" panose="020B0502040204020203" pitchFamily="34" charset="0"/>
                              </a:rPr>
                              <m:t>1</m:t>
                            </m:r>
                            <m:r>
                              <a:rPr lang="en-US" sz="2300" i="1">
                                <a:latin typeface="Cambria Math" panose="02040503050406030204" pitchFamily="18" charset="0"/>
                                <a:cs typeface="Vani" panose="020B0502040204020203" pitchFamily="34" charset="0"/>
                              </a:rPr>
                              <m:t>−</m:t>
                            </m:r>
                            <m:r>
                              <a:rPr lang="en-US" sz="2300" b="0" i="1" smtClean="0">
                                <a:latin typeface="Cambria Math" panose="02040503050406030204" pitchFamily="18" charset="0"/>
                                <a:cs typeface="Vani" panose="020B0502040204020203" pitchFamily="34" charset="0"/>
                              </a:rPr>
                              <m:t>1</m:t>
                            </m:r>
                          </m:e>
                        </m:d>
                        <m:r>
                          <a:rPr lang="en-US" sz="2300" i="1">
                            <a:latin typeface="Cambria Math" panose="02040503050406030204" pitchFamily="18" charset="0"/>
                            <a:cs typeface="Vani" panose="020B0502040204020203" pitchFamily="34" charset="0"/>
                          </a:rPr>
                          <m:t>!</m:t>
                        </m:r>
                        <m:r>
                          <a:rPr lang="en-US" sz="2300" b="0" i="1" smtClean="0">
                            <a:latin typeface="Cambria Math" panose="02040503050406030204" pitchFamily="18" charset="0"/>
                            <a:cs typeface="Vani" panose="020B0502040204020203" pitchFamily="34" charset="0"/>
                          </a:rPr>
                          <m:t>1</m:t>
                        </m:r>
                        <m:r>
                          <a:rPr lang="en-US" sz="2300" i="1">
                            <a:latin typeface="Cambria Math" panose="02040503050406030204" pitchFamily="18" charset="0"/>
                            <a:cs typeface="Vani" panose="020B0502040204020203" pitchFamily="34" charset="0"/>
                          </a:rPr>
                          <m:t>!</m:t>
                        </m:r>
                      </m:den>
                    </m:f>
                    <m:r>
                      <a:rPr lang="en-US" sz="2300" i="1">
                        <a:latin typeface="Cambria Math" panose="02040503050406030204" pitchFamily="18" charset="0"/>
                        <a:cs typeface="Vani" panose="020B0502040204020203" pitchFamily="34" charset="0"/>
                      </a:rPr>
                      <m:t>=</m:t>
                    </m:r>
                    <m:f>
                      <m:fPr>
                        <m:ctrlPr>
                          <a:rPr lang="en-US" sz="2300" i="1">
                            <a:latin typeface="Cambria Math" panose="02040503050406030204" pitchFamily="18" charset="0"/>
                            <a:cs typeface="Vani" panose="020B0502040204020203" pitchFamily="34" charset="0"/>
                          </a:rPr>
                        </m:ctrlPr>
                      </m:fPr>
                      <m:num>
                        <m:r>
                          <a:rPr lang="en-US" sz="2300" b="0" i="1" smtClean="0">
                            <a:latin typeface="Cambria Math" panose="02040503050406030204" pitchFamily="18" charset="0"/>
                            <a:cs typeface="Vani" panose="020B0502040204020203" pitchFamily="34" charset="0"/>
                          </a:rPr>
                          <m:t>1</m:t>
                        </m:r>
                        <m:r>
                          <a:rPr lang="en-US" sz="2300" i="1">
                            <a:latin typeface="Cambria Math" panose="02040503050406030204" pitchFamily="18" charset="0"/>
                            <a:cs typeface="Vani" panose="020B0502040204020203" pitchFamily="34" charset="0"/>
                          </a:rPr>
                          <m:t>!</m:t>
                        </m:r>
                      </m:num>
                      <m:den>
                        <m:r>
                          <a:rPr lang="en-US" sz="2300" i="1">
                            <a:latin typeface="Cambria Math" panose="02040503050406030204" pitchFamily="18" charset="0"/>
                            <a:cs typeface="Vani" panose="020B0502040204020203" pitchFamily="34" charset="0"/>
                          </a:rPr>
                          <m:t>0!∗</m:t>
                        </m:r>
                        <m:r>
                          <a:rPr lang="en-US" sz="2300" b="0" i="1" smtClean="0">
                            <a:latin typeface="Cambria Math" panose="02040503050406030204" pitchFamily="18" charset="0"/>
                            <a:cs typeface="Vani" panose="020B0502040204020203" pitchFamily="34" charset="0"/>
                          </a:rPr>
                          <m:t>1</m:t>
                        </m:r>
                        <m:r>
                          <a:rPr lang="en-US" sz="2300" i="1">
                            <a:latin typeface="Cambria Math" panose="02040503050406030204" pitchFamily="18" charset="0"/>
                            <a:cs typeface="Vani" panose="020B0502040204020203" pitchFamily="34" charset="0"/>
                          </a:rPr>
                          <m:t>!</m:t>
                        </m:r>
                      </m:den>
                    </m:f>
                    <m:r>
                      <a:rPr lang="en-US" sz="2300" i="1">
                        <a:latin typeface="Cambria Math" panose="02040503050406030204" pitchFamily="18" charset="0"/>
                        <a:cs typeface="Vani" panose="020B0502040204020203" pitchFamily="34" charset="0"/>
                      </a:rPr>
                      <m:t>=1</m:t>
                    </m:r>
                    <m:r>
                      <a:rPr lang="en-US" sz="2300" b="0" i="1" smtClean="0">
                        <a:latin typeface="Cambria Math" panose="02040503050406030204" pitchFamily="18" charset="0"/>
                        <a:cs typeface="Vani" panose="020B0502040204020203" pitchFamily="34" charset="0"/>
                      </a:rPr>
                      <m:t>          </m:t>
                    </m:r>
                    <m:r>
                      <a:rPr lang="en-US" sz="2300" i="1">
                        <a:latin typeface="Cambria Math" panose="02040503050406030204" pitchFamily="18" charset="0"/>
                        <a:cs typeface="Vani" panose="020B0502040204020203" pitchFamily="34" charset="0"/>
                      </a:rPr>
                      <m:t>𝐶</m:t>
                    </m:r>
                    <m:d>
                      <m:dPr>
                        <m:ctrlPr>
                          <a:rPr lang="en-US" sz="2300" i="1">
                            <a:latin typeface="Cambria Math" panose="02040503050406030204" pitchFamily="18" charset="0"/>
                            <a:cs typeface="Vani" panose="020B0502040204020203" pitchFamily="34" charset="0"/>
                          </a:rPr>
                        </m:ctrlPr>
                      </m:dPr>
                      <m:e>
                        <m:r>
                          <a:rPr lang="en-US" sz="2300" i="1">
                            <a:latin typeface="Cambria Math" panose="02040503050406030204" pitchFamily="18" charset="0"/>
                            <a:cs typeface="Vani" panose="020B0502040204020203" pitchFamily="34" charset="0"/>
                          </a:rPr>
                          <m:t>32</m:t>
                        </m:r>
                        <m:r>
                          <a:rPr lang="en-US" sz="2300" i="1">
                            <a:latin typeface="Cambria Math" panose="02040503050406030204" pitchFamily="18" charset="0"/>
                            <a:cs typeface="Vani" panose="020B0502040204020203" pitchFamily="34" charset="0"/>
                          </a:rPr>
                          <m:t>,</m:t>
                        </m:r>
                        <m:r>
                          <a:rPr lang="en-US" sz="2300" b="0" i="1" smtClean="0">
                            <a:latin typeface="Cambria Math" panose="02040503050406030204" pitchFamily="18" charset="0"/>
                            <a:cs typeface="Vani" panose="020B0502040204020203" pitchFamily="34" charset="0"/>
                          </a:rPr>
                          <m:t>1</m:t>
                        </m:r>
                      </m:e>
                    </m:d>
                    <m:r>
                      <a:rPr lang="en-US" sz="2300" i="1">
                        <a:latin typeface="Cambria Math" panose="02040503050406030204" pitchFamily="18" charset="0"/>
                        <a:cs typeface="Vani" panose="020B0502040204020203" pitchFamily="34" charset="0"/>
                      </a:rPr>
                      <m:t>=</m:t>
                    </m:r>
                    <m:f>
                      <m:fPr>
                        <m:ctrlPr>
                          <a:rPr lang="en-US" sz="2300" i="1">
                            <a:latin typeface="Cambria Math" panose="02040503050406030204" pitchFamily="18" charset="0"/>
                            <a:cs typeface="Vani" panose="020B0502040204020203" pitchFamily="34" charset="0"/>
                          </a:rPr>
                        </m:ctrlPr>
                      </m:fPr>
                      <m:num>
                        <m:r>
                          <a:rPr lang="en-US" sz="2300" i="1">
                            <a:latin typeface="Cambria Math" panose="02040503050406030204" pitchFamily="18" charset="0"/>
                            <a:cs typeface="Vani" panose="020B0502040204020203" pitchFamily="34" charset="0"/>
                          </a:rPr>
                          <m:t>32</m:t>
                        </m:r>
                        <m:r>
                          <a:rPr lang="en-US" sz="2300" i="1">
                            <a:latin typeface="Cambria Math" panose="02040503050406030204" pitchFamily="18" charset="0"/>
                            <a:cs typeface="Vani" panose="020B0502040204020203" pitchFamily="34" charset="0"/>
                          </a:rPr>
                          <m:t>!</m:t>
                        </m:r>
                      </m:num>
                      <m:den>
                        <m:d>
                          <m:dPr>
                            <m:ctrlPr>
                              <a:rPr lang="en-US" sz="2300" i="1">
                                <a:latin typeface="Cambria Math" panose="02040503050406030204" pitchFamily="18" charset="0"/>
                                <a:cs typeface="Vani" panose="020B0502040204020203" pitchFamily="34" charset="0"/>
                              </a:rPr>
                            </m:ctrlPr>
                          </m:dPr>
                          <m:e>
                            <m:r>
                              <a:rPr lang="en-US" sz="2300" i="1">
                                <a:latin typeface="Cambria Math" panose="02040503050406030204" pitchFamily="18" charset="0"/>
                                <a:cs typeface="Vani" panose="020B0502040204020203" pitchFamily="34" charset="0"/>
                              </a:rPr>
                              <m:t>32</m:t>
                            </m:r>
                            <m:r>
                              <a:rPr lang="en-US" sz="2300" i="1">
                                <a:latin typeface="Cambria Math" panose="02040503050406030204" pitchFamily="18" charset="0"/>
                                <a:cs typeface="Vani" panose="020B0502040204020203" pitchFamily="34" charset="0"/>
                              </a:rPr>
                              <m:t>−</m:t>
                            </m:r>
                            <m:r>
                              <a:rPr lang="en-US" sz="2300" b="0" i="1" smtClean="0">
                                <a:latin typeface="Cambria Math" panose="02040503050406030204" pitchFamily="18" charset="0"/>
                                <a:cs typeface="Vani" panose="020B0502040204020203" pitchFamily="34" charset="0"/>
                              </a:rPr>
                              <m:t>1</m:t>
                            </m:r>
                          </m:e>
                        </m:d>
                        <m:r>
                          <a:rPr lang="en-US" sz="2300" i="1">
                            <a:latin typeface="Cambria Math" panose="02040503050406030204" pitchFamily="18" charset="0"/>
                            <a:cs typeface="Vani" panose="020B0502040204020203" pitchFamily="34" charset="0"/>
                          </a:rPr>
                          <m:t>!</m:t>
                        </m:r>
                        <m:r>
                          <a:rPr lang="en-US" sz="2300" b="0" i="1" smtClean="0">
                            <a:latin typeface="Cambria Math" panose="02040503050406030204" pitchFamily="18" charset="0"/>
                            <a:cs typeface="Vani" panose="020B0502040204020203" pitchFamily="34" charset="0"/>
                          </a:rPr>
                          <m:t>1</m:t>
                        </m:r>
                        <m:r>
                          <a:rPr lang="en-US" sz="2300" i="1">
                            <a:latin typeface="Cambria Math" panose="02040503050406030204" pitchFamily="18" charset="0"/>
                            <a:cs typeface="Vani" panose="020B0502040204020203" pitchFamily="34" charset="0"/>
                          </a:rPr>
                          <m:t>!</m:t>
                        </m:r>
                      </m:den>
                    </m:f>
                    <m:r>
                      <a:rPr lang="en-US" sz="2300" i="1">
                        <a:latin typeface="Cambria Math" panose="02040503050406030204" pitchFamily="18" charset="0"/>
                        <a:cs typeface="Vani" panose="020B0502040204020203" pitchFamily="34" charset="0"/>
                      </a:rPr>
                      <m:t>=</m:t>
                    </m:r>
                    <m:f>
                      <m:fPr>
                        <m:ctrlPr>
                          <a:rPr lang="en-US" sz="2300" i="1">
                            <a:latin typeface="Cambria Math" panose="02040503050406030204" pitchFamily="18" charset="0"/>
                            <a:cs typeface="Vani" panose="020B0502040204020203" pitchFamily="34" charset="0"/>
                          </a:rPr>
                        </m:ctrlPr>
                      </m:fPr>
                      <m:num>
                        <m:r>
                          <a:rPr lang="en-US" sz="2300" i="1">
                            <a:latin typeface="Cambria Math" panose="02040503050406030204" pitchFamily="18" charset="0"/>
                            <a:cs typeface="Vani" panose="020B0502040204020203" pitchFamily="34" charset="0"/>
                          </a:rPr>
                          <m:t>32</m:t>
                        </m:r>
                        <m:r>
                          <a:rPr lang="en-US" sz="2300" i="1">
                            <a:latin typeface="Cambria Math" panose="02040503050406030204" pitchFamily="18" charset="0"/>
                            <a:cs typeface="Vani" panose="020B0502040204020203" pitchFamily="34" charset="0"/>
                          </a:rPr>
                          <m:t>!</m:t>
                        </m:r>
                      </m:num>
                      <m:den>
                        <m:r>
                          <a:rPr lang="en-US" sz="2300" b="0" i="1" smtClean="0">
                            <a:latin typeface="Cambria Math" panose="02040503050406030204" pitchFamily="18" charset="0"/>
                            <a:cs typeface="Vani" panose="020B0502040204020203" pitchFamily="34" charset="0"/>
                          </a:rPr>
                          <m:t>31</m:t>
                        </m:r>
                        <m:r>
                          <a:rPr lang="en-US" sz="2300" i="1">
                            <a:latin typeface="Cambria Math" panose="02040503050406030204" pitchFamily="18" charset="0"/>
                            <a:cs typeface="Vani" panose="020B0502040204020203" pitchFamily="34" charset="0"/>
                          </a:rPr>
                          <m:t>!∗</m:t>
                        </m:r>
                        <m:r>
                          <a:rPr lang="en-US" sz="2300" b="0" i="1" smtClean="0">
                            <a:latin typeface="Cambria Math" panose="02040503050406030204" pitchFamily="18" charset="0"/>
                            <a:cs typeface="Vani" panose="020B0502040204020203" pitchFamily="34" charset="0"/>
                          </a:rPr>
                          <m:t>1</m:t>
                        </m:r>
                        <m:r>
                          <a:rPr lang="en-US" sz="2300" i="1">
                            <a:latin typeface="Cambria Math" panose="02040503050406030204" pitchFamily="18" charset="0"/>
                            <a:cs typeface="Vani" panose="020B0502040204020203" pitchFamily="34" charset="0"/>
                          </a:rPr>
                          <m:t>!</m:t>
                        </m:r>
                      </m:den>
                    </m:f>
                    <m:r>
                      <a:rPr lang="en-US" sz="2300" i="1">
                        <a:latin typeface="Cambria Math" panose="02040503050406030204" pitchFamily="18" charset="0"/>
                        <a:cs typeface="Vani" panose="020B0502040204020203" pitchFamily="34" charset="0"/>
                      </a:rPr>
                      <m:t>=</m:t>
                    </m:r>
                    <m:r>
                      <a:rPr lang="en-US" sz="2300" b="0" i="1" smtClean="0">
                        <a:latin typeface="Cambria Math" panose="02040503050406030204" pitchFamily="18" charset="0"/>
                        <a:cs typeface="Vani" panose="020B0502040204020203" pitchFamily="34" charset="0"/>
                      </a:rPr>
                      <m:t>32</m:t>
                    </m:r>
                  </m:oMath>
                </a14:m>
                <a:endParaRPr lang="en-US" sz="2300" dirty="0">
                  <a:latin typeface="Vani" panose="020B0502040204020203" pitchFamily="34" charset="0"/>
                  <a:cs typeface="Vani" panose="020B0502040204020203" pitchFamily="34" charset="0"/>
                </a:endParaRPr>
              </a:p>
              <a:p>
                <a:pPr>
                  <a:lnSpc>
                    <a:spcPct val="150000"/>
                  </a:lnSpc>
                </a:pPr>
                <a:endParaRPr lang="en-US" sz="2300" dirty="0" smtClean="0">
                  <a:latin typeface="Vani" panose="020B0502040204020203" pitchFamily="34" charset="0"/>
                  <a:cs typeface="Vani" panose="020B0502040204020203" pitchFamily="34" charset="0"/>
                </a:endParaRPr>
              </a:p>
            </p:txBody>
          </p:sp>
        </mc:Choice>
        <mc:Fallback>
          <p:sp>
            <p:nvSpPr>
              <p:cNvPr id="14" name="Content Placeholder 13"/>
              <p:cNvSpPr>
                <a:spLocks noGrp="1" noRot="1" noChangeAspect="1" noMove="1" noResize="1" noEditPoints="1" noAdjustHandles="1" noChangeArrowheads="1" noChangeShapeType="1" noTextEdit="1"/>
              </p:cNvSpPr>
              <p:nvPr>
                <p:ph idx="1"/>
              </p:nvPr>
            </p:nvSpPr>
            <p:spPr>
              <a:xfrm>
                <a:off x="0" y="1738184"/>
                <a:ext cx="12192000" cy="5119816"/>
              </a:xfrm>
              <a:blipFill rotWithShape="0">
                <a:blip r:embed="rId4"/>
                <a:stretch>
                  <a:fillRect l="-1250"/>
                </a:stretch>
              </a:blipFill>
            </p:spPr>
            <p:txBody>
              <a:bodyPr/>
              <a:lstStyle/>
              <a:p>
                <a:r>
                  <a:rPr lang="en-US">
                    <a:noFill/>
                  </a:rPr>
                  <a:t> </a:t>
                </a:r>
              </a:p>
            </p:txBody>
          </p:sp>
        </mc:Fallback>
      </mc:AlternateContent>
    </p:spTree>
    <p:extLst>
      <p:ext uri="{BB962C8B-B14F-4D97-AF65-F5344CB8AC3E}">
        <p14:creationId xmlns:p14="http://schemas.microsoft.com/office/powerpoint/2010/main" val="278855474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0" y="295562"/>
            <a:ext cx="12192000" cy="1008247"/>
          </a:xfrm>
        </p:spPr>
        <p:txBody>
          <a:bodyPr/>
          <a:lstStyle/>
          <a:p>
            <a:r>
              <a:rPr lang="en-US" dirty="0" smtClean="0"/>
              <a:t>References </a:t>
            </a:r>
            <a:endParaRPr dirty="0"/>
          </a:p>
        </p:txBody>
      </p:sp>
      <p:sp>
        <p:nvSpPr>
          <p:cNvPr id="14" name="Content Placeholder 13"/>
          <p:cNvSpPr>
            <a:spLocks noGrp="1"/>
          </p:cNvSpPr>
          <p:nvPr>
            <p:ph idx="1"/>
          </p:nvPr>
        </p:nvSpPr>
        <p:spPr>
          <a:xfrm>
            <a:off x="0" y="1738184"/>
            <a:ext cx="12192000" cy="5119816"/>
          </a:xfrm>
        </p:spPr>
        <p:txBody>
          <a:bodyPr>
            <a:normAutofit/>
          </a:bodyPr>
          <a:lstStyle/>
          <a:p>
            <a:pPr>
              <a:lnSpc>
                <a:spcPct val="150000"/>
              </a:lnSpc>
            </a:pPr>
            <a:r>
              <a:rPr lang="en-US" sz="2300" dirty="0">
                <a:latin typeface="Vani" panose="020B0502040204020203" pitchFamily="34" charset="0"/>
                <a:cs typeface="Vani" panose="020B0502040204020203" pitchFamily="34" charset="0"/>
              </a:rPr>
              <a:t>Chukwuemeka, S. D. (2016, </a:t>
            </a:r>
            <a:r>
              <a:rPr lang="en-US" sz="2300" dirty="0" smtClean="0">
                <a:latin typeface="Vani" panose="020B0502040204020203" pitchFamily="34" charset="0"/>
                <a:cs typeface="Vani" panose="020B0502040204020203" pitchFamily="34" charset="0"/>
              </a:rPr>
              <a:t>February 22). </a:t>
            </a:r>
            <a:r>
              <a:rPr lang="en-US" sz="2300" dirty="0">
                <a:latin typeface="Vani" panose="020B0502040204020203" pitchFamily="34" charset="0"/>
                <a:cs typeface="Vani" panose="020B0502040204020203" pitchFamily="34" charset="0"/>
              </a:rPr>
              <a:t>Samuel Chukwuemeka Tutorials – Math, Science, and Technology. Retrieved from http://www.samuelchukwuemeka.com/</a:t>
            </a:r>
          </a:p>
          <a:p>
            <a:pPr>
              <a:lnSpc>
                <a:spcPct val="150000"/>
              </a:lnSpc>
            </a:pPr>
            <a:endParaRPr lang="en-US" sz="2300" dirty="0">
              <a:latin typeface="Vani" panose="020B0502040204020203" pitchFamily="34" charset="0"/>
              <a:cs typeface="Vani" panose="020B0502040204020203" pitchFamily="34" charset="0"/>
            </a:endParaRPr>
          </a:p>
          <a:p>
            <a:pPr>
              <a:lnSpc>
                <a:spcPct val="150000"/>
              </a:lnSpc>
            </a:pPr>
            <a:r>
              <a:rPr lang="en-US" sz="2300" dirty="0">
                <a:latin typeface="Vani" panose="020B0502040204020203" pitchFamily="34" charset="0"/>
                <a:cs typeface="Vani" panose="020B0502040204020203" pitchFamily="34" charset="0"/>
              </a:rPr>
              <a:t> </a:t>
            </a:r>
            <a:r>
              <a:rPr lang="en-US" sz="2300" dirty="0" err="1">
                <a:latin typeface="Vani" panose="020B0502040204020203" pitchFamily="34" charset="0"/>
                <a:cs typeface="Vani" panose="020B0502040204020203" pitchFamily="34" charset="0"/>
              </a:rPr>
              <a:t>Triola</a:t>
            </a:r>
            <a:r>
              <a:rPr lang="en-US" sz="2300" dirty="0">
                <a:latin typeface="Vani" panose="020B0502040204020203" pitchFamily="34" charset="0"/>
                <a:cs typeface="Vani" panose="020B0502040204020203" pitchFamily="34" charset="0"/>
              </a:rPr>
              <a:t>, M. F. (2015). Frequency Distributions. In Elementary statistics using the TI-83/84 plus calculator (4th ed.). Pearson. </a:t>
            </a:r>
          </a:p>
          <a:p>
            <a:pPr>
              <a:lnSpc>
                <a:spcPct val="150000"/>
              </a:lnSpc>
            </a:pPr>
            <a:endParaRPr lang="en-US" sz="2300" dirty="0">
              <a:latin typeface="Vani" panose="020B0502040204020203" pitchFamily="34" charset="0"/>
              <a:cs typeface="Vani" panose="020B0502040204020203" pitchFamily="34" charset="0"/>
            </a:endParaRPr>
          </a:p>
          <a:p>
            <a:pPr>
              <a:lnSpc>
                <a:spcPct val="150000"/>
              </a:lnSpc>
            </a:pPr>
            <a:endParaRPr lang="en-US" sz="2300" dirty="0" smtClean="0">
              <a:latin typeface="Vani" panose="020B0502040204020203" pitchFamily="34" charset="0"/>
              <a:cs typeface="Vani" panose="020B0502040204020203" pitchFamily="34" charset="0"/>
            </a:endParaRPr>
          </a:p>
        </p:txBody>
      </p:sp>
    </p:spTree>
    <p:extLst>
      <p:ext uri="{BB962C8B-B14F-4D97-AF65-F5344CB8AC3E}">
        <p14:creationId xmlns:p14="http://schemas.microsoft.com/office/powerpoint/2010/main" val="21857045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theme/theme1.xml><?xml version="1.0" encoding="utf-8"?>
<a:theme xmlns:a="http://schemas.openxmlformats.org/drawingml/2006/main" name="Stitched Border 16x9">
  <a:themeElements>
    <a:clrScheme name="Stitched Border">
      <a:dk1>
        <a:srgbClr val="000000"/>
      </a:dk1>
      <a:lt1>
        <a:srgbClr val="FFFFFF"/>
      </a:lt1>
      <a:dk2>
        <a:srgbClr val="115981"/>
      </a:dk2>
      <a:lt2>
        <a:srgbClr val="E4DAC9"/>
      </a:lt2>
      <a:accent1>
        <a:srgbClr val="115981"/>
      </a:accent1>
      <a:accent2>
        <a:srgbClr val="4D5E31"/>
      </a:accent2>
      <a:accent3>
        <a:srgbClr val="B96934"/>
      </a:accent3>
      <a:accent4>
        <a:srgbClr val="458192"/>
      </a:accent4>
      <a:accent5>
        <a:srgbClr val="8D1120"/>
      </a:accent5>
      <a:accent6>
        <a:srgbClr val="AF9F8B"/>
      </a:accent6>
      <a:hlink>
        <a:srgbClr val="B96934"/>
      </a:hlink>
      <a:folHlink>
        <a:srgbClr val="7F7F7F"/>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Stitched Border">
      <a:dk1>
        <a:srgbClr val="000000"/>
      </a:dk1>
      <a:lt1>
        <a:srgbClr val="FFFFFF"/>
      </a:lt1>
      <a:dk2>
        <a:srgbClr val="115981"/>
      </a:dk2>
      <a:lt2>
        <a:srgbClr val="E4DAC9"/>
      </a:lt2>
      <a:accent1>
        <a:srgbClr val="115981"/>
      </a:accent1>
      <a:accent2>
        <a:srgbClr val="4D5E31"/>
      </a:accent2>
      <a:accent3>
        <a:srgbClr val="B96934"/>
      </a:accent3>
      <a:accent4>
        <a:srgbClr val="458192"/>
      </a:accent4>
      <a:accent5>
        <a:srgbClr val="8D1120"/>
      </a:accent5>
      <a:accent6>
        <a:srgbClr val="AF9F8B"/>
      </a:accent6>
      <a:hlink>
        <a:srgbClr val="B96934"/>
      </a:hlink>
      <a:folHlink>
        <a:srgbClr val="7F7F7F"/>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Stitched Border">
      <a:dk1>
        <a:srgbClr val="000000"/>
      </a:dk1>
      <a:lt1>
        <a:srgbClr val="FFFFFF"/>
      </a:lt1>
      <a:dk2>
        <a:srgbClr val="115981"/>
      </a:dk2>
      <a:lt2>
        <a:srgbClr val="E4DAC9"/>
      </a:lt2>
      <a:accent1>
        <a:srgbClr val="115981"/>
      </a:accent1>
      <a:accent2>
        <a:srgbClr val="4D5E31"/>
      </a:accent2>
      <a:accent3>
        <a:srgbClr val="B96934"/>
      </a:accent3>
      <a:accent4>
        <a:srgbClr val="458192"/>
      </a:accent4>
      <a:accent5>
        <a:srgbClr val="8D1120"/>
      </a:accent5>
      <a:accent6>
        <a:srgbClr val="AF9F8B"/>
      </a:accent6>
      <a:hlink>
        <a:srgbClr val="B96934"/>
      </a:hlink>
      <a:folHlink>
        <a:srgbClr val="7F7F7F"/>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mso-contentType ?>
<FormTemplates xmlns="http://schemas.microsoft.com/sharepoint/v3/contenttype/forms">
  <Display>DocumentLibraryForm</Display>
  <Edit>AssetEditForm</Edit>
  <New>DocumentLibraryForm</New>
</FormTemplates>
</file>

<file path=customXml/itemProps1.xml><?xml version="1.0" encoding="utf-8"?>
<ds:datastoreItem xmlns:ds="http://schemas.openxmlformats.org/officeDocument/2006/customXml" ds:itemID="{94DB5B3F-8133-4C47-A120-6F3ACAE5D1E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Stitched denim borders presentation (widescreen)</Template>
  <TotalTime>0</TotalTime>
  <Words>400</Words>
  <Application>Microsoft Office PowerPoint</Application>
  <PresentationFormat>Widescreen</PresentationFormat>
  <Paragraphs>203</Paragraphs>
  <Slides>25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Arial</vt:lpstr>
      <vt:lpstr>Cambria Math</vt:lpstr>
      <vt:lpstr>Vani</vt:lpstr>
      <vt:lpstr>Wingdings</vt:lpstr>
      <vt:lpstr>Stitched Border 16x9</vt:lpstr>
      <vt:lpstr>Test 2 Study Guide – Part 2</vt:lpstr>
      <vt:lpstr>Objectives and Pre-requisites</vt:lpstr>
      <vt:lpstr>Questions and Answers       9-1.</vt:lpstr>
      <vt:lpstr>Questions and Answers       9-2.</vt:lpstr>
      <vt:lpstr>Questions and Answers       9-3.</vt:lpstr>
      <vt:lpstr>Questions and Answers       10-1.</vt:lpstr>
      <vt:lpstr>Questions and Answers       11-1.</vt:lpstr>
      <vt:lpstr>Questions and Answers       11-2.</vt:lpstr>
      <vt:lpstr>Questions and Answers       12-1.</vt:lpstr>
      <vt:lpstr>Questions and Answers       12-2.</vt:lpstr>
      <vt:lpstr>Questions and Answers       12-3.</vt:lpstr>
      <vt:lpstr>Questions and Answers       13-1.</vt:lpstr>
      <vt:lpstr>Questions and Answers       13-2 &amp; 14.</vt:lpstr>
      <vt:lpstr>Questions and Answers       15-1.</vt:lpstr>
      <vt:lpstr>Questions and Answers       15-2.</vt:lpstr>
      <vt:lpstr>Questions and Answers       15-3.</vt:lpstr>
      <vt:lpstr>Questions and Answers       16-1.</vt:lpstr>
      <vt:lpstr>Questions and Answers       16-2.</vt:lpstr>
      <vt:lpstr>Questions and Answers       16-3.</vt:lpstr>
      <vt:lpstr>Questions and Answers       17-1.</vt:lpstr>
      <vt:lpstr>Questions and Answers       17-2.</vt:lpstr>
      <vt:lpstr>Questions and Answers       18-1.</vt:lpstr>
      <vt:lpstr>Questions and Answers       19-1.</vt:lpstr>
      <vt:lpstr>Questions and Answers       20-1.</vt:lpstr>
      <vt:lpstr>References </vt:lpstr>
    </vt:vector>
  </TitlesOfParts>
  <Manager/>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cp:lastModifiedBy/>
  <cp:revision>1</cp:revision>
  <dcterms:created xsi:type="dcterms:W3CDTF">2016-02-12T19:16:22Z</dcterms:created>
  <dcterms:modified xsi:type="dcterms:W3CDTF">2016-03-11T20:40:03Z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TC034313719991</vt:lpwstr>
  </property>
</Properties>
</file>