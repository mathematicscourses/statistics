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35"/>
  </p:notesMasterIdLst>
  <p:sldIdLst>
    <p:sldId id="289" r:id="rId3"/>
    <p:sldId id="257" r:id="rId4"/>
    <p:sldId id="258" r:id="rId5"/>
    <p:sldId id="267" r:id="rId6"/>
    <p:sldId id="260" r:id="rId7"/>
    <p:sldId id="259" r:id="rId8"/>
    <p:sldId id="261" r:id="rId9"/>
    <p:sldId id="262" r:id="rId10"/>
    <p:sldId id="263" r:id="rId11"/>
    <p:sldId id="264" r:id="rId12"/>
    <p:sldId id="265" r:id="rId13"/>
    <p:sldId id="266" r:id="rId14"/>
    <p:sldId id="268" r:id="rId15"/>
    <p:sldId id="269" r:id="rId16"/>
    <p:sldId id="270" r:id="rId17"/>
    <p:sldId id="271" r:id="rId18"/>
    <p:sldId id="272" r:id="rId19"/>
    <p:sldId id="273" r:id="rId20"/>
    <p:sldId id="274" r:id="rId21"/>
    <p:sldId id="275" r:id="rId22"/>
    <p:sldId id="276" r:id="rId23"/>
    <p:sldId id="277" r:id="rId24"/>
    <p:sldId id="284" r:id="rId25"/>
    <p:sldId id="278" r:id="rId26"/>
    <p:sldId id="279" r:id="rId27"/>
    <p:sldId id="280" r:id="rId28"/>
    <p:sldId id="281" r:id="rId29"/>
    <p:sldId id="282" r:id="rId30"/>
    <p:sldId id="283" r:id="rId31"/>
    <p:sldId id="285" r:id="rId32"/>
    <p:sldId id="287" r:id="rId33"/>
    <p:sldId id="286"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46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5B1C-CAC1-4C6B-947E-D3F52E2B3033}" type="datetimeFigureOut">
              <a:rPr lang="en-US" smtClean="0"/>
              <a:pPr/>
              <a:t>3/11/2016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4FF1E3-910C-4AC2-8A72-DFF19C9D37D7}" type="slidenum">
              <a:rPr lang="en-US" smtClean="0"/>
              <a:pPr/>
              <a:t>‹#›</a:t>
            </a:fld>
            <a:endParaRPr lang="en-US"/>
          </a:p>
        </p:txBody>
      </p:sp>
    </p:spTree>
    <p:extLst>
      <p:ext uri="{BB962C8B-B14F-4D97-AF65-F5344CB8AC3E}">
        <p14:creationId xmlns:p14="http://schemas.microsoft.com/office/powerpoint/2010/main" val="1482410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www.samdomforpeace.com/"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a:t>
            </a:fld>
            <a:endParaRPr lang="en-US"/>
          </a:p>
        </p:txBody>
      </p:sp>
    </p:spTree>
    <p:extLst>
      <p:ext uri="{BB962C8B-B14F-4D97-AF65-F5344CB8AC3E}">
        <p14:creationId xmlns:p14="http://schemas.microsoft.com/office/powerpoint/2010/main" val="296858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3</a:t>
            </a:fld>
            <a:endParaRPr lang="en-US"/>
          </a:p>
        </p:txBody>
      </p:sp>
    </p:spTree>
    <p:extLst>
      <p:ext uri="{BB962C8B-B14F-4D97-AF65-F5344CB8AC3E}">
        <p14:creationId xmlns:p14="http://schemas.microsoft.com/office/powerpoint/2010/main" val="2976512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4</a:t>
            </a:fld>
            <a:endParaRPr lang="en-US"/>
          </a:p>
        </p:txBody>
      </p:sp>
    </p:spTree>
    <p:extLst>
      <p:ext uri="{BB962C8B-B14F-4D97-AF65-F5344CB8AC3E}">
        <p14:creationId xmlns:p14="http://schemas.microsoft.com/office/powerpoint/2010/main" val="4012718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5</a:t>
            </a:fld>
            <a:endParaRPr lang="en-US"/>
          </a:p>
        </p:txBody>
      </p:sp>
    </p:spTree>
    <p:extLst>
      <p:ext uri="{BB962C8B-B14F-4D97-AF65-F5344CB8AC3E}">
        <p14:creationId xmlns:p14="http://schemas.microsoft.com/office/powerpoint/2010/main" val="762631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6</a:t>
            </a:fld>
            <a:endParaRPr lang="en-US"/>
          </a:p>
        </p:txBody>
      </p:sp>
    </p:spTree>
    <p:extLst>
      <p:ext uri="{BB962C8B-B14F-4D97-AF65-F5344CB8AC3E}">
        <p14:creationId xmlns:p14="http://schemas.microsoft.com/office/powerpoint/2010/main" val="4126735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7</a:t>
            </a:fld>
            <a:endParaRPr lang="en-US"/>
          </a:p>
        </p:txBody>
      </p:sp>
    </p:spTree>
    <p:extLst>
      <p:ext uri="{BB962C8B-B14F-4D97-AF65-F5344CB8AC3E}">
        <p14:creationId xmlns:p14="http://schemas.microsoft.com/office/powerpoint/2010/main" val="2659953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8</a:t>
            </a:fld>
            <a:endParaRPr lang="en-US"/>
          </a:p>
        </p:txBody>
      </p:sp>
    </p:spTree>
    <p:extLst>
      <p:ext uri="{BB962C8B-B14F-4D97-AF65-F5344CB8AC3E}">
        <p14:creationId xmlns:p14="http://schemas.microsoft.com/office/powerpoint/2010/main" val="419774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9</a:t>
            </a:fld>
            <a:endParaRPr lang="en-US"/>
          </a:p>
        </p:txBody>
      </p:sp>
    </p:spTree>
    <p:extLst>
      <p:ext uri="{BB962C8B-B14F-4D97-AF65-F5344CB8AC3E}">
        <p14:creationId xmlns:p14="http://schemas.microsoft.com/office/powerpoint/2010/main" val="3191485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10</a:t>
            </a:fld>
            <a:endParaRPr lang="en-US"/>
          </a:p>
        </p:txBody>
      </p:sp>
    </p:spTree>
    <p:extLst>
      <p:ext uri="{BB962C8B-B14F-4D97-AF65-F5344CB8AC3E}">
        <p14:creationId xmlns:p14="http://schemas.microsoft.com/office/powerpoint/2010/main" val="1999990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11</a:t>
            </a:fld>
            <a:endParaRPr lang="en-US"/>
          </a:p>
        </p:txBody>
      </p:sp>
    </p:spTree>
    <p:extLst>
      <p:ext uri="{BB962C8B-B14F-4D97-AF65-F5344CB8AC3E}">
        <p14:creationId xmlns:p14="http://schemas.microsoft.com/office/powerpoint/2010/main" val="4162606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12</a:t>
            </a:fld>
            <a:endParaRPr lang="en-US"/>
          </a:p>
        </p:txBody>
      </p:sp>
    </p:spTree>
    <p:extLst>
      <p:ext uri="{BB962C8B-B14F-4D97-AF65-F5344CB8AC3E}">
        <p14:creationId xmlns:p14="http://schemas.microsoft.com/office/powerpoint/2010/main" val="3964959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13</a:t>
            </a:fld>
            <a:endParaRPr lang="en-US"/>
          </a:p>
        </p:txBody>
      </p:sp>
    </p:spTree>
    <p:extLst>
      <p:ext uri="{BB962C8B-B14F-4D97-AF65-F5344CB8AC3E}">
        <p14:creationId xmlns:p14="http://schemas.microsoft.com/office/powerpoint/2010/main" val="4223370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14</a:t>
            </a:fld>
            <a:endParaRPr lang="en-US"/>
          </a:p>
        </p:txBody>
      </p:sp>
    </p:spTree>
    <p:extLst>
      <p:ext uri="{BB962C8B-B14F-4D97-AF65-F5344CB8AC3E}">
        <p14:creationId xmlns:p14="http://schemas.microsoft.com/office/powerpoint/2010/main" val="3725696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15</a:t>
            </a:fld>
            <a:endParaRPr lang="en-US"/>
          </a:p>
        </p:txBody>
      </p:sp>
    </p:spTree>
    <p:extLst>
      <p:ext uri="{BB962C8B-B14F-4D97-AF65-F5344CB8AC3E}">
        <p14:creationId xmlns:p14="http://schemas.microsoft.com/office/powerpoint/2010/main" val="21315211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16</a:t>
            </a:fld>
            <a:endParaRPr lang="en-US"/>
          </a:p>
        </p:txBody>
      </p:sp>
    </p:spTree>
    <p:extLst>
      <p:ext uri="{BB962C8B-B14F-4D97-AF65-F5344CB8AC3E}">
        <p14:creationId xmlns:p14="http://schemas.microsoft.com/office/powerpoint/2010/main" val="1633332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17</a:t>
            </a:fld>
            <a:endParaRPr lang="en-US"/>
          </a:p>
        </p:txBody>
      </p:sp>
    </p:spTree>
    <p:extLst>
      <p:ext uri="{BB962C8B-B14F-4D97-AF65-F5344CB8AC3E}">
        <p14:creationId xmlns:p14="http://schemas.microsoft.com/office/powerpoint/2010/main" val="1512579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18</a:t>
            </a:fld>
            <a:endParaRPr lang="en-US"/>
          </a:p>
        </p:txBody>
      </p:sp>
    </p:spTree>
    <p:extLst>
      <p:ext uri="{BB962C8B-B14F-4D97-AF65-F5344CB8AC3E}">
        <p14:creationId xmlns:p14="http://schemas.microsoft.com/office/powerpoint/2010/main" val="2722960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19</a:t>
            </a:fld>
            <a:endParaRPr lang="en-US"/>
          </a:p>
        </p:txBody>
      </p:sp>
    </p:spTree>
    <p:extLst>
      <p:ext uri="{BB962C8B-B14F-4D97-AF65-F5344CB8AC3E}">
        <p14:creationId xmlns:p14="http://schemas.microsoft.com/office/powerpoint/2010/main" val="1082859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20</a:t>
            </a:fld>
            <a:endParaRPr lang="en-US"/>
          </a:p>
        </p:txBody>
      </p:sp>
    </p:spTree>
    <p:extLst>
      <p:ext uri="{BB962C8B-B14F-4D97-AF65-F5344CB8AC3E}">
        <p14:creationId xmlns:p14="http://schemas.microsoft.com/office/powerpoint/2010/main" val="13668897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21</a:t>
            </a:fld>
            <a:endParaRPr lang="en-US"/>
          </a:p>
        </p:txBody>
      </p:sp>
    </p:spTree>
    <p:extLst>
      <p:ext uri="{BB962C8B-B14F-4D97-AF65-F5344CB8AC3E}">
        <p14:creationId xmlns:p14="http://schemas.microsoft.com/office/powerpoint/2010/main" val="3301286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22</a:t>
            </a:fld>
            <a:endParaRPr lang="en-US"/>
          </a:p>
        </p:txBody>
      </p:sp>
    </p:spTree>
    <p:extLst>
      <p:ext uri="{BB962C8B-B14F-4D97-AF65-F5344CB8AC3E}">
        <p14:creationId xmlns:p14="http://schemas.microsoft.com/office/powerpoint/2010/main" val="1609479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23</a:t>
            </a:fld>
            <a:endParaRPr lang="en-US"/>
          </a:p>
        </p:txBody>
      </p:sp>
    </p:spTree>
    <p:extLst>
      <p:ext uri="{BB962C8B-B14F-4D97-AF65-F5344CB8AC3E}">
        <p14:creationId xmlns:p14="http://schemas.microsoft.com/office/powerpoint/2010/main" val="19575534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24</a:t>
            </a:fld>
            <a:endParaRPr lang="en-US"/>
          </a:p>
        </p:txBody>
      </p:sp>
    </p:spTree>
    <p:extLst>
      <p:ext uri="{BB962C8B-B14F-4D97-AF65-F5344CB8AC3E}">
        <p14:creationId xmlns:p14="http://schemas.microsoft.com/office/powerpoint/2010/main" val="3008382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25</a:t>
            </a:fld>
            <a:endParaRPr lang="en-US"/>
          </a:p>
        </p:txBody>
      </p:sp>
    </p:spTree>
    <p:extLst>
      <p:ext uri="{BB962C8B-B14F-4D97-AF65-F5344CB8AC3E}">
        <p14:creationId xmlns:p14="http://schemas.microsoft.com/office/powerpoint/2010/main" val="13484233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26</a:t>
            </a:fld>
            <a:endParaRPr lang="en-US"/>
          </a:p>
        </p:txBody>
      </p:sp>
    </p:spTree>
    <p:extLst>
      <p:ext uri="{BB962C8B-B14F-4D97-AF65-F5344CB8AC3E}">
        <p14:creationId xmlns:p14="http://schemas.microsoft.com/office/powerpoint/2010/main" val="22227758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27</a:t>
            </a:fld>
            <a:endParaRPr lang="en-US"/>
          </a:p>
        </p:txBody>
      </p:sp>
    </p:spTree>
    <p:extLst>
      <p:ext uri="{BB962C8B-B14F-4D97-AF65-F5344CB8AC3E}">
        <p14:creationId xmlns:p14="http://schemas.microsoft.com/office/powerpoint/2010/main" val="37475622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28</a:t>
            </a:fld>
            <a:endParaRPr lang="en-US"/>
          </a:p>
        </p:txBody>
      </p:sp>
    </p:spTree>
    <p:extLst>
      <p:ext uri="{BB962C8B-B14F-4D97-AF65-F5344CB8AC3E}">
        <p14:creationId xmlns:p14="http://schemas.microsoft.com/office/powerpoint/2010/main" val="9971857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29</a:t>
            </a:fld>
            <a:endParaRPr lang="en-US"/>
          </a:p>
        </p:txBody>
      </p:sp>
    </p:spTree>
    <p:extLst>
      <p:ext uri="{BB962C8B-B14F-4D97-AF65-F5344CB8AC3E}">
        <p14:creationId xmlns:p14="http://schemas.microsoft.com/office/powerpoint/2010/main" val="32926823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30</a:t>
            </a:fld>
            <a:endParaRPr lang="en-US"/>
          </a:p>
        </p:txBody>
      </p:sp>
    </p:spTree>
    <p:extLst>
      <p:ext uri="{BB962C8B-B14F-4D97-AF65-F5344CB8AC3E}">
        <p14:creationId xmlns:p14="http://schemas.microsoft.com/office/powerpoint/2010/main" val="2085832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31</a:t>
            </a:fld>
            <a:endParaRPr lang="en-US"/>
          </a:p>
        </p:txBody>
      </p:sp>
    </p:spTree>
    <p:extLst>
      <p:ext uri="{BB962C8B-B14F-4D97-AF65-F5344CB8AC3E}">
        <p14:creationId xmlns:p14="http://schemas.microsoft.com/office/powerpoint/2010/main" val="8842287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hlinkClick r:id="rId3"/>
              </a:rPr>
              <a:t>www.samdomforpeace.com</a:t>
            </a:r>
            <a:r>
              <a:rPr lang="en-US" sz="1200" dirty="0">
                <a:solidFill>
                  <a:srgbClr val="FF0000"/>
                </a:solidFill>
              </a:rPr>
              <a:t> </a:t>
            </a:r>
          </a:p>
          <a:p>
            <a:endParaRPr lang="en-US" dirty="0"/>
          </a:p>
        </p:txBody>
      </p:sp>
      <p:sp>
        <p:nvSpPr>
          <p:cNvPr id="4" name="Slide Number Placeholder 3"/>
          <p:cNvSpPr>
            <a:spLocks noGrp="1"/>
          </p:cNvSpPr>
          <p:nvPr>
            <p:ph type="sldNum" sz="quarter" idx="10"/>
          </p:nvPr>
        </p:nvSpPr>
        <p:spPr/>
        <p:txBody>
          <a:bodyPr/>
          <a:lstStyle/>
          <a:p>
            <a:fld id="{B54FF1E3-910C-4AC2-8A72-DFF19C9D37D7}" type="slidenum">
              <a:rPr lang="en-US" smtClean="0"/>
              <a:pPr/>
              <a:t>32</a:t>
            </a:fld>
            <a:endParaRPr lang="en-US"/>
          </a:p>
        </p:txBody>
      </p:sp>
    </p:spTree>
    <p:extLst>
      <p:ext uri="{BB962C8B-B14F-4D97-AF65-F5344CB8AC3E}">
        <p14:creationId xmlns:p14="http://schemas.microsoft.com/office/powerpoint/2010/main" val="392056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0C811BD7-4401-4BBB-A808-573C863E1A1E}" type="datetimeFigureOut">
              <a:rPr lang="en-US" smtClean="0"/>
              <a:pPr/>
              <a:t>3/11/2016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932F89C7-18CF-4007-A288-7C1E6FAFDBC0}" type="slidenum">
              <a:rPr lang="en-US" smtClean="0"/>
              <a:pPr/>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811BD7-4401-4BBB-A808-573C863E1A1E}" type="datetimeFigureOut">
              <a:rPr lang="en-US" smtClean="0"/>
              <a:pPr/>
              <a:t>3/11/2016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2F89C7-18CF-4007-A288-7C1E6FAFDBC0}" type="slidenum">
              <a:rPr lang="en-US" smtClean="0"/>
              <a:pPr/>
              <a:t>‹#›</a:t>
            </a:fld>
            <a:endParaRPr lang="en-US"/>
          </a:p>
        </p:txBody>
      </p:sp>
      <p:sp>
        <p:nvSpPr>
          <p:cNvPr id="11" name="Title 10"/>
          <p:cNvSpPr>
            <a:spLocks noGrp="1"/>
          </p:cNvSpPr>
          <p:nvPr>
            <p:ph type="title"/>
          </p:nvPr>
        </p:nvSpPr>
        <p:spPr/>
        <p:txBody>
          <a:bodyPr/>
          <a:lstStyle/>
          <a:p>
            <a:r>
              <a:rPr lang="en-US"/>
              <a:t>Click to edit Master title style</a:t>
            </a:r>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811BD7-4401-4BBB-A808-573C863E1A1E}" type="datetimeFigureOut">
              <a:rPr lang="en-US" smtClean="0"/>
              <a:pPr/>
              <a:t>3/11/2016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2F89C7-18CF-4007-A288-7C1E6FAFDBC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C811BD7-4401-4BBB-A808-573C863E1A1E}" type="datetimeFigureOut">
              <a:rPr lang="en-US" smtClean="0"/>
              <a:pPr/>
              <a:t>3/11/2016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2F89C7-18CF-4007-A288-7C1E6FAFDBC0}" type="slidenum">
              <a:rPr lang="en-US" smtClean="0"/>
              <a:pPr/>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4645151"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811BD7-4401-4BBB-A808-573C863E1A1E}" type="datetimeFigureOut">
              <a:rPr lang="en-US" smtClean="0"/>
              <a:pPr/>
              <a:t>3/11/2016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2F89C7-18CF-4007-A288-7C1E6FAFDBC0}" type="slidenum">
              <a:rPr lang="en-US" smtClean="0"/>
              <a:pPr/>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811BD7-4401-4BBB-A808-573C863E1A1E}" type="datetimeFigureOut">
              <a:rPr lang="en-US" smtClean="0"/>
              <a:pPr/>
              <a:t>3/11/2016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2F89C7-18CF-4007-A288-7C1E6FAFDBC0}" type="slidenum">
              <a:rPr lang="en-US" smtClean="0"/>
              <a:pPr/>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811BD7-4401-4BBB-A808-573C863E1A1E}" type="datetimeFigureOut">
              <a:rPr lang="en-US" smtClean="0"/>
              <a:pPr/>
              <a:t>3/11/2016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2F89C7-18CF-4007-A288-7C1E6FAFDBC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a:t>Click to edit Master title style</a:t>
            </a:r>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811BD7-4401-4BBB-A808-573C863E1A1E}" type="datetimeFigureOut">
              <a:rPr lang="en-US" smtClean="0"/>
              <a:pPr/>
              <a:t>3/11/2016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2F89C7-18CF-4007-A288-7C1E6FAFDBC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a:t>Click to edit Master title style</a:t>
            </a:r>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811BD7-4401-4BBB-A808-573C863E1A1E}" type="datetimeFigureOut">
              <a:rPr lang="en-US" smtClean="0"/>
              <a:pPr/>
              <a:t>3/11/2016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2F89C7-18CF-4007-A288-7C1E6FAFDBC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811BD7-4401-4BBB-A808-573C863E1A1E}" type="datetimeFigureOut">
              <a:rPr lang="en-US" smtClean="0"/>
              <a:pPr/>
              <a:t>3/11/2016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2F89C7-18CF-4007-A288-7C1E6FAFDBC0}" type="slidenum">
              <a:rPr lang="en-US" smtClean="0"/>
              <a:pPr/>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811BD7-4401-4BBB-A808-573C863E1A1E}" type="datetimeFigureOut">
              <a:rPr lang="en-US" smtClean="0"/>
              <a:pPr/>
              <a:t>3/11/2016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2F89C7-18CF-4007-A288-7C1E6FAFDBC0}" type="slidenum">
              <a:rPr lang="en-US" smtClean="0"/>
              <a:pPr/>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itchFamily="2" charset="2"/>
                </a:rPr>
                <a:t></a:t>
              </a: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a:t>Click to edit Master title style</a:t>
            </a:r>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288BE258-E290-4004-B4D2-56D94B2EC7AB}" type="datetimeFigureOut">
              <a:rPr lang="en-US"/>
              <a:pPr/>
              <a:t>3/11/2016</a:t>
            </a:fld>
            <a:endParaRPr/>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D3ED93C5-16A4-49E1-84A9-42767DF925DE}" type="slidenum">
              <a:rPr/>
              <a:pPr/>
              <a:t>‹#›</a:t>
            </a:fld>
            <a:endParaRPr/>
          </a:p>
        </p:txBody>
      </p:sp>
    </p:spTree>
    <p:extLst>
      <p:ext uri="{BB962C8B-B14F-4D97-AF65-F5344CB8AC3E}">
        <p14:creationId xmlns:p14="http://schemas.microsoft.com/office/powerpoint/2010/main" val="153474389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88BE258-E290-4004-B4D2-56D94B2EC7AB}" type="datetimeFigureOut">
              <a:rPr lang="en-US" smtClean="0">
                <a:solidFill>
                  <a:srgbClr val="B13F9A"/>
                </a:solidFill>
              </a:rPr>
              <a:pPr/>
              <a:t>3/11/2016</a:t>
            </a:fld>
            <a:endParaRPr lang="en-US">
              <a:solidFill>
                <a:srgbClr val="B13F9A"/>
              </a:solidFill>
            </a:endParaRPr>
          </a:p>
        </p:txBody>
      </p:sp>
      <p:sp>
        <p:nvSpPr>
          <p:cNvPr id="5" name="Footer Placeholder 4"/>
          <p:cNvSpPr>
            <a:spLocks noGrp="1"/>
          </p:cNvSpPr>
          <p:nvPr>
            <p:ph type="ftr" sz="quarter" idx="11"/>
          </p:nvPr>
        </p:nvSpPr>
        <p:spPr/>
        <p:txBody>
          <a:bodyPr/>
          <a:lstStyle/>
          <a:p>
            <a:endParaRPr lang="en-US">
              <a:solidFill>
                <a:srgbClr val="B13F9A"/>
              </a:solidFill>
            </a:endParaRPr>
          </a:p>
        </p:txBody>
      </p:sp>
      <p:sp>
        <p:nvSpPr>
          <p:cNvPr id="6" name="Slide Number Placeholder 5"/>
          <p:cNvSpPr>
            <a:spLocks noGrp="1"/>
          </p:cNvSpPr>
          <p:nvPr>
            <p:ph type="sldNum" sz="quarter" idx="12"/>
          </p:nvPr>
        </p:nvSpPr>
        <p:spPr/>
        <p:txBody>
          <a:bodyPr/>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6016900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a:t>Click to edit Master title style</a:t>
            </a:r>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288BE258-E290-4004-B4D2-56D94B2EC7AB}" type="datetimeFigureOut">
              <a:rPr lang="en-US" smtClean="0">
                <a:solidFill>
                  <a:srgbClr val="B13F9A"/>
                </a:solidFill>
              </a:rPr>
              <a:pPr/>
              <a:t>3/11/2016</a:t>
            </a:fld>
            <a:endParaRPr lang="en-US">
              <a:solidFill>
                <a:srgbClr val="B13F9A"/>
              </a:solidFill>
            </a:endParaRPr>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solidFill>
                <a:srgbClr val="B13F9A"/>
              </a:solidFill>
            </a:endParaRPr>
          </a:p>
        </p:txBody>
      </p:sp>
      <p:sp>
        <p:nvSpPr>
          <p:cNvPr id="6" name="Slide Number Placeholder 5"/>
          <p:cNvSpPr>
            <a:spLocks noGrp="1"/>
          </p:cNvSpPr>
          <p:nvPr>
            <p:ph type="sldNum" sz="quarter" idx="12"/>
          </p:nvPr>
        </p:nvSpPr>
        <p:spPr>
          <a:xfrm>
            <a:off x="6733952" y="6555112"/>
            <a:ext cx="588336" cy="228600"/>
          </a:xfrm>
        </p:spPr>
        <p:txBody>
          <a:bodyPr/>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78091841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88BE258-E290-4004-B4D2-56D94B2EC7AB}" type="datetimeFigureOut">
              <a:rPr lang="en-US" smtClean="0">
                <a:solidFill>
                  <a:srgbClr val="B13F9A"/>
                </a:solidFill>
              </a:rPr>
              <a:pPr/>
              <a:t>3/11/2016</a:t>
            </a:fld>
            <a:endParaRPr lang="en-US">
              <a:solidFill>
                <a:srgbClr val="B13F9A"/>
              </a:solidFill>
            </a:endParaRPr>
          </a:p>
        </p:txBody>
      </p:sp>
      <p:sp>
        <p:nvSpPr>
          <p:cNvPr id="6" name="Footer Placeholder 5"/>
          <p:cNvSpPr>
            <a:spLocks noGrp="1"/>
          </p:cNvSpPr>
          <p:nvPr>
            <p:ph type="ftr" sz="quarter" idx="11"/>
          </p:nvPr>
        </p:nvSpPr>
        <p:spPr/>
        <p:txBody>
          <a:bodyPr/>
          <a:lstStyle/>
          <a:p>
            <a:endParaRPr lang="en-US">
              <a:solidFill>
                <a:srgbClr val="B13F9A"/>
              </a:solidFill>
            </a:endParaRPr>
          </a:p>
        </p:txBody>
      </p:sp>
      <p:sp>
        <p:nvSpPr>
          <p:cNvPr id="7" name="Slide Number Placeholder 6"/>
          <p:cNvSpPr>
            <a:spLocks noGrp="1"/>
          </p:cNvSpPr>
          <p:nvPr>
            <p:ph type="sldNum" sz="quarter" idx="12"/>
          </p:nvPr>
        </p:nvSpPr>
        <p:spPr/>
        <p:txBody>
          <a:bodyPr/>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26891607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88BE258-E290-4004-B4D2-56D94B2EC7AB}" type="datetimeFigureOut">
              <a:rPr lang="en-US" smtClean="0">
                <a:solidFill>
                  <a:srgbClr val="B13F9A"/>
                </a:solidFill>
              </a:rPr>
              <a:pPr/>
              <a:t>3/11/2016</a:t>
            </a:fld>
            <a:endParaRPr lang="en-US">
              <a:solidFill>
                <a:srgbClr val="B13F9A"/>
              </a:solidFill>
            </a:endParaRPr>
          </a:p>
        </p:txBody>
      </p:sp>
      <p:sp>
        <p:nvSpPr>
          <p:cNvPr id="8" name="Footer Placeholder 7"/>
          <p:cNvSpPr>
            <a:spLocks noGrp="1"/>
          </p:cNvSpPr>
          <p:nvPr>
            <p:ph type="ftr" sz="quarter" idx="11"/>
          </p:nvPr>
        </p:nvSpPr>
        <p:spPr/>
        <p:txBody>
          <a:bodyPr/>
          <a:lstStyle/>
          <a:p>
            <a:endParaRPr lang="en-US">
              <a:solidFill>
                <a:srgbClr val="B13F9A"/>
              </a:solidFill>
            </a:endParaRPr>
          </a:p>
        </p:txBody>
      </p:sp>
      <p:sp>
        <p:nvSpPr>
          <p:cNvPr id="9" name="Slide Number Placeholder 8"/>
          <p:cNvSpPr>
            <a:spLocks noGrp="1"/>
          </p:cNvSpPr>
          <p:nvPr>
            <p:ph type="sldNum" sz="quarter" idx="12"/>
          </p:nvPr>
        </p:nvSpPr>
        <p:spPr/>
        <p:txBody>
          <a:bodyPr/>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1383827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288BE258-E290-4004-B4D2-56D94B2EC7AB}" type="datetimeFigureOut">
              <a:rPr lang="en-US" smtClean="0">
                <a:solidFill>
                  <a:srgbClr val="B13F9A"/>
                </a:solidFill>
              </a:rPr>
              <a:pPr/>
              <a:t>3/11/2016</a:t>
            </a:fld>
            <a:endParaRPr lang="en-US">
              <a:solidFill>
                <a:srgbClr val="B13F9A"/>
              </a:solidFill>
            </a:endParaRPr>
          </a:p>
        </p:txBody>
      </p:sp>
      <p:sp>
        <p:nvSpPr>
          <p:cNvPr id="4" name="Footer Placeholder 3"/>
          <p:cNvSpPr>
            <a:spLocks noGrp="1"/>
          </p:cNvSpPr>
          <p:nvPr>
            <p:ph type="ftr" sz="quarter" idx="11"/>
          </p:nvPr>
        </p:nvSpPr>
        <p:spPr/>
        <p:txBody>
          <a:bodyPr/>
          <a:lstStyle/>
          <a:p>
            <a:endParaRPr lang="en-US">
              <a:solidFill>
                <a:srgbClr val="B13F9A"/>
              </a:solidFill>
            </a:endParaRPr>
          </a:p>
        </p:txBody>
      </p:sp>
      <p:sp>
        <p:nvSpPr>
          <p:cNvPr id="5" name="Slide Number Placeholder 4"/>
          <p:cNvSpPr>
            <a:spLocks noGrp="1"/>
          </p:cNvSpPr>
          <p:nvPr>
            <p:ph type="sldNum" sz="quarter" idx="12"/>
          </p:nvPr>
        </p:nvSpPr>
        <p:spPr/>
        <p:txBody>
          <a:bodyPr/>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1091345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288BE258-E290-4004-B4D2-56D94B2EC7AB}" type="datetimeFigureOut">
              <a:rPr lang="en-US" smtClean="0">
                <a:solidFill>
                  <a:srgbClr val="B13F9A"/>
                </a:solidFill>
              </a:rPr>
              <a:pPr/>
              <a:t>3/11/2016</a:t>
            </a:fld>
            <a:endParaRPr lang="en-US">
              <a:solidFill>
                <a:srgbClr val="B13F9A"/>
              </a:solidFill>
            </a:endParaRPr>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solidFill>
                <a:srgbClr val="B13F9A"/>
              </a:solidFill>
            </a:endParaRPr>
          </a:p>
        </p:txBody>
      </p:sp>
      <p:sp>
        <p:nvSpPr>
          <p:cNvPr id="4" name="Slide Number Placeholder 3"/>
          <p:cNvSpPr>
            <a:spLocks noGrp="1"/>
          </p:cNvSpPr>
          <p:nvPr>
            <p:ph type="sldNum" sz="quarter" idx="12"/>
          </p:nvPr>
        </p:nvSpPr>
        <p:spPr/>
        <p:txBody>
          <a:bodyPr/>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32564966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a:t>Click to edit Master title style</a:t>
            </a:r>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88BE258-E290-4004-B4D2-56D94B2EC7AB}" type="datetimeFigureOut">
              <a:rPr lang="en-US" smtClean="0">
                <a:solidFill>
                  <a:srgbClr val="B13F9A"/>
                </a:solidFill>
              </a:rPr>
              <a:pPr/>
              <a:t>3/11/2016</a:t>
            </a:fld>
            <a:endParaRPr lang="en-US">
              <a:solidFill>
                <a:srgbClr val="B13F9A"/>
              </a:solidFill>
            </a:endParaRPr>
          </a:p>
        </p:txBody>
      </p:sp>
      <p:sp>
        <p:nvSpPr>
          <p:cNvPr id="6" name="Footer Placeholder 5"/>
          <p:cNvSpPr>
            <a:spLocks noGrp="1"/>
          </p:cNvSpPr>
          <p:nvPr>
            <p:ph type="ftr" sz="quarter" idx="11"/>
          </p:nvPr>
        </p:nvSpPr>
        <p:spPr/>
        <p:txBody>
          <a:bodyPr/>
          <a:lstStyle/>
          <a:p>
            <a:endParaRPr lang="en-US">
              <a:solidFill>
                <a:srgbClr val="B13F9A"/>
              </a:solidFill>
            </a:endParaRPr>
          </a:p>
        </p:txBody>
      </p:sp>
      <p:sp>
        <p:nvSpPr>
          <p:cNvPr id="7" name="Slide Number Placeholder 6"/>
          <p:cNvSpPr>
            <a:spLocks noGrp="1"/>
          </p:cNvSpPr>
          <p:nvPr>
            <p:ph type="sldNum" sz="quarter" idx="12"/>
          </p:nvPr>
        </p:nvSpPr>
        <p:spPr/>
        <p:txBody>
          <a:bodyPr/>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41561963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a:t>Click to edit Master text styles</a:t>
            </a:r>
          </a:p>
        </p:txBody>
      </p:sp>
      <p:sp>
        <p:nvSpPr>
          <p:cNvPr id="5" name="Date Placeholder 4"/>
          <p:cNvSpPr>
            <a:spLocks noGrp="1"/>
          </p:cNvSpPr>
          <p:nvPr>
            <p:ph type="dt" sz="half" idx="10"/>
          </p:nvPr>
        </p:nvSpPr>
        <p:spPr/>
        <p:txBody>
          <a:bodyPr/>
          <a:lstStyle/>
          <a:p>
            <a:fld id="{288BE258-E290-4004-B4D2-56D94B2EC7AB}" type="datetimeFigureOut">
              <a:rPr lang="en-US" smtClean="0">
                <a:solidFill>
                  <a:srgbClr val="F4E7ED"/>
                </a:solidFill>
              </a:rPr>
              <a:pPr/>
              <a:t>3/11/2016</a:t>
            </a:fld>
            <a:endParaRPr lang="en-US">
              <a:solidFill>
                <a:srgbClr val="F4E7ED"/>
              </a:solidFill>
            </a:endParaRPr>
          </a:p>
        </p:txBody>
      </p:sp>
      <p:sp>
        <p:nvSpPr>
          <p:cNvPr id="6" name="Footer Placeholder 5"/>
          <p:cNvSpPr>
            <a:spLocks noGrp="1"/>
          </p:cNvSpPr>
          <p:nvPr>
            <p:ph type="ftr" sz="quarter" idx="11"/>
          </p:nvPr>
        </p:nvSpPr>
        <p:spPr/>
        <p:txBody>
          <a:bodyPr/>
          <a:lstStyle/>
          <a:p>
            <a:endParaRPr lang="en-US">
              <a:solidFill>
                <a:srgbClr val="F4E7ED"/>
              </a:solidFill>
            </a:endParaRPr>
          </a:p>
        </p:txBody>
      </p:sp>
      <p:sp>
        <p:nvSpPr>
          <p:cNvPr id="7" name="Slide Number Placeholder 6"/>
          <p:cNvSpPr>
            <a:spLocks noGrp="1"/>
          </p:cNvSpPr>
          <p:nvPr>
            <p:ph type="sldNum" sz="quarter" idx="12"/>
          </p:nvPr>
        </p:nvSpPr>
        <p:spPr/>
        <p:txBody>
          <a:bodyPr/>
          <a:lstStyle/>
          <a:p>
            <a:fld id="{D3ED93C5-16A4-49E1-84A9-42767DF925DE}" type="slidenum">
              <a:rPr lang="en-US" smtClean="0">
                <a:solidFill>
                  <a:srgbClr val="F4E7ED"/>
                </a:solidFill>
              </a:rPr>
              <a:pPr/>
              <a:t>‹#›</a:t>
            </a:fld>
            <a:endParaRPr lang="en-US">
              <a:solidFill>
                <a:srgbClr val="F4E7ED"/>
              </a:solidFill>
            </a:endParaRPr>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a:t>Click icon to add picture</a:t>
            </a:r>
            <a:endParaRPr kumimoji="0" lang="en-US" dirty="0"/>
          </a:p>
        </p:txBody>
      </p:sp>
    </p:spTree>
    <p:extLst>
      <p:ext uri="{BB962C8B-B14F-4D97-AF65-F5344CB8AC3E}">
        <p14:creationId xmlns:p14="http://schemas.microsoft.com/office/powerpoint/2010/main" val="1450844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88BE258-E290-4004-B4D2-56D94B2EC7AB}" type="datetimeFigureOut">
              <a:rPr lang="en-US" smtClean="0">
                <a:solidFill>
                  <a:srgbClr val="B13F9A"/>
                </a:solidFill>
              </a:rPr>
              <a:pPr/>
              <a:t>3/11/2016</a:t>
            </a:fld>
            <a:endParaRPr lang="en-US">
              <a:solidFill>
                <a:srgbClr val="B13F9A"/>
              </a:solidFill>
            </a:endParaRPr>
          </a:p>
        </p:txBody>
      </p:sp>
      <p:sp>
        <p:nvSpPr>
          <p:cNvPr id="5" name="Footer Placeholder 4"/>
          <p:cNvSpPr>
            <a:spLocks noGrp="1"/>
          </p:cNvSpPr>
          <p:nvPr>
            <p:ph type="ftr" sz="quarter" idx="11"/>
          </p:nvPr>
        </p:nvSpPr>
        <p:spPr/>
        <p:txBody>
          <a:bodyPr/>
          <a:lstStyle/>
          <a:p>
            <a:endParaRPr lang="en-US">
              <a:solidFill>
                <a:srgbClr val="B13F9A"/>
              </a:solidFill>
            </a:endParaRPr>
          </a:p>
        </p:txBody>
      </p:sp>
      <p:sp>
        <p:nvSpPr>
          <p:cNvPr id="6" name="Slide Number Placeholder 5"/>
          <p:cNvSpPr>
            <a:spLocks noGrp="1"/>
          </p:cNvSpPr>
          <p:nvPr>
            <p:ph type="sldNum" sz="quarter" idx="12"/>
          </p:nvPr>
        </p:nvSpPr>
        <p:spPr/>
        <p:txBody>
          <a:bodyPr/>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2581189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p>
            <a:fld id="{288BE258-E290-4004-B4D2-56D94B2EC7AB}" type="datetimeFigureOut">
              <a:rPr lang="en-US" smtClean="0">
                <a:solidFill>
                  <a:srgbClr val="B13F9A"/>
                </a:solidFill>
              </a:rPr>
              <a:pPr/>
              <a:t>3/11/2016</a:t>
            </a:fld>
            <a:endParaRPr lang="en-US">
              <a:solidFill>
                <a:srgbClr val="B13F9A"/>
              </a:solidFill>
            </a:endParaRPr>
          </a:p>
        </p:txBody>
      </p:sp>
      <p:sp>
        <p:nvSpPr>
          <p:cNvPr id="5" name="Footer Placeholder 4"/>
          <p:cNvSpPr>
            <a:spLocks noGrp="1"/>
          </p:cNvSpPr>
          <p:nvPr>
            <p:ph type="ftr" sz="quarter" idx="11"/>
          </p:nvPr>
        </p:nvSpPr>
        <p:spPr>
          <a:xfrm>
            <a:off x="457200" y="6556248"/>
            <a:ext cx="3657600" cy="228600"/>
          </a:xfrm>
        </p:spPr>
        <p:txBody>
          <a:bodyPr/>
          <a:lstStyle/>
          <a:p>
            <a:endParaRPr lang="en-US">
              <a:solidFill>
                <a:srgbClr val="B13F9A"/>
              </a:solidFill>
            </a:endParaRPr>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3916399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4.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0C811BD7-4401-4BBB-A808-573C863E1A1E}" type="datetimeFigureOut">
              <a:rPr lang="en-US" smtClean="0"/>
              <a:pPr/>
              <a:t>3/11/2016</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932F89C7-18CF-4007-A288-7C1E6FAFDBC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288BE258-E290-4004-B4D2-56D94B2EC7AB}" type="datetimeFigureOut">
              <a:rPr lang="en-US" smtClean="0">
                <a:solidFill>
                  <a:srgbClr val="B13F9A"/>
                </a:solidFill>
              </a:rPr>
              <a:pPr/>
              <a:t>3/11/2016</a:t>
            </a:fld>
            <a:endParaRPr lang="en-US">
              <a:solidFill>
                <a:srgbClr val="B13F9A"/>
              </a:solidFill>
            </a:endParaRPr>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solidFill>
                <a:srgbClr val="B13F9A"/>
              </a:solidFill>
            </a:endParaRPr>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D3ED93C5-16A4-49E1-84A9-42767DF925DE}" type="slidenum">
              <a:rPr lang="en-US" smtClean="0">
                <a:solidFill>
                  <a:srgbClr val="B13F9A"/>
                </a:solidFill>
              </a:rPr>
              <a:pPr/>
              <a:t>‹#›</a:t>
            </a:fld>
            <a:endParaRPr lang="en-US">
              <a:solidFill>
                <a:srgbClr val="B13F9A"/>
              </a:solidFill>
            </a:endParaRPr>
          </a:p>
        </p:txBody>
      </p:sp>
    </p:spTree>
    <p:extLst>
      <p:ext uri="{BB962C8B-B14F-4D97-AF65-F5344CB8AC3E}">
        <p14:creationId xmlns:p14="http://schemas.microsoft.com/office/powerpoint/2010/main" val="253597323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samuelchukwuemeka.com/"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www.samuelchukwuemeka.com/"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66868" y="152400"/>
            <a:ext cx="5548532" cy="2362200"/>
          </a:xfrm>
        </p:spPr>
        <p:txBody>
          <a:bodyPr/>
          <a:lstStyle/>
          <a:p>
            <a:r>
              <a:rPr lang="en-US" dirty="0"/>
              <a:t>Applied Finite Mathematics</a:t>
            </a:r>
          </a:p>
        </p:txBody>
      </p:sp>
      <p:sp>
        <p:nvSpPr>
          <p:cNvPr id="3" name="Subtitle 2"/>
          <p:cNvSpPr>
            <a:spLocks noGrp="1"/>
          </p:cNvSpPr>
          <p:nvPr>
            <p:ph type="subTitle" idx="1"/>
          </p:nvPr>
        </p:nvSpPr>
        <p:spPr>
          <a:xfrm>
            <a:off x="3048000" y="3124200"/>
            <a:ext cx="6096000" cy="2937136"/>
          </a:xfrm>
        </p:spPr>
        <p:txBody>
          <a:bodyPr>
            <a:normAutofit fontScale="70000" lnSpcReduction="20000"/>
          </a:bodyPr>
          <a:lstStyle/>
          <a:p>
            <a:r>
              <a:rPr lang="en-US" sz="4100" dirty="0"/>
              <a:t>Introductory Statistics – Part 1</a:t>
            </a:r>
          </a:p>
          <a:p>
            <a:endParaRPr lang="en-US" sz="2400" dirty="0"/>
          </a:p>
          <a:p>
            <a:r>
              <a:rPr lang="en-US" dirty="0"/>
              <a:t>By</a:t>
            </a:r>
          </a:p>
          <a:p>
            <a:endParaRPr lang="en-US" dirty="0"/>
          </a:p>
          <a:p>
            <a:r>
              <a:rPr lang="en-US" sz="3500" dirty="0">
                <a:latin typeface="Georgia" pitchFamily="18" charset="0"/>
              </a:rPr>
              <a:t>Samuel </a:t>
            </a:r>
            <a:r>
              <a:rPr lang="en-US" sz="3500" dirty="0" err="1">
                <a:latin typeface="Georgia" pitchFamily="18" charset="0"/>
              </a:rPr>
              <a:t>Chukwuemeka</a:t>
            </a:r>
            <a:endParaRPr lang="en-US" sz="3500" dirty="0">
              <a:latin typeface="Georgia" pitchFamily="18" charset="0"/>
            </a:endParaRPr>
          </a:p>
          <a:p>
            <a:r>
              <a:rPr lang="en-US" sz="3500" dirty="0"/>
              <a:t>(</a:t>
            </a:r>
            <a:r>
              <a:rPr lang="en-US" sz="3500" dirty="0" err="1"/>
              <a:t>Samdom</a:t>
            </a:r>
            <a:r>
              <a:rPr lang="en-US" sz="3500" dirty="0"/>
              <a:t> For Peace)</a:t>
            </a:r>
          </a:p>
          <a:p>
            <a:endParaRPr lang="en-US" sz="3500" dirty="0"/>
          </a:p>
          <a:p>
            <a:r>
              <a:rPr lang="en-US" sz="4200" dirty="0">
                <a:solidFill>
                  <a:srgbClr val="FF0000"/>
                </a:solidFill>
                <a:hlinkClick r:id="rId2"/>
              </a:rPr>
              <a:t>www.samuelchukwuemeka.com</a:t>
            </a:r>
            <a:endParaRPr lang="en-US" sz="2000" dirty="0">
              <a:solidFill>
                <a:srgbClr val="FF0000"/>
              </a:solidFill>
            </a:endParaRPr>
          </a:p>
          <a:p>
            <a:endParaRPr lang="en-US" dirty="0"/>
          </a:p>
        </p:txBody>
      </p:sp>
      <p:pic>
        <p:nvPicPr>
          <p:cNvPr id="1026" name="Picture 2" descr="C:\Users\samdom4peace\Pictures\sam4peac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152400"/>
            <a:ext cx="20574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32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heel(1)">
                                      <p:cBhvr>
                                        <p:cTn id="14" dur="2000"/>
                                        <p:tgtEl>
                                          <p:spTgt spid="3">
                                            <p:txEl>
                                              <p:pRg st="0" end="0"/>
                                            </p:txEl>
                                          </p:spTgt>
                                        </p:tgtEl>
                                      </p:cBhvr>
                                    </p:animEffect>
                                  </p:childTnLst>
                                </p:cTn>
                              </p:par>
                              <p:par>
                                <p:cTn id="15" presetID="21" presetClass="entr" presetSubtype="1"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1)">
                                      <p:cBhvr>
                                        <p:cTn id="17" dur="2000"/>
                                        <p:tgtEl>
                                          <p:spTgt spid="3">
                                            <p:txEl>
                                              <p:pRg st="2" end="2"/>
                                            </p:txEl>
                                          </p:spTgt>
                                        </p:tgtEl>
                                      </p:cBhvr>
                                    </p:animEffect>
                                  </p:childTnLst>
                                </p:cTn>
                              </p:par>
                              <p:par>
                                <p:cTn id="18" presetID="21" presetClass="entr" presetSubtype="1"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heel(1)">
                                      <p:cBhvr>
                                        <p:cTn id="20" dur="2000"/>
                                        <p:tgtEl>
                                          <p:spTgt spid="3">
                                            <p:txEl>
                                              <p:pRg st="4" end="4"/>
                                            </p:txEl>
                                          </p:spTgt>
                                        </p:tgtEl>
                                      </p:cBhvr>
                                    </p:animEffect>
                                  </p:childTnLst>
                                </p:cTn>
                              </p:par>
                              <p:par>
                                <p:cTn id="21" presetID="21" presetClass="entr" presetSubtype="1"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wheel(1)">
                                      <p:cBhvr>
                                        <p:cTn id="23" dur="2000"/>
                                        <p:tgtEl>
                                          <p:spTgt spid="3">
                                            <p:txEl>
                                              <p:pRg st="5" end="5"/>
                                            </p:txEl>
                                          </p:spTgt>
                                        </p:tgtEl>
                                      </p:cBhvr>
                                    </p:animEffect>
                                  </p:childTnLst>
                                </p:cTn>
                              </p:par>
                              <p:par>
                                <p:cTn id="24" presetID="21" presetClass="entr" presetSubtype="1"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wheel(1)">
                                      <p:cBhvr>
                                        <p:cTn id="26" dur="20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7" presetClass="entr" presetSubtype="0" fill="hold" nodeType="clickEffect">
                                  <p:stCondLst>
                                    <p:cond delay="500"/>
                                  </p:stCondLst>
                                  <p:childTnLst>
                                    <p:set>
                                      <p:cBhvr>
                                        <p:cTn id="30" dur="1" fill="hold">
                                          <p:stCondLst>
                                            <p:cond delay="0"/>
                                          </p:stCondLst>
                                        </p:cTn>
                                        <p:tgtEl>
                                          <p:spTgt spid="1026"/>
                                        </p:tgtEl>
                                        <p:attrNameLst>
                                          <p:attrName>style.visibility</p:attrName>
                                        </p:attrNameLst>
                                      </p:cBhvr>
                                      <p:to>
                                        <p:strVal val="visible"/>
                                      </p:to>
                                    </p:set>
                                    <p:animEffect transition="in" filter="fade">
                                      <p:cBhvr>
                                        <p:cTn id="31" dur="2000"/>
                                        <p:tgtEl>
                                          <p:spTgt spid="1026"/>
                                        </p:tgtEl>
                                      </p:cBhvr>
                                    </p:animEffect>
                                    <p:anim calcmode="lin" valueType="num">
                                      <p:cBhvr>
                                        <p:cTn id="32" dur="2000" fill="hold"/>
                                        <p:tgtEl>
                                          <p:spTgt spid="1026"/>
                                        </p:tgtEl>
                                        <p:attrNameLst>
                                          <p:attrName>ppt_x</p:attrName>
                                        </p:attrNameLst>
                                      </p:cBhvr>
                                      <p:tavLst>
                                        <p:tav tm="0">
                                          <p:val>
                                            <p:strVal val="#ppt_x"/>
                                          </p:val>
                                        </p:tav>
                                        <p:tav tm="100000">
                                          <p:val>
                                            <p:strVal val="#ppt_x"/>
                                          </p:val>
                                        </p:tav>
                                      </p:tavLst>
                                    </p:anim>
                                    <p:anim calcmode="lin" valueType="num">
                                      <p:cBhvr>
                                        <p:cTn id="33" dur="1800" decel="100000" fill="hold"/>
                                        <p:tgtEl>
                                          <p:spTgt spid="1026"/>
                                        </p:tgtEl>
                                        <p:attrNameLst>
                                          <p:attrName>ppt_y</p:attrName>
                                        </p:attrNameLst>
                                      </p:cBhvr>
                                      <p:tavLst>
                                        <p:tav tm="0">
                                          <p:val>
                                            <p:strVal val="#ppt_y+1"/>
                                          </p:val>
                                        </p:tav>
                                        <p:tav tm="100000">
                                          <p:val>
                                            <p:strVal val="#ppt_y-.03"/>
                                          </p:val>
                                        </p:tav>
                                      </p:tavLst>
                                    </p:anim>
                                    <p:anim calcmode="lin" valueType="num">
                                      <p:cBhvr>
                                        <p:cTn id="34" dur="1" accel="100000" fill="hold">
                                          <p:stCondLst>
                                            <p:cond delay="1999"/>
                                          </p:stCondLst>
                                        </p:cTn>
                                        <p:tgtEl>
                                          <p:spTgt spid="102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057401"/>
            <a:ext cx="7745505" cy="4495800"/>
          </a:xfrm>
        </p:spPr>
        <p:txBody>
          <a:bodyPr>
            <a:normAutofit fontScale="77500" lnSpcReduction="20000"/>
          </a:bodyPr>
          <a:lstStyle/>
          <a:p>
            <a:r>
              <a:rPr lang="en-US" sz="4000" dirty="0"/>
              <a:t>Statistics</a:t>
            </a:r>
          </a:p>
          <a:p>
            <a:r>
              <a:rPr lang="en-US" sz="4000" dirty="0"/>
              <a:t>Sample</a:t>
            </a:r>
          </a:p>
          <a:p>
            <a:r>
              <a:rPr lang="en-US" sz="4000" dirty="0"/>
              <a:t>Population</a:t>
            </a:r>
          </a:p>
          <a:p>
            <a:r>
              <a:rPr lang="en-US" sz="4000" dirty="0"/>
              <a:t>Individual</a:t>
            </a:r>
          </a:p>
          <a:p>
            <a:r>
              <a:rPr lang="en-US" sz="4000" dirty="0"/>
              <a:t>Statistic</a:t>
            </a:r>
          </a:p>
          <a:p>
            <a:r>
              <a:rPr lang="en-US" sz="4000" dirty="0"/>
              <a:t>Parameter</a:t>
            </a:r>
          </a:p>
          <a:p>
            <a:r>
              <a:rPr lang="en-US" sz="4000" dirty="0"/>
              <a:t>Statistical Process</a:t>
            </a:r>
          </a:p>
          <a:p>
            <a:r>
              <a:rPr lang="en-US" sz="4000" dirty="0"/>
              <a:t>Data </a:t>
            </a:r>
          </a:p>
          <a:p>
            <a:r>
              <a:rPr lang="en-US" sz="4000" dirty="0"/>
              <a:t>Variables</a:t>
            </a:r>
          </a:p>
          <a:p>
            <a:endParaRPr lang="en-US" dirty="0"/>
          </a:p>
        </p:txBody>
      </p:sp>
      <p:sp>
        <p:nvSpPr>
          <p:cNvPr id="3" name="Title 2"/>
          <p:cNvSpPr>
            <a:spLocks noGrp="1"/>
          </p:cNvSpPr>
          <p:nvPr>
            <p:ph type="title"/>
          </p:nvPr>
        </p:nvSpPr>
        <p:spPr/>
        <p:txBody>
          <a:bodyPr/>
          <a:lstStyle/>
          <a:p>
            <a:r>
              <a:rPr lang="en-US" dirty="0"/>
              <a:t>Terms </a:t>
            </a:r>
          </a:p>
        </p:txBody>
      </p:sp>
    </p:spTree>
    <p:extLst>
      <p:ext uri="{BB962C8B-B14F-4D97-AF65-F5344CB8AC3E}">
        <p14:creationId xmlns:p14="http://schemas.microsoft.com/office/powerpoint/2010/main" val="478696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228653"/>
          </a:xfrm>
        </p:spPr>
        <p:txBody>
          <a:bodyPr>
            <a:normAutofit fontScale="92500" lnSpcReduction="10000"/>
          </a:bodyPr>
          <a:lstStyle/>
          <a:p>
            <a:pPr>
              <a:buFont typeface="Wingdings" pitchFamily="2" charset="2"/>
              <a:buChar char="q"/>
            </a:pPr>
            <a:r>
              <a:rPr lang="en-US" dirty="0"/>
              <a:t>Is the science that deals with the </a:t>
            </a:r>
          </a:p>
          <a:p>
            <a:r>
              <a:rPr lang="en-US" dirty="0"/>
              <a:t>Collection</a:t>
            </a:r>
          </a:p>
          <a:p>
            <a:r>
              <a:rPr lang="en-US" dirty="0"/>
              <a:t>Organization</a:t>
            </a:r>
          </a:p>
          <a:p>
            <a:r>
              <a:rPr lang="en-US" dirty="0"/>
              <a:t>Presentation  </a:t>
            </a:r>
          </a:p>
          <a:p>
            <a:r>
              <a:rPr lang="en-US"/>
              <a:t>Analysis  and</a:t>
            </a:r>
            <a:endParaRPr lang="en-US" dirty="0"/>
          </a:p>
          <a:p>
            <a:r>
              <a:rPr lang="en-US" dirty="0"/>
              <a:t>Interpretation of data so as to make a conclusion or decision</a:t>
            </a:r>
          </a:p>
          <a:p>
            <a:endParaRPr lang="en-US" dirty="0"/>
          </a:p>
          <a:p>
            <a:pPr>
              <a:buFont typeface="Wingdings" pitchFamily="2" charset="2"/>
              <a:buChar char="q"/>
            </a:pPr>
            <a:r>
              <a:rPr lang="en-US" dirty="0"/>
              <a:t>We have basically, two types of statistics:</a:t>
            </a:r>
          </a:p>
          <a:p>
            <a:r>
              <a:rPr lang="en-US" dirty="0">
                <a:solidFill>
                  <a:srgbClr val="FF0000"/>
                </a:solidFill>
              </a:rPr>
              <a:t>Descriptive Statistics </a:t>
            </a:r>
            <a:r>
              <a:rPr lang="en-US" dirty="0"/>
              <a:t>and </a:t>
            </a:r>
          </a:p>
          <a:p>
            <a:r>
              <a:rPr lang="en-US" dirty="0">
                <a:solidFill>
                  <a:srgbClr val="FF0000"/>
                </a:solidFill>
              </a:rPr>
              <a:t>Inferential Statistics</a:t>
            </a:r>
          </a:p>
          <a:p>
            <a:endParaRPr lang="en-US" dirty="0"/>
          </a:p>
        </p:txBody>
      </p:sp>
      <p:sp>
        <p:nvSpPr>
          <p:cNvPr id="3" name="Title 2"/>
          <p:cNvSpPr>
            <a:spLocks noGrp="1"/>
          </p:cNvSpPr>
          <p:nvPr>
            <p:ph type="title"/>
          </p:nvPr>
        </p:nvSpPr>
        <p:spPr/>
        <p:txBody>
          <a:bodyPr/>
          <a:lstStyle/>
          <a:p>
            <a:r>
              <a:rPr lang="en-US" dirty="0"/>
              <a:t>Statistics</a:t>
            </a:r>
          </a:p>
        </p:txBody>
      </p:sp>
    </p:spTree>
    <p:extLst>
      <p:ext uri="{BB962C8B-B14F-4D97-AF65-F5344CB8AC3E}">
        <p14:creationId xmlns:p14="http://schemas.microsoft.com/office/powerpoint/2010/main" val="3932787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Descriptive Statistics is the science that deals with the organization and presentation of  the collected data</a:t>
            </a:r>
          </a:p>
          <a:p>
            <a:r>
              <a:rPr lang="en-US" dirty="0"/>
              <a:t>Inferential Statistics is the science that uses methods that takes the results obtained from a sample, infers it on the population, and measures the reliability of the results.</a:t>
            </a:r>
          </a:p>
          <a:p>
            <a:endParaRPr lang="en-US" dirty="0"/>
          </a:p>
          <a:p>
            <a:r>
              <a:rPr lang="en-US" dirty="0"/>
              <a:t>We shall discuss more of this as we move on.</a:t>
            </a:r>
          </a:p>
        </p:txBody>
      </p:sp>
      <p:sp>
        <p:nvSpPr>
          <p:cNvPr id="3" name="Title 2"/>
          <p:cNvSpPr>
            <a:spLocks noGrp="1"/>
          </p:cNvSpPr>
          <p:nvPr>
            <p:ph type="title"/>
          </p:nvPr>
        </p:nvSpPr>
        <p:spPr/>
        <p:txBody>
          <a:bodyPr/>
          <a:lstStyle/>
          <a:p>
            <a:r>
              <a:rPr lang="en-US" sz="4000" dirty="0"/>
              <a:t>Descriptive Statistics and Inferential Statistics</a:t>
            </a:r>
          </a:p>
        </p:txBody>
      </p:sp>
    </p:spTree>
    <p:extLst>
      <p:ext uri="{BB962C8B-B14F-4D97-AF65-F5344CB8AC3E}">
        <p14:creationId xmlns:p14="http://schemas.microsoft.com/office/powerpoint/2010/main" val="1120509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152453"/>
          </a:xfrm>
        </p:spPr>
        <p:txBody>
          <a:bodyPr>
            <a:normAutofit fontScale="92500" lnSpcReduction="20000"/>
          </a:bodyPr>
          <a:lstStyle/>
          <a:p>
            <a:r>
              <a:rPr lang="en-US" dirty="0"/>
              <a:t>The media uses statistics to predict election polls such as the Presidential Election; nominate people for awards, and so on.</a:t>
            </a:r>
          </a:p>
          <a:p>
            <a:r>
              <a:rPr lang="en-US" dirty="0"/>
              <a:t>Administrators use statistics to know how their district and schools are performing, and so make decisions as necessary</a:t>
            </a:r>
          </a:p>
          <a:p>
            <a:r>
              <a:rPr lang="en-US" dirty="0"/>
              <a:t>Health professionals use statistics to know how different people react to different medicines</a:t>
            </a:r>
          </a:p>
          <a:p>
            <a:r>
              <a:rPr lang="en-US" dirty="0"/>
              <a:t>Teachers use statistics to know how to meet the individual student learning needs</a:t>
            </a:r>
          </a:p>
          <a:p>
            <a:r>
              <a:rPr lang="en-US" dirty="0"/>
              <a:t>You use statistics to make informed decisions on who to marry, what car to buy, what school to attend, among others…….and the uses go on and on and on…</a:t>
            </a:r>
          </a:p>
        </p:txBody>
      </p:sp>
      <p:sp>
        <p:nvSpPr>
          <p:cNvPr id="3" name="Title 2"/>
          <p:cNvSpPr>
            <a:spLocks noGrp="1"/>
          </p:cNvSpPr>
          <p:nvPr>
            <p:ph type="title"/>
          </p:nvPr>
        </p:nvSpPr>
        <p:spPr/>
        <p:txBody>
          <a:bodyPr/>
          <a:lstStyle/>
          <a:p>
            <a:r>
              <a:rPr lang="en-US" sz="4800" dirty="0"/>
              <a:t>Why do we learn Statistics?</a:t>
            </a:r>
          </a:p>
        </p:txBody>
      </p:sp>
    </p:spTree>
    <p:extLst>
      <p:ext uri="{BB962C8B-B14F-4D97-AF65-F5344CB8AC3E}">
        <p14:creationId xmlns:p14="http://schemas.microsoft.com/office/powerpoint/2010/main" val="4200925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133600"/>
            <a:ext cx="7835153" cy="4648200"/>
          </a:xfrm>
        </p:spPr>
        <p:txBody>
          <a:bodyPr>
            <a:normAutofit fontScale="92500" lnSpcReduction="20000"/>
          </a:bodyPr>
          <a:lstStyle/>
          <a:p>
            <a:r>
              <a:rPr lang="en-US" dirty="0"/>
              <a:t>Data is the list of observed values for a variable</a:t>
            </a:r>
          </a:p>
          <a:p>
            <a:r>
              <a:rPr lang="en-US" dirty="0"/>
              <a:t>Data is the fact used make a conclusion or decision</a:t>
            </a:r>
          </a:p>
          <a:p>
            <a:r>
              <a:rPr lang="en-US" dirty="0"/>
              <a:t>It is also referred to as “Information”</a:t>
            </a:r>
          </a:p>
          <a:p>
            <a:r>
              <a:rPr lang="en-US" dirty="0"/>
              <a:t>It is collected from a survey, an experiment, a historical record, among others</a:t>
            </a:r>
          </a:p>
          <a:p>
            <a:r>
              <a:rPr lang="en-US" dirty="0"/>
              <a:t>It can be numeric such as age, weight, etc. </a:t>
            </a:r>
          </a:p>
          <a:p>
            <a:r>
              <a:rPr lang="en-US" dirty="0"/>
              <a:t>It can also be non-numeric such as color, gender, etc.</a:t>
            </a:r>
          </a:p>
          <a:p>
            <a:r>
              <a:rPr lang="en-US" dirty="0"/>
              <a:t>Data vary. It changes within an individual. It also changes among individuals.</a:t>
            </a:r>
          </a:p>
          <a:p>
            <a:r>
              <a:rPr lang="en-US" dirty="0"/>
              <a:t>Understanding the variability of data is very important in Statistics</a:t>
            </a:r>
          </a:p>
          <a:p>
            <a:r>
              <a:rPr lang="en-US" b="1" u="sng" dirty="0"/>
              <a:t>Collecting data</a:t>
            </a:r>
            <a:r>
              <a:rPr lang="en-US" u="sng" dirty="0"/>
              <a:t> </a:t>
            </a:r>
            <a:r>
              <a:rPr lang="en-US" dirty="0"/>
              <a:t>about something involves a </a:t>
            </a:r>
            <a:r>
              <a:rPr lang="en-US" b="1" u="sng" dirty="0"/>
              <a:t>study</a:t>
            </a:r>
            <a:r>
              <a:rPr lang="en-US" dirty="0"/>
              <a:t> of that thing. This study could be </a:t>
            </a:r>
            <a:r>
              <a:rPr lang="en-US" b="1" u="sng" dirty="0"/>
              <a:t>measured</a:t>
            </a:r>
            <a:r>
              <a:rPr lang="en-US" dirty="0"/>
              <a:t> or </a:t>
            </a:r>
            <a:r>
              <a:rPr lang="en-US" b="1" u="sng" dirty="0"/>
              <a:t>observed</a:t>
            </a:r>
            <a:r>
              <a:rPr lang="en-US" dirty="0"/>
              <a:t>. That leads us to…</a:t>
            </a:r>
          </a:p>
        </p:txBody>
      </p:sp>
      <p:sp>
        <p:nvSpPr>
          <p:cNvPr id="3" name="Title 2"/>
          <p:cNvSpPr>
            <a:spLocks noGrp="1"/>
          </p:cNvSpPr>
          <p:nvPr>
            <p:ph type="title"/>
          </p:nvPr>
        </p:nvSpPr>
        <p:spPr/>
        <p:txBody>
          <a:bodyPr/>
          <a:lstStyle/>
          <a:p>
            <a:r>
              <a:rPr lang="en-US" dirty="0"/>
              <a:t>Data </a:t>
            </a:r>
          </a:p>
        </p:txBody>
      </p:sp>
    </p:spTree>
    <p:extLst>
      <p:ext uri="{BB962C8B-B14F-4D97-AF65-F5344CB8AC3E}">
        <p14:creationId xmlns:p14="http://schemas.microsoft.com/office/powerpoint/2010/main" val="1373208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Population refer to the entire group of individuals or things that is being studied. It contains all subjects of interest. </a:t>
            </a:r>
          </a:p>
          <a:p>
            <a:r>
              <a:rPr lang="en-US" dirty="0"/>
              <a:t>Sample refer to a subset (that is part of the population or some members of the population) that is being studied. It contains some of the subjects of interest.</a:t>
            </a:r>
          </a:p>
          <a:p>
            <a:r>
              <a:rPr lang="en-US" dirty="0"/>
              <a:t>An Individual refer to a member of the population that is being studied. It is that subject of interest.</a:t>
            </a:r>
          </a:p>
          <a:p>
            <a:endParaRPr lang="en-US" dirty="0"/>
          </a:p>
        </p:txBody>
      </p:sp>
      <p:sp>
        <p:nvSpPr>
          <p:cNvPr id="3" name="Title 2"/>
          <p:cNvSpPr>
            <a:spLocks noGrp="1"/>
          </p:cNvSpPr>
          <p:nvPr>
            <p:ph type="title"/>
          </p:nvPr>
        </p:nvSpPr>
        <p:spPr/>
        <p:txBody>
          <a:bodyPr/>
          <a:lstStyle/>
          <a:p>
            <a:r>
              <a:rPr lang="en-US" sz="3600" dirty="0"/>
              <a:t>Population, Sample, and Individual </a:t>
            </a:r>
          </a:p>
        </p:txBody>
      </p:sp>
    </p:spTree>
    <p:extLst>
      <p:ext uri="{BB962C8B-B14F-4D97-AF65-F5344CB8AC3E}">
        <p14:creationId xmlns:p14="http://schemas.microsoft.com/office/powerpoint/2010/main" val="3821146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lnSpcReduction="10000"/>
          </a:bodyPr>
          <a:lstStyle/>
          <a:p>
            <a:r>
              <a:rPr lang="en-US" dirty="0"/>
              <a:t>For each of these scenarios, identify the population, the sample, and the individual.</a:t>
            </a:r>
          </a:p>
          <a:p>
            <a:pPr marL="0" indent="0">
              <a:buNone/>
            </a:pPr>
            <a:endParaRPr lang="en-US" dirty="0"/>
          </a:p>
          <a:p>
            <a:r>
              <a:rPr lang="en-US" dirty="0"/>
              <a:t>A 2012 survey of 100 million Nigerians in Nigeria found that they would prefer the South to secede from the North.</a:t>
            </a:r>
          </a:p>
          <a:p>
            <a:pPr marL="0" indent="0">
              <a:buNone/>
            </a:pPr>
            <a:endParaRPr lang="en-US" dirty="0"/>
          </a:p>
          <a:p>
            <a:r>
              <a:rPr lang="en-US" dirty="0"/>
              <a:t>Population:	All Nigerians in Nigeria</a:t>
            </a:r>
          </a:p>
          <a:p>
            <a:r>
              <a:rPr lang="en-US" dirty="0"/>
              <a:t>Sample:		100 million Nigerians in Nigeria</a:t>
            </a:r>
          </a:p>
          <a:p>
            <a:r>
              <a:rPr lang="en-US" dirty="0"/>
              <a:t>Individual:	A Nigerian in Nigeria</a:t>
            </a:r>
          </a:p>
        </p:txBody>
      </p:sp>
      <p:sp>
        <p:nvSpPr>
          <p:cNvPr id="3" name="Title 2"/>
          <p:cNvSpPr>
            <a:spLocks noGrp="1"/>
          </p:cNvSpPr>
          <p:nvPr>
            <p:ph type="title"/>
          </p:nvPr>
        </p:nvSpPr>
        <p:spPr/>
        <p:txBody>
          <a:bodyPr/>
          <a:lstStyle/>
          <a:p>
            <a:r>
              <a:rPr lang="en-US" sz="4400" dirty="0"/>
              <a:t>Example 1</a:t>
            </a:r>
          </a:p>
        </p:txBody>
      </p:sp>
    </p:spTree>
    <p:extLst>
      <p:ext uri="{BB962C8B-B14F-4D97-AF65-F5344CB8AC3E}">
        <p14:creationId xmlns:p14="http://schemas.microsoft.com/office/powerpoint/2010/main" val="789670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a:bodyPr>
          <a:lstStyle/>
          <a:p>
            <a:r>
              <a:rPr lang="en-US" dirty="0"/>
              <a:t>A poll contacts 200 ladies aged 19 to 35 who live in the U.S and asks whether they use abstinence as a form of birth control.</a:t>
            </a:r>
          </a:p>
          <a:p>
            <a:endParaRPr lang="en-US" dirty="0"/>
          </a:p>
          <a:p>
            <a:r>
              <a:rPr lang="en-US" dirty="0"/>
              <a:t>Population: Ladies aged 19 to 35 an live in the U.S</a:t>
            </a:r>
          </a:p>
          <a:p>
            <a:r>
              <a:rPr lang="en-US" dirty="0"/>
              <a:t>Sample: 200 ladies aged 19 to 35 and live in the U.S</a:t>
            </a:r>
          </a:p>
          <a:p>
            <a:r>
              <a:rPr lang="en-US" dirty="0"/>
              <a:t>Individual: A lady aged 19 to 35 and lives in the U.S</a:t>
            </a:r>
          </a:p>
        </p:txBody>
      </p:sp>
      <p:sp>
        <p:nvSpPr>
          <p:cNvPr id="3" name="Title 2"/>
          <p:cNvSpPr>
            <a:spLocks noGrp="1"/>
          </p:cNvSpPr>
          <p:nvPr>
            <p:ph type="title"/>
          </p:nvPr>
        </p:nvSpPr>
        <p:spPr/>
        <p:txBody>
          <a:bodyPr/>
          <a:lstStyle/>
          <a:p>
            <a:r>
              <a:rPr lang="en-US" dirty="0"/>
              <a:t>Example 2</a:t>
            </a:r>
          </a:p>
        </p:txBody>
      </p:sp>
    </p:spTree>
    <p:extLst>
      <p:ext uri="{BB962C8B-B14F-4D97-AF65-F5344CB8AC3E}">
        <p14:creationId xmlns:p14="http://schemas.microsoft.com/office/powerpoint/2010/main" val="3782193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farmer randomly sampled 125 plants in his farm on June 27 and weighed the chlorophyll in each plant.</a:t>
            </a:r>
          </a:p>
          <a:p>
            <a:endParaRPr lang="en-US" dirty="0"/>
          </a:p>
          <a:p>
            <a:r>
              <a:rPr lang="en-US" dirty="0"/>
              <a:t>Population: All plants in his farm on June 27</a:t>
            </a:r>
          </a:p>
          <a:p>
            <a:r>
              <a:rPr lang="en-US" dirty="0"/>
              <a:t>Sample: 125 plants in his farm on June 27</a:t>
            </a:r>
          </a:p>
          <a:p>
            <a:r>
              <a:rPr lang="en-US" dirty="0"/>
              <a:t>Individual: A plant in his farm on June 27	 </a:t>
            </a:r>
          </a:p>
        </p:txBody>
      </p:sp>
      <p:sp>
        <p:nvSpPr>
          <p:cNvPr id="3" name="Title 2"/>
          <p:cNvSpPr>
            <a:spLocks noGrp="1"/>
          </p:cNvSpPr>
          <p:nvPr>
            <p:ph type="title"/>
          </p:nvPr>
        </p:nvSpPr>
        <p:spPr/>
        <p:txBody>
          <a:bodyPr/>
          <a:lstStyle/>
          <a:p>
            <a:r>
              <a:rPr lang="en-US" dirty="0"/>
              <a:t>Example 3</a:t>
            </a:r>
          </a:p>
        </p:txBody>
      </p:sp>
    </p:spTree>
    <p:extLst>
      <p:ext uri="{BB962C8B-B14F-4D97-AF65-F5344CB8AC3E}">
        <p14:creationId xmlns:p14="http://schemas.microsoft.com/office/powerpoint/2010/main" val="1896433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152453"/>
          </a:xfrm>
        </p:spPr>
        <p:txBody>
          <a:bodyPr>
            <a:normAutofit lnSpcReduction="10000"/>
          </a:bodyPr>
          <a:lstStyle/>
          <a:p>
            <a:r>
              <a:rPr lang="en-US" dirty="0"/>
              <a:t>Assuming 95 million Nigerians out of 100 million Nigerians said that they were ready to secede immediately. </a:t>
            </a:r>
          </a:p>
          <a:p>
            <a:r>
              <a:rPr lang="en-US" dirty="0"/>
              <a:t>This means that 95% of the 100 million Nigerians that were surveyed are ready for the secession immediately.</a:t>
            </a:r>
          </a:p>
          <a:p>
            <a:r>
              <a:rPr lang="en-US" dirty="0"/>
              <a:t>This describes the results of the sample without making any conclusions about the population. (Descriptive Statistic). Note that the population here is the entire Nigerian population</a:t>
            </a:r>
          </a:p>
          <a:p>
            <a:r>
              <a:rPr lang="en-US" dirty="0"/>
              <a:t>This leads us to …</a:t>
            </a:r>
          </a:p>
        </p:txBody>
      </p:sp>
      <p:sp>
        <p:nvSpPr>
          <p:cNvPr id="3" name="Title 2"/>
          <p:cNvSpPr>
            <a:spLocks noGrp="1"/>
          </p:cNvSpPr>
          <p:nvPr>
            <p:ph type="title"/>
          </p:nvPr>
        </p:nvSpPr>
        <p:spPr/>
        <p:txBody>
          <a:bodyPr/>
          <a:lstStyle/>
          <a:p>
            <a:r>
              <a:rPr lang="en-US" dirty="0"/>
              <a:t>Consider Example 1</a:t>
            </a:r>
          </a:p>
        </p:txBody>
      </p:sp>
    </p:spTree>
    <p:extLst>
      <p:ext uri="{BB962C8B-B14F-4D97-AF65-F5344CB8AC3E}">
        <p14:creationId xmlns:p14="http://schemas.microsoft.com/office/powerpoint/2010/main" val="2241146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statistic is a numerical summary of a sample</a:t>
            </a:r>
          </a:p>
          <a:p>
            <a:r>
              <a:rPr lang="en-US" dirty="0"/>
              <a:t>In our example, the 95% is the statistic</a:t>
            </a:r>
          </a:p>
          <a:p>
            <a:r>
              <a:rPr lang="en-US" dirty="0"/>
              <a:t>Suppose we now take this 95% and extend it to the entire Nigerian Population. Assuming we now say that 95% of all Nigerians in Nigeria said they were ready to secede immediately, then the</a:t>
            </a:r>
          </a:p>
          <a:p>
            <a:r>
              <a:rPr lang="en-US" dirty="0"/>
              <a:t>95% becomes the parameter</a:t>
            </a:r>
          </a:p>
          <a:p>
            <a:r>
              <a:rPr lang="en-US" dirty="0"/>
              <a:t>A parameter is a numerical summary of a population</a:t>
            </a:r>
          </a:p>
          <a:p>
            <a:r>
              <a:rPr lang="en-US" dirty="0"/>
              <a:t>We just performed Inferential Statistics</a:t>
            </a:r>
          </a:p>
        </p:txBody>
      </p:sp>
      <p:sp>
        <p:nvSpPr>
          <p:cNvPr id="3" name="Title 2"/>
          <p:cNvSpPr>
            <a:spLocks noGrp="1"/>
          </p:cNvSpPr>
          <p:nvPr>
            <p:ph type="title"/>
          </p:nvPr>
        </p:nvSpPr>
        <p:spPr/>
        <p:txBody>
          <a:bodyPr/>
          <a:lstStyle/>
          <a:p>
            <a:r>
              <a:rPr lang="en-US" sz="4400" dirty="0"/>
              <a:t>Statistic, Parameter</a:t>
            </a:r>
          </a:p>
        </p:txBody>
      </p:sp>
    </p:spTree>
    <p:extLst>
      <p:ext uri="{BB962C8B-B14F-4D97-AF65-F5344CB8AC3E}">
        <p14:creationId xmlns:p14="http://schemas.microsoft.com/office/powerpoint/2010/main" val="235194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For each of these scenarios, determine whether the underlined value is a statistic or parameter.</a:t>
            </a:r>
          </a:p>
          <a:p>
            <a:endParaRPr lang="en-US" dirty="0"/>
          </a:p>
          <a:p>
            <a:r>
              <a:rPr lang="en-US" dirty="0"/>
              <a:t>A sample of London residents were surveyed and it was found that </a:t>
            </a:r>
            <a:r>
              <a:rPr lang="en-US" b="1" u="sng" dirty="0"/>
              <a:t>85%</a:t>
            </a:r>
            <a:r>
              <a:rPr lang="en-US" dirty="0"/>
              <a:t> had a bachelors degree or higher</a:t>
            </a:r>
          </a:p>
          <a:p>
            <a:endParaRPr lang="en-US" dirty="0"/>
          </a:p>
          <a:p>
            <a:r>
              <a:rPr lang="en-US" dirty="0"/>
              <a:t>85% is a  statistic because it is the numerical summary of the sample of London residents</a:t>
            </a:r>
          </a:p>
          <a:p>
            <a:endParaRPr lang="en-US" dirty="0"/>
          </a:p>
        </p:txBody>
      </p:sp>
      <p:sp>
        <p:nvSpPr>
          <p:cNvPr id="3" name="Title 2"/>
          <p:cNvSpPr>
            <a:spLocks noGrp="1"/>
          </p:cNvSpPr>
          <p:nvPr>
            <p:ph type="title"/>
          </p:nvPr>
        </p:nvSpPr>
        <p:spPr/>
        <p:txBody>
          <a:bodyPr/>
          <a:lstStyle/>
          <a:p>
            <a:r>
              <a:rPr lang="en-US" dirty="0"/>
              <a:t>Example 4</a:t>
            </a:r>
          </a:p>
        </p:txBody>
      </p:sp>
    </p:spTree>
    <p:extLst>
      <p:ext uri="{BB962C8B-B14F-4D97-AF65-F5344CB8AC3E}">
        <p14:creationId xmlns:p14="http://schemas.microsoft.com/office/powerpoint/2010/main" val="469130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u="sng" dirty="0"/>
              <a:t>26</a:t>
            </a:r>
            <a:r>
              <a:rPr lang="en-US" dirty="0"/>
              <a:t> of the </a:t>
            </a:r>
            <a:r>
              <a:rPr lang="en-US" b="1" u="sng" dirty="0"/>
              <a:t>50</a:t>
            </a:r>
            <a:r>
              <a:rPr lang="en-US" dirty="0"/>
              <a:t> states in the United States voted for Barack Obama in the 2012 Presidential Elections</a:t>
            </a:r>
          </a:p>
          <a:p>
            <a:endParaRPr lang="en-US" dirty="0"/>
          </a:p>
          <a:p>
            <a:r>
              <a:rPr lang="en-US" dirty="0"/>
              <a:t>26 is a statistic because it is the numerical summary of a sample of the states in the United States</a:t>
            </a:r>
          </a:p>
          <a:p>
            <a:endParaRPr lang="en-US" dirty="0"/>
          </a:p>
          <a:p>
            <a:r>
              <a:rPr lang="en-US" dirty="0"/>
              <a:t>50 is a parameter because it is the numerical summary of the population of states in the United States </a:t>
            </a:r>
          </a:p>
        </p:txBody>
      </p:sp>
      <p:sp>
        <p:nvSpPr>
          <p:cNvPr id="3" name="Title 2"/>
          <p:cNvSpPr>
            <a:spLocks noGrp="1"/>
          </p:cNvSpPr>
          <p:nvPr>
            <p:ph type="title"/>
          </p:nvPr>
        </p:nvSpPr>
        <p:spPr/>
        <p:txBody>
          <a:bodyPr/>
          <a:lstStyle/>
          <a:p>
            <a:r>
              <a:rPr lang="en-US"/>
              <a:t>Example 5</a:t>
            </a:r>
            <a:endParaRPr lang="en-US" dirty="0"/>
          </a:p>
        </p:txBody>
      </p:sp>
    </p:spTree>
    <p:extLst>
      <p:ext uri="{BB962C8B-B14F-4D97-AF65-F5344CB8AC3E}">
        <p14:creationId xmlns:p14="http://schemas.microsoft.com/office/powerpoint/2010/main" val="2626724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recent study from Harvard University researchers found that of 93,600 women aged between 25 and 42, three or more servings of berries per week may slash the risk of a heart attack by </a:t>
            </a:r>
            <a:r>
              <a:rPr lang="en-US" b="1" u="sng" dirty="0"/>
              <a:t>33%</a:t>
            </a:r>
            <a:r>
              <a:rPr lang="en-US" dirty="0"/>
              <a:t>. (Source:  Journal of the American Heart Association)</a:t>
            </a:r>
          </a:p>
          <a:p>
            <a:endParaRPr lang="en-US" dirty="0"/>
          </a:p>
          <a:p>
            <a:r>
              <a:rPr lang="en-US" dirty="0"/>
              <a:t>33% is a statistic because it is the numerical value of a sample of the women aged between 25 and 42. (93,600)</a:t>
            </a:r>
          </a:p>
        </p:txBody>
      </p:sp>
      <p:sp>
        <p:nvSpPr>
          <p:cNvPr id="3" name="Title 2"/>
          <p:cNvSpPr>
            <a:spLocks noGrp="1"/>
          </p:cNvSpPr>
          <p:nvPr>
            <p:ph type="title"/>
          </p:nvPr>
        </p:nvSpPr>
        <p:spPr/>
        <p:txBody>
          <a:bodyPr/>
          <a:lstStyle/>
          <a:p>
            <a:r>
              <a:rPr lang="en-US" dirty="0"/>
              <a:t>Example 6</a:t>
            </a:r>
          </a:p>
        </p:txBody>
      </p:sp>
    </p:spTree>
    <p:extLst>
      <p:ext uri="{BB962C8B-B14F-4D97-AF65-F5344CB8AC3E}">
        <p14:creationId xmlns:p14="http://schemas.microsoft.com/office/powerpoint/2010/main" val="1335528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Statistics is a science because its process follows the scientific methods. Here are the basic steps of a statistical process:</a:t>
            </a:r>
          </a:p>
          <a:p>
            <a:r>
              <a:rPr lang="en-US" dirty="0"/>
              <a:t>Identify the research objective: What do you want to find out about? What are the necessary questions to be asked? What is the population of the study?</a:t>
            </a:r>
          </a:p>
          <a:p>
            <a:r>
              <a:rPr lang="en-US" dirty="0"/>
              <a:t>Collect the data needed to answer the questions: Use appropriate data collection techniques. Gaining access to an entire population is usually difficult. So, a sample is needed. How random and how large is your sample size?</a:t>
            </a:r>
          </a:p>
          <a:p>
            <a:endParaRPr lang="en-US" dirty="0"/>
          </a:p>
        </p:txBody>
      </p:sp>
      <p:sp>
        <p:nvSpPr>
          <p:cNvPr id="3" name="Title 2"/>
          <p:cNvSpPr>
            <a:spLocks noGrp="1"/>
          </p:cNvSpPr>
          <p:nvPr>
            <p:ph type="title"/>
          </p:nvPr>
        </p:nvSpPr>
        <p:spPr/>
        <p:txBody>
          <a:bodyPr/>
          <a:lstStyle/>
          <a:p>
            <a:r>
              <a:rPr lang="en-US" dirty="0"/>
              <a:t>Statistical Process</a:t>
            </a:r>
          </a:p>
        </p:txBody>
      </p:sp>
    </p:spTree>
    <p:extLst>
      <p:ext uri="{BB962C8B-B14F-4D97-AF65-F5344CB8AC3E}">
        <p14:creationId xmlns:p14="http://schemas.microsoft.com/office/powerpoint/2010/main" val="1561350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057401"/>
            <a:ext cx="7745505" cy="4068762"/>
          </a:xfrm>
        </p:spPr>
        <p:txBody>
          <a:bodyPr>
            <a:normAutofit fontScale="92500" lnSpcReduction="10000"/>
          </a:bodyPr>
          <a:lstStyle/>
          <a:p>
            <a:r>
              <a:rPr lang="en-US" dirty="0"/>
              <a:t>Describe the data: Obtain a descriptive statistics of your sample data. Organize and present or summarize your data properly</a:t>
            </a:r>
          </a:p>
          <a:p>
            <a:r>
              <a:rPr lang="en-US" dirty="0"/>
              <a:t>Perform inference: Apply appropriate techniques to extend the results of your sample data to the population of your study. Report a level of reliability of the results. What is the confidence level of your results? What is the margin of error?</a:t>
            </a:r>
          </a:p>
          <a:p>
            <a:endParaRPr lang="en-US" dirty="0"/>
          </a:p>
          <a:p>
            <a:r>
              <a:rPr lang="en-US" dirty="0"/>
              <a:t>Once a research objective is stated and the population is identified, the researcher must create a list of information of the individuals of the population. That leads to …</a:t>
            </a:r>
          </a:p>
          <a:p>
            <a:endParaRPr lang="en-US" dirty="0"/>
          </a:p>
        </p:txBody>
      </p:sp>
      <p:sp>
        <p:nvSpPr>
          <p:cNvPr id="3" name="Title 2"/>
          <p:cNvSpPr>
            <a:spLocks noGrp="1"/>
          </p:cNvSpPr>
          <p:nvPr>
            <p:ph type="title"/>
          </p:nvPr>
        </p:nvSpPr>
        <p:spPr/>
        <p:txBody>
          <a:bodyPr/>
          <a:lstStyle/>
          <a:p>
            <a:r>
              <a:rPr lang="en-US" sz="4800" dirty="0"/>
              <a:t>Statistical Process (contd.)</a:t>
            </a:r>
          </a:p>
        </p:txBody>
      </p:sp>
    </p:spTree>
    <p:extLst>
      <p:ext uri="{BB962C8B-B14F-4D97-AF65-F5344CB8AC3E}">
        <p14:creationId xmlns:p14="http://schemas.microsoft.com/office/powerpoint/2010/main" val="596897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A variable is a characteristic of the individual of the population being studied.</a:t>
            </a:r>
          </a:p>
          <a:p>
            <a:r>
              <a:rPr lang="en-US" dirty="0"/>
              <a:t>As the name implies, it always varies</a:t>
            </a:r>
          </a:p>
          <a:p>
            <a:r>
              <a:rPr lang="en-US" dirty="0"/>
              <a:t>Variables can be classified as:</a:t>
            </a:r>
          </a:p>
          <a:p>
            <a:r>
              <a:rPr lang="en-US" dirty="0"/>
              <a:t>Qualitative or Categorical Variables AND</a:t>
            </a:r>
          </a:p>
          <a:p>
            <a:r>
              <a:rPr lang="en-US" dirty="0"/>
              <a:t>Quantitative Variables</a:t>
            </a:r>
          </a:p>
          <a:p>
            <a:endParaRPr lang="en-US" dirty="0"/>
          </a:p>
          <a:p>
            <a:r>
              <a:rPr lang="en-US" dirty="0"/>
              <a:t>Quantitative Variables can then be classified as:</a:t>
            </a:r>
          </a:p>
          <a:p>
            <a:r>
              <a:rPr lang="en-US" dirty="0"/>
              <a:t>Discrete Variables</a:t>
            </a:r>
          </a:p>
          <a:p>
            <a:r>
              <a:rPr lang="en-US" dirty="0"/>
              <a:t>Continuous Variables</a:t>
            </a:r>
          </a:p>
          <a:p>
            <a:endParaRPr lang="en-US" dirty="0"/>
          </a:p>
        </p:txBody>
      </p:sp>
      <p:sp>
        <p:nvSpPr>
          <p:cNvPr id="3" name="Title 2"/>
          <p:cNvSpPr>
            <a:spLocks noGrp="1"/>
          </p:cNvSpPr>
          <p:nvPr>
            <p:ph type="title"/>
          </p:nvPr>
        </p:nvSpPr>
        <p:spPr/>
        <p:txBody>
          <a:bodyPr/>
          <a:lstStyle/>
          <a:p>
            <a:r>
              <a:rPr lang="en-US" dirty="0"/>
              <a:t>Variables </a:t>
            </a:r>
          </a:p>
        </p:txBody>
      </p:sp>
    </p:spTree>
    <p:extLst>
      <p:ext uri="{BB962C8B-B14F-4D97-AF65-F5344CB8AC3E}">
        <p14:creationId xmlns:p14="http://schemas.microsoft.com/office/powerpoint/2010/main" val="4125821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304853"/>
          </a:xfrm>
        </p:spPr>
        <p:txBody>
          <a:bodyPr>
            <a:normAutofit fontScale="92500"/>
          </a:bodyPr>
          <a:lstStyle/>
          <a:p>
            <a:r>
              <a:rPr lang="en-US" dirty="0"/>
              <a:t>Qualitative Variables express qualitative attributes of the individuals of a population. It is not  measurable. It is not usually a numeric value. It is also known as Categorical Variables. Examples are gender, favorite color, religion, street names, zip codes, etc.</a:t>
            </a:r>
          </a:p>
          <a:p>
            <a:r>
              <a:rPr lang="en-US" dirty="0"/>
              <a:t>Quantitative Variables express numerical measures of the individuals of a population. It is always measurable and always has a numeric value. Examples include age of students, area of a room, volume of a box, temperature, weight, height, shoe size, etc.</a:t>
            </a:r>
          </a:p>
          <a:p>
            <a:r>
              <a:rPr lang="en-US" dirty="0"/>
              <a:t>Let us now look at the types of Quantitative Variables – Discrete Variables and Continuous Variables</a:t>
            </a:r>
          </a:p>
        </p:txBody>
      </p:sp>
      <p:sp>
        <p:nvSpPr>
          <p:cNvPr id="3" name="Title 2"/>
          <p:cNvSpPr>
            <a:spLocks noGrp="1"/>
          </p:cNvSpPr>
          <p:nvPr>
            <p:ph type="title"/>
          </p:nvPr>
        </p:nvSpPr>
        <p:spPr>
          <a:xfrm>
            <a:off x="688490" y="457200"/>
            <a:ext cx="7756263" cy="1219200"/>
          </a:xfrm>
        </p:spPr>
        <p:txBody>
          <a:bodyPr/>
          <a:lstStyle/>
          <a:p>
            <a:r>
              <a:rPr lang="en-US" sz="4800" dirty="0"/>
              <a:t>Qualitative and Quantitative Variables</a:t>
            </a:r>
          </a:p>
        </p:txBody>
      </p:sp>
    </p:spTree>
    <p:extLst>
      <p:ext uri="{BB962C8B-B14F-4D97-AF65-F5344CB8AC3E}">
        <p14:creationId xmlns:p14="http://schemas.microsoft.com/office/powerpoint/2010/main" val="1250430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Discrete Variables are quantitative variables that has a finite or countable number of possible values. If you count to get the value of a quantitative variable, then it is discrete. Examples are number of prime numbers obtained after tossing two dice one time, number of kings in a deck of cards, number of U.S senators, among others. </a:t>
            </a:r>
          </a:p>
          <a:p>
            <a:endParaRPr lang="en-US" dirty="0"/>
          </a:p>
          <a:p>
            <a:r>
              <a:rPr lang="en-US" dirty="0"/>
              <a:t>NOTE: If you can count it physically, then it is a discrete variable</a:t>
            </a:r>
          </a:p>
        </p:txBody>
      </p:sp>
      <p:sp>
        <p:nvSpPr>
          <p:cNvPr id="3" name="Title 2"/>
          <p:cNvSpPr>
            <a:spLocks noGrp="1"/>
          </p:cNvSpPr>
          <p:nvPr>
            <p:ph type="title"/>
          </p:nvPr>
        </p:nvSpPr>
        <p:spPr/>
        <p:txBody>
          <a:bodyPr/>
          <a:lstStyle/>
          <a:p>
            <a:r>
              <a:rPr lang="en-US" dirty="0"/>
              <a:t>Discrete Variables</a:t>
            </a:r>
          </a:p>
        </p:txBody>
      </p:sp>
    </p:spTree>
    <p:extLst>
      <p:ext uri="{BB962C8B-B14F-4D97-AF65-F5344CB8AC3E}">
        <p14:creationId xmlns:p14="http://schemas.microsoft.com/office/powerpoint/2010/main" val="2406948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133601"/>
            <a:ext cx="7745505" cy="3992562"/>
          </a:xfrm>
        </p:spPr>
        <p:txBody>
          <a:bodyPr>
            <a:normAutofit lnSpcReduction="10000"/>
          </a:bodyPr>
          <a:lstStyle/>
          <a:p>
            <a:r>
              <a:rPr lang="en-US" dirty="0"/>
              <a:t>Continuous Variables are quantitative variables that has an infinite or uncountable number of possible values. If you measure to get the value of a quantitative variable, then it is continuous. Examples are: the time it takes for the “sequester” to take effect, the distance between Nigeria and United States, among others. </a:t>
            </a:r>
          </a:p>
          <a:p>
            <a:endParaRPr lang="en-US" dirty="0"/>
          </a:p>
          <a:p>
            <a:r>
              <a:rPr lang="en-US" dirty="0"/>
              <a:t>NOTE: If you can measure it rather than count it, then it is a continuous variable</a:t>
            </a:r>
          </a:p>
          <a:p>
            <a:r>
              <a:rPr lang="en-US" dirty="0"/>
              <a:t>On the sidelines, we also have…</a:t>
            </a:r>
          </a:p>
          <a:p>
            <a:endParaRPr lang="en-US" dirty="0"/>
          </a:p>
        </p:txBody>
      </p:sp>
      <p:sp>
        <p:nvSpPr>
          <p:cNvPr id="3" name="Title 2"/>
          <p:cNvSpPr>
            <a:spLocks noGrp="1"/>
          </p:cNvSpPr>
          <p:nvPr>
            <p:ph type="title"/>
          </p:nvPr>
        </p:nvSpPr>
        <p:spPr/>
        <p:txBody>
          <a:bodyPr/>
          <a:lstStyle/>
          <a:p>
            <a:r>
              <a:rPr lang="en-US" dirty="0"/>
              <a:t>Continuous Variables</a:t>
            </a:r>
          </a:p>
        </p:txBody>
      </p:sp>
    </p:spTree>
    <p:extLst>
      <p:ext uri="{BB962C8B-B14F-4D97-AF65-F5344CB8AC3E}">
        <p14:creationId xmlns:p14="http://schemas.microsoft.com/office/powerpoint/2010/main" val="3293659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133600"/>
            <a:ext cx="7745505" cy="4343399"/>
          </a:xfrm>
        </p:spPr>
        <p:txBody>
          <a:bodyPr>
            <a:normAutofit fontScale="55000" lnSpcReduction="20000"/>
          </a:bodyPr>
          <a:lstStyle/>
          <a:p>
            <a:r>
              <a:rPr lang="en-US" sz="3700" dirty="0"/>
              <a:t>Dependent Variables are:</a:t>
            </a:r>
          </a:p>
          <a:p>
            <a:r>
              <a:rPr lang="en-US" sz="3700" dirty="0"/>
              <a:t>Also known as the Response Variables</a:t>
            </a:r>
          </a:p>
          <a:p>
            <a:r>
              <a:rPr lang="en-US" sz="3700" dirty="0"/>
              <a:t>Variables that are predicted</a:t>
            </a:r>
          </a:p>
          <a:p>
            <a:r>
              <a:rPr lang="en-US" sz="3700" dirty="0"/>
              <a:t>Outcome of a study</a:t>
            </a:r>
          </a:p>
          <a:p>
            <a:r>
              <a:rPr lang="en-US" sz="3700" dirty="0"/>
              <a:t>The “y-value” function</a:t>
            </a:r>
          </a:p>
          <a:p>
            <a:endParaRPr lang="en-US" sz="3700" dirty="0"/>
          </a:p>
          <a:p>
            <a:r>
              <a:rPr lang="en-US" sz="3700" dirty="0"/>
              <a:t>Independent Variables are:</a:t>
            </a:r>
          </a:p>
          <a:p>
            <a:r>
              <a:rPr lang="en-US" sz="3700" dirty="0"/>
              <a:t>Also known as the Explanatory or Predictor Variables</a:t>
            </a:r>
          </a:p>
          <a:p>
            <a:r>
              <a:rPr lang="en-US" sz="3700" dirty="0"/>
              <a:t>Variables that explains the response variables</a:t>
            </a:r>
          </a:p>
          <a:p>
            <a:r>
              <a:rPr lang="en-US" sz="3700" dirty="0"/>
              <a:t>The “x-value” function</a:t>
            </a:r>
          </a:p>
          <a:p>
            <a:endParaRPr lang="en-US" sz="3700" dirty="0"/>
          </a:p>
          <a:p>
            <a:r>
              <a:rPr lang="en-US" sz="3700" dirty="0"/>
              <a:t>In Algebra and Calculus, we note that:</a:t>
            </a:r>
          </a:p>
          <a:p>
            <a:r>
              <a:rPr lang="en-US" sz="3700" dirty="0"/>
              <a:t>y = f(x)</a:t>
            </a:r>
          </a:p>
          <a:p>
            <a:endParaRPr lang="en-US" sz="2000" dirty="0"/>
          </a:p>
        </p:txBody>
      </p:sp>
      <p:sp>
        <p:nvSpPr>
          <p:cNvPr id="3" name="Title 2"/>
          <p:cNvSpPr>
            <a:spLocks noGrp="1"/>
          </p:cNvSpPr>
          <p:nvPr>
            <p:ph type="title"/>
          </p:nvPr>
        </p:nvSpPr>
        <p:spPr/>
        <p:txBody>
          <a:bodyPr/>
          <a:lstStyle/>
          <a:p>
            <a:r>
              <a:rPr lang="en-US" sz="4800" dirty="0"/>
              <a:t>Dependent and Independent Variables</a:t>
            </a:r>
          </a:p>
        </p:txBody>
      </p:sp>
    </p:spTree>
    <p:extLst>
      <p:ext uri="{BB962C8B-B14F-4D97-AF65-F5344CB8AC3E}">
        <p14:creationId xmlns:p14="http://schemas.microsoft.com/office/powerpoint/2010/main" val="963018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The type of variable dictates the methods that can be used to analyze the data</a:t>
            </a:r>
          </a:p>
          <a:p>
            <a:r>
              <a:rPr lang="en-US" dirty="0"/>
              <a:t>Qualitative data are observations corresponding to a qualitative variable</a:t>
            </a:r>
          </a:p>
          <a:p>
            <a:r>
              <a:rPr lang="en-US" dirty="0"/>
              <a:t>Quantitative data are observations corresponding to a quantitative variable</a:t>
            </a:r>
          </a:p>
          <a:p>
            <a:r>
              <a:rPr lang="en-US" dirty="0"/>
              <a:t>Discrete data are observations corresponding to a discrete variable</a:t>
            </a:r>
          </a:p>
          <a:p>
            <a:r>
              <a:rPr lang="en-US" dirty="0"/>
              <a:t>Continuous data are observations corresponding to a continuous variable</a:t>
            </a:r>
          </a:p>
        </p:txBody>
      </p:sp>
      <p:sp>
        <p:nvSpPr>
          <p:cNvPr id="3" name="Title 2"/>
          <p:cNvSpPr>
            <a:spLocks noGrp="1"/>
          </p:cNvSpPr>
          <p:nvPr>
            <p:ph type="title"/>
          </p:nvPr>
        </p:nvSpPr>
        <p:spPr/>
        <p:txBody>
          <a:bodyPr/>
          <a:lstStyle/>
          <a:p>
            <a:r>
              <a:rPr lang="en-US" dirty="0"/>
              <a:t>Data and Variables</a:t>
            </a:r>
          </a:p>
        </p:txBody>
      </p:sp>
    </p:spTree>
    <p:extLst>
      <p:ext uri="{BB962C8B-B14F-4D97-AF65-F5344CB8AC3E}">
        <p14:creationId xmlns:p14="http://schemas.microsoft.com/office/powerpoint/2010/main" val="491568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133601"/>
            <a:ext cx="7745505" cy="3992562"/>
          </a:xfrm>
        </p:spPr>
        <p:txBody>
          <a:bodyPr>
            <a:normAutofit fontScale="92500"/>
          </a:bodyPr>
          <a:lstStyle/>
          <a:p>
            <a:r>
              <a:rPr lang="en-US" dirty="0"/>
              <a:t>The level of measurement of a variable determines the types of descriptive and inferential statistics that may be applied to a variable</a:t>
            </a:r>
          </a:p>
          <a:p>
            <a:r>
              <a:rPr lang="en-US" dirty="0"/>
              <a:t>It is an important factor in determining what tools may be used to describe the variable, and what means of analysis to use for inference about the variable</a:t>
            </a:r>
          </a:p>
          <a:p>
            <a:r>
              <a:rPr lang="en-US" dirty="0"/>
              <a:t>Rather than classify a variable as qualitative or quantitative, we can assign a level of measurement to the variable</a:t>
            </a:r>
          </a:p>
          <a:p>
            <a:r>
              <a:rPr lang="en-US" dirty="0"/>
              <a:t>The levels of measurement of a variable include: Nominal, Ordinal, Interval, and Ratio Variables</a:t>
            </a:r>
          </a:p>
          <a:p>
            <a:endParaRPr lang="en-US" dirty="0"/>
          </a:p>
        </p:txBody>
      </p:sp>
      <p:sp>
        <p:nvSpPr>
          <p:cNvPr id="3" name="Title 2"/>
          <p:cNvSpPr>
            <a:spLocks noGrp="1"/>
          </p:cNvSpPr>
          <p:nvPr>
            <p:ph type="title"/>
          </p:nvPr>
        </p:nvSpPr>
        <p:spPr/>
        <p:txBody>
          <a:bodyPr/>
          <a:lstStyle/>
          <a:p>
            <a:r>
              <a:rPr lang="en-US" sz="3600" dirty="0"/>
              <a:t>Level of Measurement of a Variable</a:t>
            </a:r>
          </a:p>
        </p:txBody>
      </p:sp>
    </p:spTree>
    <p:extLst>
      <p:ext uri="{BB962C8B-B14F-4D97-AF65-F5344CB8AC3E}">
        <p14:creationId xmlns:p14="http://schemas.microsoft.com/office/powerpoint/2010/main" val="3869673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variable is at the </a:t>
            </a:r>
            <a:r>
              <a:rPr lang="en-US" u="sng" dirty="0"/>
              <a:t>nominal level</a:t>
            </a:r>
            <a:r>
              <a:rPr lang="en-US" dirty="0"/>
              <a:t> of measurement if the variable name, label, or categorize, or coded. </a:t>
            </a:r>
            <a:r>
              <a:rPr lang="en-US" b="1" i="1" dirty="0"/>
              <a:t>Order of ranking is not relevant</a:t>
            </a:r>
            <a:r>
              <a:rPr lang="en-US" dirty="0"/>
              <a:t>. Examples include:</a:t>
            </a:r>
          </a:p>
          <a:p>
            <a:r>
              <a:rPr lang="en-US" dirty="0"/>
              <a:t>Race (African-American, European-American, </a:t>
            </a:r>
            <a:r>
              <a:rPr lang="en-US" dirty="0" err="1"/>
              <a:t>etc</a:t>
            </a:r>
            <a:r>
              <a:rPr lang="en-US" dirty="0"/>
              <a:t>)</a:t>
            </a:r>
          </a:p>
          <a:p>
            <a:r>
              <a:rPr lang="en-US" dirty="0"/>
              <a:t>Nationality (Nigeria, United States, </a:t>
            </a:r>
            <a:r>
              <a:rPr lang="en-US" dirty="0" err="1"/>
              <a:t>etc</a:t>
            </a:r>
            <a:r>
              <a:rPr lang="en-US" dirty="0"/>
              <a:t>)</a:t>
            </a:r>
          </a:p>
          <a:p>
            <a:r>
              <a:rPr lang="en-US" dirty="0"/>
              <a:t>Religion (Christianity, Islam, Hinduism, </a:t>
            </a:r>
            <a:r>
              <a:rPr lang="en-US" dirty="0" err="1"/>
              <a:t>etc</a:t>
            </a:r>
            <a:r>
              <a:rPr lang="en-US" dirty="0"/>
              <a:t>)</a:t>
            </a:r>
          </a:p>
          <a:p>
            <a:r>
              <a:rPr lang="en-US" dirty="0"/>
              <a:t>Marital Status (Single, Married, </a:t>
            </a:r>
            <a:r>
              <a:rPr lang="en-US" dirty="0" err="1"/>
              <a:t>etc</a:t>
            </a:r>
            <a:r>
              <a:rPr lang="en-US" dirty="0"/>
              <a:t>)</a:t>
            </a:r>
          </a:p>
          <a:p>
            <a:r>
              <a:rPr lang="en-US" dirty="0"/>
              <a:t>and so on, and so forth</a:t>
            </a:r>
          </a:p>
        </p:txBody>
      </p:sp>
      <p:sp>
        <p:nvSpPr>
          <p:cNvPr id="3" name="Title 2"/>
          <p:cNvSpPr>
            <a:spLocks noGrp="1"/>
          </p:cNvSpPr>
          <p:nvPr>
            <p:ph type="title"/>
          </p:nvPr>
        </p:nvSpPr>
        <p:spPr/>
        <p:txBody>
          <a:bodyPr/>
          <a:lstStyle/>
          <a:p>
            <a:r>
              <a:rPr lang="en-US" dirty="0"/>
              <a:t>Nominal Level</a:t>
            </a:r>
          </a:p>
        </p:txBody>
      </p:sp>
    </p:spTree>
    <p:extLst>
      <p:ext uri="{BB962C8B-B14F-4D97-AF65-F5344CB8AC3E}">
        <p14:creationId xmlns:p14="http://schemas.microsoft.com/office/powerpoint/2010/main" val="911248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a:t>A variable is at the </a:t>
            </a:r>
            <a:r>
              <a:rPr lang="en-US" u="sng" dirty="0"/>
              <a:t>ordinal level </a:t>
            </a:r>
            <a:r>
              <a:rPr lang="en-US" dirty="0"/>
              <a:t>of measurement if it has the properties of the nominal level of measurement but in which the </a:t>
            </a:r>
            <a:r>
              <a:rPr lang="en-US" b="1" i="1" dirty="0"/>
              <a:t>order of ranking is relevant</a:t>
            </a:r>
            <a:r>
              <a:rPr lang="en-US" dirty="0"/>
              <a:t>. Examples include:</a:t>
            </a:r>
          </a:p>
          <a:p>
            <a:r>
              <a:rPr lang="en-US" dirty="0" err="1"/>
              <a:t>Likert</a:t>
            </a:r>
            <a:r>
              <a:rPr lang="en-US" dirty="0"/>
              <a:t> Scales (Strongly Agree, Agree, Neutral, Disagree, Strongly Disagree)</a:t>
            </a:r>
          </a:p>
          <a:p>
            <a:r>
              <a:rPr lang="en-US" dirty="0"/>
              <a:t>Grades (A, B, C, D, F, </a:t>
            </a:r>
            <a:r>
              <a:rPr lang="en-US" dirty="0" err="1"/>
              <a:t>etc</a:t>
            </a:r>
            <a:r>
              <a:rPr lang="en-US" dirty="0"/>
              <a:t>)</a:t>
            </a:r>
          </a:p>
          <a:p>
            <a:r>
              <a:rPr lang="en-US" dirty="0"/>
              <a:t>Rankings (1</a:t>
            </a:r>
            <a:r>
              <a:rPr lang="en-US" baseline="30000" dirty="0"/>
              <a:t>st</a:t>
            </a:r>
            <a:r>
              <a:rPr lang="en-US" dirty="0"/>
              <a:t>, 2</a:t>
            </a:r>
            <a:r>
              <a:rPr lang="en-US" baseline="30000" dirty="0"/>
              <a:t>nd</a:t>
            </a:r>
            <a:r>
              <a:rPr lang="en-US" dirty="0"/>
              <a:t>, 3</a:t>
            </a:r>
            <a:r>
              <a:rPr lang="en-US" baseline="30000" dirty="0"/>
              <a:t>rd</a:t>
            </a:r>
            <a:r>
              <a:rPr lang="en-US" dirty="0"/>
              <a:t>, 4</a:t>
            </a:r>
            <a:r>
              <a:rPr lang="en-US" baseline="30000" dirty="0"/>
              <a:t>th</a:t>
            </a:r>
            <a:r>
              <a:rPr lang="en-US" dirty="0"/>
              <a:t>, five stars, four stars, </a:t>
            </a:r>
            <a:r>
              <a:rPr lang="en-US" dirty="0" err="1"/>
              <a:t>etc</a:t>
            </a:r>
            <a:r>
              <a:rPr lang="en-US" dirty="0"/>
              <a:t>)</a:t>
            </a:r>
          </a:p>
          <a:p>
            <a:r>
              <a:rPr lang="en-US" dirty="0"/>
              <a:t>Levels (High, Medium, Low, </a:t>
            </a:r>
            <a:r>
              <a:rPr lang="en-US" dirty="0" err="1"/>
              <a:t>etc</a:t>
            </a:r>
            <a:r>
              <a:rPr lang="en-US" dirty="0"/>
              <a:t>)</a:t>
            </a:r>
          </a:p>
          <a:p>
            <a:r>
              <a:rPr lang="en-US" dirty="0"/>
              <a:t>Thumbs up, Thumbs down</a:t>
            </a:r>
          </a:p>
          <a:p>
            <a:r>
              <a:rPr lang="en-US" dirty="0"/>
              <a:t>and so on, and so forth</a:t>
            </a:r>
          </a:p>
          <a:p>
            <a:endParaRPr lang="en-US" dirty="0"/>
          </a:p>
        </p:txBody>
      </p:sp>
      <p:sp>
        <p:nvSpPr>
          <p:cNvPr id="3" name="Title 2"/>
          <p:cNvSpPr>
            <a:spLocks noGrp="1"/>
          </p:cNvSpPr>
          <p:nvPr>
            <p:ph type="title"/>
          </p:nvPr>
        </p:nvSpPr>
        <p:spPr/>
        <p:txBody>
          <a:bodyPr/>
          <a:lstStyle/>
          <a:p>
            <a:r>
              <a:rPr lang="en-US" dirty="0"/>
              <a:t>Ordinal Level</a:t>
            </a:r>
          </a:p>
        </p:txBody>
      </p:sp>
    </p:spTree>
    <p:extLst>
      <p:ext uri="{BB962C8B-B14F-4D97-AF65-F5344CB8AC3E}">
        <p14:creationId xmlns:p14="http://schemas.microsoft.com/office/powerpoint/2010/main" val="21784779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133600"/>
            <a:ext cx="7745505" cy="4495800"/>
          </a:xfrm>
        </p:spPr>
        <p:txBody>
          <a:bodyPr>
            <a:normAutofit fontScale="92500" lnSpcReduction="10000"/>
          </a:bodyPr>
          <a:lstStyle/>
          <a:p>
            <a:r>
              <a:rPr lang="en-US" dirty="0"/>
              <a:t>A variable is at the </a:t>
            </a:r>
            <a:r>
              <a:rPr lang="en-US" u="sng" dirty="0"/>
              <a:t>interval level </a:t>
            </a:r>
            <a:r>
              <a:rPr lang="en-US" dirty="0"/>
              <a:t>of measurement if it has the properties of the ordinal level of measurement but in which the </a:t>
            </a:r>
            <a:r>
              <a:rPr lang="en-US" b="1" i="1" dirty="0"/>
              <a:t>difference between the values of the variable is measureable and meaningful</a:t>
            </a:r>
            <a:r>
              <a:rPr lang="en-US" dirty="0"/>
              <a:t>. </a:t>
            </a:r>
          </a:p>
          <a:p>
            <a:r>
              <a:rPr lang="en-US" dirty="0"/>
              <a:t>Arithmetic operations of addition and subtraction can be performed on these values. </a:t>
            </a:r>
          </a:p>
          <a:p>
            <a:r>
              <a:rPr lang="en-US" dirty="0"/>
              <a:t>There is no zero starting point</a:t>
            </a:r>
          </a:p>
          <a:p>
            <a:r>
              <a:rPr lang="en-US" dirty="0"/>
              <a:t>Because there </a:t>
            </a:r>
            <a:r>
              <a:rPr lang="en-US"/>
              <a:t>is no zero </a:t>
            </a:r>
            <a:r>
              <a:rPr lang="en-US" dirty="0"/>
              <a:t>starting point, the ratios of data values are meaningless</a:t>
            </a:r>
          </a:p>
          <a:p>
            <a:r>
              <a:rPr lang="en-US" dirty="0"/>
              <a:t>Examples include:</a:t>
            </a:r>
          </a:p>
          <a:p>
            <a:r>
              <a:rPr lang="en-US" dirty="0"/>
              <a:t>Calendar dates</a:t>
            </a:r>
          </a:p>
          <a:p>
            <a:r>
              <a:rPr lang="en-US" dirty="0"/>
              <a:t>Celsius and Fahrenheit temperatures</a:t>
            </a:r>
          </a:p>
          <a:p>
            <a:r>
              <a:rPr lang="en-US" dirty="0"/>
              <a:t>and so on, and so forth</a:t>
            </a:r>
          </a:p>
          <a:p>
            <a:endParaRPr lang="en-US" dirty="0"/>
          </a:p>
        </p:txBody>
      </p:sp>
      <p:sp>
        <p:nvSpPr>
          <p:cNvPr id="3" name="Title 2"/>
          <p:cNvSpPr>
            <a:spLocks noGrp="1"/>
          </p:cNvSpPr>
          <p:nvPr>
            <p:ph type="title"/>
          </p:nvPr>
        </p:nvSpPr>
        <p:spPr/>
        <p:txBody>
          <a:bodyPr/>
          <a:lstStyle/>
          <a:p>
            <a:r>
              <a:rPr lang="en-US" dirty="0"/>
              <a:t>Interval Level</a:t>
            </a:r>
          </a:p>
        </p:txBody>
      </p:sp>
    </p:spTree>
    <p:extLst>
      <p:ext uri="{BB962C8B-B14F-4D97-AF65-F5344CB8AC3E}">
        <p14:creationId xmlns:p14="http://schemas.microsoft.com/office/powerpoint/2010/main" val="3765858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133600"/>
            <a:ext cx="7745505" cy="4190999"/>
          </a:xfrm>
        </p:spPr>
        <p:txBody>
          <a:bodyPr>
            <a:normAutofit fontScale="92500" lnSpcReduction="10000"/>
          </a:bodyPr>
          <a:lstStyle/>
          <a:p>
            <a:r>
              <a:rPr lang="en-US" dirty="0"/>
              <a:t>A variable is at the </a:t>
            </a:r>
            <a:r>
              <a:rPr lang="en-US" u="sng" dirty="0"/>
              <a:t>ratio level </a:t>
            </a:r>
            <a:r>
              <a:rPr lang="en-US" dirty="0"/>
              <a:t>of measurement if it has the properties of the interval level of measurement but in which </a:t>
            </a:r>
            <a:r>
              <a:rPr lang="en-US" b="1" i="1" dirty="0"/>
              <a:t>there is a zero starting point, and the ratios of data values are meaningful </a:t>
            </a:r>
            <a:r>
              <a:rPr lang="en-US" dirty="0"/>
              <a:t>. </a:t>
            </a:r>
          </a:p>
          <a:p>
            <a:r>
              <a:rPr lang="en-US" dirty="0"/>
              <a:t>Arithmetic operations of multiplication and division can be performed on these values. </a:t>
            </a:r>
          </a:p>
          <a:p>
            <a:r>
              <a:rPr lang="en-US" dirty="0"/>
              <a:t>Examples include:</a:t>
            </a:r>
          </a:p>
          <a:p>
            <a:r>
              <a:rPr lang="en-US" dirty="0"/>
              <a:t>Weights of people</a:t>
            </a:r>
          </a:p>
          <a:p>
            <a:r>
              <a:rPr lang="en-US" dirty="0"/>
              <a:t>Kelvin temperatures</a:t>
            </a:r>
          </a:p>
          <a:p>
            <a:r>
              <a:rPr lang="en-US" dirty="0"/>
              <a:t>Time between the deposit and the clearance of a check</a:t>
            </a:r>
          </a:p>
          <a:p>
            <a:r>
              <a:rPr lang="en-US" dirty="0"/>
              <a:t>Volume of water used by a household in a day</a:t>
            </a:r>
          </a:p>
          <a:p>
            <a:r>
              <a:rPr lang="en-US" dirty="0"/>
              <a:t>and so on, and so forth</a:t>
            </a:r>
          </a:p>
          <a:p>
            <a:endParaRPr lang="en-US" dirty="0"/>
          </a:p>
        </p:txBody>
      </p:sp>
      <p:sp>
        <p:nvSpPr>
          <p:cNvPr id="3" name="Title 2"/>
          <p:cNvSpPr>
            <a:spLocks noGrp="1"/>
          </p:cNvSpPr>
          <p:nvPr>
            <p:ph type="title"/>
          </p:nvPr>
        </p:nvSpPr>
        <p:spPr/>
        <p:txBody>
          <a:bodyPr/>
          <a:lstStyle/>
          <a:p>
            <a:r>
              <a:rPr lang="en-US" dirty="0"/>
              <a:t>Ratio Level</a:t>
            </a:r>
          </a:p>
        </p:txBody>
      </p:sp>
    </p:spTree>
    <p:extLst>
      <p:ext uri="{BB962C8B-B14F-4D97-AF65-F5344CB8AC3E}">
        <p14:creationId xmlns:p14="http://schemas.microsoft.com/office/powerpoint/2010/main" val="3132613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133601"/>
            <a:ext cx="7745505" cy="3992562"/>
          </a:xfrm>
        </p:spPr>
        <p:txBody>
          <a:bodyPr/>
          <a:lstStyle/>
          <a:p>
            <a:r>
              <a:rPr lang="en-US" dirty="0"/>
              <a:t>Identify the individuals, variables and their corresponding data, and the type of variable in the table below:</a:t>
            </a:r>
          </a:p>
          <a:p>
            <a:endParaRPr lang="en-US" dirty="0"/>
          </a:p>
          <a:p>
            <a:endParaRPr lang="en-US" dirty="0"/>
          </a:p>
        </p:txBody>
      </p:sp>
      <p:sp>
        <p:nvSpPr>
          <p:cNvPr id="3" name="Title 2"/>
          <p:cNvSpPr>
            <a:spLocks noGrp="1"/>
          </p:cNvSpPr>
          <p:nvPr>
            <p:ph type="title"/>
          </p:nvPr>
        </p:nvSpPr>
        <p:spPr/>
        <p:txBody>
          <a:bodyPr/>
          <a:lstStyle/>
          <a:p>
            <a:r>
              <a:rPr lang="en-US" dirty="0"/>
              <a:t>Example 7</a:t>
            </a:r>
          </a:p>
        </p:txBody>
      </p:sp>
      <p:graphicFrame>
        <p:nvGraphicFramePr>
          <p:cNvPr id="4" name="Table 3"/>
          <p:cNvGraphicFramePr>
            <a:graphicFrameLocks noGrp="1"/>
          </p:cNvGraphicFramePr>
          <p:nvPr>
            <p:extLst>
              <p:ext uri="{D42A27DB-BD31-4B8C-83A1-F6EECF244321}">
                <p14:modId xmlns:p14="http://schemas.microsoft.com/office/powerpoint/2010/main" val="692729882"/>
              </p:ext>
            </p:extLst>
          </p:nvPr>
        </p:nvGraphicFramePr>
        <p:xfrm>
          <a:off x="1371600" y="3657600"/>
          <a:ext cx="6096000" cy="222504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r>
                        <a:rPr lang="en-US" dirty="0"/>
                        <a:t>Participants</a:t>
                      </a:r>
                    </a:p>
                  </a:txBody>
                  <a:tcPr/>
                </a:tc>
                <a:tc>
                  <a:txBody>
                    <a:bodyPr/>
                    <a:lstStyle/>
                    <a:p>
                      <a:r>
                        <a:rPr lang="en-US" dirty="0"/>
                        <a:t>Weight (lb.)</a:t>
                      </a:r>
                    </a:p>
                  </a:txBody>
                  <a:tcPr/>
                </a:tc>
                <a:tc>
                  <a:txBody>
                    <a:bodyPr/>
                    <a:lstStyle/>
                    <a:p>
                      <a:r>
                        <a:rPr lang="en-US" dirty="0"/>
                        <a:t>Type</a:t>
                      </a:r>
                    </a:p>
                  </a:txBody>
                  <a:tcPr/>
                </a:tc>
                <a:tc>
                  <a:txBody>
                    <a:bodyPr/>
                    <a:lstStyle/>
                    <a:p>
                      <a:r>
                        <a:rPr lang="en-US" dirty="0"/>
                        <a:t>Price ($)</a:t>
                      </a:r>
                    </a:p>
                  </a:txBody>
                  <a:tcPr/>
                </a:tc>
                <a:extLst>
                  <a:ext uri="{0D108BD9-81ED-4DB2-BD59-A6C34878D82A}">
                    <a16:rowId xmlns:a16="http://schemas.microsoft.com/office/drawing/2014/main" val="10000"/>
                  </a:ext>
                </a:extLst>
              </a:tr>
              <a:tr h="370840">
                <a:tc>
                  <a:txBody>
                    <a:bodyPr/>
                    <a:lstStyle/>
                    <a:p>
                      <a:r>
                        <a:rPr lang="en-US" dirty="0"/>
                        <a:t>A</a:t>
                      </a:r>
                    </a:p>
                  </a:txBody>
                  <a:tcPr/>
                </a:tc>
                <a:tc>
                  <a:txBody>
                    <a:bodyPr/>
                    <a:lstStyle/>
                    <a:p>
                      <a:r>
                        <a:rPr lang="en-US" dirty="0"/>
                        <a:t>170</a:t>
                      </a:r>
                    </a:p>
                  </a:txBody>
                  <a:tcPr/>
                </a:tc>
                <a:tc>
                  <a:txBody>
                    <a:bodyPr/>
                    <a:lstStyle/>
                    <a:p>
                      <a:r>
                        <a:rPr lang="en-US" dirty="0"/>
                        <a:t>Athletic</a:t>
                      </a:r>
                    </a:p>
                  </a:txBody>
                  <a:tcPr/>
                </a:tc>
                <a:tc>
                  <a:txBody>
                    <a:bodyPr/>
                    <a:lstStyle/>
                    <a:p>
                      <a:r>
                        <a:rPr lang="en-US" dirty="0"/>
                        <a:t>20</a:t>
                      </a:r>
                    </a:p>
                  </a:txBody>
                  <a:tcPr/>
                </a:tc>
                <a:extLst>
                  <a:ext uri="{0D108BD9-81ED-4DB2-BD59-A6C34878D82A}">
                    <a16:rowId xmlns:a16="http://schemas.microsoft.com/office/drawing/2014/main" val="10001"/>
                  </a:ext>
                </a:extLst>
              </a:tr>
              <a:tr h="370840">
                <a:tc>
                  <a:txBody>
                    <a:bodyPr/>
                    <a:lstStyle/>
                    <a:p>
                      <a:r>
                        <a:rPr lang="en-US" dirty="0"/>
                        <a:t>B</a:t>
                      </a:r>
                    </a:p>
                  </a:txBody>
                  <a:tcPr/>
                </a:tc>
                <a:tc>
                  <a:txBody>
                    <a:bodyPr/>
                    <a:lstStyle/>
                    <a:p>
                      <a:r>
                        <a:rPr lang="en-US" dirty="0"/>
                        <a:t>250</a:t>
                      </a:r>
                    </a:p>
                  </a:txBody>
                  <a:tcPr/>
                </a:tc>
                <a:tc>
                  <a:txBody>
                    <a:bodyPr/>
                    <a:lstStyle/>
                    <a:p>
                      <a:r>
                        <a:rPr lang="en-US" dirty="0"/>
                        <a:t>Muscular</a:t>
                      </a:r>
                    </a:p>
                  </a:txBody>
                  <a:tcPr/>
                </a:tc>
                <a:tc>
                  <a:txBody>
                    <a:bodyPr/>
                    <a:lstStyle/>
                    <a:p>
                      <a:r>
                        <a:rPr lang="en-US" dirty="0"/>
                        <a:t>50</a:t>
                      </a:r>
                    </a:p>
                  </a:txBody>
                  <a:tcPr/>
                </a:tc>
                <a:extLst>
                  <a:ext uri="{0D108BD9-81ED-4DB2-BD59-A6C34878D82A}">
                    <a16:rowId xmlns:a16="http://schemas.microsoft.com/office/drawing/2014/main" val="10002"/>
                  </a:ext>
                </a:extLst>
              </a:tr>
              <a:tr h="370840">
                <a:tc>
                  <a:txBody>
                    <a:bodyPr/>
                    <a:lstStyle/>
                    <a:p>
                      <a:r>
                        <a:rPr lang="en-US" dirty="0"/>
                        <a:t>C</a:t>
                      </a:r>
                    </a:p>
                  </a:txBody>
                  <a:tcPr/>
                </a:tc>
                <a:tc>
                  <a:txBody>
                    <a:bodyPr/>
                    <a:lstStyle/>
                    <a:p>
                      <a:r>
                        <a:rPr lang="en-US" dirty="0"/>
                        <a:t>120</a:t>
                      </a:r>
                    </a:p>
                  </a:txBody>
                  <a:tcPr/>
                </a:tc>
                <a:tc>
                  <a:txBody>
                    <a:bodyPr/>
                    <a:lstStyle/>
                    <a:p>
                      <a:r>
                        <a:rPr lang="en-US" dirty="0"/>
                        <a:t>Athletic</a:t>
                      </a:r>
                    </a:p>
                  </a:txBody>
                  <a:tcPr/>
                </a:tc>
                <a:tc>
                  <a:txBody>
                    <a:bodyPr/>
                    <a:lstStyle/>
                    <a:p>
                      <a:r>
                        <a:rPr lang="en-US" dirty="0"/>
                        <a:t>15</a:t>
                      </a:r>
                    </a:p>
                  </a:txBody>
                  <a:tcPr/>
                </a:tc>
                <a:extLst>
                  <a:ext uri="{0D108BD9-81ED-4DB2-BD59-A6C34878D82A}">
                    <a16:rowId xmlns:a16="http://schemas.microsoft.com/office/drawing/2014/main" val="10003"/>
                  </a:ext>
                </a:extLst>
              </a:tr>
              <a:tr h="370840">
                <a:tc>
                  <a:txBody>
                    <a:bodyPr/>
                    <a:lstStyle/>
                    <a:p>
                      <a:r>
                        <a:rPr lang="en-US" dirty="0"/>
                        <a:t>D</a:t>
                      </a:r>
                    </a:p>
                  </a:txBody>
                  <a:tcPr/>
                </a:tc>
                <a:tc>
                  <a:txBody>
                    <a:bodyPr/>
                    <a:lstStyle/>
                    <a:p>
                      <a:r>
                        <a:rPr lang="en-US" dirty="0"/>
                        <a:t>100</a:t>
                      </a:r>
                    </a:p>
                  </a:txBody>
                  <a:tcPr/>
                </a:tc>
                <a:tc>
                  <a:txBody>
                    <a:bodyPr/>
                    <a:lstStyle/>
                    <a:p>
                      <a:r>
                        <a:rPr lang="en-US" dirty="0"/>
                        <a:t>Skinny</a:t>
                      </a:r>
                    </a:p>
                  </a:txBody>
                  <a:tcPr/>
                </a:tc>
                <a:tc>
                  <a:txBody>
                    <a:bodyPr/>
                    <a:lstStyle/>
                    <a:p>
                      <a:r>
                        <a:rPr lang="en-US" dirty="0"/>
                        <a:t>10</a:t>
                      </a:r>
                    </a:p>
                  </a:txBody>
                  <a:tcPr/>
                </a:tc>
                <a:extLst>
                  <a:ext uri="{0D108BD9-81ED-4DB2-BD59-A6C34878D82A}">
                    <a16:rowId xmlns:a16="http://schemas.microsoft.com/office/drawing/2014/main" val="10004"/>
                  </a:ext>
                </a:extLst>
              </a:tr>
              <a:tr h="370840">
                <a:tc>
                  <a:txBody>
                    <a:bodyPr/>
                    <a:lstStyle/>
                    <a:p>
                      <a:r>
                        <a:rPr lang="en-US" dirty="0"/>
                        <a:t>E</a:t>
                      </a:r>
                    </a:p>
                  </a:txBody>
                  <a:tcPr/>
                </a:tc>
                <a:tc>
                  <a:txBody>
                    <a:bodyPr/>
                    <a:lstStyle/>
                    <a:p>
                      <a:r>
                        <a:rPr lang="en-US" dirty="0"/>
                        <a:t>300</a:t>
                      </a:r>
                    </a:p>
                  </a:txBody>
                  <a:tcPr/>
                </a:tc>
                <a:tc>
                  <a:txBody>
                    <a:bodyPr/>
                    <a:lstStyle/>
                    <a:p>
                      <a:r>
                        <a:rPr lang="en-US" dirty="0"/>
                        <a:t>Obese</a:t>
                      </a:r>
                    </a:p>
                  </a:txBody>
                  <a:tcPr/>
                </a:tc>
                <a:tc>
                  <a:txBody>
                    <a:bodyPr/>
                    <a:lstStyle/>
                    <a:p>
                      <a:r>
                        <a:rPr lang="en-US" dirty="0"/>
                        <a:t>95</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70605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076253"/>
          </a:xfrm>
        </p:spPr>
        <p:txBody>
          <a:bodyPr>
            <a:normAutofit lnSpcReduction="10000"/>
          </a:bodyPr>
          <a:lstStyle/>
          <a:p>
            <a:r>
              <a:rPr lang="en-US" dirty="0"/>
              <a:t>Individuals are the Participants A, B, C, D, and E</a:t>
            </a:r>
          </a:p>
          <a:p>
            <a:r>
              <a:rPr lang="en-US" dirty="0"/>
              <a:t>Variables are Weight (lb.), Type, and Price ($)</a:t>
            </a:r>
          </a:p>
          <a:p>
            <a:r>
              <a:rPr lang="en-US" dirty="0"/>
              <a:t>Variables and their corresponding data are:</a:t>
            </a:r>
          </a:p>
          <a:p>
            <a:r>
              <a:rPr lang="en-US" dirty="0"/>
              <a:t>Weight (lb.) [170, 250, 120, 100, 300]</a:t>
            </a:r>
          </a:p>
          <a:p>
            <a:r>
              <a:rPr lang="en-US" dirty="0"/>
              <a:t>Type (Athletic, Muscular, Athletic, Skinny, Obese)</a:t>
            </a:r>
          </a:p>
          <a:p>
            <a:r>
              <a:rPr lang="en-US" dirty="0"/>
              <a:t>Price ($) [20, 50, 15, 10, 95]</a:t>
            </a:r>
          </a:p>
          <a:p>
            <a:r>
              <a:rPr lang="en-US" dirty="0"/>
              <a:t>Variables and the types of variables are:</a:t>
            </a:r>
          </a:p>
          <a:p>
            <a:r>
              <a:rPr lang="en-US" dirty="0"/>
              <a:t>Weight (lb.) is a continuous variable</a:t>
            </a:r>
          </a:p>
          <a:p>
            <a:r>
              <a:rPr lang="en-US" dirty="0"/>
              <a:t>Type is a qualitative variable</a:t>
            </a:r>
          </a:p>
          <a:p>
            <a:r>
              <a:rPr lang="en-US" dirty="0"/>
              <a:t>Price ($) is discrete variable</a:t>
            </a:r>
          </a:p>
          <a:p>
            <a:endParaRPr lang="en-US" dirty="0"/>
          </a:p>
          <a:p>
            <a:endParaRPr lang="en-US" dirty="0"/>
          </a:p>
        </p:txBody>
      </p:sp>
      <p:sp>
        <p:nvSpPr>
          <p:cNvPr id="3" name="Title 2"/>
          <p:cNvSpPr>
            <a:spLocks noGrp="1"/>
          </p:cNvSpPr>
          <p:nvPr>
            <p:ph type="title"/>
          </p:nvPr>
        </p:nvSpPr>
        <p:spPr/>
        <p:txBody>
          <a:bodyPr/>
          <a:lstStyle/>
          <a:p>
            <a:r>
              <a:rPr lang="en-US" dirty="0"/>
              <a:t>Solution </a:t>
            </a:r>
          </a:p>
        </p:txBody>
      </p:sp>
    </p:spTree>
    <p:extLst>
      <p:ext uri="{BB962C8B-B14F-4D97-AF65-F5344CB8AC3E}">
        <p14:creationId xmlns:p14="http://schemas.microsoft.com/office/powerpoint/2010/main" val="1808134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A study looked at the impact of berries consumption in women. Of the 93,600 women aged 25 to 42 involved in the study, it found that three or more servings of berries per week may slash the risk of a heart attack by 33%. Assume the study was done with a margin of error of 5% and a 95% confidence level. </a:t>
            </a:r>
          </a:p>
          <a:p>
            <a:r>
              <a:rPr lang="en-US" dirty="0"/>
              <a:t>What is the research objective?</a:t>
            </a:r>
          </a:p>
          <a:p>
            <a:r>
              <a:rPr lang="en-US" dirty="0"/>
              <a:t>Identify the population</a:t>
            </a:r>
          </a:p>
          <a:p>
            <a:r>
              <a:rPr lang="en-US" dirty="0"/>
              <a:t>Identify the sample</a:t>
            </a:r>
          </a:p>
          <a:p>
            <a:r>
              <a:rPr lang="en-US" dirty="0"/>
              <a:t>List the descriptive statistics</a:t>
            </a:r>
          </a:p>
          <a:p>
            <a:r>
              <a:rPr lang="en-US" dirty="0"/>
              <a:t>What can be inferred from the study?</a:t>
            </a:r>
          </a:p>
          <a:p>
            <a:endParaRPr lang="en-US" dirty="0"/>
          </a:p>
        </p:txBody>
      </p:sp>
      <p:sp>
        <p:nvSpPr>
          <p:cNvPr id="3" name="Title 2"/>
          <p:cNvSpPr>
            <a:spLocks noGrp="1"/>
          </p:cNvSpPr>
          <p:nvPr>
            <p:ph type="title"/>
          </p:nvPr>
        </p:nvSpPr>
        <p:spPr/>
        <p:txBody>
          <a:bodyPr/>
          <a:lstStyle/>
          <a:p>
            <a:r>
              <a:rPr lang="en-US" dirty="0"/>
              <a:t>Example 8</a:t>
            </a:r>
          </a:p>
        </p:txBody>
      </p:sp>
    </p:spTree>
    <p:extLst>
      <p:ext uri="{BB962C8B-B14F-4D97-AF65-F5344CB8AC3E}">
        <p14:creationId xmlns:p14="http://schemas.microsoft.com/office/powerpoint/2010/main" val="2011124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304853"/>
          </a:xfrm>
        </p:spPr>
        <p:txBody>
          <a:bodyPr>
            <a:normAutofit fontScale="92500" lnSpcReduction="20000"/>
          </a:bodyPr>
          <a:lstStyle/>
          <a:p>
            <a:r>
              <a:rPr lang="en-US" dirty="0"/>
              <a:t>The research objective is to determine the effect of berries consumption in reducing the risk of heart attack in women </a:t>
            </a:r>
          </a:p>
          <a:p>
            <a:r>
              <a:rPr lang="en-US" dirty="0"/>
              <a:t>The population is all women aged 25 to 42</a:t>
            </a:r>
          </a:p>
          <a:p>
            <a:r>
              <a:rPr lang="en-US" dirty="0"/>
              <a:t>The sample is the 93,600 women aged 25 to 42</a:t>
            </a:r>
          </a:p>
          <a:p>
            <a:r>
              <a:rPr lang="en-US" dirty="0"/>
              <a:t>The descriptive statistics is: “it found that three or more servings of berries per week may slash the risk of a heart attack by 33%. “</a:t>
            </a:r>
          </a:p>
          <a:p>
            <a:r>
              <a:rPr lang="en-US" dirty="0"/>
              <a:t>It can be inferred that the study is 95% certain that three or  more servings of berries per week may slash the risk of a heart attack between 28% and 38%.</a:t>
            </a:r>
          </a:p>
          <a:p>
            <a:endParaRPr lang="en-US" dirty="0"/>
          </a:p>
          <a:p>
            <a:r>
              <a:rPr lang="en-US" dirty="0">
                <a:hlinkClick r:id="rId3"/>
              </a:rPr>
              <a:t>www.samuelchukwuemeka.com</a:t>
            </a:r>
            <a:r>
              <a:rPr lang="en-US" dirty="0"/>
              <a:t> </a:t>
            </a:r>
          </a:p>
          <a:p>
            <a:endParaRPr lang="en-US" dirty="0"/>
          </a:p>
        </p:txBody>
      </p:sp>
      <p:sp>
        <p:nvSpPr>
          <p:cNvPr id="3" name="Title 2"/>
          <p:cNvSpPr>
            <a:spLocks noGrp="1"/>
          </p:cNvSpPr>
          <p:nvPr>
            <p:ph type="title"/>
          </p:nvPr>
        </p:nvSpPr>
        <p:spPr/>
        <p:txBody>
          <a:bodyPr/>
          <a:lstStyle/>
          <a:p>
            <a:r>
              <a:rPr lang="en-US" dirty="0"/>
              <a:t>Solution </a:t>
            </a:r>
          </a:p>
        </p:txBody>
      </p:sp>
    </p:spTree>
    <p:extLst>
      <p:ext uri="{BB962C8B-B14F-4D97-AF65-F5344CB8AC3E}">
        <p14:creationId xmlns:p14="http://schemas.microsoft.com/office/powerpoint/2010/main" val="207118069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1629</TotalTime>
  <Words>2461</Words>
  <Application>Microsoft Office PowerPoint</Application>
  <PresentationFormat>On-screen Show (4:3)</PresentationFormat>
  <Paragraphs>307</Paragraphs>
  <Slides>32</Slides>
  <Notes>31</Notes>
  <HiddenSlides>0</HiddenSlides>
  <MMClips>0</MMClips>
  <ScaleCrop>false</ScaleCrop>
  <HeadingPairs>
    <vt:vector size="4" baseType="variant">
      <vt:variant>
        <vt:lpstr>Theme</vt:lpstr>
      </vt:variant>
      <vt:variant>
        <vt:i4>2</vt:i4>
      </vt:variant>
      <vt:variant>
        <vt:lpstr>Slide Titles</vt:lpstr>
      </vt:variant>
      <vt:variant>
        <vt:i4>32</vt:i4>
      </vt:variant>
    </vt:vector>
  </HeadingPairs>
  <TitlesOfParts>
    <vt:vector size="34" baseType="lpstr">
      <vt:lpstr>Hardcover</vt:lpstr>
      <vt:lpstr>Opulent</vt:lpstr>
      <vt:lpstr>Applied Finite Mathematics</vt:lpstr>
      <vt:lpstr>Terms </vt:lpstr>
      <vt:lpstr>Statistics</vt:lpstr>
      <vt:lpstr>Descriptive Statistics and Inferential Statistics</vt:lpstr>
      <vt:lpstr>Why do we learn Statistics?</vt:lpstr>
      <vt:lpstr>Data </vt:lpstr>
      <vt:lpstr>Population, Sample, and Individual </vt:lpstr>
      <vt:lpstr>Example 1</vt:lpstr>
      <vt:lpstr>Example 2</vt:lpstr>
      <vt:lpstr>Example 3</vt:lpstr>
      <vt:lpstr>Consider Example 1</vt:lpstr>
      <vt:lpstr>Statistic, Parameter</vt:lpstr>
      <vt:lpstr>Example 4</vt:lpstr>
      <vt:lpstr>Example 5</vt:lpstr>
      <vt:lpstr>Example 6</vt:lpstr>
      <vt:lpstr>Statistical Process</vt:lpstr>
      <vt:lpstr>Statistical Process (contd.)</vt:lpstr>
      <vt:lpstr>Variables </vt:lpstr>
      <vt:lpstr>Qualitative and Quantitative Variables</vt:lpstr>
      <vt:lpstr>Discrete Variables</vt:lpstr>
      <vt:lpstr>Continuous Variables</vt:lpstr>
      <vt:lpstr>Dependent and Independent Variables</vt:lpstr>
      <vt:lpstr>Data and Variables</vt:lpstr>
      <vt:lpstr>Level of Measurement of a Variable</vt:lpstr>
      <vt:lpstr>Nominal Level</vt:lpstr>
      <vt:lpstr>Ordinal Level</vt:lpstr>
      <vt:lpstr>Interval Level</vt:lpstr>
      <vt:lpstr>Ratio Level</vt:lpstr>
      <vt:lpstr>Example 7</vt:lpstr>
      <vt:lpstr>Solution </vt:lpstr>
      <vt:lpstr>Example 8</vt:lpstr>
      <vt:lpstr>Solution </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samdom4peace</dc:creator>
  <cp:lastModifiedBy>Samuel Chukwuemeka</cp:lastModifiedBy>
  <cp:revision>280</cp:revision>
  <dcterms:created xsi:type="dcterms:W3CDTF">2013-02-26T19:38:01Z</dcterms:created>
  <dcterms:modified xsi:type="dcterms:W3CDTF">2016-03-11T19:36:02Z</dcterms:modified>
</cp:coreProperties>
</file>