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31"/>
  </p:notesMasterIdLst>
  <p:handoutMasterIdLst>
    <p:handoutMasterId r:id="rId32"/>
  </p:handoutMasterIdLst>
  <p:sldIdLst>
    <p:sldId id="258" r:id="rId3"/>
    <p:sldId id="259" r:id="rId4"/>
    <p:sldId id="270" r:id="rId5"/>
    <p:sldId id="271" r:id="rId6"/>
    <p:sldId id="272" r:id="rId7"/>
    <p:sldId id="298" r:id="rId8"/>
    <p:sldId id="273" r:id="rId9"/>
    <p:sldId id="274" r:id="rId10"/>
    <p:sldId id="275" r:id="rId11"/>
    <p:sldId id="276" r:id="rId12"/>
    <p:sldId id="299" r:id="rId13"/>
    <p:sldId id="300" r:id="rId14"/>
    <p:sldId id="277" r:id="rId15"/>
    <p:sldId id="278" r:id="rId16"/>
    <p:sldId id="301" r:id="rId17"/>
    <p:sldId id="297" r:id="rId18"/>
    <p:sldId id="281" r:id="rId19"/>
    <p:sldId id="293" r:id="rId20"/>
    <p:sldId id="294" r:id="rId21"/>
    <p:sldId id="295" r:id="rId22"/>
    <p:sldId id="296" r:id="rId23"/>
    <p:sldId id="302" r:id="rId24"/>
    <p:sldId id="283" r:id="rId25"/>
    <p:sldId id="282" r:id="rId26"/>
    <p:sldId id="285" r:id="rId27"/>
    <p:sldId id="284" r:id="rId28"/>
    <p:sldId id="286" r:id="rId29"/>
    <p:sldId id="2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notesViewPr>
    <p:cSldViewPr snapToGrid="0">
      <p:cViewPr varScale="1">
        <p:scale>
          <a:sx n="65" d="100"/>
          <a:sy n="65" d="100"/>
        </p:scale>
        <p:origin x="177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E1ECB5-9450-48C1-BC8B-02C838CDE6B9}" type="datetimeFigureOut">
              <a:rPr lang="en-US"/>
              <a:t>3/18/2016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F2BE9C-E2E4-43F3-8D67-E9DB812BB9B7}" type="slidenum">
              <a:rPr/>
              <a:t>‹#›</a:t>
            </a:fld>
            <a:endParaRPr/>
          </a:p>
        </p:txBody>
      </p:sp>
    </p:spTree>
    <p:extLst>
      <p:ext uri="{BB962C8B-B14F-4D97-AF65-F5344CB8AC3E}">
        <p14:creationId xmlns:p14="http://schemas.microsoft.com/office/powerpoint/2010/main" val="2477579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E0964-1A1C-492A-8ABB-97C526CFCDFB}" type="datetimeFigureOut">
              <a:rPr lang="en-US"/>
              <a:t>3/18/2016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6ED93-11B9-488C-8E71-3FBEB8F36D49}" type="slidenum">
              <a:rPr/>
              <a:t>‹#›</a:t>
            </a:fld>
            <a:endParaRPr/>
          </a:p>
        </p:txBody>
      </p:sp>
    </p:spTree>
    <p:extLst>
      <p:ext uri="{BB962C8B-B14F-4D97-AF65-F5344CB8AC3E}">
        <p14:creationId xmlns:p14="http://schemas.microsoft.com/office/powerpoint/2010/main" val="4194635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bwMode="black">
          <a:xfrm>
            <a:off x="1905000" y="1464287"/>
            <a:ext cx="8382000" cy="2729554"/>
          </a:xfrm>
        </p:spPr>
        <p:txBody>
          <a:bodyPr tIns="0" bIns="0" anchor="b"/>
          <a:lstStyle>
            <a:lvl1pPr algn="l">
              <a:defRPr sz="6000" b="1">
                <a:solidFill>
                  <a:schemeClr val="tx2"/>
                </a:solidFill>
              </a:defRPr>
            </a:lvl1pPr>
          </a:lstStyle>
          <a:p>
            <a:r>
              <a:rPr lang="en-US" smtClean="0"/>
              <a:t>Click to edit Master title style</a:t>
            </a:r>
            <a:endParaRPr/>
          </a:p>
        </p:txBody>
      </p:sp>
      <p:sp>
        <p:nvSpPr>
          <p:cNvPr id="3" name="Subtitle 2"/>
          <p:cNvSpPr>
            <a:spLocks noGrp="1"/>
          </p:cNvSpPr>
          <p:nvPr>
            <p:ph type="subTitle" idx="1"/>
          </p:nvPr>
        </p:nvSpPr>
        <p:spPr>
          <a:xfrm>
            <a:off x="1905000" y="4193840"/>
            <a:ext cx="8382000" cy="1108883"/>
          </a:xfrm>
        </p:spPr>
        <p:txBody>
          <a:bodyPr tIns="0" bIns="0"/>
          <a:lstStyle>
            <a:lvl1pPr marL="0" indent="0" algn="l">
              <a:spcBef>
                <a:spcPts val="0"/>
              </a:spcBef>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Tree>
    <p:extLst>
      <p:ext uri="{BB962C8B-B14F-4D97-AF65-F5344CB8AC3E}">
        <p14:creationId xmlns:p14="http://schemas.microsoft.com/office/powerpoint/2010/main" val="170162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1200">
          <p15:clr>
            <a:srgbClr val="5ACBF0"/>
          </p15:clr>
        </p15:guide>
        <p15:guide id="2" pos="6480">
          <p15:clr>
            <a:srgbClr val="5ACBF0"/>
          </p15:clr>
        </p15:guide>
        <p15:guide id="3" orient="horz" pos="2160">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7DAC9ED-883A-4295-875C-D653C1FCD32D}" type="datetimeFigureOut">
              <a:rPr lang="en-US"/>
              <a:t>3/18/2016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177513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bwMode="black">
          <a:xfrm>
            <a:off x="1609724" y="1686073"/>
            <a:ext cx="8982076" cy="2081276"/>
          </a:xfrm>
        </p:spPr>
        <p:txBody>
          <a:bodyPr tIns="0" bIns="0" anchor="b">
            <a:normAutofit/>
          </a:bodyPr>
          <a:lstStyle>
            <a:lvl1pPr>
              <a:defRPr sz="4800" b="1">
                <a:solidFill>
                  <a:schemeClr val="tx2"/>
                </a:solidFill>
              </a:defRPr>
            </a:lvl1pPr>
          </a:lstStyle>
          <a:p>
            <a:r>
              <a:rPr lang="en-US" smtClean="0"/>
              <a:t>Click to edit Master title style</a:t>
            </a:r>
            <a:endParaRPr/>
          </a:p>
        </p:txBody>
      </p:sp>
      <p:sp>
        <p:nvSpPr>
          <p:cNvPr id="3" name="Text Placeholder 2"/>
          <p:cNvSpPr>
            <a:spLocks noGrp="1"/>
          </p:cNvSpPr>
          <p:nvPr>
            <p:ph type="body" idx="1"/>
          </p:nvPr>
        </p:nvSpPr>
        <p:spPr>
          <a:xfrm>
            <a:off x="1609724" y="3767351"/>
            <a:ext cx="8982076" cy="1080448"/>
          </a:xfrm>
        </p:spPr>
        <p:txBody>
          <a:bodyPr tIns="0" bIns="0"/>
          <a:lstStyle>
            <a:lvl1pPr marL="0" indent="0">
              <a:buNone/>
              <a:defRPr sz="24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DAC9ED-883A-4295-875C-D653C1FCD32D}" type="datetimeFigureOut">
              <a:rPr lang="en-US"/>
              <a:t>3/18/2016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70916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609724" y="1686073"/>
            <a:ext cx="8982076" cy="2081276"/>
          </a:xfrm>
        </p:spPr>
        <p:txBody>
          <a:bodyPr tIns="0" bIns="0" anchor="b">
            <a:normAutofit/>
          </a:bodyPr>
          <a:lstStyle>
            <a:lvl1pPr>
              <a:defRPr sz="4800" b="1">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bwMode="white">
          <a:xfrm>
            <a:off x="1609724" y="3767351"/>
            <a:ext cx="8982076" cy="1080448"/>
          </a:xfrm>
        </p:spPr>
        <p:txBody>
          <a:bodyPr tIns="0" bIns="0"/>
          <a:lstStyle>
            <a:lvl1pPr marL="0" indent="0">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DAC9ED-883A-4295-875C-D653C1FCD32D}" type="datetimeFigureOut">
              <a:rPr lang="en-US"/>
              <a:t>3/18/2016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22283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600200" y="2171699"/>
            <a:ext cx="4419600" cy="40052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2171699"/>
            <a:ext cx="4419600" cy="40052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17DAC9ED-883A-4295-875C-D653C1FCD32D}" type="datetimeFigureOut">
              <a:rPr lang="en-US"/>
              <a:t>3/18/2016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906707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609723" y="1681163"/>
            <a:ext cx="4416552" cy="823912"/>
          </a:xfrm>
        </p:spPr>
        <p:txBody>
          <a:bodyPr anchor="b"/>
          <a:lstStyle>
            <a:lvl1pPr marL="0" indent="0">
              <a:spcBef>
                <a:spcPts val="0"/>
              </a:spcBef>
              <a:buNone/>
              <a:defRPr sz="2400" b="1">
                <a:solidFill>
                  <a:schemeClr val="tx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09723" y="2505075"/>
            <a:ext cx="4416552"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72200" y="1681163"/>
            <a:ext cx="4419600" cy="823912"/>
          </a:xfrm>
        </p:spPr>
        <p:txBody>
          <a:bodyPr anchor="b"/>
          <a:lstStyle>
            <a:lvl1pPr marL="0" indent="0">
              <a:spcBef>
                <a:spcPts val="0"/>
              </a:spcBef>
              <a:buNone/>
              <a:defRPr sz="2400" b="1">
                <a:solidFill>
                  <a:schemeClr val="tx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441960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17DAC9ED-883A-4295-875C-D653C1FCD32D}" type="datetimeFigureOut">
              <a:rPr lang="en-US"/>
              <a:t>3/18/2016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73347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7DAC9ED-883A-4295-875C-D653C1FCD32D}" type="datetimeFigureOut">
              <a:rPr lang="en-US"/>
              <a:t>3/18/2016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41596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bwMode="white"/>
        <p:txBody>
          <a:bodyPr/>
          <a:lstStyle>
            <a:lvl1pPr>
              <a:defRPr>
                <a:solidFill>
                  <a:schemeClr val="tx1">
                    <a:lumMod val="65000"/>
                  </a:schemeClr>
                </a:solidFill>
              </a:defRPr>
            </a:lvl1pPr>
          </a:lstStyle>
          <a:p>
            <a:fld id="{17DAC9ED-883A-4295-875C-D653C1FCD32D}" type="datetimeFigureOut">
              <a:rPr lang="en-US"/>
              <a:pPr/>
              <a:t>3/18/2016</a:t>
            </a:fld>
            <a:endParaRPr/>
          </a:p>
        </p:txBody>
      </p:sp>
      <p:sp>
        <p:nvSpPr>
          <p:cNvPr id="3" name="Footer Placeholder 2"/>
          <p:cNvSpPr>
            <a:spLocks noGrp="1"/>
          </p:cNvSpPr>
          <p:nvPr>
            <p:ph type="ftr" sz="quarter" idx="11"/>
          </p:nvPr>
        </p:nvSpPr>
        <p:spPr bwMode="white"/>
        <p:txBody>
          <a:bodyPr/>
          <a:lstStyle>
            <a:lvl1pPr>
              <a:defRPr>
                <a:solidFill>
                  <a:schemeClr val="tx1">
                    <a:lumMod val="65000"/>
                  </a:schemeClr>
                </a:solidFill>
              </a:defRPr>
            </a:lvl1pPr>
          </a:lstStyle>
          <a:p>
            <a:endParaRPr/>
          </a:p>
        </p:txBody>
      </p:sp>
      <p:sp>
        <p:nvSpPr>
          <p:cNvPr id="4" name="Slide Number Placeholder 3"/>
          <p:cNvSpPr>
            <a:spLocks noGrp="1"/>
          </p:cNvSpPr>
          <p:nvPr>
            <p:ph type="sldNum" sz="quarter" idx="12"/>
          </p:nvPr>
        </p:nvSpPr>
        <p:spPr bwMode="white"/>
        <p:txBody>
          <a:bodyPr/>
          <a:lstStyle>
            <a:lvl1pPr>
              <a:defRPr>
                <a:solidFill>
                  <a:schemeClr val="tx1">
                    <a:lumMod val="65000"/>
                  </a:schemeClr>
                </a:solidFill>
              </a:defRPr>
            </a:lvl1pPr>
          </a:lstStyle>
          <a:p>
            <a:fld id="{29927BEA-0E01-4643-B2DE-F82012A02F29}" type="slidenum">
              <a:rPr/>
              <a:pPr/>
              <a:t>‹#›</a:t>
            </a:fld>
            <a:endParaRPr/>
          </a:p>
        </p:txBody>
      </p:sp>
    </p:spTree>
    <p:extLst>
      <p:ext uri="{BB962C8B-B14F-4D97-AF65-F5344CB8AC3E}">
        <p14:creationId xmlns:p14="http://schemas.microsoft.com/office/powerpoint/2010/main" val="46697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200"/>
            </a:lvl1pPr>
          </a:lstStyle>
          <a:p>
            <a:r>
              <a:rPr lang="en-US" smtClean="0"/>
              <a:t>Click to edit Master title style</a:t>
            </a:r>
            <a:endParaRPr/>
          </a:p>
        </p:txBody>
      </p:sp>
      <p:sp>
        <p:nvSpPr>
          <p:cNvPr id="3" name="Content Placeholder 2"/>
          <p:cNvSpPr>
            <a:spLocks noGrp="1"/>
          </p:cNvSpPr>
          <p:nvPr>
            <p:ph idx="1"/>
          </p:nvPr>
        </p:nvSpPr>
        <p:spPr>
          <a:xfrm>
            <a:off x="1600200" y="2171700"/>
            <a:ext cx="5707038" cy="40005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509895" y="2171700"/>
            <a:ext cx="3081905" cy="4000500"/>
          </a:xfrm>
        </p:spPr>
        <p:txBody>
          <a:bodyPr/>
          <a:lstStyle>
            <a:lvl1pPr marL="0" indent="0">
              <a:buNone/>
              <a:defRPr sz="160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AC9ED-883A-4295-875C-D653C1FCD32D}" type="datetimeFigureOut">
              <a:rPr lang="en-US"/>
              <a:t>3/18/2016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425515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200"/>
            </a:lvl1pPr>
          </a:lstStyle>
          <a:p>
            <a:r>
              <a:rPr lang="en-US" smtClean="0"/>
              <a:t>Click to edit Master title style</a:t>
            </a:r>
            <a:endParaRPr/>
          </a:p>
        </p:txBody>
      </p:sp>
      <p:sp>
        <p:nvSpPr>
          <p:cNvPr id="3" name="Picture Placeholder 2"/>
          <p:cNvSpPr>
            <a:spLocks noGrp="1"/>
          </p:cNvSpPr>
          <p:nvPr>
            <p:ph type="pic" idx="1"/>
          </p:nvPr>
        </p:nvSpPr>
        <p:spPr>
          <a:xfrm>
            <a:off x="1600200" y="2171700"/>
            <a:ext cx="5707039" cy="4000500"/>
          </a:xfrm>
          <a:solidFill>
            <a:schemeClr val="bg1">
              <a:lumMod val="75000"/>
            </a:schemeClr>
          </a:solidFill>
          <a:ln w="63500">
            <a:solidFill>
              <a:schemeClr val="tx1">
                <a:lumMod val="50000"/>
              </a:schemeClr>
            </a:solidFill>
            <a:miter lim="800000"/>
          </a:ln>
        </p:spPr>
        <p:txBody>
          <a:bodyPr tIns="914400">
            <a:normAutofit/>
          </a:bodyPr>
          <a:lstStyle>
            <a:lvl1pPr marL="0" indent="0" algn="ctr">
              <a:buNone/>
              <a:defRPr sz="20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509895" y="2171700"/>
            <a:ext cx="3081905" cy="4000500"/>
          </a:xfrm>
        </p:spPr>
        <p:txBody>
          <a:bodyPr/>
          <a:lstStyle>
            <a:lvl1pPr marL="0" indent="0">
              <a:buNone/>
              <a:defRPr sz="160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AC9ED-883A-4295-875C-D653C1FCD32D}" type="datetimeFigureOut">
              <a:rPr lang="en-US"/>
              <a:t>3/18/2016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47937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7DAC9ED-883A-4295-875C-D653C1FCD32D}" type="datetimeFigureOut">
              <a:rPr lang="en-US"/>
              <a:t>3/18/2016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72791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 y="428"/>
            <a:ext cx="12192000" cy="6858000"/>
          </a:xfrm>
          <a:prstGeom prst="rect">
            <a:avLst/>
          </a:prstGeom>
        </p:spPr>
      </p:pic>
      <p:sp>
        <p:nvSpPr>
          <p:cNvPr id="2" name="Vertical Title 1"/>
          <p:cNvSpPr>
            <a:spLocks noGrp="1"/>
          </p:cNvSpPr>
          <p:nvPr>
            <p:ph type="title" orient="vert"/>
          </p:nvPr>
        </p:nvSpPr>
        <p:spPr>
          <a:xfrm>
            <a:off x="10591800" y="685799"/>
            <a:ext cx="1409700" cy="5491163"/>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685799"/>
            <a:ext cx="9038544" cy="54911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a:xfrm>
            <a:off x="6024627" y="6511119"/>
            <a:ext cx="2651162" cy="275839"/>
          </a:xfrm>
        </p:spPr>
        <p:txBody>
          <a:bodyPr/>
          <a:lstStyle/>
          <a:p>
            <a:fld id="{17DAC9ED-883A-4295-875C-D653C1FCD32D}" type="datetimeFigureOut">
              <a:rPr lang="en-US"/>
              <a:t>3/18/2016</a:t>
            </a:fld>
            <a:endParaRPr/>
          </a:p>
        </p:txBody>
      </p:sp>
      <p:sp>
        <p:nvSpPr>
          <p:cNvPr id="5" name="Footer Placeholder 4"/>
          <p:cNvSpPr>
            <a:spLocks noGrp="1"/>
          </p:cNvSpPr>
          <p:nvPr>
            <p:ph type="ftr" sz="quarter" idx="11"/>
          </p:nvPr>
        </p:nvSpPr>
        <p:spPr>
          <a:xfrm>
            <a:off x="838200" y="6511119"/>
            <a:ext cx="5157725" cy="275839"/>
          </a:xfrm>
        </p:spPr>
        <p:txBody>
          <a:bodyPr/>
          <a:lstStyle/>
          <a:p>
            <a:endParaRPr/>
          </a:p>
        </p:txBody>
      </p:sp>
      <p:sp>
        <p:nvSpPr>
          <p:cNvPr id="6" name="Slide Number Placeholder 5"/>
          <p:cNvSpPr>
            <a:spLocks noGrp="1"/>
          </p:cNvSpPr>
          <p:nvPr>
            <p:ph type="sldNum" sz="quarter" idx="12"/>
          </p:nvPr>
        </p:nvSpPr>
        <p:spPr>
          <a:xfrm>
            <a:off x="8704490" y="6511119"/>
            <a:ext cx="1115786" cy="275839"/>
          </a:xfrm>
        </p:spPr>
        <p:txBody>
          <a:bodyPr/>
          <a:lstStyle/>
          <a:p>
            <a:fld id="{29927BEA-0E01-4643-B2DE-F82012A02F29}" type="slidenum">
              <a:rPr/>
              <a:t>‹#›</a:t>
            </a:fld>
            <a:endParaRPr/>
          </a:p>
        </p:txBody>
      </p:sp>
    </p:spTree>
    <p:extLst>
      <p:ext uri="{BB962C8B-B14F-4D97-AF65-F5344CB8AC3E}">
        <p14:creationId xmlns:p14="http://schemas.microsoft.com/office/powerpoint/2010/main" val="10218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a:blip r:embed="rId14">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p:spPr>
      </p:pic>
      <p:sp>
        <p:nvSpPr>
          <p:cNvPr id="2" name="Title Placeholder 1"/>
          <p:cNvSpPr>
            <a:spLocks noGrp="1"/>
          </p:cNvSpPr>
          <p:nvPr>
            <p:ph type="title"/>
          </p:nvPr>
        </p:nvSpPr>
        <p:spPr bwMode="white">
          <a:xfrm>
            <a:off x="1600200" y="295562"/>
            <a:ext cx="8991600" cy="1008247"/>
          </a:xfrm>
          <a:prstGeom prst="rect">
            <a:avLst/>
          </a:prstGeom>
        </p:spPr>
        <p:txBody>
          <a:bodyPr vert="horz" lIns="0" tIns="45720" rIns="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609725" y="2171700"/>
            <a:ext cx="8991600" cy="4000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6151" y="6511119"/>
            <a:ext cx="2651162" cy="275839"/>
          </a:xfrm>
          <a:prstGeom prst="rect">
            <a:avLst/>
          </a:prstGeom>
        </p:spPr>
        <p:txBody>
          <a:bodyPr vert="horz" lIns="91440" tIns="45720" rIns="91440" bIns="45720" rtlCol="0" anchor="b"/>
          <a:lstStyle>
            <a:lvl1pPr algn="r">
              <a:defRPr sz="800">
                <a:solidFill>
                  <a:schemeClr val="bg1">
                    <a:lumMod val="65000"/>
                  </a:schemeClr>
                </a:solidFill>
              </a:defRPr>
            </a:lvl1pPr>
          </a:lstStyle>
          <a:p>
            <a:fld id="{17DAC9ED-883A-4295-875C-D653C1FCD32D}" type="datetimeFigureOut">
              <a:rPr lang="en-US"/>
              <a:pPr/>
              <a:t>3/18/2016</a:t>
            </a:fld>
            <a:endParaRPr/>
          </a:p>
        </p:txBody>
      </p:sp>
      <p:sp>
        <p:nvSpPr>
          <p:cNvPr id="5" name="Footer Placeholder 4"/>
          <p:cNvSpPr>
            <a:spLocks noGrp="1"/>
          </p:cNvSpPr>
          <p:nvPr>
            <p:ph type="ftr" sz="quarter" idx="3"/>
          </p:nvPr>
        </p:nvSpPr>
        <p:spPr>
          <a:xfrm>
            <a:off x="1609724" y="6511119"/>
            <a:ext cx="5157725" cy="275839"/>
          </a:xfrm>
          <a:prstGeom prst="rect">
            <a:avLst/>
          </a:prstGeom>
        </p:spPr>
        <p:txBody>
          <a:bodyPr vert="horz" lIns="91440" tIns="45720" rIns="91440" bIns="45720" rtlCol="0" anchor="b"/>
          <a:lstStyle>
            <a:lvl1pPr algn="l">
              <a:defRPr sz="800">
                <a:solidFill>
                  <a:schemeClr val="bg1">
                    <a:lumMod val="65000"/>
                  </a:schemeClr>
                </a:solidFill>
              </a:defRPr>
            </a:lvl1pPr>
          </a:lstStyle>
          <a:p>
            <a:endParaRPr/>
          </a:p>
        </p:txBody>
      </p:sp>
      <p:sp>
        <p:nvSpPr>
          <p:cNvPr id="6" name="Slide Number Placeholder 5"/>
          <p:cNvSpPr>
            <a:spLocks noGrp="1"/>
          </p:cNvSpPr>
          <p:nvPr>
            <p:ph type="sldNum" sz="quarter" idx="4"/>
          </p:nvPr>
        </p:nvSpPr>
        <p:spPr>
          <a:xfrm>
            <a:off x="9476014" y="6511119"/>
            <a:ext cx="1115786" cy="275839"/>
          </a:xfrm>
          <a:prstGeom prst="rect">
            <a:avLst/>
          </a:prstGeom>
        </p:spPr>
        <p:txBody>
          <a:bodyPr vert="horz" lIns="91440" tIns="45720" rIns="91440" bIns="45720" rtlCol="0" anchor="b"/>
          <a:lstStyle>
            <a:lvl1pPr algn="r">
              <a:defRPr sz="800">
                <a:solidFill>
                  <a:schemeClr val="bg1">
                    <a:lumMod val="65000"/>
                  </a:schemeClr>
                </a:solidFill>
              </a:defRPr>
            </a:lvl1pPr>
          </a:lstStyle>
          <a:p>
            <a:fld id="{29927BEA-0E01-4643-B2DE-F82012A02F29}" type="slidenum">
              <a:rPr/>
              <a:pPr/>
              <a:t>‹#›</a:t>
            </a:fld>
            <a:endParaRPr/>
          </a:p>
        </p:txBody>
      </p:sp>
    </p:spTree>
    <p:extLst>
      <p:ext uri="{BB962C8B-B14F-4D97-AF65-F5344CB8AC3E}">
        <p14:creationId xmlns:p14="http://schemas.microsoft.com/office/powerpoint/2010/main" val="1805220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10312" indent="-210312" algn="l" defTabSz="914400" rtl="0" eaLnBrk="1" latinLnBrk="0" hangingPunct="1">
        <a:lnSpc>
          <a:spcPct val="100000"/>
        </a:lnSpc>
        <a:spcBef>
          <a:spcPts val="1200"/>
        </a:spcBef>
        <a:buFont typeface="Wingdings" panose="05000000000000000000" pitchFamily="2" charset="2"/>
        <a:buChar char="§"/>
        <a:defRPr sz="2000" kern="1200">
          <a:solidFill>
            <a:schemeClr val="tx2"/>
          </a:solidFill>
          <a:latin typeface="+mn-lt"/>
          <a:ea typeface="+mn-ea"/>
          <a:cs typeface="+mn-cs"/>
        </a:defRPr>
      </a:lvl1pPr>
      <a:lvl2pPr marL="667512" indent="-155448" algn="l" defTabSz="914400" rtl="0" eaLnBrk="1" latinLnBrk="0" hangingPunct="1">
        <a:lnSpc>
          <a:spcPct val="100000"/>
        </a:lnSpc>
        <a:spcBef>
          <a:spcPts val="600"/>
        </a:spcBef>
        <a:buSzPct val="80000"/>
        <a:buFont typeface="Wingdings" panose="05000000000000000000" pitchFamily="2" charset="2"/>
        <a:buChar char="§"/>
        <a:defRPr sz="1800" kern="1200">
          <a:solidFill>
            <a:schemeClr val="tx2"/>
          </a:solidFill>
          <a:latin typeface="+mn-lt"/>
          <a:ea typeface="+mn-ea"/>
          <a:cs typeface="+mn-cs"/>
        </a:defRPr>
      </a:lvl2pPr>
      <a:lvl3pPr marL="1124712" indent="-155448" algn="l" defTabSz="914400" rtl="0" eaLnBrk="1" latinLnBrk="0" hangingPunct="1">
        <a:lnSpc>
          <a:spcPct val="100000"/>
        </a:lnSpc>
        <a:spcBef>
          <a:spcPts val="600"/>
        </a:spcBef>
        <a:buFont typeface="Wingdings" panose="05000000000000000000" pitchFamily="2" charset="2"/>
        <a:buChar char="§"/>
        <a:defRPr sz="1600" kern="1200">
          <a:solidFill>
            <a:schemeClr val="tx2"/>
          </a:solidFill>
          <a:latin typeface="+mn-lt"/>
          <a:ea typeface="+mn-ea"/>
          <a:cs typeface="+mn-cs"/>
        </a:defRPr>
      </a:lvl3pPr>
      <a:lvl4pPr marL="1581912" indent="-155448" algn="l" defTabSz="914400" rtl="0" eaLnBrk="1" latinLnBrk="0" hangingPunct="1">
        <a:lnSpc>
          <a:spcPct val="100000"/>
        </a:lnSpc>
        <a:spcBef>
          <a:spcPts val="600"/>
        </a:spcBef>
        <a:buFont typeface="Wingdings" panose="05000000000000000000" pitchFamily="2" charset="2"/>
        <a:buChar char="§"/>
        <a:defRPr sz="1400" kern="1200">
          <a:solidFill>
            <a:schemeClr val="tx2"/>
          </a:solidFill>
          <a:latin typeface="+mn-lt"/>
          <a:ea typeface="+mn-ea"/>
          <a:cs typeface="+mn-cs"/>
        </a:defRPr>
      </a:lvl4pPr>
      <a:lvl5pPr marL="20391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5pPr>
      <a:lvl6pPr marL="24963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6pPr>
      <a:lvl7pPr marL="29535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7pPr>
      <a:lvl8pPr marL="34107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8pPr>
      <a:lvl9pPr marL="3867912" indent="-155448" algn="l" defTabSz="914400" rtl="0" eaLnBrk="1" latinLnBrk="0" hangingPunct="1">
        <a:lnSpc>
          <a:spcPct val="100000"/>
        </a:lnSpc>
        <a:spcBef>
          <a:spcPts val="600"/>
        </a:spcBef>
        <a:buSzPct val="80000"/>
        <a:buFont typeface="Wingdings" panose="05000000000000000000"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pos="6672">
          <p15:clr>
            <a:srgbClr val="F26B43"/>
          </p15:clr>
        </p15:guide>
        <p15:guide id="3"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www.samuelchukwuemek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1464287"/>
            <a:ext cx="8382000" cy="1649616"/>
          </a:xfrm>
        </p:spPr>
        <p:txBody>
          <a:bodyPr>
            <a:normAutofit/>
          </a:bodyPr>
          <a:lstStyle/>
          <a:p>
            <a:pPr algn="ctr"/>
            <a:r>
              <a:rPr lang="en-US" sz="4800" dirty="0" smtClean="0"/>
              <a:t>Test 2 Study Guide – Part 3</a:t>
            </a:r>
            <a:endParaRPr lang="en-US" sz="4800" dirty="0"/>
          </a:p>
        </p:txBody>
      </p:sp>
      <p:sp>
        <p:nvSpPr>
          <p:cNvPr id="3" name="Subtitle 2"/>
          <p:cNvSpPr>
            <a:spLocks noGrp="1"/>
          </p:cNvSpPr>
          <p:nvPr>
            <p:ph type="subTitle" idx="1"/>
          </p:nvPr>
        </p:nvSpPr>
        <p:spPr>
          <a:xfrm>
            <a:off x="1905000" y="3402227"/>
            <a:ext cx="8382000" cy="2001795"/>
          </a:xfrm>
        </p:spPr>
        <p:txBody>
          <a:bodyPr>
            <a:normAutofit fontScale="92500" lnSpcReduction="10000"/>
          </a:bodyPr>
          <a:lstStyle/>
          <a:p>
            <a:pPr>
              <a:lnSpc>
                <a:spcPct val="200000"/>
              </a:lnSpc>
            </a:pPr>
            <a:r>
              <a:rPr lang="en-US" sz="2800" dirty="0" smtClean="0">
                <a:latin typeface="Vani" panose="020B0502040204020203" pitchFamily="34" charset="0"/>
                <a:cs typeface="Vani" panose="020B0502040204020203" pitchFamily="34" charset="0"/>
              </a:rPr>
              <a:t>Samuel Chukwuemeka</a:t>
            </a:r>
            <a:r>
              <a:rPr lang="en-US" dirty="0">
                <a:latin typeface="Vani" panose="020B0502040204020203" pitchFamily="34" charset="0"/>
                <a:cs typeface="Vani" panose="020B0502040204020203" pitchFamily="34" charset="0"/>
              </a:rPr>
              <a:t>	</a:t>
            </a:r>
            <a:r>
              <a:rPr lang="en-US" dirty="0" smtClean="0">
                <a:latin typeface="Vani" panose="020B0502040204020203" pitchFamily="34" charset="0"/>
                <a:cs typeface="Vani" panose="020B0502040204020203" pitchFamily="34" charset="0"/>
              </a:rPr>
              <a:t>	</a:t>
            </a:r>
            <a:r>
              <a:rPr lang="en-US" sz="2000" dirty="0" smtClean="0">
                <a:latin typeface="Vani" panose="020B0502040204020203" pitchFamily="34" charset="0"/>
                <a:cs typeface="Vani" panose="020B0502040204020203" pitchFamily="34" charset="0"/>
              </a:rPr>
              <a:t>B.Eng., A.A.T, M.Ed., M.S</a:t>
            </a:r>
          </a:p>
          <a:p>
            <a:pPr>
              <a:lnSpc>
                <a:spcPct val="200000"/>
              </a:lnSpc>
            </a:pPr>
            <a:r>
              <a:rPr lang="en-US" sz="1900" dirty="0" smtClean="0">
                <a:latin typeface="Vani" panose="020B0502040204020203" pitchFamily="34" charset="0"/>
                <a:cs typeface="Vani" panose="020B0502040204020203" pitchFamily="34" charset="0"/>
              </a:rPr>
              <a:t>“The Joy of a Teacher is the Success of his Students.” – Samuel Chukwuemeka</a:t>
            </a:r>
          </a:p>
          <a:p>
            <a:pPr>
              <a:lnSpc>
                <a:spcPct val="200000"/>
              </a:lnSpc>
            </a:pPr>
            <a:r>
              <a:rPr lang="en-US" dirty="0" smtClean="0">
                <a:latin typeface="Vani" panose="020B0502040204020203" pitchFamily="34" charset="0"/>
                <a:cs typeface="Vani" panose="020B0502040204020203" pitchFamily="34" charset="0"/>
                <a:hlinkClick r:id="rId2"/>
              </a:rPr>
              <a:t>www.samuelchukwuemeka.com</a:t>
            </a:r>
            <a:endParaRPr lang="en-US" dirty="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3688520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Objectives and Pre-requisites</a:t>
            </a:r>
            <a:endParaRPr dirty="0"/>
          </a:p>
        </p:txBody>
      </p:sp>
      <p:sp>
        <p:nvSpPr>
          <p:cNvPr id="14" name="Content Placeholder 13"/>
          <p:cNvSpPr>
            <a:spLocks noGrp="1"/>
          </p:cNvSpPr>
          <p:nvPr>
            <p:ph idx="1"/>
          </p:nvPr>
        </p:nvSpPr>
        <p:spPr>
          <a:xfrm>
            <a:off x="0" y="1738184"/>
            <a:ext cx="12192000" cy="5119816"/>
          </a:xfrm>
        </p:spPr>
        <p:txBody>
          <a:bodyPr>
            <a:normAutofit lnSpcReduction="10000"/>
          </a:bodyPr>
          <a:lstStyle/>
          <a:p>
            <a:pPr>
              <a:lnSpc>
                <a:spcPct val="170000"/>
              </a:lnSpc>
            </a:pPr>
            <a:r>
              <a:rPr lang="en-US" dirty="0" smtClean="0">
                <a:latin typeface="Vani" panose="020B0502040204020203" pitchFamily="34" charset="0"/>
                <a:cs typeface="Vani" panose="020B0502040204020203" pitchFamily="34" charset="0"/>
              </a:rPr>
              <a:t>Students will:</a:t>
            </a:r>
          </a:p>
          <a:p>
            <a:pPr>
              <a:lnSpc>
                <a:spcPct val="170000"/>
              </a:lnSpc>
            </a:pPr>
            <a:r>
              <a:rPr lang="en-US" dirty="0" smtClean="0">
                <a:latin typeface="Vani" panose="020B0502040204020203" pitchFamily="34" charset="0"/>
                <a:cs typeface="Vani" panose="020B0502040204020203" pitchFamily="34" charset="0"/>
              </a:rPr>
              <a:t>Calculate </a:t>
            </a:r>
            <a:r>
              <a:rPr lang="en-US" dirty="0" smtClean="0">
                <a:latin typeface="Vani" panose="020B0502040204020203" pitchFamily="34" charset="0"/>
                <a:cs typeface="Vani" panose="020B0502040204020203" pitchFamily="34" charset="0"/>
              </a:rPr>
              <a:t>the mean and standard deviation of a </a:t>
            </a:r>
            <a:r>
              <a:rPr lang="en-US" dirty="0" smtClean="0">
                <a:latin typeface="Vani" panose="020B0502040204020203" pitchFamily="34" charset="0"/>
                <a:cs typeface="Vani" panose="020B0502040204020203" pitchFamily="34" charset="0"/>
              </a:rPr>
              <a:t>Binomial probability </a:t>
            </a:r>
            <a:r>
              <a:rPr lang="en-US" dirty="0" smtClean="0">
                <a:latin typeface="Vani" panose="020B0502040204020203" pitchFamily="34" charset="0"/>
                <a:cs typeface="Vani" panose="020B0502040204020203" pitchFamily="34" charset="0"/>
              </a:rPr>
              <a:t>distribution</a:t>
            </a:r>
            <a:r>
              <a:rPr lang="en-US" dirty="0" smtClean="0">
                <a:latin typeface="Vani" panose="020B0502040204020203" pitchFamily="34" charset="0"/>
                <a:cs typeface="Vani" panose="020B0502040204020203" pitchFamily="34" charset="0"/>
              </a:rPr>
              <a:t>.</a:t>
            </a:r>
          </a:p>
          <a:p>
            <a:pPr>
              <a:lnSpc>
                <a:spcPct val="170000"/>
              </a:lnSpc>
            </a:pPr>
            <a:r>
              <a:rPr lang="en-US" dirty="0" smtClean="0">
                <a:latin typeface="Vani" panose="020B0502040204020203" pitchFamily="34" charset="0"/>
                <a:cs typeface="Vani" panose="020B0502040204020203" pitchFamily="34" charset="0"/>
              </a:rPr>
              <a:t>Determine </a:t>
            </a:r>
            <a:r>
              <a:rPr lang="en-US" dirty="0" smtClean="0">
                <a:latin typeface="Vani" panose="020B0502040204020203" pitchFamily="34" charset="0"/>
                <a:cs typeface="Vani" panose="020B0502040204020203" pitchFamily="34" charset="0"/>
              </a:rPr>
              <a:t>the probability of an event </a:t>
            </a:r>
            <a:r>
              <a:rPr lang="en-US" dirty="0" smtClean="0">
                <a:latin typeface="Vani" panose="020B0502040204020203" pitchFamily="34" charset="0"/>
                <a:cs typeface="Vani" panose="020B0502040204020203" pitchFamily="34" charset="0"/>
              </a:rPr>
              <a:t>using </a:t>
            </a:r>
            <a:r>
              <a:rPr lang="en-US" dirty="0" smtClean="0">
                <a:latin typeface="Vani" panose="020B0502040204020203" pitchFamily="34" charset="0"/>
                <a:cs typeface="Vani" panose="020B0502040204020203" pitchFamily="34" charset="0"/>
              </a:rPr>
              <a:t>a </a:t>
            </a:r>
            <a:r>
              <a:rPr lang="en-US" dirty="0" smtClean="0">
                <a:latin typeface="Vani" panose="020B0502040204020203" pitchFamily="34" charset="0"/>
                <a:cs typeface="Vani" panose="020B0502040204020203" pitchFamily="34" charset="0"/>
              </a:rPr>
              <a:t>Binomial probability </a:t>
            </a:r>
            <a:r>
              <a:rPr lang="en-US" dirty="0" smtClean="0">
                <a:latin typeface="Vani" panose="020B0502040204020203" pitchFamily="34" charset="0"/>
                <a:cs typeface="Vani" panose="020B0502040204020203" pitchFamily="34" charset="0"/>
              </a:rPr>
              <a:t>distribution</a:t>
            </a:r>
            <a:r>
              <a:rPr lang="en-US" dirty="0" smtClean="0">
                <a:latin typeface="Vani" panose="020B0502040204020203" pitchFamily="34" charset="0"/>
                <a:cs typeface="Vani" panose="020B0502040204020203" pitchFamily="34" charset="0"/>
              </a:rPr>
              <a:t>.</a:t>
            </a:r>
          </a:p>
          <a:p>
            <a:pPr>
              <a:lnSpc>
                <a:spcPct val="170000"/>
              </a:lnSpc>
            </a:pPr>
            <a:r>
              <a:rPr lang="en-US" dirty="0">
                <a:latin typeface="Vani" panose="020B0502040204020203" pitchFamily="34" charset="0"/>
                <a:cs typeface="Vani" panose="020B0502040204020203" pitchFamily="34" charset="0"/>
              </a:rPr>
              <a:t>Determine the probability of an event using a </a:t>
            </a:r>
            <a:r>
              <a:rPr lang="en-US" dirty="0" smtClean="0">
                <a:latin typeface="Vani" panose="020B0502040204020203" pitchFamily="34" charset="0"/>
                <a:cs typeface="Vani" panose="020B0502040204020203" pitchFamily="34" charset="0"/>
              </a:rPr>
              <a:t>Poisson </a:t>
            </a:r>
            <a:r>
              <a:rPr lang="en-US" dirty="0">
                <a:latin typeface="Vani" panose="020B0502040204020203" pitchFamily="34" charset="0"/>
                <a:cs typeface="Vani" panose="020B0502040204020203" pitchFamily="34" charset="0"/>
              </a:rPr>
              <a:t>probability distribution</a:t>
            </a:r>
            <a:r>
              <a:rPr lang="en-US" dirty="0" smtClean="0">
                <a:latin typeface="Vani" panose="020B0502040204020203" pitchFamily="34" charset="0"/>
                <a:cs typeface="Vani" panose="020B0502040204020203" pitchFamily="34" charset="0"/>
              </a:rPr>
              <a:t>.</a:t>
            </a:r>
            <a:endParaRPr lang="en-US" dirty="0" smtClean="0">
              <a:latin typeface="Vani" panose="020B0502040204020203" pitchFamily="34" charset="0"/>
              <a:cs typeface="Vani" panose="020B0502040204020203" pitchFamily="34" charset="0"/>
            </a:endParaRPr>
          </a:p>
          <a:p>
            <a:pPr>
              <a:lnSpc>
                <a:spcPct val="170000"/>
              </a:lnSpc>
            </a:pPr>
            <a:r>
              <a:rPr lang="en-US" dirty="0" smtClean="0">
                <a:latin typeface="Vani" panose="020B0502040204020203" pitchFamily="34" charset="0"/>
                <a:cs typeface="Vani" panose="020B0502040204020203" pitchFamily="34" charset="0"/>
              </a:rPr>
              <a:t>Determine the expected value of a random variable.</a:t>
            </a:r>
            <a:endParaRPr lang="en-US" dirty="0">
              <a:latin typeface="Vani" panose="020B0502040204020203" pitchFamily="34" charset="0"/>
              <a:cs typeface="Vani" panose="020B0502040204020203" pitchFamily="34" charset="0"/>
            </a:endParaRPr>
          </a:p>
          <a:p>
            <a:pPr>
              <a:lnSpc>
                <a:spcPct val="170000"/>
              </a:lnSpc>
            </a:pPr>
            <a:r>
              <a:rPr lang="en-US" u="sng" dirty="0" smtClean="0">
                <a:latin typeface="Vani" panose="020B0502040204020203" pitchFamily="34" charset="0"/>
                <a:cs typeface="Vani" panose="020B0502040204020203" pitchFamily="34" charset="0"/>
              </a:rPr>
              <a:t>Pre-requisite </a:t>
            </a:r>
            <a:r>
              <a:rPr lang="en-US" u="sng" dirty="0" smtClean="0">
                <a:latin typeface="Vani" panose="020B0502040204020203" pitchFamily="34" charset="0"/>
                <a:cs typeface="Vani" panose="020B0502040204020203" pitchFamily="34" charset="0"/>
              </a:rPr>
              <a:t>videos</a:t>
            </a:r>
          </a:p>
          <a:p>
            <a:pPr>
              <a:lnSpc>
                <a:spcPct val="170000"/>
              </a:lnSpc>
            </a:pPr>
            <a:r>
              <a:rPr lang="en-US" dirty="0" smtClean="0">
                <a:latin typeface="Vani" panose="020B0502040204020203" pitchFamily="34" charset="0"/>
                <a:cs typeface="Vani" panose="020B0502040204020203" pitchFamily="34" charset="0"/>
              </a:rPr>
              <a:t>Probability Distributions (all)</a:t>
            </a:r>
          </a:p>
          <a:p>
            <a:pPr>
              <a:lnSpc>
                <a:spcPct val="170000"/>
              </a:lnSpc>
            </a:pPr>
            <a:r>
              <a:rPr lang="en-US" dirty="0" smtClean="0">
                <a:solidFill>
                  <a:srgbClr val="FF0000"/>
                </a:solidFill>
                <a:latin typeface="Vani" panose="020B0502040204020203" pitchFamily="34" charset="0"/>
                <a:cs typeface="Vani" panose="020B0502040204020203" pitchFamily="34" charset="0"/>
              </a:rPr>
              <a:t>View the video for the verbal explanations</a:t>
            </a:r>
            <a:r>
              <a:rPr lang="en-US" dirty="0" smtClean="0">
                <a:latin typeface="Vani" panose="020B0502040204020203" pitchFamily="34" charset="0"/>
                <a:cs typeface="Vani" panose="020B0502040204020203" pitchFamily="34" charset="0"/>
              </a:rPr>
              <a:t>.</a:t>
            </a:r>
          </a:p>
          <a:p>
            <a:endParaRPr lang="en-US" dirty="0" smtClean="0">
              <a:latin typeface="Vani" panose="020B0502040204020203" pitchFamily="34" charset="0"/>
              <a:cs typeface="Vani" panose="020B0502040204020203" pitchFamily="34" charset="0"/>
            </a:endParaRPr>
          </a:p>
          <a:p>
            <a:endParaRPr lang="en-US" dirty="0" smtClean="0">
              <a:latin typeface="Vani" panose="020B0502040204020203" pitchFamily="34" charset="0"/>
              <a:cs typeface="Vani" panose="020B0502040204020203" pitchFamily="34" charset="0"/>
            </a:endParaRPr>
          </a:p>
          <a:p>
            <a:endParaRPr dirty="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385431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	</a:t>
                </a:r>
                <a:r>
                  <a:rPr lang="en-US" sz="2300" dirty="0" smtClean="0">
                    <a:latin typeface="Vani" panose="020B0502040204020203" pitchFamily="34" charset="0"/>
                    <a:cs typeface="Vani" panose="020B0502040204020203" pitchFamily="34" charset="0"/>
                  </a:rPr>
                  <a:t>The table show the random variable, </a:t>
                </a:r>
                <a14:m>
                  <m:oMath xmlns:m="http://schemas.openxmlformats.org/officeDocument/2006/math">
                    <m:r>
                      <a:rPr lang="en-US" sz="2300" i="1" dirty="0" smtClean="0">
                        <a:latin typeface="Cambria Math" panose="02040503050406030204" pitchFamily="18" charset="0"/>
                        <a:cs typeface="Vani" panose="020B0502040204020203" pitchFamily="34" charset="0"/>
                      </a:rPr>
                      <m:t>𝑥</m:t>
                    </m:r>
                    <m:r>
                      <a:rPr lang="en-US" sz="2300" i="1" dirty="0" smtClean="0">
                        <a:latin typeface="Cambria Math" panose="02040503050406030204" pitchFamily="18" charset="0"/>
                        <a:cs typeface="Vani" panose="020B0502040204020203" pitchFamily="34" charset="0"/>
                      </a:rPr>
                      <m:t> </m:t>
                    </m:r>
                  </m:oMath>
                </a14:m>
                <a:r>
                  <a:rPr lang="en-US" sz="2300" dirty="0" smtClean="0">
                    <a:latin typeface="Vani" panose="020B0502040204020203" pitchFamily="34" charset="0"/>
                    <a:cs typeface="Vani" panose="020B0502040204020203" pitchFamily="34" charset="0"/>
                  </a:rPr>
                  <a:t>and the probability of the random variable, </a:t>
                </a:r>
                <a14:m>
                  <m:oMath xmlns:m="http://schemas.openxmlformats.org/officeDocument/2006/math">
                    <m:r>
                      <a:rPr lang="en-US" sz="2300" i="1" dirty="0" smtClean="0">
                        <a:latin typeface="Cambria Math" panose="02040503050406030204" pitchFamily="18" charset="0"/>
                        <a:cs typeface="Vani" panose="020B0502040204020203" pitchFamily="34" charset="0"/>
                      </a:rPr>
                      <m:t>𝑃</m:t>
                    </m:r>
                    <m:r>
                      <a:rPr lang="en-US" sz="2300" i="1" dirty="0" smtClean="0">
                        <a:latin typeface="Cambria Math" panose="02040503050406030204" pitchFamily="18" charset="0"/>
                        <a:cs typeface="Vani" panose="020B0502040204020203" pitchFamily="34" charset="0"/>
                      </a:rPr>
                      <m:t>(</m:t>
                    </m:r>
                    <m:r>
                      <a:rPr lang="en-US" sz="2300" i="1" dirty="0" smtClean="0">
                        <a:latin typeface="Cambria Math" panose="02040503050406030204" pitchFamily="18" charset="0"/>
                        <a:cs typeface="Vani" panose="020B0502040204020203" pitchFamily="34" charset="0"/>
                      </a:rPr>
                      <m:t>𝑥</m:t>
                    </m:r>
                    <m:r>
                      <a:rPr lang="en-US" sz="2300" i="1" dirty="0" smtClean="0">
                        <a:latin typeface="Cambria Math" panose="02040503050406030204" pitchFamily="18" charset="0"/>
                        <a:cs typeface="Vani" panose="020B0502040204020203" pitchFamily="34" charset="0"/>
                      </a:rPr>
                      <m:t>)</m:t>
                    </m:r>
                  </m:oMath>
                </a14:m>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The random variable represents the number of boys in a family with three children.</a:t>
                </a:r>
              </a:p>
              <a:p>
                <a:pPr>
                  <a:lnSpc>
                    <a:spcPct val="150000"/>
                  </a:lnSpc>
                </a:pPr>
                <a:r>
                  <a:rPr lang="en-US" sz="2300" dirty="0" smtClean="0">
                    <a:latin typeface="Vani" panose="020B0502040204020203" pitchFamily="34" charset="0"/>
                    <a:cs typeface="Vani" panose="020B0502040204020203" pitchFamily="34" charset="0"/>
                  </a:rPr>
                  <a:t>(a.)	Calculate the mean of the random variable. Round to 2 decimal places.</a:t>
                </a:r>
              </a:p>
              <a:p>
                <a:pPr>
                  <a:lnSpc>
                    <a:spcPct val="150000"/>
                  </a:lnSpc>
                </a:pPr>
                <a:r>
                  <a:rPr lang="en-US" sz="2300" dirty="0" smtClean="0">
                    <a:latin typeface="Vani" panose="020B0502040204020203" pitchFamily="34" charset="0"/>
                    <a:cs typeface="Vani" panose="020B0502040204020203" pitchFamily="34" charset="0"/>
                  </a:rPr>
                  <a:t>(b.)	Calculate the standard deviation of the random variable. Round to 2 decimal places.</a:t>
                </a:r>
              </a:p>
              <a:p>
                <a:pPr>
                  <a:lnSpc>
                    <a:spcPct val="150000"/>
                  </a:lnSpc>
                </a:pPr>
                <a:r>
                  <a:rPr lang="en-US" sz="2300" dirty="0" smtClean="0">
                    <a:latin typeface="Vani" panose="020B0502040204020203" pitchFamily="34" charset="0"/>
                    <a:cs typeface="Vani" panose="020B0502040204020203" pitchFamily="34" charset="0"/>
                  </a:rPr>
                  <a:t>(c.)	Is it unusual for a family with three children to have only boys?</a:t>
                </a:r>
              </a:p>
              <a:p>
                <a:pPr>
                  <a:lnSpc>
                    <a:spcPct val="150000"/>
                  </a:lnSpc>
                </a:pPr>
                <a14:m>
                  <m:oMath xmlns:m="http://schemas.openxmlformats.org/officeDocument/2006/math">
                    <m:r>
                      <a:rPr lang="en-US" sz="2300" b="0" i="1" smtClean="0">
                        <a:latin typeface="Cambria Math" panose="02040503050406030204" pitchFamily="18" charset="0"/>
                        <a:ea typeface="Cambria Math" panose="02040503050406030204" pitchFamily="18" charset="0"/>
                        <a:cs typeface="Vani" panose="020B0502040204020203" pitchFamily="34" charset="0"/>
                      </a:rPr>
                      <m:t>𝑀𝑒𝑎𝑛</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i="1" smtClean="0">
                        <a:latin typeface="Cambria Math" panose="02040503050406030204" pitchFamily="18" charset="0"/>
                        <a:ea typeface="Cambria Math" panose="02040503050406030204" pitchFamily="18" charset="0"/>
                        <a:cs typeface="Vani" panose="020B0502040204020203" pitchFamily="34" charset="0"/>
                      </a:rPr>
                      <m:t>𝜇</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
                      <m:rPr>
                        <m:sty m:val="p"/>
                      </m:rPr>
                      <a:rPr lang="el-GR" sz="2300" b="0" i="1" smtClean="0">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𝑥</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𝑥</m:t>
                            </m:r>
                          </m:e>
                        </m:d>
                      </m:e>
                    </m:d>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𝑆𝑡𝑎𝑛𝑑𝑎𝑟𝑑</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𝐷𝑒𝑣𝑖𝑎𝑡𝑖𝑜𝑛</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𝜎</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radPr>
                      <m:deg/>
                      <m:e>
                        <m:r>
                          <m:rPr>
                            <m:sty m:val="p"/>
                          </m:rPr>
                          <a:rPr lang="el-GR" sz="2300" b="0" i="1" smtClean="0">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sSup>
                              <m:sSup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ea typeface="Cambria Math" panose="02040503050406030204" pitchFamily="18" charset="0"/>
                                    <a:cs typeface="Vani" panose="020B0502040204020203" pitchFamily="34" charset="0"/>
                                  </a:rPr>
                                  <m:t>𝑥</m:t>
                                </m:r>
                              </m:e>
                              <m:sup>
                                <m:r>
                                  <a:rPr lang="en-US" sz="2300" b="0" i="1" smtClean="0">
                                    <a:latin typeface="Cambria Math" panose="02040503050406030204" pitchFamily="18" charset="0"/>
                                    <a:ea typeface="Cambria Math" panose="02040503050406030204" pitchFamily="18" charset="0"/>
                                    <a:cs typeface="Vani" panose="020B0502040204020203" pitchFamily="34" charset="0"/>
                                  </a:rPr>
                                  <m:t>2</m:t>
                                </m:r>
                              </m:sup>
                            </m:sSup>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𝑥</m:t>
                                </m:r>
                              </m:e>
                            </m:d>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ea typeface="Cambria Math" panose="02040503050406030204" pitchFamily="18" charset="0"/>
                                <a:cs typeface="Vani" panose="020B0502040204020203" pitchFamily="34" charset="0"/>
                              </a:rPr>
                              <m:t>𝜇</m:t>
                            </m:r>
                          </m:e>
                          <m:sup>
                            <m:r>
                              <a:rPr lang="en-US" sz="2300" b="0" i="1" smtClean="0">
                                <a:latin typeface="Cambria Math" panose="02040503050406030204" pitchFamily="18" charset="0"/>
                                <a:ea typeface="Cambria Math" panose="02040503050406030204" pitchFamily="18" charset="0"/>
                                <a:cs typeface="Vani" panose="020B0502040204020203" pitchFamily="34" charset="0"/>
                              </a:rPr>
                              <m:t>2</m:t>
                            </m:r>
                          </m:sup>
                        </m:sSup>
                      </m:e>
                    </m:rad>
                    <m:r>
                      <a:rPr lang="en-US" sz="2300" b="0" i="1" smtClean="0">
                        <a:latin typeface="Cambria Math" panose="02040503050406030204" pitchFamily="18" charset="0"/>
                        <a:ea typeface="Cambria Math" panose="02040503050406030204" pitchFamily="18" charset="0"/>
                        <a:cs typeface="Vani" panose="020B0502040204020203" pitchFamily="34" charset="0"/>
                      </a:rPr>
                      <m:t> </m:t>
                    </m:r>
                  </m:oMath>
                </a14:m>
                <a:endParaRPr lang="en-US" sz="2300" dirty="0" smtClean="0">
                  <a:latin typeface="Vani" panose="020B0502040204020203" pitchFamily="34"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marL="0" indent="0">
                  <a:lnSpc>
                    <a:spcPct val="150000"/>
                  </a:lnSpc>
                  <a:buNone/>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5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67304268"/>
                  </p:ext>
                </p:extLst>
              </p:nvPr>
            </p:nvGraphicFramePr>
            <p:xfrm>
              <a:off x="0" y="2334281"/>
              <a:ext cx="12192000" cy="74168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𝟎</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𝟐</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𝟑</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0.141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0.389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0.359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0.111</m:t>
                                </m:r>
                              </m:oMath>
                            </m:oMathPara>
                          </a14:m>
                          <a:endParaRPr lang="en-US" dirty="0"/>
                        </a:p>
                      </a:txBody>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67304268"/>
                  </p:ext>
                </p:extLst>
              </p:nvPr>
            </p:nvGraphicFramePr>
            <p:xfrm>
              <a:off x="0" y="2334281"/>
              <a:ext cx="12192000" cy="74168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0840">
                    <a:tc>
                      <a:txBody>
                        <a:bodyPr/>
                        <a:lstStyle/>
                        <a:p>
                          <a:endParaRPr lang="en-US"/>
                        </a:p>
                      </a:txBody>
                      <a:tcPr>
                        <a:blipFill rotWithShape="0">
                          <a:blip r:embed="rId3"/>
                          <a:stretch>
                            <a:fillRect l="-500" t="-1613" r="-401250" b="-111290"/>
                          </a:stretch>
                        </a:blipFill>
                      </a:tcPr>
                    </a:tc>
                    <a:tc>
                      <a:txBody>
                        <a:bodyPr/>
                        <a:lstStyle/>
                        <a:p>
                          <a:endParaRPr lang="en-US"/>
                        </a:p>
                      </a:txBody>
                      <a:tcPr>
                        <a:blipFill rotWithShape="0">
                          <a:blip r:embed="rId3"/>
                          <a:stretch>
                            <a:fillRect l="-100500" t="-1613" r="-301250" b="-111290"/>
                          </a:stretch>
                        </a:blipFill>
                      </a:tcPr>
                    </a:tc>
                    <a:tc>
                      <a:txBody>
                        <a:bodyPr/>
                        <a:lstStyle/>
                        <a:p>
                          <a:endParaRPr lang="en-US"/>
                        </a:p>
                      </a:txBody>
                      <a:tcPr>
                        <a:blipFill rotWithShape="0">
                          <a:blip r:embed="rId3"/>
                          <a:stretch>
                            <a:fillRect l="-200500" t="-1613" r="-201250" b="-111290"/>
                          </a:stretch>
                        </a:blipFill>
                      </a:tcPr>
                    </a:tc>
                    <a:tc>
                      <a:txBody>
                        <a:bodyPr/>
                        <a:lstStyle/>
                        <a:p>
                          <a:endParaRPr lang="en-US"/>
                        </a:p>
                      </a:txBody>
                      <a:tcPr>
                        <a:blipFill rotWithShape="0">
                          <a:blip r:embed="rId3"/>
                          <a:stretch>
                            <a:fillRect l="-300500" t="-1613" r="-101250" b="-111290"/>
                          </a:stretch>
                        </a:blipFill>
                      </a:tcPr>
                    </a:tc>
                    <a:tc>
                      <a:txBody>
                        <a:bodyPr/>
                        <a:lstStyle/>
                        <a:p>
                          <a:endParaRPr lang="en-US"/>
                        </a:p>
                      </a:txBody>
                      <a:tcPr>
                        <a:blipFill rotWithShape="0">
                          <a:blip r:embed="rId3"/>
                          <a:stretch>
                            <a:fillRect l="-400500" t="-1613" r="-1250" b="-111290"/>
                          </a:stretch>
                        </a:blipFill>
                      </a:tcPr>
                    </a:tc>
                  </a:tr>
                  <a:tr h="370840">
                    <a:tc>
                      <a:txBody>
                        <a:bodyPr/>
                        <a:lstStyle/>
                        <a:p>
                          <a:endParaRPr lang="en-US"/>
                        </a:p>
                      </a:txBody>
                      <a:tcPr>
                        <a:blipFill rotWithShape="0">
                          <a:blip r:embed="rId3"/>
                          <a:stretch>
                            <a:fillRect l="-500" t="-103279" r="-401250" b="-13115"/>
                          </a:stretch>
                        </a:blipFill>
                      </a:tcPr>
                    </a:tc>
                    <a:tc>
                      <a:txBody>
                        <a:bodyPr/>
                        <a:lstStyle/>
                        <a:p>
                          <a:endParaRPr lang="en-US"/>
                        </a:p>
                      </a:txBody>
                      <a:tcPr>
                        <a:blipFill rotWithShape="0">
                          <a:blip r:embed="rId3"/>
                          <a:stretch>
                            <a:fillRect l="-100500" t="-103279" r="-301250" b="-13115"/>
                          </a:stretch>
                        </a:blipFill>
                      </a:tcPr>
                    </a:tc>
                    <a:tc>
                      <a:txBody>
                        <a:bodyPr/>
                        <a:lstStyle/>
                        <a:p>
                          <a:endParaRPr lang="en-US"/>
                        </a:p>
                      </a:txBody>
                      <a:tcPr>
                        <a:blipFill rotWithShape="0">
                          <a:blip r:embed="rId3"/>
                          <a:stretch>
                            <a:fillRect l="-200500" t="-103279" r="-201250" b="-13115"/>
                          </a:stretch>
                        </a:blipFill>
                      </a:tcPr>
                    </a:tc>
                    <a:tc>
                      <a:txBody>
                        <a:bodyPr/>
                        <a:lstStyle/>
                        <a:p>
                          <a:endParaRPr lang="en-US"/>
                        </a:p>
                      </a:txBody>
                      <a:tcPr>
                        <a:blipFill rotWithShape="0">
                          <a:blip r:embed="rId3"/>
                          <a:stretch>
                            <a:fillRect l="-300500" t="-103279" r="-101250" b="-13115"/>
                          </a:stretch>
                        </a:blipFill>
                      </a:tcPr>
                    </a:tc>
                    <a:tc>
                      <a:txBody>
                        <a:bodyPr/>
                        <a:lstStyle/>
                        <a:p>
                          <a:endParaRPr lang="en-US"/>
                        </a:p>
                      </a:txBody>
                      <a:tcPr>
                        <a:blipFill rotWithShape="0">
                          <a:blip r:embed="rId3"/>
                          <a:stretch>
                            <a:fillRect l="-400500" t="-103279" r="-1250" b="-13115"/>
                          </a:stretch>
                        </a:blipFill>
                      </a:tcPr>
                    </a:tc>
                  </a:tr>
                </a:tbl>
              </a:graphicData>
            </a:graphic>
          </p:graphicFrame>
        </mc:Fallback>
      </mc:AlternateContent>
    </p:spTree>
    <p:extLst>
      <p:ext uri="{BB962C8B-B14F-4D97-AF65-F5344CB8AC3E}">
        <p14:creationId xmlns:p14="http://schemas.microsoft.com/office/powerpoint/2010/main" val="169713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cs typeface="Vani" panose="020B0502040204020203" pitchFamily="34" charset="0"/>
                      </a:rPr>
                      <m:t>𝜇</m:t>
                    </m:r>
                    <m:r>
                      <a:rPr lang="en-US" sz="2300" i="1">
                        <a:latin typeface="Cambria Math" panose="02040503050406030204" pitchFamily="18" charset="0"/>
                        <a:ea typeface="Cambria Math" panose="02040503050406030204" pitchFamily="18" charset="0"/>
                        <a:cs typeface="Vani" panose="020B0502040204020203" pitchFamily="34" charset="0"/>
                      </a:rPr>
                      <m:t>=</m:t>
                    </m:r>
                    <m:r>
                      <m:rPr>
                        <m:sty m:val="p"/>
                      </m:rPr>
                      <a:rPr lang="el-GR" sz="2300" i="1">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𝑃</m:t>
                        </m:r>
                        <m:d>
                          <m:dPr>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e>
                        </m:d>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1.44</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oMath>
                </a14:m>
                <a:endParaRPr lang="en-US" sz="2300" b="0" i="1" dirty="0" smtClean="0">
                  <a:latin typeface="Cambria Math" panose="02040503050406030204" pitchFamily="18"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cs typeface="Vani" panose="020B0502040204020203" pitchFamily="34" charset="0"/>
                      </a:rPr>
                      <m:t>𝜎</m:t>
                    </m:r>
                    <m:r>
                      <a:rPr lang="en-US" sz="2300" i="1">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i="1">
                            <a:latin typeface="Cambria Math" panose="02040503050406030204" pitchFamily="18" charset="0"/>
                            <a:ea typeface="Cambria Math" panose="02040503050406030204" pitchFamily="18" charset="0"/>
                            <a:cs typeface="Vani" panose="020B0502040204020203" pitchFamily="34" charset="0"/>
                          </a:rPr>
                        </m:ctrlPr>
                      </m:radPr>
                      <m:deg/>
                      <m:e>
                        <m:r>
                          <m:rPr>
                            <m:sty m:val="p"/>
                          </m:rPr>
                          <a:rPr lang="el-GR" sz="2300" i="1">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i="1">
                                <a:latin typeface="Cambria Math" panose="02040503050406030204" pitchFamily="18" charset="0"/>
                                <a:ea typeface="Cambria Math" panose="02040503050406030204" pitchFamily="18" charset="0"/>
                                <a:cs typeface="Vani" panose="020B0502040204020203" pitchFamily="34" charset="0"/>
                              </a:rPr>
                            </m:ctrlPr>
                          </m:dPr>
                          <m:e>
                            <m:sSup>
                              <m:sSupPr>
                                <m:ctrlPr>
                                  <a:rPr lang="en-US" sz="2300" i="1">
                                    <a:latin typeface="Cambria Math" panose="02040503050406030204" pitchFamily="18" charset="0"/>
                                    <a:ea typeface="Cambria Math" panose="02040503050406030204" pitchFamily="18" charset="0"/>
                                    <a:cs typeface="Vani" panose="020B0502040204020203" pitchFamily="34" charset="0"/>
                                  </a:rPr>
                                </m:ctrlPr>
                              </m:sSupPr>
                              <m:e>
                                <m:r>
                                  <a:rPr lang="en-US" sz="2300" i="1">
                                    <a:latin typeface="Cambria Math" panose="02040503050406030204" pitchFamily="18" charset="0"/>
                                    <a:ea typeface="Cambria Math" panose="02040503050406030204" pitchFamily="18" charset="0"/>
                                    <a:cs typeface="Vani" panose="020B0502040204020203" pitchFamily="34" charset="0"/>
                                  </a:rPr>
                                  <m:t>𝑥</m:t>
                                </m:r>
                              </m:e>
                              <m:sup>
                                <m:r>
                                  <a:rPr lang="en-US" sz="2300" i="1">
                                    <a:latin typeface="Cambria Math" panose="02040503050406030204" pitchFamily="18" charset="0"/>
                                    <a:ea typeface="Cambria Math" panose="02040503050406030204" pitchFamily="18" charset="0"/>
                                    <a:cs typeface="Vani" panose="020B0502040204020203" pitchFamily="34" charset="0"/>
                                  </a:rPr>
                                  <m:t>2</m:t>
                                </m:r>
                              </m:sup>
                            </m:sSup>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𝑃</m:t>
                            </m:r>
                            <m:d>
                              <m:dPr>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e>
                            </m:d>
                          </m:e>
                        </m:d>
                        <m:r>
                          <a:rPr lang="en-US" sz="2300" i="1">
                            <a:latin typeface="Cambria Math" panose="02040503050406030204" pitchFamily="18" charset="0"/>
                            <a:ea typeface="Cambria Math" panose="02040503050406030204" pitchFamily="18" charset="0"/>
                            <a:cs typeface="Vani" panose="020B0502040204020203" pitchFamily="34" charset="0"/>
                          </a:rPr>
                          <m:t>−</m:t>
                        </m:r>
                        <m:sSup>
                          <m:sSupPr>
                            <m:ctrlPr>
                              <a:rPr lang="en-US" sz="2300" i="1">
                                <a:latin typeface="Cambria Math" panose="02040503050406030204" pitchFamily="18" charset="0"/>
                                <a:ea typeface="Cambria Math" panose="02040503050406030204" pitchFamily="18" charset="0"/>
                                <a:cs typeface="Vani" panose="020B0502040204020203" pitchFamily="34" charset="0"/>
                              </a:rPr>
                            </m:ctrlPr>
                          </m:sSupPr>
                          <m:e>
                            <m:r>
                              <a:rPr lang="en-US" sz="2300" i="1">
                                <a:latin typeface="Cambria Math" panose="02040503050406030204" pitchFamily="18" charset="0"/>
                                <a:ea typeface="Cambria Math" panose="02040503050406030204" pitchFamily="18" charset="0"/>
                                <a:cs typeface="Vani" panose="020B0502040204020203" pitchFamily="34" charset="0"/>
                              </a:rPr>
                              <m:t>𝜇</m:t>
                            </m:r>
                          </m:e>
                          <m:sup>
                            <m:r>
                              <a:rPr lang="en-US" sz="2300" i="1">
                                <a:latin typeface="Cambria Math" panose="02040503050406030204" pitchFamily="18" charset="0"/>
                                <a:ea typeface="Cambria Math" panose="02040503050406030204" pitchFamily="18" charset="0"/>
                                <a:cs typeface="Vani" panose="020B0502040204020203" pitchFamily="34" charset="0"/>
                              </a:rPr>
                              <m:t>2</m:t>
                            </m:r>
                          </m:sup>
                        </m:sSup>
                      </m:e>
                    </m:rad>
                    <m:r>
                      <a:rPr lang="en-US" sz="2300" b="0" i="1" smtClean="0">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radPr>
                      <m:deg/>
                      <m:e>
                        <m:r>
                          <a:rPr lang="en-US" sz="2300" b="0" i="1" smtClean="0">
                            <a:latin typeface="Cambria Math" panose="02040503050406030204" pitchFamily="18" charset="0"/>
                            <a:ea typeface="Cambria Math" panose="02040503050406030204" pitchFamily="18" charset="0"/>
                            <a:cs typeface="Vani" panose="020B0502040204020203" pitchFamily="34" charset="0"/>
                          </a:rPr>
                          <m:t>2.824−</m:t>
                        </m:r>
                        <m:sSup>
                          <m:sSup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ea typeface="Cambria Math" panose="02040503050406030204" pitchFamily="18" charset="0"/>
                                <a:cs typeface="Vani" panose="020B0502040204020203" pitchFamily="34" charset="0"/>
                              </a:rPr>
                              <m:t>1.44</m:t>
                            </m:r>
                          </m:e>
                          <m:sup>
                            <m:r>
                              <a:rPr lang="en-US" sz="2300" b="0" i="1" smtClean="0">
                                <a:latin typeface="Cambria Math" panose="02040503050406030204" pitchFamily="18" charset="0"/>
                                <a:ea typeface="Cambria Math" panose="02040503050406030204" pitchFamily="18" charset="0"/>
                                <a:cs typeface="Vani" panose="020B0502040204020203" pitchFamily="34" charset="0"/>
                              </a:rPr>
                              <m:t>2</m:t>
                            </m:r>
                          </m:sup>
                        </m:sSup>
                      </m:e>
                    </m:rad>
                    <m:r>
                      <a:rPr lang="en-US" sz="2300" b="0" i="1" smtClean="0">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radPr>
                      <m:deg/>
                      <m:e>
                        <m:r>
                          <a:rPr lang="en-US" sz="2300" b="0" i="1" smtClean="0">
                            <a:latin typeface="Cambria Math" panose="02040503050406030204" pitchFamily="18" charset="0"/>
                            <a:ea typeface="Cambria Math" panose="02040503050406030204" pitchFamily="18" charset="0"/>
                            <a:cs typeface="Vani" panose="020B0502040204020203" pitchFamily="34" charset="0"/>
                          </a:rPr>
                          <m:t>2.824−2.0736</m:t>
                        </m:r>
                      </m:e>
                    </m:rad>
                    <m:r>
                      <a:rPr lang="en-US" sz="2300" b="0" i="1" smtClean="0">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radPr>
                      <m:deg/>
                      <m:e>
                        <m:r>
                          <a:rPr lang="en-US" sz="2300" b="0" i="1" smtClean="0">
                            <a:latin typeface="Cambria Math" panose="02040503050406030204" pitchFamily="18" charset="0"/>
                            <a:ea typeface="Cambria Math" panose="02040503050406030204" pitchFamily="18" charset="0"/>
                            <a:cs typeface="Vani" panose="020B0502040204020203" pitchFamily="34" charset="0"/>
                          </a:rPr>
                          <m:t>0.7504</m:t>
                        </m:r>
                      </m:e>
                    </m:ra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0.87</m:t>
                    </m:r>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solidFill>
                          <a:srgbClr val="FF0000"/>
                        </a:solidFill>
                        <a:latin typeface="Cambria Math" panose="02040503050406030204" pitchFamily="18" charset="0"/>
                        <a:cs typeface="Vani" panose="020B0502040204020203" pitchFamily="34" charset="0"/>
                      </a:rPr>
                      <m:t>𝑃</m:t>
                    </m:r>
                    <m:d>
                      <m:dPr>
                        <m:ctrlPr>
                          <a:rPr lang="en-US" sz="2300" b="0" i="1" smtClean="0">
                            <a:solidFill>
                              <a:srgbClr val="FF0000"/>
                            </a:solidFill>
                            <a:latin typeface="Cambria Math" panose="02040503050406030204" pitchFamily="18" charset="0"/>
                            <a:cs typeface="Vani" panose="020B0502040204020203" pitchFamily="34" charset="0"/>
                          </a:rPr>
                        </m:ctrlPr>
                      </m:dPr>
                      <m:e>
                        <m:r>
                          <a:rPr lang="en-US" sz="2300" b="0" i="1" smtClean="0">
                            <a:solidFill>
                              <a:srgbClr val="FF0000"/>
                            </a:solidFill>
                            <a:latin typeface="Cambria Math" panose="02040503050406030204" pitchFamily="18" charset="0"/>
                            <a:cs typeface="Vani" panose="020B0502040204020203" pitchFamily="34" charset="0"/>
                          </a:rPr>
                          <m:t>3</m:t>
                        </m:r>
                      </m:e>
                    </m:d>
                    <m:r>
                      <a:rPr lang="en-US" sz="2300" b="0" i="1" smtClean="0">
                        <a:solidFill>
                          <a:srgbClr val="FF0000"/>
                        </a:solidFill>
                        <a:latin typeface="Cambria Math" panose="02040503050406030204" pitchFamily="18" charset="0"/>
                        <a:cs typeface="Vani" panose="020B0502040204020203" pitchFamily="34" charset="0"/>
                      </a:rPr>
                      <m:t>=0.111</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&gt;0.05</m:t>
                    </m:r>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r>
                  <a:rPr lang="en-US" sz="2300" dirty="0" smtClean="0">
                    <a:solidFill>
                      <a:srgbClr val="FF0000"/>
                    </a:solidFill>
                    <a:latin typeface="Vani" panose="020B0502040204020203" pitchFamily="34" charset="0"/>
                    <a:cs typeface="Vani" panose="020B0502040204020203" pitchFamily="34" charset="0"/>
                  </a:rPr>
                  <a:t>Therefore, the probability of the family having only 3 boys is not unusual</a:t>
                </a:r>
                <a:r>
                  <a:rPr lang="en-US" sz="2300" dirty="0" smtClean="0">
                    <a:latin typeface="Vani" panose="020B0502040204020203" pitchFamily="34" charset="0"/>
                    <a:cs typeface="Vani" panose="020B0502040204020203" pitchFamily="34" charset="0"/>
                  </a:rPr>
                  <a:t>.</a:t>
                </a:r>
                <a:endParaRPr lang="en-US" sz="2300" b="0" dirty="0" smtClean="0">
                  <a:latin typeface="Vani" panose="020B0502040204020203" pitchFamily="34"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074100737"/>
                  </p:ext>
                </p:extLst>
              </p:nvPr>
            </p:nvGraphicFramePr>
            <p:xfrm>
              <a:off x="0" y="1738184"/>
              <a:ext cx="12192000" cy="222612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1" i="1" smtClean="0">
                                        <a:latin typeface="Cambria Math" panose="02040503050406030204" pitchFamily="18" charset="0"/>
                                      </a:rPr>
                                      <m:t>𝟐</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1" i="1" smtClean="0">
                                        <a:latin typeface="Cambria Math" panose="02040503050406030204" pitchFamily="18" charset="0"/>
                                      </a:rPr>
                                      <m:t>𝟐</m:t>
                                    </m:r>
                                  </m:sup>
                                </m:sSup>
                                <m:r>
                                  <a:rPr lang="en-US" b="1" i="1" smtClean="0">
                                    <a:latin typeface="Cambria Math" panose="02040503050406030204" pitchFamily="18" charset="0"/>
                                  </a:rPr>
                                  <m:t>∗</m:t>
                                </m:r>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0.141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0.389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0.389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0.389</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0.359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0.718</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1.436</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0.333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0.999</m:t>
                                </m:r>
                              </m:oMath>
                            </m:oMathPara>
                          </a14:m>
                          <a:endParaRPr lang="en-US" dirty="0"/>
                        </a:p>
                      </a:txBody>
                      <a:tcPr/>
                    </a:tc>
                  </a:tr>
                  <a:tr h="370840">
                    <a:tc>
                      <a:txBody>
                        <a:bodyPr/>
                        <a:lstStyle/>
                        <a:p>
                          <a:endParaRPr lang="en-US" dirty="0"/>
                        </a:p>
                      </a:txBody>
                      <a:tcPr/>
                    </a:tc>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d>
                                <m:r>
                                  <a:rPr lang="en-US" b="0" i="1" smtClean="0">
                                    <a:latin typeface="Cambria Math" panose="02040503050406030204" pitchFamily="18" charset="0"/>
                                    <a:ea typeface="Cambria Math" panose="02040503050406030204" pitchFamily="18" charset="0"/>
                                  </a:rPr>
                                  <m:t>=1.44</m:t>
                                </m:r>
                              </m:oMath>
                            </m:oMathPara>
                          </a14:m>
                          <a:endParaRPr lang="en-US" dirty="0"/>
                        </a:p>
                      </a:txBody>
                      <a:tcPr/>
                    </a:tc>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d>
                                <m:r>
                                  <a:rPr lang="en-US" b="0" i="1" smtClean="0">
                                    <a:latin typeface="Cambria Math" panose="02040503050406030204" pitchFamily="18" charset="0"/>
                                    <a:ea typeface="Cambria Math" panose="02040503050406030204" pitchFamily="18" charset="0"/>
                                  </a:rPr>
                                  <m:t>=2.824</m:t>
                                </m:r>
                              </m:oMath>
                            </m:oMathPara>
                          </a14:m>
                          <a:endParaRPr lang="en-US" dirty="0"/>
                        </a:p>
                      </a:txBody>
                      <a:tcPr/>
                    </a:tc>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074100737"/>
                  </p:ext>
                </p:extLst>
              </p:nvPr>
            </p:nvGraphicFramePr>
            <p:xfrm>
              <a:off x="0" y="1738184"/>
              <a:ext cx="12192000" cy="222612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1920">
                    <a:tc>
                      <a:txBody>
                        <a:bodyPr/>
                        <a:lstStyle/>
                        <a:p>
                          <a:endParaRPr lang="en-US"/>
                        </a:p>
                      </a:txBody>
                      <a:tcPr>
                        <a:blipFill rotWithShape="0">
                          <a:blip r:embed="rId3"/>
                          <a:stretch>
                            <a:fillRect l="-500" t="-1639" r="-401250" b="-503279"/>
                          </a:stretch>
                        </a:blipFill>
                      </a:tcPr>
                    </a:tc>
                    <a:tc>
                      <a:txBody>
                        <a:bodyPr/>
                        <a:lstStyle/>
                        <a:p>
                          <a:endParaRPr lang="en-US"/>
                        </a:p>
                      </a:txBody>
                      <a:tcPr>
                        <a:blipFill rotWithShape="0">
                          <a:blip r:embed="rId3"/>
                          <a:stretch>
                            <a:fillRect l="-100500" t="-1639" r="-301250" b="-503279"/>
                          </a:stretch>
                        </a:blipFill>
                      </a:tcPr>
                    </a:tc>
                    <a:tc>
                      <a:txBody>
                        <a:bodyPr/>
                        <a:lstStyle/>
                        <a:p>
                          <a:endParaRPr lang="en-US"/>
                        </a:p>
                      </a:txBody>
                      <a:tcPr>
                        <a:blipFill rotWithShape="0">
                          <a:blip r:embed="rId3"/>
                          <a:stretch>
                            <a:fillRect l="-200500" t="-1639" r="-201250" b="-503279"/>
                          </a:stretch>
                        </a:blipFill>
                      </a:tcPr>
                    </a:tc>
                    <a:tc>
                      <a:txBody>
                        <a:bodyPr/>
                        <a:lstStyle/>
                        <a:p>
                          <a:endParaRPr lang="en-US"/>
                        </a:p>
                      </a:txBody>
                      <a:tcPr>
                        <a:blipFill rotWithShape="0">
                          <a:blip r:embed="rId3"/>
                          <a:stretch>
                            <a:fillRect l="-300500" t="-1639" r="-101250" b="-503279"/>
                          </a:stretch>
                        </a:blipFill>
                      </a:tcPr>
                    </a:tc>
                    <a:tc>
                      <a:txBody>
                        <a:bodyPr/>
                        <a:lstStyle/>
                        <a:p>
                          <a:endParaRPr lang="en-US"/>
                        </a:p>
                      </a:txBody>
                      <a:tcPr>
                        <a:blipFill rotWithShape="0">
                          <a:blip r:embed="rId3"/>
                          <a:stretch>
                            <a:fillRect l="-400500" t="-1639" r="-1250" b="-503279"/>
                          </a:stretch>
                        </a:blipFill>
                      </a:tcPr>
                    </a:tc>
                  </a:tr>
                  <a:tr h="370840">
                    <a:tc>
                      <a:txBody>
                        <a:bodyPr/>
                        <a:lstStyle/>
                        <a:p>
                          <a:endParaRPr lang="en-US"/>
                        </a:p>
                      </a:txBody>
                      <a:tcPr>
                        <a:blipFill rotWithShape="0">
                          <a:blip r:embed="rId3"/>
                          <a:stretch>
                            <a:fillRect l="-500" t="-101639" r="-401250" b="-403279"/>
                          </a:stretch>
                        </a:blipFill>
                      </a:tcPr>
                    </a:tc>
                    <a:tc>
                      <a:txBody>
                        <a:bodyPr/>
                        <a:lstStyle/>
                        <a:p>
                          <a:endParaRPr lang="en-US"/>
                        </a:p>
                      </a:txBody>
                      <a:tcPr>
                        <a:blipFill rotWithShape="0">
                          <a:blip r:embed="rId3"/>
                          <a:stretch>
                            <a:fillRect l="-100500" t="-101639" r="-301250" b="-403279"/>
                          </a:stretch>
                        </a:blipFill>
                      </a:tcPr>
                    </a:tc>
                    <a:tc>
                      <a:txBody>
                        <a:bodyPr/>
                        <a:lstStyle/>
                        <a:p>
                          <a:endParaRPr lang="en-US"/>
                        </a:p>
                      </a:txBody>
                      <a:tcPr>
                        <a:blipFill rotWithShape="0">
                          <a:blip r:embed="rId3"/>
                          <a:stretch>
                            <a:fillRect l="-200500" t="-101639" r="-201250" b="-403279"/>
                          </a:stretch>
                        </a:blipFill>
                      </a:tcPr>
                    </a:tc>
                    <a:tc>
                      <a:txBody>
                        <a:bodyPr/>
                        <a:lstStyle/>
                        <a:p>
                          <a:endParaRPr lang="en-US"/>
                        </a:p>
                      </a:txBody>
                      <a:tcPr>
                        <a:blipFill rotWithShape="0">
                          <a:blip r:embed="rId3"/>
                          <a:stretch>
                            <a:fillRect l="-300500" t="-101639" r="-101250" b="-403279"/>
                          </a:stretch>
                        </a:blipFill>
                      </a:tcPr>
                    </a:tc>
                    <a:tc>
                      <a:txBody>
                        <a:bodyPr/>
                        <a:lstStyle/>
                        <a:p>
                          <a:endParaRPr lang="en-US"/>
                        </a:p>
                      </a:txBody>
                      <a:tcPr>
                        <a:blipFill rotWithShape="0">
                          <a:blip r:embed="rId3"/>
                          <a:stretch>
                            <a:fillRect l="-400500" t="-101639" r="-1250" b="-403279"/>
                          </a:stretch>
                        </a:blipFill>
                      </a:tcPr>
                    </a:tc>
                  </a:tr>
                  <a:tr h="370840">
                    <a:tc>
                      <a:txBody>
                        <a:bodyPr/>
                        <a:lstStyle/>
                        <a:p>
                          <a:endParaRPr lang="en-US"/>
                        </a:p>
                      </a:txBody>
                      <a:tcPr>
                        <a:blipFill rotWithShape="0">
                          <a:blip r:embed="rId3"/>
                          <a:stretch>
                            <a:fillRect l="-500" t="-201639" r="-401250" b="-303279"/>
                          </a:stretch>
                        </a:blipFill>
                      </a:tcPr>
                    </a:tc>
                    <a:tc>
                      <a:txBody>
                        <a:bodyPr/>
                        <a:lstStyle/>
                        <a:p>
                          <a:endParaRPr lang="en-US"/>
                        </a:p>
                      </a:txBody>
                      <a:tcPr>
                        <a:blipFill rotWithShape="0">
                          <a:blip r:embed="rId3"/>
                          <a:stretch>
                            <a:fillRect l="-100500" t="-201639" r="-301250" b="-303279"/>
                          </a:stretch>
                        </a:blipFill>
                      </a:tcPr>
                    </a:tc>
                    <a:tc>
                      <a:txBody>
                        <a:bodyPr/>
                        <a:lstStyle/>
                        <a:p>
                          <a:endParaRPr lang="en-US"/>
                        </a:p>
                      </a:txBody>
                      <a:tcPr>
                        <a:blipFill rotWithShape="0">
                          <a:blip r:embed="rId3"/>
                          <a:stretch>
                            <a:fillRect l="-200500" t="-201639" r="-201250" b="-303279"/>
                          </a:stretch>
                        </a:blipFill>
                      </a:tcPr>
                    </a:tc>
                    <a:tc>
                      <a:txBody>
                        <a:bodyPr/>
                        <a:lstStyle/>
                        <a:p>
                          <a:endParaRPr lang="en-US"/>
                        </a:p>
                      </a:txBody>
                      <a:tcPr>
                        <a:blipFill rotWithShape="0">
                          <a:blip r:embed="rId3"/>
                          <a:stretch>
                            <a:fillRect l="-300500" t="-201639" r="-101250" b="-303279"/>
                          </a:stretch>
                        </a:blipFill>
                      </a:tcPr>
                    </a:tc>
                    <a:tc>
                      <a:txBody>
                        <a:bodyPr/>
                        <a:lstStyle/>
                        <a:p>
                          <a:endParaRPr lang="en-US"/>
                        </a:p>
                      </a:txBody>
                      <a:tcPr>
                        <a:blipFill rotWithShape="0">
                          <a:blip r:embed="rId3"/>
                          <a:stretch>
                            <a:fillRect l="-400500" t="-201639" r="-1250" b="-303279"/>
                          </a:stretch>
                        </a:blipFill>
                      </a:tcPr>
                    </a:tc>
                  </a:tr>
                  <a:tr h="370840">
                    <a:tc>
                      <a:txBody>
                        <a:bodyPr/>
                        <a:lstStyle/>
                        <a:p>
                          <a:endParaRPr lang="en-US"/>
                        </a:p>
                      </a:txBody>
                      <a:tcPr>
                        <a:blipFill rotWithShape="0">
                          <a:blip r:embed="rId3"/>
                          <a:stretch>
                            <a:fillRect l="-500" t="-301639" r="-401250" b="-203279"/>
                          </a:stretch>
                        </a:blipFill>
                      </a:tcPr>
                    </a:tc>
                    <a:tc>
                      <a:txBody>
                        <a:bodyPr/>
                        <a:lstStyle/>
                        <a:p>
                          <a:endParaRPr lang="en-US"/>
                        </a:p>
                      </a:txBody>
                      <a:tcPr>
                        <a:blipFill rotWithShape="0">
                          <a:blip r:embed="rId3"/>
                          <a:stretch>
                            <a:fillRect l="-100500" t="-301639" r="-301250" b="-203279"/>
                          </a:stretch>
                        </a:blipFill>
                      </a:tcPr>
                    </a:tc>
                    <a:tc>
                      <a:txBody>
                        <a:bodyPr/>
                        <a:lstStyle/>
                        <a:p>
                          <a:endParaRPr lang="en-US"/>
                        </a:p>
                      </a:txBody>
                      <a:tcPr>
                        <a:blipFill rotWithShape="0">
                          <a:blip r:embed="rId3"/>
                          <a:stretch>
                            <a:fillRect l="-200500" t="-301639" r="-201250" b="-203279"/>
                          </a:stretch>
                        </a:blipFill>
                      </a:tcPr>
                    </a:tc>
                    <a:tc>
                      <a:txBody>
                        <a:bodyPr/>
                        <a:lstStyle/>
                        <a:p>
                          <a:endParaRPr lang="en-US"/>
                        </a:p>
                      </a:txBody>
                      <a:tcPr>
                        <a:blipFill rotWithShape="0">
                          <a:blip r:embed="rId3"/>
                          <a:stretch>
                            <a:fillRect l="-300500" t="-301639" r="-101250" b="-203279"/>
                          </a:stretch>
                        </a:blipFill>
                      </a:tcPr>
                    </a:tc>
                    <a:tc>
                      <a:txBody>
                        <a:bodyPr/>
                        <a:lstStyle/>
                        <a:p>
                          <a:endParaRPr lang="en-US"/>
                        </a:p>
                      </a:txBody>
                      <a:tcPr>
                        <a:blipFill rotWithShape="0">
                          <a:blip r:embed="rId3"/>
                          <a:stretch>
                            <a:fillRect l="-400500" t="-301639" r="-1250" b="-203279"/>
                          </a:stretch>
                        </a:blipFill>
                      </a:tcPr>
                    </a:tc>
                  </a:tr>
                  <a:tr h="370840">
                    <a:tc>
                      <a:txBody>
                        <a:bodyPr/>
                        <a:lstStyle/>
                        <a:p>
                          <a:endParaRPr lang="en-US"/>
                        </a:p>
                      </a:txBody>
                      <a:tcPr>
                        <a:blipFill rotWithShape="0">
                          <a:blip r:embed="rId3"/>
                          <a:stretch>
                            <a:fillRect l="-500" t="-401639" r="-401250" b="-103279"/>
                          </a:stretch>
                        </a:blipFill>
                      </a:tcPr>
                    </a:tc>
                    <a:tc>
                      <a:txBody>
                        <a:bodyPr/>
                        <a:lstStyle/>
                        <a:p>
                          <a:endParaRPr lang="en-US"/>
                        </a:p>
                      </a:txBody>
                      <a:tcPr>
                        <a:blipFill rotWithShape="0">
                          <a:blip r:embed="rId3"/>
                          <a:stretch>
                            <a:fillRect l="-100500" t="-401639" r="-301250" b="-103279"/>
                          </a:stretch>
                        </a:blipFill>
                      </a:tcPr>
                    </a:tc>
                    <a:tc>
                      <a:txBody>
                        <a:bodyPr/>
                        <a:lstStyle/>
                        <a:p>
                          <a:endParaRPr lang="en-US"/>
                        </a:p>
                      </a:txBody>
                      <a:tcPr>
                        <a:blipFill rotWithShape="0">
                          <a:blip r:embed="rId3"/>
                          <a:stretch>
                            <a:fillRect l="-200500" t="-401639" r="-201250" b="-103279"/>
                          </a:stretch>
                        </a:blipFill>
                      </a:tcPr>
                    </a:tc>
                    <a:tc>
                      <a:txBody>
                        <a:bodyPr/>
                        <a:lstStyle/>
                        <a:p>
                          <a:endParaRPr lang="en-US"/>
                        </a:p>
                      </a:txBody>
                      <a:tcPr>
                        <a:blipFill rotWithShape="0">
                          <a:blip r:embed="rId3"/>
                          <a:stretch>
                            <a:fillRect l="-300500" t="-401639" r="-101250" b="-103279"/>
                          </a:stretch>
                        </a:blipFill>
                      </a:tcPr>
                    </a:tc>
                    <a:tc>
                      <a:txBody>
                        <a:bodyPr/>
                        <a:lstStyle/>
                        <a:p>
                          <a:endParaRPr lang="en-US"/>
                        </a:p>
                      </a:txBody>
                      <a:tcPr>
                        <a:blipFill rotWithShape="0">
                          <a:blip r:embed="rId3"/>
                          <a:stretch>
                            <a:fillRect l="-400500" t="-401639" r="-1250" b="-103279"/>
                          </a:stretch>
                        </a:blipFill>
                      </a:tcPr>
                    </a:tc>
                  </a:tr>
                  <a:tr h="370840">
                    <a:tc>
                      <a:txBody>
                        <a:bodyPr/>
                        <a:lstStyle/>
                        <a:p>
                          <a:endParaRPr lang="en-US" dirty="0"/>
                        </a:p>
                      </a:txBody>
                      <a:tcPr/>
                    </a:tc>
                    <a:tc>
                      <a:txBody>
                        <a:bodyPr/>
                        <a:lstStyle/>
                        <a:p>
                          <a:endParaRPr lang="en-US" dirty="0"/>
                        </a:p>
                      </a:txBody>
                      <a:tcPr/>
                    </a:tc>
                    <a:tc>
                      <a:txBody>
                        <a:bodyPr/>
                        <a:lstStyle/>
                        <a:p>
                          <a:endParaRPr lang="en-US"/>
                        </a:p>
                      </a:txBody>
                      <a:tcPr>
                        <a:blipFill rotWithShape="0">
                          <a:blip r:embed="rId3"/>
                          <a:stretch>
                            <a:fillRect l="-200500" t="-501639" r="-201250" b="-3279"/>
                          </a:stretch>
                        </a:blipFill>
                      </a:tcPr>
                    </a:tc>
                    <a:tc>
                      <a:txBody>
                        <a:bodyPr/>
                        <a:lstStyle/>
                        <a:p>
                          <a:endParaRPr lang="en-US" dirty="0"/>
                        </a:p>
                      </a:txBody>
                      <a:tcPr/>
                    </a:tc>
                    <a:tc>
                      <a:txBody>
                        <a:bodyPr/>
                        <a:lstStyle/>
                        <a:p>
                          <a:endParaRPr lang="en-US"/>
                        </a:p>
                      </a:txBody>
                      <a:tcPr>
                        <a:blipFill rotWithShape="0">
                          <a:blip r:embed="rId3"/>
                          <a:stretch>
                            <a:fillRect l="-400500" t="-501639" r="-1250" b="-3279"/>
                          </a:stretch>
                        </a:blipFill>
                      </a:tcPr>
                    </a:tc>
                  </a:tr>
                </a:tbl>
              </a:graphicData>
            </a:graphic>
          </p:graphicFrame>
        </mc:Fallback>
      </mc:AlternateContent>
    </p:spTree>
    <p:extLst>
      <p:ext uri="{BB962C8B-B14F-4D97-AF65-F5344CB8AC3E}">
        <p14:creationId xmlns:p14="http://schemas.microsoft.com/office/powerpoint/2010/main" val="159570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2-1.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(2.)</a:t>
                </a:r>
                <a:r>
                  <a:rPr lang="en-US" sz="2300" dirty="0">
                    <a:solidFill>
                      <a:srgbClr val="7030A0"/>
                    </a:solidFill>
                    <a:latin typeface="Vani" panose="020B0502040204020203" pitchFamily="34" charset="0"/>
                    <a:cs typeface="Vani" panose="020B0502040204020203" pitchFamily="34" charset="0"/>
                  </a:rPr>
                  <a:t>	</a:t>
                </a:r>
                <a:r>
                  <a:rPr lang="en-US" sz="2300" dirty="0">
                    <a:latin typeface="Vani" panose="020B0502040204020203" pitchFamily="34" charset="0"/>
                    <a:cs typeface="Vani" panose="020B0502040204020203" pitchFamily="34" charset="0"/>
                  </a:rPr>
                  <a:t>The table show the random variable, </a:t>
                </a:r>
                <a14:m>
                  <m:oMath xmlns:m="http://schemas.openxmlformats.org/officeDocument/2006/math">
                    <m:r>
                      <a:rPr lang="en-US" sz="2300" i="1" dirty="0">
                        <a:latin typeface="Cambria Math" panose="02040503050406030204" pitchFamily="18" charset="0"/>
                        <a:cs typeface="Vani" panose="020B0502040204020203" pitchFamily="34" charset="0"/>
                      </a:rPr>
                      <m:t>𝑥</m:t>
                    </m:r>
                    <m:r>
                      <a:rPr lang="en-US" sz="2300" i="1" dirty="0">
                        <a:latin typeface="Cambria Math" panose="02040503050406030204" pitchFamily="18" charset="0"/>
                        <a:cs typeface="Vani" panose="020B0502040204020203" pitchFamily="34" charset="0"/>
                      </a:rPr>
                      <m:t> </m:t>
                    </m:r>
                  </m:oMath>
                </a14:m>
                <a:r>
                  <a:rPr lang="en-US" sz="2300" dirty="0">
                    <a:latin typeface="Vani" panose="020B0502040204020203" pitchFamily="34" charset="0"/>
                    <a:cs typeface="Vani" panose="020B0502040204020203" pitchFamily="34" charset="0"/>
                  </a:rPr>
                  <a:t>and the probability of the random variable, </a:t>
                </a:r>
                <a14:m>
                  <m:oMath xmlns:m="http://schemas.openxmlformats.org/officeDocument/2006/math">
                    <m:r>
                      <a:rPr lang="en-US" sz="2300" i="1" dirty="0">
                        <a:latin typeface="Cambria Math" panose="02040503050406030204" pitchFamily="18" charset="0"/>
                        <a:cs typeface="Vani" panose="020B0502040204020203" pitchFamily="34" charset="0"/>
                      </a:rPr>
                      <m:t>𝑃</m:t>
                    </m:r>
                    <m:r>
                      <a:rPr lang="en-US" sz="2300" i="1" dirty="0">
                        <a:latin typeface="Cambria Math" panose="02040503050406030204" pitchFamily="18" charset="0"/>
                        <a:cs typeface="Vani" panose="020B0502040204020203" pitchFamily="34" charset="0"/>
                      </a:rPr>
                      <m:t>(</m:t>
                    </m:r>
                    <m:r>
                      <a:rPr lang="en-US" sz="2300" i="1" dirty="0">
                        <a:latin typeface="Cambria Math" panose="02040503050406030204" pitchFamily="18" charset="0"/>
                        <a:cs typeface="Vani" panose="020B0502040204020203" pitchFamily="34" charset="0"/>
                      </a:rPr>
                      <m:t>𝑥</m:t>
                    </m:r>
                    <m:r>
                      <a:rPr lang="en-US" sz="2300" i="1" dirty="0">
                        <a:latin typeface="Cambria Math" panose="02040503050406030204" pitchFamily="18" charset="0"/>
                        <a:cs typeface="Vani" panose="020B0502040204020203" pitchFamily="34" charset="0"/>
                      </a:rPr>
                      <m:t>)</m:t>
                    </m:r>
                  </m:oMath>
                </a14:m>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r>
                  <a:rPr lang="en-US" sz="2300" dirty="0">
                    <a:latin typeface="Vani" panose="020B0502040204020203" pitchFamily="34" charset="0"/>
                    <a:cs typeface="Vani" panose="020B0502040204020203" pitchFamily="34" charset="0"/>
                  </a:rPr>
                  <a:t>The random variable represents the number of </a:t>
                </a:r>
                <a:r>
                  <a:rPr lang="en-US" sz="2300" dirty="0" smtClean="0">
                    <a:latin typeface="Vani" panose="020B0502040204020203" pitchFamily="34" charset="0"/>
                    <a:cs typeface="Vani" panose="020B0502040204020203" pitchFamily="34" charset="0"/>
                  </a:rPr>
                  <a:t>Hispanics on a panel of 12 jury in a predominantly Hispanic population.</a:t>
                </a:r>
              </a:p>
              <a:p>
                <a:pPr>
                  <a:lnSpc>
                    <a:spcPct val="150000"/>
                  </a:lnSpc>
                </a:pPr>
                <a:r>
                  <a:rPr lang="en-US" sz="2300" dirty="0" smtClean="0">
                    <a:latin typeface="Vani" panose="020B0502040204020203" pitchFamily="34" charset="0"/>
                    <a:cs typeface="Vani" panose="020B0502040204020203" pitchFamily="34" charset="0"/>
                  </a:rPr>
                  <a:t>(a.)	Determine the probability of exactly 5 Hispanics among 12 jurors.</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5</m:t>
                        </m:r>
                      </m:e>
                    </m:d>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0.193</m:t>
                    </m:r>
                  </m:oMath>
                </a14:m>
                <a:endParaRPr lang="en-US" sz="2300" b="0" dirty="0" smtClean="0">
                  <a:solidFill>
                    <a:srgbClr val="FF0000"/>
                  </a:solidFill>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	Determine the probability of 5 or fewer Hispanics among 12 jurors. </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≤5</m:t>
                        </m:r>
                      </m:e>
                    </m:d>
                    <m:r>
                      <a:rPr lang="en-US" sz="2300" b="0" i="1" smtClean="0">
                        <a:latin typeface="Cambria Math" panose="02040503050406030204" pitchFamily="18" charset="0"/>
                        <a:ea typeface="Cambria Math" panose="02040503050406030204" pitchFamily="18" charset="0"/>
                        <a:cs typeface="Vani" panose="020B0502040204020203" pitchFamily="34" charset="0"/>
                      </a:rPr>
                      <m:t>=0.000+0.003+0.016+0.054+0.121+0.193=</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0.387</m:t>
                    </m:r>
                  </m:oMath>
                </a14:m>
                <a:endParaRPr lang="en-US" sz="2300" dirty="0">
                  <a:solidFill>
                    <a:srgbClr val="FF0000"/>
                  </a:solidFill>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5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32477367"/>
                  </p:ext>
                </p:extLst>
              </p:nvPr>
            </p:nvGraphicFramePr>
            <p:xfrm>
              <a:off x="0" y="2301330"/>
              <a:ext cx="12191998" cy="74168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857"/>
                    <a:gridCol w="870857"/>
                    <a:gridCol w="870857"/>
                    <a:gridCol w="870857"/>
                    <a:gridCol w="870857"/>
                    <a:gridCol w="870857"/>
                    <a:gridCol w="870857"/>
                    <a:gridCol w="870857"/>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𝟎</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𝟐</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𝟑</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𝟒</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𝟓</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𝟔</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𝟕</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𝟖</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𝟗</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𝟏𝟎</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𝟏𝟐</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0.016</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0.054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0" smtClean="0">
                                    <a:latin typeface="Cambria Math" panose="02040503050406030204" pitchFamily="18" charset="0"/>
                                  </a:rPr>
                                  <m:t>.121</m:t>
                                </m:r>
                              </m:oMath>
                            </m:oMathPara>
                          </a14:m>
                          <a:endParaRPr lang="en-US" b="0" dirty="0" smtClean="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0.193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0.226</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0.193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0.121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0.054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0.016</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0.000</m:t>
                                </m:r>
                              </m:oMath>
                            </m:oMathPara>
                          </a14:m>
                          <a:endParaRPr lang="en-US" dirty="0"/>
                        </a:p>
                      </a:txBody>
                      <a:tcPr/>
                    </a:tc>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32477367"/>
                  </p:ext>
                </p:extLst>
              </p:nvPr>
            </p:nvGraphicFramePr>
            <p:xfrm>
              <a:off x="0" y="2301330"/>
              <a:ext cx="12191998" cy="74168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857"/>
                    <a:gridCol w="870857"/>
                    <a:gridCol w="870857"/>
                    <a:gridCol w="870857"/>
                    <a:gridCol w="870857"/>
                    <a:gridCol w="870857"/>
                    <a:gridCol w="870857"/>
                    <a:gridCol w="870857"/>
                  </a:tblGrid>
                  <a:tr h="370840">
                    <a:tc>
                      <a:txBody>
                        <a:bodyPr/>
                        <a:lstStyle/>
                        <a:p>
                          <a:endParaRPr lang="en-US"/>
                        </a:p>
                      </a:txBody>
                      <a:tcPr>
                        <a:blipFill rotWithShape="0">
                          <a:blip r:embed="rId3"/>
                          <a:stretch>
                            <a:fillRect l="-1399" t="-1613" r="-1302098" b="-111290"/>
                          </a:stretch>
                        </a:blipFill>
                      </a:tcPr>
                    </a:tc>
                    <a:tc>
                      <a:txBody>
                        <a:bodyPr/>
                        <a:lstStyle/>
                        <a:p>
                          <a:endParaRPr lang="en-US"/>
                        </a:p>
                      </a:txBody>
                      <a:tcPr>
                        <a:blipFill rotWithShape="0">
                          <a:blip r:embed="rId3"/>
                          <a:stretch>
                            <a:fillRect l="-101399" t="-1613" r="-1202098" b="-111290"/>
                          </a:stretch>
                        </a:blipFill>
                      </a:tcPr>
                    </a:tc>
                    <a:tc>
                      <a:txBody>
                        <a:bodyPr/>
                        <a:lstStyle/>
                        <a:p>
                          <a:endParaRPr lang="en-US"/>
                        </a:p>
                      </a:txBody>
                      <a:tcPr>
                        <a:blipFill rotWithShape="0">
                          <a:blip r:embed="rId3"/>
                          <a:stretch>
                            <a:fillRect l="-201399" t="-1613" r="-1102098" b="-111290"/>
                          </a:stretch>
                        </a:blipFill>
                      </a:tcPr>
                    </a:tc>
                    <a:tc>
                      <a:txBody>
                        <a:bodyPr/>
                        <a:lstStyle/>
                        <a:p>
                          <a:endParaRPr lang="en-US"/>
                        </a:p>
                      </a:txBody>
                      <a:tcPr>
                        <a:blipFill rotWithShape="0">
                          <a:blip r:embed="rId3"/>
                          <a:stretch>
                            <a:fillRect l="-303521" t="-1613" r="-1009859" b="-111290"/>
                          </a:stretch>
                        </a:blipFill>
                      </a:tcPr>
                    </a:tc>
                    <a:tc>
                      <a:txBody>
                        <a:bodyPr/>
                        <a:lstStyle/>
                        <a:p>
                          <a:endParaRPr lang="en-US"/>
                        </a:p>
                      </a:txBody>
                      <a:tcPr>
                        <a:blipFill rotWithShape="0">
                          <a:blip r:embed="rId3"/>
                          <a:stretch>
                            <a:fillRect l="-400699" t="-1613" r="-902797" b="-111290"/>
                          </a:stretch>
                        </a:blipFill>
                      </a:tcPr>
                    </a:tc>
                    <a:tc>
                      <a:txBody>
                        <a:bodyPr/>
                        <a:lstStyle/>
                        <a:p>
                          <a:endParaRPr lang="en-US"/>
                        </a:p>
                      </a:txBody>
                      <a:tcPr>
                        <a:blipFill rotWithShape="0">
                          <a:blip r:embed="rId3"/>
                          <a:stretch>
                            <a:fillRect l="-500699" t="-1613" r="-802797" b="-111290"/>
                          </a:stretch>
                        </a:blipFill>
                      </a:tcPr>
                    </a:tc>
                    <a:tc>
                      <a:txBody>
                        <a:bodyPr/>
                        <a:lstStyle/>
                        <a:p>
                          <a:endParaRPr lang="en-US"/>
                        </a:p>
                      </a:txBody>
                      <a:tcPr>
                        <a:blipFill rotWithShape="0">
                          <a:blip r:embed="rId3"/>
                          <a:stretch>
                            <a:fillRect l="-600699" t="-1613" r="-702797" b="-111290"/>
                          </a:stretch>
                        </a:blipFill>
                      </a:tcPr>
                    </a:tc>
                    <a:tc>
                      <a:txBody>
                        <a:bodyPr/>
                        <a:lstStyle/>
                        <a:p>
                          <a:endParaRPr lang="en-US"/>
                        </a:p>
                      </a:txBody>
                      <a:tcPr>
                        <a:blipFill rotWithShape="0">
                          <a:blip r:embed="rId3"/>
                          <a:stretch>
                            <a:fillRect l="-700699" t="-1613" r="-602797" b="-111290"/>
                          </a:stretch>
                        </a:blipFill>
                      </a:tcPr>
                    </a:tc>
                    <a:tc>
                      <a:txBody>
                        <a:bodyPr/>
                        <a:lstStyle/>
                        <a:p>
                          <a:endParaRPr lang="en-US"/>
                        </a:p>
                      </a:txBody>
                      <a:tcPr>
                        <a:blipFill rotWithShape="0">
                          <a:blip r:embed="rId3"/>
                          <a:stretch>
                            <a:fillRect l="-800699" t="-1613" r="-502797" b="-111290"/>
                          </a:stretch>
                        </a:blipFill>
                      </a:tcPr>
                    </a:tc>
                    <a:tc>
                      <a:txBody>
                        <a:bodyPr/>
                        <a:lstStyle/>
                        <a:p>
                          <a:endParaRPr lang="en-US"/>
                        </a:p>
                      </a:txBody>
                      <a:tcPr>
                        <a:blipFill rotWithShape="0">
                          <a:blip r:embed="rId3"/>
                          <a:stretch>
                            <a:fillRect l="-900699" t="-1613" r="-402797" b="-111290"/>
                          </a:stretch>
                        </a:blipFill>
                      </a:tcPr>
                    </a:tc>
                    <a:tc>
                      <a:txBody>
                        <a:bodyPr/>
                        <a:lstStyle/>
                        <a:p>
                          <a:endParaRPr lang="en-US"/>
                        </a:p>
                      </a:txBody>
                      <a:tcPr>
                        <a:blipFill rotWithShape="0">
                          <a:blip r:embed="rId3"/>
                          <a:stretch>
                            <a:fillRect l="-1007746" t="-1613" r="-305634" b="-111290"/>
                          </a:stretch>
                        </a:blipFill>
                      </a:tcPr>
                    </a:tc>
                    <a:tc>
                      <a:txBody>
                        <a:bodyPr/>
                        <a:lstStyle/>
                        <a:p>
                          <a:endParaRPr lang="en-US"/>
                        </a:p>
                      </a:txBody>
                      <a:tcPr>
                        <a:blipFill rotWithShape="0">
                          <a:blip r:embed="rId3"/>
                          <a:stretch>
                            <a:fillRect l="-1100000" t="-1613" r="-203497" b="-111290"/>
                          </a:stretch>
                        </a:blipFill>
                      </a:tcPr>
                    </a:tc>
                    <a:tc>
                      <a:txBody>
                        <a:bodyPr/>
                        <a:lstStyle/>
                        <a:p>
                          <a:endParaRPr lang="en-US"/>
                        </a:p>
                      </a:txBody>
                      <a:tcPr>
                        <a:blipFill rotWithShape="0">
                          <a:blip r:embed="rId3"/>
                          <a:stretch>
                            <a:fillRect l="-1200000" t="-1613" r="-103497" b="-111290"/>
                          </a:stretch>
                        </a:blipFill>
                      </a:tcPr>
                    </a:tc>
                    <a:tc>
                      <a:txBody>
                        <a:bodyPr/>
                        <a:lstStyle/>
                        <a:p>
                          <a:endParaRPr lang="en-US"/>
                        </a:p>
                      </a:txBody>
                      <a:tcPr>
                        <a:blipFill rotWithShape="0">
                          <a:blip r:embed="rId3"/>
                          <a:stretch>
                            <a:fillRect l="-1300000" t="-1613" r="-3497" b="-111290"/>
                          </a:stretch>
                        </a:blipFill>
                      </a:tcPr>
                    </a:tc>
                  </a:tr>
                  <a:tr h="370840">
                    <a:tc>
                      <a:txBody>
                        <a:bodyPr/>
                        <a:lstStyle/>
                        <a:p>
                          <a:endParaRPr lang="en-US"/>
                        </a:p>
                      </a:txBody>
                      <a:tcPr>
                        <a:blipFill rotWithShape="0">
                          <a:blip r:embed="rId3"/>
                          <a:stretch>
                            <a:fillRect l="-1399" t="-103279" r="-1302098" b="-13115"/>
                          </a:stretch>
                        </a:blipFill>
                      </a:tcPr>
                    </a:tc>
                    <a:tc>
                      <a:txBody>
                        <a:bodyPr/>
                        <a:lstStyle/>
                        <a:p>
                          <a:endParaRPr lang="en-US"/>
                        </a:p>
                      </a:txBody>
                      <a:tcPr>
                        <a:blipFill rotWithShape="0">
                          <a:blip r:embed="rId3"/>
                          <a:stretch>
                            <a:fillRect l="-101399" t="-103279" r="-1202098" b="-13115"/>
                          </a:stretch>
                        </a:blipFill>
                      </a:tcPr>
                    </a:tc>
                    <a:tc>
                      <a:txBody>
                        <a:bodyPr/>
                        <a:lstStyle/>
                        <a:p>
                          <a:endParaRPr lang="en-US"/>
                        </a:p>
                      </a:txBody>
                      <a:tcPr>
                        <a:blipFill rotWithShape="0">
                          <a:blip r:embed="rId3"/>
                          <a:stretch>
                            <a:fillRect l="-201399" t="-103279" r="-1102098" b="-13115"/>
                          </a:stretch>
                        </a:blipFill>
                      </a:tcPr>
                    </a:tc>
                    <a:tc>
                      <a:txBody>
                        <a:bodyPr/>
                        <a:lstStyle/>
                        <a:p>
                          <a:endParaRPr lang="en-US"/>
                        </a:p>
                      </a:txBody>
                      <a:tcPr>
                        <a:blipFill rotWithShape="0">
                          <a:blip r:embed="rId3"/>
                          <a:stretch>
                            <a:fillRect l="-303521" t="-103279" r="-1009859" b="-13115"/>
                          </a:stretch>
                        </a:blipFill>
                      </a:tcPr>
                    </a:tc>
                    <a:tc>
                      <a:txBody>
                        <a:bodyPr/>
                        <a:lstStyle/>
                        <a:p>
                          <a:endParaRPr lang="en-US"/>
                        </a:p>
                      </a:txBody>
                      <a:tcPr>
                        <a:blipFill rotWithShape="0">
                          <a:blip r:embed="rId3"/>
                          <a:stretch>
                            <a:fillRect l="-400699" t="-103279" r="-902797" b="-13115"/>
                          </a:stretch>
                        </a:blipFill>
                      </a:tcPr>
                    </a:tc>
                    <a:tc>
                      <a:txBody>
                        <a:bodyPr/>
                        <a:lstStyle/>
                        <a:p>
                          <a:endParaRPr lang="en-US"/>
                        </a:p>
                      </a:txBody>
                      <a:tcPr>
                        <a:blipFill rotWithShape="0">
                          <a:blip r:embed="rId3"/>
                          <a:stretch>
                            <a:fillRect l="-500699" t="-103279" r="-802797" b="-13115"/>
                          </a:stretch>
                        </a:blipFill>
                      </a:tcPr>
                    </a:tc>
                    <a:tc>
                      <a:txBody>
                        <a:bodyPr/>
                        <a:lstStyle/>
                        <a:p>
                          <a:endParaRPr lang="en-US"/>
                        </a:p>
                      </a:txBody>
                      <a:tcPr>
                        <a:blipFill rotWithShape="0">
                          <a:blip r:embed="rId3"/>
                          <a:stretch>
                            <a:fillRect l="-600699" t="-103279" r="-702797" b="-13115"/>
                          </a:stretch>
                        </a:blipFill>
                      </a:tcPr>
                    </a:tc>
                    <a:tc>
                      <a:txBody>
                        <a:bodyPr/>
                        <a:lstStyle/>
                        <a:p>
                          <a:endParaRPr lang="en-US"/>
                        </a:p>
                      </a:txBody>
                      <a:tcPr>
                        <a:blipFill rotWithShape="0">
                          <a:blip r:embed="rId3"/>
                          <a:stretch>
                            <a:fillRect l="-700699" t="-103279" r="-602797" b="-13115"/>
                          </a:stretch>
                        </a:blipFill>
                      </a:tcPr>
                    </a:tc>
                    <a:tc>
                      <a:txBody>
                        <a:bodyPr/>
                        <a:lstStyle/>
                        <a:p>
                          <a:endParaRPr lang="en-US"/>
                        </a:p>
                      </a:txBody>
                      <a:tcPr>
                        <a:blipFill rotWithShape="0">
                          <a:blip r:embed="rId3"/>
                          <a:stretch>
                            <a:fillRect l="-800699" t="-103279" r="-502797" b="-13115"/>
                          </a:stretch>
                        </a:blipFill>
                      </a:tcPr>
                    </a:tc>
                    <a:tc>
                      <a:txBody>
                        <a:bodyPr/>
                        <a:lstStyle/>
                        <a:p>
                          <a:endParaRPr lang="en-US"/>
                        </a:p>
                      </a:txBody>
                      <a:tcPr>
                        <a:blipFill rotWithShape="0">
                          <a:blip r:embed="rId3"/>
                          <a:stretch>
                            <a:fillRect l="-900699" t="-103279" r="-402797" b="-13115"/>
                          </a:stretch>
                        </a:blipFill>
                      </a:tcPr>
                    </a:tc>
                    <a:tc>
                      <a:txBody>
                        <a:bodyPr/>
                        <a:lstStyle/>
                        <a:p>
                          <a:endParaRPr lang="en-US"/>
                        </a:p>
                      </a:txBody>
                      <a:tcPr>
                        <a:blipFill rotWithShape="0">
                          <a:blip r:embed="rId3"/>
                          <a:stretch>
                            <a:fillRect l="-1007746" t="-103279" r="-305634" b="-13115"/>
                          </a:stretch>
                        </a:blipFill>
                      </a:tcPr>
                    </a:tc>
                    <a:tc>
                      <a:txBody>
                        <a:bodyPr/>
                        <a:lstStyle/>
                        <a:p>
                          <a:endParaRPr lang="en-US"/>
                        </a:p>
                      </a:txBody>
                      <a:tcPr>
                        <a:blipFill rotWithShape="0">
                          <a:blip r:embed="rId3"/>
                          <a:stretch>
                            <a:fillRect l="-1100000" t="-103279" r="-203497" b="-13115"/>
                          </a:stretch>
                        </a:blipFill>
                      </a:tcPr>
                    </a:tc>
                    <a:tc>
                      <a:txBody>
                        <a:bodyPr/>
                        <a:lstStyle/>
                        <a:p>
                          <a:endParaRPr lang="en-US"/>
                        </a:p>
                      </a:txBody>
                      <a:tcPr>
                        <a:blipFill rotWithShape="0">
                          <a:blip r:embed="rId3"/>
                          <a:stretch>
                            <a:fillRect l="-1200000" t="-103279" r="-103497" b="-13115"/>
                          </a:stretch>
                        </a:blipFill>
                      </a:tcPr>
                    </a:tc>
                    <a:tc>
                      <a:txBody>
                        <a:bodyPr/>
                        <a:lstStyle/>
                        <a:p>
                          <a:endParaRPr lang="en-US"/>
                        </a:p>
                      </a:txBody>
                      <a:tcPr>
                        <a:blipFill rotWithShape="0">
                          <a:blip r:embed="rId3"/>
                          <a:stretch>
                            <a:fillRect l="-1300000" t="-103279" r="-3497" b="-13115"/>
                          </a:stretch>
                        </a:blipFill>
                      </a:tcPr>
                    </a:tc>
                  </a:tr>
                </a:tbl>
              </a:graphicData>
            </a:graphic>
          </p:graphicFrame>
        </mc:Fallback>
      </mc:AlternateContent>
    </p:spTree>
    <p:extLst>
      <p:ext uri="{BB962C8B-B14F-4D97-AF65-F5344CB8AC3E}">
        <p14:creationId xmlns:p14="http://schemas.microsoft.com/office/powerpoint/2010/main" val="295722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2-2.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500" dirty="0" smtClean="0">
                    <a:solidFill>
                      <a:srgbClr val="FF0000"/>
                    </a:solidFill>
                    <a:latin typeface="Vani" panose="020B0502040204020203" pitchFamily="34" charset="0"/>
                    <a:cs typeface="Vani" panose="020B0502040204020203" pitchFamily="34" charset="0"/>
                  </a:rPr>
                  <a:t>This probability gives us a useful information on whether 5 Hispanics among 12 jurors is unusually low because it measures the probability of 5 or fewer successes.</a:t>
                </a:r>
              </a:p>
              <a:p>
                <a:pPr>
                  <a:lnSpc>
                    <a:spcPct val="150000"/>
                  </a:lnSpc>
                </a:pPr>
                <a:r>
                  <a:rPr lang="en-US" sz="2500" dirty="0" smtClean="0">
                    <a:solidFill>
                      <a:srgbClr val="FF0000"/>
                    </a:solidFill>
                    <a:latin typeface="Vani" panose="020B0502040204020203" pitchFamily="34" charset="0"/>
                    <a:cs typeface="Vani" panose="020B0502040204020203" pitchFamily="34" charset="0"/>
                  </a:rPr>
                  <a:t>This probability is greater than 0.05. </a:t>
                </a:r>
                <a14:m>
                  <m:oMath xmlns:m="http://schemas.openxmlformats.org/officeDocument/2006/math">
                    <m:r>
                      <a:rPr lang="en-US" sz="2500" b="0" i="0" smtClean="0">
                        <a:solidFill>
                          <a:srgbClr val="FF0000"/>
                        </a:solidFill>
                        <a:latin typeface="Cambria Math" panose="02040503050406030204" pitchFamily="18" charset="0"/>
                        <a:cs typeface="Vani" panose="020B0502040204020203" pitchFamily="34" charset="0"/>
                      </a:rPr>
                      <m:t>   </m:t>
                    </m:r>
                    <m:r>
                      <a:rPr lang="en-US" sz="2500" i="1">
                        <a:solidFill>
                          <a:srgbClr val="FF0000"/>
                        </a:solidFill>
                        <a:latin typeface="Cambria Math" panose="02040503050406030204" pitchFamily="18" charset="0"/>
                        <a:cs typeface="Vani" panose="020B0502040204020203" pitchFamily="34" charset="0"/>
                      </a:rPr>
                      <m:t>𝑃</m:t>
                    </m:r>
                    <m:d>
                      <m:dPr>
                        <m:ctrlPr>
                          <a:rPr lang="en-US" sz="2500" i="1">
                            <a:solidFill>
                              <a:srgbClr val="FF0000"/>
                            </a:solidFill>
                            <a:latin typeface="Cambria Math" panose="02040503050406030204" pitchFamily="18" charset="0"/>
                            <a:cs typeface="Vani" panose="020B0502040204020203" pitchFamily="34" charset="0"/>
                          </a:rPr>
                        </m:ctrlPr>
                      </m:dPr>
                      <m:e>
                        <m:r>
                          <a:rPr lang="en-US" sz="2500" i="1">
                            <a:solidFill>
                              <a:srgbClr val="FF0000"/>
                            </a:solidFill>
                            <a:latin typeface="Cambria Math" panose="02040503050406030204" pitchFamily="18" charset="0"/>
                            <a:ea typeface="Cambria Math" panose="02040503050406030204" pitchFamily="18" charset="0"/>
                            <a:cs typeface="Vani" panose="020B0502040204020203" pitchFamily="34" charset="0"/>
                          </a:rPr>
                          <m:t>≤5</m:t>
                        </m:r>
                      </m:e>
                    </m:d>
                    <m:r>
                      <a:rPr lang="en-US" sz="2500" i="1">
                        <a:solidFill>
                          <a:srgbClr val="FF0000"/>
                        </a:solidFill>
                        <a:latin typeface="Cambria Math" panose="02040503050406030204" pitchFamily="18" charset="0"/>
                        <a:ea typeface="Cambria Math" panose="02040503050406030204" pitchFamily="18" charset="0"/>
                        <a:cs typeface="Vani" panose="020B0502040204020203" pitchFamily="34" charset="0"/>
                      </a:rPr>
                      <m:t>=</m:t>
                    </m:r>
                    <m:r>
                      <a:rPr lang="en-US" sz="25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0.387.                 0.387&gt;0.05</m:t>
                    </m:r>
                  </m:oMath>
                </a14:m>
                <a:r>
                  <a:rPr lang="en-US" sz="2500" dirty="0" smtClean="0">
                    <a:solidFill>
                      <a:srgbClr val="FF0000"/>
                    </a:solidFill>
                    <a:latin typeface="Vani" panose="020B0502040204020203" pitchFamily="34" charset="0"/>
                    <a:cs typeface="Vani" panose="020B0502040204020203" pitchFamily="34" charset="0"/>
                  </a:rPr>
                  <a:t> </a:t>
                </a:r>
              </a:p>
              <a:p>
                <a:pPr>
                  <a:lnSpc>
                    <a:spcPct val="150000"/>
                  </a:lnSpc>
                </a:pPr>
                <a:r>
                  <a:rPr lang="en-US" sz="2500" dirty="0" smtClean="0">
                    <a:solidFill>
                      <a:srgbClr val="FF0000"/>
                    </a:solidFill>
                    <a:latin typeface="Vani" panose="020B0502040204020203" pitchFamily="34" charset="0"/>
                    <a:cs typeface="Vani" panose="020B0502040204020203" pitchFamily="34" charset="0"/>
                  </a:rPr>
                  <a:t>Hence, 5 is not unusually low number of Hispanics among 12 jurors.</a:t>
                </a: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450"/>
                </a:stretch>
              </a:blipFill>
            </p:spPr>
            <p:txBody>
              <a:bodyPr/>
              <a:lstStyle/>
              <a:p>
                <a:r>
                  <a:rPr lang="en-US">
                    <a:noFill/>
                  </a:rPr>
                  <a:t> </a:t>
                </a:r>
              </a:p>
            </p:txBody>
          </p:sp>
        </mc:Fallback>
      </mc:AlternateContent>
    </p:spTree>
    <p:extLst>
      <p:ext uri="{BB962C8B-B14F-4D97-AF65-F5344CB8AC3E}">
        <p14:creationId xmlns:p14="http://schemas.microsoft.com/office/powerpoint/2010/main" val="125957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3-1.</a:t>
            </a:r>
            <a:endParaRPr dirty="0"/>
          </a:p>
        </p:txBody>
      </p:sp>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solidFill>
                  <a:srgbClr val="7030A0"/>
                </a:solidFill>
                <a:latin typeface="Vani" panose="020B0502040204020203" pitchFamily="34" charset="0"/>
                <a:cs typeface="Vani" panose="020B0502040204020203" pitchFamily="34" charset="0"/>
              </a:rPr>
              <a:t>(3.)</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If </a:t>
            </a:r>
            <a:r>
              <a:rPr lang="en-US" sz="2300" dirty="0" err="1" smtClean="0">
                <a:latin typeface="Vani" panose="020B0502040204020203" pitchFamily="34" charset="0"/>
                <a:cs typeface="Vani" panose="020B0502040204020203" pitchFamily="34" charset="0"/>
              </a:rPr>
              <a:t>Cardano</a:t>
            </a:r>
            <a:r>
              <a:rPr lang="en-US" sz="2300" dirty="0" smtClean="0">
                <a:latin typeface="Vani" panose="020B0502040204020203" pitchFamily="34" charset="0"/>
                <a:cs typeface="Vani" panose="020B0502040204020203" pitchFamily="34" charset="0"/>
              </a:rPr>
              <a:t> picks a sequence of three digits from the numbers 0 through 9 in a lottery game, he will pay $1.35</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a:t>
            </a:r>
            <a:r>
              <a:rPr lang="en-US" sz="2300" dirty="0">
                <a:latin typeface="Vani" panose="020B0502040204020203" pitchFamily="34" charset="0"/>
                <a:cs typeface="Vani" panose="020B0502040204020203" pitchFamily="34" charset="0"/>
              </a:rPr>
              <a:t>H</a:t>
            </a:r>
            <a:r>
              <a:rPr lang="en-US" sz="2300" dirty="0" smtClean="0">
                <a:latin typeface="Vani" panose="020B0502040204020203" pitchFamily="34" charset="0"/>
                <a:cs typeface="Vani" panose="020B0502040204020203" pitchFamily="34" charset="0"/>
              </a:rPr>
              <a:t>e </a:t>
            </a:r>
            <a:r>
              <a:rPr lang="en-US" sz="2300" dirty="0">
                <a:latin typeface="Vani" panose="020B0502040204020203" pitchFamily="34" charset="0"/>
                <a:cs typeface="Vani" panose="020B0502040204020203" pitchFamily="34" charset="0"/>
              </a:rPr>
              <a:t>has to pay $1.35 to play the game. </a:t>
            </a:r>
            <a:r>
              <a:rPr lang="en-US" sz="2300" dirty="0" smtClean="0">
                <a:latin typeface="Vani" panose="020B0502040204020203" pitchFamily="34" charset="0"/>
                <a:cs typeface="Vani" panose="020B0502040204020203" pitchFamily="34" charset="0"/>
              </a:rPr>
              <a:t>) If he picks the same sequence of three digits in a drawing, he will win $487.64. </a:t>
            </a:r>
          </a:p>
          <a:p>
            <a:pPr>
              <a:lnSpc>
                <a:spcPct val="150000"/>
              </a:lnSpc>
            </a:pPr>
            <a:r>
              <a:rPr lang="en-US" sz="2300" dirty="0" smtClean="0">
                <a:latin typeface="Vani" panose="020B0502040204020203" pitchFamily="34" charset="0"/>
                <a:cs typeface="Vani" panose="020B0502040204020203" pitchFamily="34" charset="0"/>
              </a:rPr>
              <a:t>(a.)	How many different selections are possible?</a:t>
            </a:r>
          </a:p>
          <a:p>
            <a:pPr>
              <a:lnSpc>
                <a:spcPct val="150000"/>
              </a:lnSpc>
            </a:pPr>
            <a:r>
              <a:rPr lang="en-US" sz="2300" dirty="0" smtClean="0">
                <a:latin typeface="Vani" panose="020B0502040204020203" pitchFamily="34" charset="0"/>
                <a:cs typeface="Vani" panose="020B0502040204020203" pitchFamily="34" charset="0"/>
              </a:rPr>
              <a:t>This is a case of the Fundamental Counting Principle where those numbers can be picked with repetition. If it cannot be picked without repetition, the question will specify such condition.</a:t>
            </a:r>
          </a:p>
          <a:p>
            <a:pPr>
              <a:lnSpc>
                <a:spcPct val="150000"/>
              </a:lnSpc>
            </a:pPr>
            <a:r>
              <a:rPr lang="en-US" sz="2300" dirty="0" smtClean="0">
                <a:latin typeface="Vani" panose="020B0502040204020203" pitchFamily="34" charset="0"/>
                <a:cs typeface="Vani" panose="020B0502040204020203" pitchFamily="34" charset="0"/>
              </a:rPr>
              <a:t>0 through 9 consists of 10 digits</a:t>
            </a:r>
          </a:p>
          <a:p>
            <a:pPr>
              <a:lnSpc>
                <a:spcPct val="150000"/>
              </a:lnSpc>
            </a:pPr>
            <a:endParaRPr lang="en-US" sz="2300" dirty="0" smtClean="0">
              <a:latin typeface="Vani" panose="020B0502040204020203" pitchFamily="34" charset="0"/>
              <a:cs typeface="Vani" panose="020B0502040204020203" pitchFamily="34" charset="0"/>
            </a:endParaRPr>
          </a:p>
          <a:p>
            <a:pPr marL="0" indent="0">
              <a:lnSpc>
                <a:spcPct val="150000"/>
              </a:lnSpc>
              <a:buNone/>
            </a:pPr>
            <a:endParaRPr lang="en-US" sz="2500" i="1" dirty="0" smtClean="0">
              <a:latin typeface="Cambria Math" panose="02040503050406030204" pitchFamily="18" charset="0"/>
              <a:ea typeface="Cambria Math" panose="02040503050406030204" pitchFamily="18"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78645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3-2.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The first number can be any of the 10 digits – 10 ways.</a:t>
                </a:r>
              </a:p>
              <a:p>
                <a:pPr>
                  <a:lnSpc>
                    <a:spcPct val="150000"/>
                  </a:lnSpc>
                </a:pPr>
                <a:r>
                  <a:rPr lang="en-US" sz="2300" dirty="0" smtClean="0">
                    <a:latin typeface="Vani" panose="020B0502040204020203" pitchFamily="34" charset="0"/>
                    <a:cs typeface="Vani" panose="020B0502040204020203" pitchFamily="34" charset="0"/>
                  </a:rPr>
                  <a:t>The second number can be any of the 10 digits – 10 ways.</a:t>
                </a:r>
              </a:p>
              <a:p>
                <a:pPr>
                  <a:lnSpc>
                    <a:spcPct val="150000"/>
                  </a:lnSpc>
                </a:pPr>
                <a:r>
                  <a:rPr lang="en-US" sz="2300" dirty="0" smtClean="0">
                    <a:latin typeface="Vani" panose="020B0502040204020203" pitchFamily="34" charset="0"/>
                    <a:cs typeface="Vani" panose="020B0502040204020203" pitchFamily="34" charset="0"/>
                  </a:rPr>
                  <a:t>The third number can be any of the 10 digits – 10 ways.</a:t>
                </a:r>
              </a:p>
              <a:p>
                <a:pPr>
                  <a:lnSpc>
                    <a:spcPct val="150000"/>
                  </a:lnSpc>
                </a:pPr>
                <a14:m>
                  <m:oMath xmlns:m="http://schemas.openxmlformats.org/officeDocument/2006/math">
                    <m:r>
                      <a:rPr lang="en-US" sz="2300" i="1" dirty="0" smtClean="0">
                        <a:latin typeface="Cambria Math" panose="02040503050406030204" pitchFamily="18" charset="0"/>
                        <a:cs typeface="Vani" panose="020B0502040204020203" pitchFamily="34" charset="0"/>
                      </a:rPr>
                      <m:t>𝑁𝑢𝑚𝑏𝑒𝑟</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𝑜𝑓</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𝑑𝑖𝑓𝑓𝑒𝑟𝑒𝑛𝑡</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𝑠𝑒𝑙𝑒𝑐𝑡𝑖𝑜𝑛𝑠</m:t>
                    </m:r>
                    <m:r>
                      <a:rPr lang="en-US" sz="2300" i="1" dirty="0" smtClean="0">
                        <a:latin typeface="Cambria Math" panose="02040503050406030204" pitchFamily="18" charset="0"/>
                        <a:cs typeface="Vani" panose="020B0502040204020203" pitchFamily="34" charset="0"/>
                      </a:rPr>
                      <m:t> = 10 ∗ 10 ∗ 10=1000</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Determine the probability of winning.</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𝑊𝑖𝑛𝑛𝑖𝑛𝑔</m:t>
                        </m:r>
                      </m:e>
                    </m:d>
                    <m:r>
                      <a:rPr lang="en-US" sz="2300" b="0" i="1" smtClean="0">
                        <a:latin typeface="Cambria Math" panose="02040503050406030204" pitchFamily="18" charset="0"/>
                        <a:cs typeface="Vani" panose="020B0502040204020203" pitchFamily="34" charset="0"/>
                      </a:rPr>
                      <m:t>=1∗1∗1=1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𝑆</m:t>
                        </m:r>
                      </m:e>
                    </m:d>
                    <m:r>
                      <a:rPr lang="en-US" sz="2300" b="0" i="1" smtClean="0">
                        <a:latin typeface="Cambria Math" panose="02040503050406030204" pitchFamily="18" charset="0"/>
                        <a:cs typeface="Vani" panose="020B0502040204020203" pitchFamily="34" charset="0"/>
                      </a:rPr>
                      <m:t>=10∗10∗10=1000</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𝑊𝑖𝑛𝑛𝑖𝑛𝑔</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rPr>
                        </m:ctrlPr>
                      </m:fPr>
                      <m:num>
                        <m:r>
                          <a:rPr lang="en-US" sz="2300" b="0" i="1" smtClean="0">
                            <a:latin typeface="Cambria Math" panose="02040503050406030204" pitchFamily="18" charset="0"/>
                          </a:rPr>
                          <m:t>𝑛</m:t>
                        </m:r>
                        <m:r>
                          <a:rPr lang="en-US" sz="2300" b="0" i="1" smtClean="0">
                            <a:latin typeface="Cambria Math" panose="02040503050406030204" pitchFamily="18" charset="0"/>
                          </a:rPr>
                          <m:t>(</m:t>
                        </m:r>
                        <m:r>
                          <a:rPr lang="en-US" sz="2300" b="0" i="1" smtClean="0">
                            <a:latin typeface="Cambria Math" panose="02040503050406030204" pitchFamily="18" charset="0"/>
                          </a:rPr>
                          <m:t>𝑊𝑖𝑛𝑛𝑖𝑛𝑔</m:t>
                        </m:r>
                        <m:r>
                          <a:rPr lang="en-US" sz="2300" b="0" i="1" smtClean="0">
                            <a:latin typeface="Cambria Math" panose="02040503050406030204" pitchFamily="18" charset="0"/>
                          </a:rPr>
                          <m:t>)</m:t>
                        </m:r>
                      </m:num>
                      <m:den>
                        <m:r>
                          <a:rPr lang="en-US" sz="2300" b="0" i="1" smtClean="0">
                            <a:latin typeface="Cambria Math" panose="02040503050406030204" pitchFamily="18" charset="0"/>
                          </a:rPr>
                          <m:t>𝑛</m:t>
                        </m:r>
                        <m:r>
                          <a:rPr lang="en-US" sz="2300" b="0" i="1" smtClean="0">
                            <a:latin typeface="Cambria Math" panose="02040503050406030204" pitchFamily="18" charset="0"/>
                          </a:rPr>
                          <m:t>(</m:t>
                        </m:r>
                        <m:r>
                          <a:rPr lang="en-US" sz="2300" b="0" i="1" smtClean="0">
                            <a:latin typeface="Cambria Math" panose="02040503050406030204" pitchFamily="18" charset="0"/>
                          </a:rPr>
                          <m:t>𝑆</m:t>
                        </m:r>
                        <m:r>
                          <a:rPr lang="en-US" sz="2300" b="0" i="1" smtClean="0">
                            <a:latin typeface="Cambria Math" panose="02040503050406030204" pitchFamily="18" charset="0"/>
                          </a:rPr>
                          <m:t>)</m:t>
                        </m:r>
                      </m:den>
                    </m:f>
                    <m:r>
                      <a:rPr lang="en-US" sz="2300" b="0" i="1" smtClean="0">
                        <a:latin typeface="Cambria Math" panose="02040503050406030204" pitchFamily="18" charset="0"/>
                      </a:rPr>
                      <m:t>=</m:t>
                    </m:r>
                    <m:f>
                      <m:fPr>
                        <m:ctrlPr>
                          <a:rPr lang="en-US" sz="2300" b="0" i="1" smtClean="0">
                            <a:solidFill>
                              <a:srgbClr val="FF0000"/>
                            </a:solidFill>
                            <a:latin typeface="Cambria Math" panose="02040503050406030204" pitchFamily="18" charset="0"/>
                          </a:rPr>
                        </m:ctrlPr>
                      </m:fPr>
                      <m:num>
                        <m:r>
                          <a:rPr lang="en-US" sz="2300" b="0" i="1" smtClean="0">
                            <a:solidFill>
                              <a:srgbClr val="FF0000"/>
                            </a:solidFill>
                            <a:latin typeface="Cambria Math" panose="02040503050406030204" pitchFamily="18" charset="0"/>
                          </a:rPr>
                          <m:t>1</m:t>
                        </m:r>
                      </m:num>
                      <m:den>
                        <m:r>
                          <a:rPr lang="en-US" sz="2300" b="0" i="1" smtClean="0">
                            <a:solidFill>
                              <a:srgbClr val="FF0000"/>
                            </a:solidFill>
                            <a:latin typeface="Cambria Math" panose="02040503050406030204" pitchFamily="18" charset="0"/>
                          </a:rPr>
                          <m:t>1000</m:t>
                        </m:r>
                      </m:den>
                    </m:f>
                  </m:oMath>
                </a14:m>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4117624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3-3.</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r>
                  <a:rPr lang="en-US" sz="2300" dirty="0" smtClean="0">
                    <a:latin typeface="Vani" panose="020B0502040204020203" pitchFamily="34" charset="0"/>
                    <a:cs typeface="Vani" panose="020B0502040204020203" pitchFamily="34" charset="0"/>
                  </a:rPr>
                  <a:t>(c</a:t>
                </a:r>
                <a:r>
                  <a:rPr lang="en-US" sz="2300" dirty="0" smtClean="0">
                    <a:latin typeface="Vani" panose="020B0502040204020203"/>
                    <a:cs typeface="Vani" panose="020B0502040204020203" pitchFamily="34" charset="0"/>
                  </a:rPr>
                  <a:t>.)</a:t>
                </a:r>
                <a:r>
                  <a:rPr lang="en-US" sz="2300" dirty="0">
                    <a:latin typeface="Vani" panose="020B0502040204020203"/>
                    <a:cs typeface="Vani" panose="020B0502040204020203" pitchFamily="34" charset="0"/>
                  </a:rPr>
                  <a:t>	</a:t>
                </a:r>
                <a:r>
                  <a:rPr lang="en-US" sz="2300" dirty="0" smtClean="0">
                    <a:latin typeface="Vani" panose="020B0502040204020203"/>
                    <a:cs typeface="Vani" panose="020B0502040204020203" pitchFamily="34" charset="0"/>
                  </a:rPr>
                  <a:t>Calculate </a:t>
                </a:r>
                <a:r>
                  <a:rPr lang="en-US" sz="2300" dirty="0" err="1" smtClean="0">
                    <a:latin typeface="Vani" panose="020B0502040204020203"/>
                    <a:cs typeface="Vani" panose="020B0502040204020203" pitchFamily="34" charset="0"/>
                  </a:rPr>
                  <a:t>Cardano’s</a:t>
                </a:r>
                <a:r>
                  <a:rPr lang="en-US" sz="2300" dirty="0" smtClean="0">
                    <a:latin typeface="Vani" panose="020B0502040204020203"/>
                    <a:cs typeface="Vani" panose="020B0502040204020203" pitchFamily="34" charset="0"/>
                  </a:rPr>
                  <a:t> net profit if he wins the lottery game.</a:t>
                </a:r>
              </a:p>
              <a:p>
                <a:pPr lvl="0">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𝑁𝑒𝑡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𝑃𝑟𝑜𝑓𝑖𝑡</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𝑊𝑖𝑛𝑛𝑖𝑛𝑔</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𝐴𝑚𝑜𝑢𝑛𝑡</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𝐴𝑚𝑜𝑢𝑛𝑡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𝑡𝑜</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𝑝𝑙𝑎𝑦</m:t>
                    </m:r>
                  </m:oMath>
                </a14:m>
                <a:endParaRPr lang="en-US" sz="2300" dirty="0" smtClean="0">
                  <a:latin typeface="Vani" panose="020B0502040204020203"/>
                  <a:cs typeface="Vani" panose="020B0502040204020203" pitchFamily="34" charset="0"/>
                </a:endParaRPr>
              </a:p>
              <a:p>
                <a:pPr lvl="0">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𝑁𝑒𝑡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𝑃𝑟𝑜𝑓𝑖𝑡</m:t>
                    </m:r>
                    <m:r>
                      <a:rPr lang="en-US" sz="2300" b="0" i="1" smtClean="0">
                        <a:latin typeface="Cambria Math" panose="02040503050406030204" pitchFamily="18" charset="0"/>
                        <a:cs typeface="Vani" panose="020B0502040204020203" pitchFamily="34" charset="0"/>
                      </a:rPr>
                      <m:t>=$487.64−$1.35=$486.29</m:t>
                    </m:r>
                  </m:oMath>
                </a14:m>
                <a:endParaRPr lang="en-US" sz="2300" dirty="0" smtClean="0">
                  <a:solidFill>
                    <a:srgbClr val="FF0000"/>
                  </a:solidFill>
                  <a:latin typeface="Vani" panose="020B0502040204020203"/>
                  <a:cs typeface="Vani" panose="020B0502040204020203" pitchFamily="34" charset="0"/>
                </a:endParaRPr>
              </a:p>
              <a:p>
                <a:pPr lvl="0">
                  <a:lnSpc>
                    <a:spcPct val="150000"/>
                  </a:lnSpc>
                </a:pPr>
                <a:r>
                  <a:rPr lang="en-US" sz="2300" b="0" dirty="0" smtClean="0">
                    <a:latin typeface="Vani" panose="020B0502040204020203" pitchFamily="34" charset="0"/>
                    <a:cs typeface="Vani" panose="020B0502040204020203" pitchFamily="34" charset="0"/>
                  </a:rPr>
                  <a:t>(d.)	Calculate the expected value.</a:t>
                </a:r>
              </a:p>
              <a:p>
                <a:pPr lvl="0">
                  <a:lnSpc>
                    <a:spcPct val="150000"/>
                  </a:lnSpc>
                </a:pPr>
                <a:r>
                  <a:rPr lang="en-US" sz="2300" dirty="0" smtClean="0">
                    <a:latin typeface="Vani" panose="020B0502040204020203" pitchFamily="34" charset="0"/>
                    <a:cs typeface="Vani" panose="020B0502040204020203" pitchFamily="34" charset="0"/>
                  </a:rPr>
                  <a:t>The expected value, </a:t>
                </a:r>
                <a14:m>
                  <m:oMath xmlns:m="http://schemas.openxmlformats.org/officeDocument/2006/math">
                    <m:r>
                      <a:rPr lang="en-US" sz="2300" i="1" dirty="0" smtClean="0">
                        <a:latin typeface="Cambria Math" panose="02040503050406030204" pitchFamily="18" charset="0"/>
                        <a:cs typeface="Vani" panose="020B0502040204020203" pitchFamily="34" charset="0"/>
                      </a:rPr>
                      <m:t>𝐸</m:t>
                    </m:r>
                  </m:oMath>
                </a14:m>
                <a:r>
                  <a:rPr lang="en-US" sz="2300" dirty="0" smtClean="0">
                    <a:latin typeface="Vani" panose="020B0502040204020203" pitchFamily="34" charset="0"/>
                    <a:cs typeface="Vani" panose="020B0502040204020203" pitchFamily="34" charset="0"/>
                  </a:rPr>
                  <a:t> is the mean of the random variable.</a:t>
                </a:r>
              </a:p>
              <a:p>
                <a:pPr lvl="0">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𝐸</m:t>
                    </m:r>
                    <m:r>
                      <a:rPr lang="en-US" sz="2300" b="0" i="1" smtClean="0">
                        <a:latin typeface="Cambria Math" panose="02040503050406030204" pitchFamily="18" charset="0"/>
                        <a:cs typeface="Vani" panose="020B0502040204020203" pitchFamily="34" charset="0"/>
                      </a:rPr>
                      <m:t>=</m:t>
                    </m:r>
                    <m:r>
                      <m:rPr>
                        <m:sty m:val="p"/>
                      </m:rPr>
                      <a:rPr lang="el-GR" sz="2300" i="1">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𝑃</m:t>
                        </m:r>
                        <m:d>
                          <m:dPr>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e>
                        </m:d>
                      </m:e>
                    </m:d>
                  </m:oMath>
                </a14:m>
                <a:endParaRPr lang="en-US" sz="2300" b="0" dirty="0" smtClean="0">
                  <a:latin typeface="Vani" panose="020B0502040204020203" pitchFamily="34" charset="0"/>
                  <a:cs typeface="Vani" panose="020B0502040204020203" pitchFamily="34" charset="0"/>
                </a:endParaRPr>
              </a:p>
              <a:p>
                <a:pPr lvl="0">
                  <a:lnSpc>
                    <a:spcPct val="150000"/>
                  </a:lnSpc>
                </a:pPr>
                <a:r>
                  <a:rPr lang="en-US" sz="2300" dirty="0" smtClean="0">
                    <a:latin typeface="Vani" panose="020B0502040204020203" pitchFamily="34" charset="0"/>
                    <a:cs typeface="Vani" panose="020B0502040204020203" pitchFamily="34" charset="0"/>
                  </a:rPr>
                  <a:t>Let us represent this event as a probability distribution. Then, we find the mean.</a:t>
                </a: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9386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3-4.</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𝐸</m:t>
                    </m:r>
                    <m:r>
                      <a:rPr lang="en-US" sz="2300" b="0" i="1" smtClean="0">
                        <a:latin typeface="Cambria Math" panose="02040503050406030204" pitchFamily="18" charset="0"/>
                        <a:cs typeface="Vani" panose="020B0502040204020203" pitchFamily="34" charset="0"/>
                      </a:rPr>
                      <m:t>=</m:t>
                    </m:r>
                    <m:r>
                      <m:rPr>
                        <m:sty m:val="p"/>
                      </m:rPr>
                      <a:rPr lang="el-GR" sz="2300" i="1">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𝑃</m:t>
                        </m:r>
                        <m:d>
                          <m:dPr>
                            <m:ctrlPr>
                              <a:rPr lang="en-US" sz="2300" i="1">
                                <a:latin typeface="Cambria Math" panose="02040503050406030204" pitchFamily="18" charset="0"/>
                                <a:ea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𝑥</m:t>
                            </m:r>
                          </m:e>
                        </m:d>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−$0.86</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𝑊𝑖𝑛𝑛𝑖𝑛𝑔</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1000</m:t>
                        </m:r>
                      </m:den>
                    </m:f>
                  </m:oMath>
                </a14:m>
                <a:endParaRPr lang="en-US" sz="2300" b="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𝐿𝑜𝑠𝑖𝑛𝑔</m:t>
                        </m:r>
                      </m:e>
                    </m:d>
                    <m:r>
                      <a:rPr lang="en-US" sz="2300" b="0" i="1" smtClean="0">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𝑃</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𝑊𝑖𝑛𝑛𝑖𝑛𝑔</m:t>
                    </m:r>
                    <m:r>
                      <a:rPr lang="en-US" sz="2300" b="0" i="1" smtClean="0">
                        <a:latin typeface="Cambria Math" panose="02040503050406030204" pitchFamily="18" charset="0"/>
                        <a:cs typeface="Vani" panose="020B0502040204020203" pitchFamily="34" charset="0"/>
                      </a:rPr>
                      <m:t>)</m:t>
                    </m:r>
                  </m:oMath>
                </a14:m>
                <a:r>
                  <a:rPr lang="en-US" sz="2300" dirty="0" smtClean="0">
                    <a:latin typeface="Vani" panose="020B0502040204020203" pitchFamily="34" charset="0"/>
                    <a:cs typeface="Vani" panose="020B0502040204020203" pitchFamily="34" charset="0"/>
                  </a:rPr>
                  <a:t>				Complementary Rule</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𝐿𝑜𝑠𝑖𝑛𝑔</m:t>
                        </m:r>
                      </m:e>
                    </m:d>
                    <m:r>
                      <a:rPr lang="en-US" sz="2300" b="0" i="1" smtClean="0">
                        <a:latin typeface="Cambria Math" panose="02040503050406030204" pitchFamily="18" charset="0"/>
                        <a:cs typeface="Vani" panose="020B0502040204020203" pitchFamily="34" charset="0"/>
                      </a:rPr>
                      <m:t>=1−</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1000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1000</m:t>
                        </m:r>
                      </m:num>
                      <m:den>
                        <m:r>
                          <a:rPr lang="en-US" sz="2300" b="0" i="1" smtClean="0">
                            <a:latin typeface="Cambria Math" panose="02040503050406030204" pitchFamily="18" charset="0"/>
                            <a:cs typeface="Vani" panose="020B0502040204020203" pitchFamily="34" charset="0"/>
                          </a:rPr>
                          <m:t>1000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1000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rPr>
                        </m:ctrlPr>
                      </m:fPr>
                      <m:num>
                        <m:r>
                          <a:rPr lang="en-US" sz="2300" b="0" i="1" smtClean="0">
                            <a:latin typeface="Cambria Math" panose="02040503050406030204" pitchFamily="18" charset="0"/>
                          </a:rPr>
                          <m:t>1000−1</m:t>
                        </m:r>
                      </m:num>
                      <m:den>
                        <m:r>
                          <a:rPr lang="en-US" sz="2300" b="0" i="1" smtClean="0">
                            <a:latin typeface="Cambria Math" panose="02040503050406030204" pitchFamily="18" charset="0"/>
                          </a:rPr>
                          <m:t>1000</m:t>
                        </m:r>
                      </m:den>
                    </m:f>
                    <m:r>
                      <a:rPr lang="en-US" sz="2300" b="0" i="1" smtClean="0">
                        <a:latin typeface="Cambria Math" panose="02040503050406030204" pitchFamily="18" charset="0"/>
                      </a:rPr>
                      <m:t>=</m:t>
                    </m:r>
                    <m:f>
                      <m:fPr>
                        <m:ctrlPr>
                          <a:rPr lang="en-US" sz="2300" b="0" i="1" smtClean="0">
                            <a:latin typeface="Cambria Math" panose="02040503050406030204" pitchFamily="18" charset="0"/>
                          </a:rPr>
                        </m:ctrlPr>
                      </m:fPr>
                      <m:num>
                        <m:r>
                          <a:rPr lang="en-US" sz="2300" b="0" i="1" smtClean="0">
                            <a:latin typeface="Cambria Math" panose="02040503050406030204" pitchFamily="18" charset="0"/>
                          </a:rPr>
                          <m:t>999</m:t>
                        </m:r>
                      </m:num>
                      <m:den>
                        <m:r>
                          <a:rPr lang="en-US" sz="2300" b="0" i="1" smtClean="0">
                            <a:latin typeface="Cambria Math" panose="02040503050406030204" pitchFamily="18" charset="0"/>
                          </a:rPr>
                          <m:t>1000</m:t>
                        </m:r>
                      </m:den>
                    </m:f>
                  </m:oMath>
                </a14:m>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marL="0" indent="0">
                  <a:lnSpc>
                    <a:spcPct val="150000"/>
                  </a:lnSpc>
                  <a:buNone/>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143461518"/>
                  </p:ext>
                </p:extLst>
              </p:nvPr>
            </p:nvGraphicFramePr>
            <p:xfrm>
              <a:off x="0" y="1738184"/>
              <a:ext cx="12192000" cy="1955292"/>
            </p:xfrm>
            <a:graphic>
              <a:graphicData uri="http://schemas.openxmlformats.org/drawingml/2006/table">
                <a:tbl>
                  <a:tblPr firstRow="1" bandRow="1">
                    <a:tableStyleId>{5C22544A-7EE6-4342-B048-85BDC9FD1C3A}</a:tableStyleId>
                  </a:tblPr>
                  <a:tblGrid>
                    <a:gridCol w="3048000"/>
                    <a:gridCol w="3048000"/>
                    <a:gridCol w="3048000"/>
                    <a:gridCol w="3048000"/>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𝑬𝒗𝒆𝒏𝒕</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𝐿𝑜𝑠𝑒</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𝑔𝑎𝑚𝑒</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999</m:t>
                                    </m:r>
                                  </m:num>
                                  <m:den>
                                    <m:r>
                                      <a:rPr lang="en-US" b="0" i="1" smtClean="0">
                                        <a:latin typeface="Cambria Math" panose="02040503050406030204" pitchFamily="18" charset="0"/>
                                      </a:rPr>
                                      <m:t>1000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−1.35</m:t>
                                </m:r>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𝑊𝑖𝑛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𝑔𝑎𝑚𝑒</m:t>
                                </m:r>
                                <m:r>
                                  <a:rPr lang="en-US" b="0" i="0" smtClean="0">
                                    <a:latin typeface="Cambria Math" panose="02040503050406030204" pitchFamily="18" charset="0"/>
                                  </a:rPr>
                                  <m:t> (</m:t>
                                </m:r>
                                <m:r>
                                  <m:rPr>
                                    <m:sty m:val="p"/>
                                  </m:rPr>
                                  <a:rPr lang="en-US" b="0" i="0" smtClean="0">
                                    <a:latin typeface="Cambria Math" panose="02040503050406030204" pitchFamily="18" charset="0"/>
                                  </a:rPr>
                                  <m:t>Net</m:t>
                                </m:r>
                                <m:r>
                                  <a:rPr lang="en-US" b="0" i="0" smtClean="0">
                                    <a:latin typeface="Cambria Math" panose="02040503050406030204" pitchFamily="18" charset="0"/>
                                  </a:rPr>
                                  <m:t> </m:t>
                                </m:r>
                                <m:r>
                                  <m:rPr>
                                    <m:sty m:val="p"/>
                                  </m:rPr>
                                  <a:rPr lang="en-US" b="0" i="0" smtClean="0">
                                    <a:latin typeface="Cambria Math" panose="02040503050406030204" pitchFamily="18" charset="0"/>
                                  </a:rPr>
                                  <m:t>Profit</m:t>
                                </m:r>
                                <m:r>
                                  <a:rPr lang="en-US" b="0" i="0"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486.29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0.49</m:t>
                                </m:r>
                              </m:oMath>
                            </m:oMathPara>
                          </a14:m>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l-GR" sz="1800" i="1" smtClean="0">
                                    <a:latin typeface="Cambria Math" panose="02040503050406030204" pitchFamily="18" charset="0"/>
                                    <a:ea typeface="Cambria Math" panose="02040503050406030204" pitchFamily="18" charset="0"/>
                                    <a:cs typeface="Vani" panose="020B0502040204020203" pitchFamily="34" charset="0"/>
                                  </a:rPr>
                                  <m:t>Σ</m:t>
                                </m:r>
                                <m:d>
                                  <m:dPr>
                                    <m:begChr m:val="["/>
                                    <m:endChr m:val="]"/>
                                    <m:ctrlPr>
                                      <a:rPr lang="en-US" sz="1800" i="1">
                                        <a:latin typeface="Cambria Math" panose="02040503050406030204" pitchFamily="18" charset="0"/>
                                        <a:ea typeface="Cambria Math" panose="02040503050406030204" pitchFamily="18" charset="0"/>
                                        <a:cs typeface="Vani" panose="020B0502040204020203" pitchFamily="34" charset="0"/>
                                      </a:rPr>
                                    </m:ctrlPr>
                                  </m:dPr>
                                  <m:e>
                                    <m:r>
                                      <a:rPr lang="en-US" sz="1800" i="1">
                                        <a:latin typeface="Cambria Math" panose="02040503050406030204" pitchFamily="18" charset="0"/>
                                        <a:ea typeface="Cambria Math" panose="02040503050406030204" pitchFamily="18" charset="0"/>
                                        <a:cs typeface="Vani" panose="020B0502040204020203" pitchFamily="34" charset="0"/>
                                      </a:rPr>
                                      <m:t>𝑥</m:t>
                                    </m:r>
                                    <m:r>
                                      <a:rPr lang="en-US" sz="1800" i="1">
                                        <a:latin typeface="Cambria Math" panose="02040503050406030204" pitchFamily="18" charset="0"/>
                                        <a:ea typeface="Cambria Math" panose="02040503050406030204" pitchFamily="18" charset="0"/>
                                        <a:cs typeface="Vani" panose="020B0502040204020203" pitchFamily="34" charset="0"/>
                                      </a:rPr>
                                      <m:t>∗</m:t>
                                    </m:r>
                                    <m:r>
                                      <a:rPr lang="en-US" sz="1800" i="1">
                                        <a:latin typeface="Cambria Math" panose="02040503050406030204" pitchFamily="18" charset="0"/>
                                        <a:ea typeface="Cambria Math" panose="02040503050406030204" pitchFamily="18" charset="0"/>
                                        <a:cs typeface="Vani" panose="020B0502040204020203" pitchFamily="34" charset="0"/>
                                      </a:rPr>
                                      <m:t>𝑃</m:t>
                                    </m:r>
                                    <m:d>
                                      <m:dPr>
                                        <m:ctrlPr>
                                          <a:rPr lang="en-US" sz="1800" i="1">
                                            <a:latin typeface="Cambria Math" panose="02040503050406030204" pitchFamily="18" charset="0"/>
                                            <a:ea typeface="Cambria Math" panose="02040503050406030204" pitchFamily="18" charset="0"/>
                                            <a:cs typeface="Vani" panose="020B0502040204020203" pitchFamily="34" charset="0"/>
                                          </a:rPr>
                                        </m:ctrlPr>
                                      </m:dPr>
                                      <m:e>
                                        <m:r>
                                          <a:rPr lang="en-US" sz="1800" i="1">
                                            <a:latin typeface="Cambria Math" panose="02040503050406030204" pitchFamily="18" charset="0"/>
                                            <a:ea typeface="Cambria Math" panose="02040503050406030204" pitchFamily="18" charset="0"/>
                                            <a:cs typeface="Vani" panose="020B0502040204020203" pitchFamily="34" charset="0"/>
                                          </a:rPr>
                                          <m:t>𝑥</m:t>
                                        </m:r>
                                      </m:e>
                                    </m:d>
                                  </m:e>
                                </m:d>
                                <m:r>
                                  <a:rPr lang="en-US" sz="1800" b="0" i="1" smtClean="0">
                                    <a:latin typeface="Cambria Math" panose="02040503050406030204" pitchFamily="18" charset="0"/>
                                    <a:ea typeface="Cambria Math" panose="02040503050406030204" pitchFamily="18" charset="0"/>
                                    <a:cs typeface="Vani" panose="020B0502040204020203" pitchFamily="34" charset="0"/>
                                  </a:rPr>
                                  <m:t>=−0.86</m:t>
                                </m:r>
                              </m:oMath>
                            </m:oMathPara>
                          </a14:m>
                          <a:endParaRPr lang="en-US" dirty="0"/>
                        </a:p>
                      </a:txBody>
                      <a:tcPr/>
                    </a:tc>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143461518"/>
                  </p:ext>
                </p:extLst>
              </p:nvPr>
            </p:nvGraphicFramePr>
            <p:xfrm>
              <a:off x="0" y="1738184"/>
              <a:ext cx="12192000" cy="1955292"/>
            </p:xfrm>
            <a:graphic>
              <a:graphicData uri="http://schemas.openxmlformats.org/drawingml/2006/table">
                <a:tbl>
                  <a:tblPr firstRow="1" bandRow="1">
                    <a:tableStyleId>{5C22544A-7EE6-4342-B048-85BDC9FD1C3A}</a:tableStyleId>
                  </a:tblPr>
                  <a:tblGrid>
                    <a:gridCol w="3048000"/>
                    <a:gridCol w="3048000"/>
                    <a:gridCol w="3048000"/>
                    <a:gridCol w="3048000"/>
                  </a:tblGrid>
                  <a:tr h="370840">
                    <a:tc>
                      <a:txBody>
                        <a:bodyPr/>
                        <a:lstStyle/>
                        <a:p>
                          <a:endParaRPr lang="en-US"/>
                        </a:p>
                      </a:txBody>
                      <a:tcPr>
                        <a:blipFill rotWithShape="0">
                          <a:blip r:embed="rId3"/>
                          <a:stretch>
                            <a:fillRect l="-400" t="-1639" r="-301000" b="-429508"/>
                          </a:stretch>
                        </a:blipFill>
                      </a:tcPr>
                    </a:tc>
                    <a:tc>
                      <a:txBody>
                        <a:bodyPr/>
                        <a:lstStyle/>
                        <a:p>
                          <a:endParaRPr lang="en-US"/>
                        </a:p>
                      </a:txBody>
                      <a:tcPr>
                        <a:blipFill rotWithShape="0">
                          <a:blip r:embed="rId3"/>
                          <a:stretch>
                            <a:fillRect l="-100400" t="-1639" r="-201000" b="-429508"/>
                          </a:stretch>
                        </a:blipFill>
                      </a:tcPr>
                    </a:tc>
                    <a:tc>
                      <a:txBody>
                        <a:bodyPr/>
                        <a:lstStyle/>
                        <a:p>
                          <a:endParaRPr lang="en-US"/>
                        </a:p>
                      </a:txBody>
                      <a:tcPr>
                        <a:blipFill rotWithShape="0">
                          <a:blip r:embed="rId3"/>
                          <a:stretch>
                            <a:fillRect l="-200400" t="-1639" r="-101000" b="-429508"/>
                          </a:stretch>
                        </a:blipFill>
                      </a:tcPr>
                    </a:tc>
                    <a:tc>
                      <a:txBody>
                        <a:bodyPr/>
                        <a:lstStyle/>
                        <a:p>
                          <a:endParaRPr lang="en-US"/>
                        </a:p>
                      </a:txBody>
                      <a:tcPr>
                        <a:blipFill rotWithShape="0">
                          <a:blip r:embed="rId3"/>
                          <a:stretch>
                            <a:fillRect l="-300400" t="-1639" r="-1000" b="-429508"/>
                          </a:stretch>
                        </a:blipFill>
                      </a:tcPr>
                    </a:tc>
                  </a:tr>
                  <a:tr h="606806">
                    <a:tc>
                      <a:txBody>
                        <a:bodyPr/>
                        <a:lstStyle/>
                        <a:p>
                          <a:endParaRPr lang="en-US"/>
                        </a:p>
                      </a:txBody>
                      <a:tcPr>
                        <a:blipFill rotWithShape="0">
                          <a:blip r:embed="rId3"/>
                          <a:stretch>
                            <a:fillRect l="-400" t="-62000" r="-301000" b="-162000"/>
                          </a:stretch>
                        </a:blipFill>
                      </a:tcPr>
                    </a:tc>
                    <a:tc>
                      <a:txBody>
                        <a:bodyPr/>
                        <a:lstStyle/>
                        <a:p>
                          <a:endParaRPr lang="en-US"/>
                        </a:p>
                      </a:txBody>
                      <a:tcPr>
                        <a:blipFill rotWithShape="0">
                          <a:blip r:embed="rId3"/>
                          <a:stretch>
                            <a:fillRect l="-100400" t="-62000" r="-201000" b="-162000"/>
                          </a:stretch>
                        </a:blipFill>
                      </a:tcPr>
                    </a:tc>
                    <a:tc>
                      <a:txBody>
                        <a:bodyPr/>
                        <a:lstStyle/>
                        <a:p>
                          <a:endParaRPr lang="en-US"/>
                        </a:p>
                      </a:txBody>
                      <a:tcPr>
                        <a:blipFill rotWithShape="0">
                          <a:blip r:embed="rId3"/>
                          <a:stretch>
                            <a:fillRect l="-200400" t="-62000" r="-101000" b="-162000"/>
                          </a:stretch>
                        </a:blipFill>
                      </a:tcPr>
                    </a:tc>
                    <a:tc>
                      <a:txBody>
                        <a:bodyPr/>
                        <a:lstStyle/>
                        <a:p>
                          <a:endParaRPr lang="en-US"/>
                        </a:p>
                      </a:txBody>
                      <a:tcPr>
                        <a:blipFill rotWithShape="0">
                          <a:blip r:embed="rId3"/>
                          <a:stretch>
                            <a:fillRect l="-300400" t="-62000" r="-1000" b="-162000"/>
                          </a:stretch>
                        </a:blipFill>
                      </a:tcPr>
                    </a:tc>
                  </a:tr>
                  <a:tr h="606806">
                    <a:tc>
                      <a:txBody>
                        <a:bodyPr/>
                        <a:lstStyle/>
                        <a:p>
                          <a:endParaRPr lang="en-US"/>
                        </a:p>
                      </a:txBody>
                      <a:tcPr>
                        <a:blipFill rotWithShape="0">
                          <a:blip r:embed="rId3"/>
                          <a:stretch>
                            <a:fillRect l="-400" t="-163636" r="-301000" b="-63636"/>
                          </a:stretch>
                        </a:blipFill>
                      </a:tcPr>
                    </a:tc>
                    <a:tc>
                      <a:txBody>
                        <a:bodyPr/>
                        <a:lstStyle/>
                        <a:p>
                          <a:endParaRPr lang="en-US"/>
                        </a:p>
                      </a:txBody>
                      <a:tcPr>
                        <a:blipFill rotWithShape="0">
                          <a:blip r:embed="rId3"/>
                          <a:stretch>
                            <a:fillRect l="-100400" t="-163636" r="-201000" b="-63636"/>
                          </a:stretch>
                        </a:blipFill>
                      </a:tcPr>
                    </a:tc>
                    <a:tc>
                      <a:txBody>
                        <a:bodyPr/>
                        <a:lstStyle/>
                        <a:p>
                          <a:endParaRPr lang="en-US"/>
                        </a:p>
                      </a:txBody>
                      <a:tcPr>
                        <a:blipFill rotWithShape="0">
                          <a:blip r:embed="rId3"/>
                          <a:stretch>
                            <a:fillRect l="-200400" t="-163636" r="-101000" b="-63636"/>
                          </a:stretch>
                        </a:blipFill>
                      </a:tcPr>
                    </a:tc>
                    <a:tc>
                      <a:txBody>
                        <a:bodyPr/>
                        <a:lstStyle/>
                        <a:p>
                          <a:endParaRPr lang="en-US"/>
                        </a:p>
                      </a:txBody>
                      <a:tcPr>
                        <a:blipFill rotWithShape="0">
                          <a:blip r:embed="rId3"/>
                          <a:stretch>
                            <a:fillRect l="-300400" t="-163636" r="-1000" b="-63636"/>
                          </a:stretch>
                        </a:blipFill>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blipFill rotWithShape="0">
                          <a:blip r:embed="rId3"/>
                          <a:stretch>
                            <a:fillRect l="-300400" t="-427869" r="-1000" b="-3279"/>
                          </a:stretch>
                        </a:blipFill>
                      </a:tcPr>
                    </a:tc>
                  </a:tr>
                </a:tbl>
              </a:graphicData>
            </a:graphic>
          </p:graphicFrame>
        </mc:Fallback>
      </mc:AlternateContent>
    </p:spTree>
    <p:extLst>
      <p:ext uri="{BB962C8B-B14F-4D97-AF65-F5344CB8AC3E}">
        <p14:creationId xmlns:p14="http://schemas.microsoft.com/office/powerpoint/2010/main" val="419421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4-1.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a:t>
                </a:r>
                <a:r>
                  <a:rPr lang="en-US" sz="2300" dirty="0">
                    <a:solidFill>
                      <a:srgbClr val="7030A0"/>
                    </a:solidFill>
                    <a:latin typeface="Vani" panose="020B0502040204020203" pitchFamily="34" charset="0"/>
                    <a:cs typeface="Vani" panose="020B0502040204020203" pitchFamily="34" charset="0"/>
                  </a:rPr>
                  <a:t>4</a:t>
                </a:r>
                <a:r>
                  <a:rPr lang="en-US" sz="2300" dirty="0" smtClean="0">
                    <a:solidFill>
                      <a:srgbClr val="7030A0"/>
                    </a:solidFill>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	Determine </a:t>
                </a:r>
                <a14:m>
                  <m:oMath xmlns:m="http://schemas.openxmlformats.org/officeDocument/2006/math">
                    <m:r>
                      <a:rPr lang="en-US" sz="2300" b="0" i="1" smtClean="0">
                        <a:latin typeface="Cambria Math" panose="02040503050406030204" pitchFamily="18" charset="0"/>
                        <a:cs typeface="Vani" panose="020B0502040204020203" pitchFamily="34" charset="0"/>
                      </a:rPr>
                      <m:t>𝑃</m:t>
                    </m:r>
                    <m:r>
                      <a:rPr lang="en-US" sz="2300" b="0" i="1" smtClean="0">
                        <a:latin typeface="Cambria Math" panose="02040503050406030204" pitchFamily="18" charset="0"/>
                        <a:cs typeface="Vani" panose="020B0502040204020203" pitchFamily="34" charset="0"/>
                      </a:rPr>
                      <m:t>(4)</m:t>
                    </m:r>
                  </m:oMath>
                </a14:m>
                <a:r>
                  <a:rPr lang="en-US" sz="2300" dirty="0" smtClean="0">
                    <a:latin typeface="Vani" panose="020B0502040204020203" pitchFamily="34" charset="0"/>
                    <a:cs typeface="Vani" panose="020B0502040204020203" pitchFamily="34" charset="0"/>
                  </a:rPr>
                  <a:t> for a binomial distribution with </a:t>
                </a:r>
                <a14:m>
                  <m:oMath xmlns:m="http://schemas.openxmlformats.org/officeDocument/2006/math">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=23 </m:t>
                    </m:r>
                    <m:r>
                      <a:rPr lang="en-US" sz="2300" b="0" i="1" smtClean="0">
                        <a:latin typeface="Cambria Math" panose="02040503050406030204" pitchFamily="18" charset="0"/>
                        <a:cs typeface="Vani" panose="020B0502040204020203" pitchFamily="34" charset="0"/>
                      </a:rPr>
                      <m:t>𝑎𝑛𝑑</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m:t>
                    </m:r>
                    <m:r>
                      <a:rPr lang="en-US" sz="2300" b="0" i="1" smtClean="0">
                        <a:latin typeface="Cambria Math" panose="02040503050406030204" pitchFamily="18" charset="0"/>
                        <a:cs typeface="Vani" panose="020B0502040204020203" pitchFamily="34" charset="0"/>
                      </a:rPr>
                      <m:t>=0.15.</m:t>
                    </m:r>
                  </m:oMath>
                </a14:m>
                <a:r>
                  <a:rPr lang="en-US" sz="2300" b="0" i="1" dirty="0" smtClean="0">
                    <a:latin typeface="Cambria Math" panose="02040503050406030204" pitchFamily="18" charset="0"/>
                    <a:cs typeface="Vani" panose="020B0502040204020203" pitchFamily="34" charset="0"/>
                  </a:rPr>
                  <a:t> </a:t>
                </a:r>
                <a:r>
                  <a:rPr lang="en-US" sz="2300" b="0" dirty="0" smtClean="0">
                    <a:latin typeface="Vani" panose="020B0502040204020203" pitchFamily="34" charset="0"/>
                    <a:cs typeface="Vani" panose="020B0502040204020203" pitchFamily="34" charset="0"/>
                  </a:rPr>
                  <a:t>Round to 3 </a:t>
                </a:r>
                <a:r>
                  <a:rPr lang="en-US" sz="2300" b="0" dirty="0" err="1" smtClean="0">
                    <a:latin typeface="Vani" panose="020B0502040204020203" pitchFamily="34" charset="0"/>
                    <a:cs typeface="Vani" panose="020B0502040204020203" pitchFamily="34" charset="0"/>
                  </a:rPr>
                  <a:t>d.p.</a:t>
                </a:r>
                <a:endParaRPr lang="en-US" sz="2300" b="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𝑥</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𝑥</m:t>
                        </m:r>
                      </m:e>
                    </m:d>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𝑝</m:t>
                        </m:r>
                      </m:e>
                      <m:sup>
                        <m:r>
                          <a:rPr lang="en-US" sz="2300" b="0" i="1" smtClean="0">
                            <a:latin typeface="Cambria Math" panose="02040503050406030204" pitchFamily="18" charset="0"/>
                            <a:cs typeface="Vani" panose="020B0502040204020203" pitchFamily="34" charset="0"/>
                          </a:rPr>
                          <m:t>𝑥</m:t>
                        </m:r>
                      </m:sup>
                    </m:sSup>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𝑞</m:t>
                        </m:r>
                      </m:e>
                      <m:sup>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𝑥</m:t>
                        </m:r>
                      </m:sup>
                    </m:sSup>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𝑞</m:t>
                    </m:r>
                    <m:r>
                      <a:rPr lang="en-US" sz="2300" b="0" i="1" smtClean="0">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𝑝</m:t>
                    </m:r>
                    <m:r>
                      <a:rPr lang="en-US" sz="2300" b="0" i="1" smtClean="0">
                        <a:latin typeface="Cambria Math" panose="02040503050406030204" pitchFamily="18" charset="0"/>
                        <a:cs typeface="Vani" panose="020B0502040204020203" pitchFamily="34" charset="0"/>
                      </a:rPr>
                      <m:t>=1−0.15=0.85</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4</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23, 4</m:t>
                        </m:r>
                      </m:e>
                    </m:d>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0.15</m:t>
                        </m:r>
                      </m:e>
                      <m:sup>
                        <m:r>
                          <a:rPr lang="en-US" sz="2300" b="0" i="1" smtClean="0">
                            <a:latin typeface="Cambria Math" panose="02040503050406030204" pitchFamily="18" charset="0"/>
                            <a:cs typeface="Vani" panose="020B0502040204020203" pitchFamily="34" charset="0"/>
                          </a:rPr>
                          <m:t>4</m:t>
                        </m:r>
                      </m:sup>
                    </m:sSup>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0.85</m:t>
                        </m:r>
                      </m:e>
                      <m:sup>
                        <m:r>
                          <a:rPr lang="en-US" sz="2300" b="0" i="1" smtClean="0">
                            <a:latin typeface="Cambria Math" panose="02040503050406030204" pitchFamily="18" charset="0"/>
                            <a:cs typeface="Vani" panose="020B0502040204020203" pitchFamily="34" charset="0"/>
                          </a:rPr>
                          <m:t>23−4</m:t>
                        </m:r>
                      </m:sup>
                    </m:sSup>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23, 4</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23!</m:t>
                        </m:r>
                      </m:num>
                      <m:den>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23−4</m:t>
                            </m:r>
                          </m:e>
                        </m:d>
                        <m:r>
                          <a:rPr lang="en-US" sz="2300" b="0" i="1" smtClean="0">
                            <a:latin typeface="Cambria Math" panose="02040503050406030204" pitchFamily="18" charset="0"/>
                            <a:cs typeface="Vani" panose="020B0502040204020203" pitchFamily="34" charset="0"/>
                          </a:rPr>
                          <m:t>!∗4!</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23!</m:t>
                        </m:r>
                      </m:num>
                      <m:den>
                        <m:r>
                          <a:rPr lang="en-US" sz="2300" b="0" i="1" smtClean="0">
                            <a:latin typeface="Cambria Math" panose="02040503050406030204" pitchFamily="18" charset="0"/>
                            <a:cs typeface="Vani" panose="020B0502040204020203" pitchFamily="34" charset="0"/>
                          </a:rPr>
                          <m:t>19!∗4!</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23∗22∗21∗20∗19!</m:t>
                        </m:r>
                      </m:num>
                      <m:den>
                        <m:r>
                          <a:rPr lang="en-US" sz="2300" b="0" i="1" smtClean="0">
                            <a:latin typeface="Cambria Math" panose="02040503050406030204" pitchFamily="18" charset="0"/>
                            <a:cs typeface="Vani" panose="020B0502040204020203" pitchFamily="34" charset="0"/>
                          </a:rPr>
                          <m:t>19!∗4∗3∗2∗1</m:t>
                        </m:r>
                      </m:den>
                    </m:f>
                    <m:r>
                      <a:rPr lang="en-US" sz="2300" b="0" i="1" smtClean="0">
                        <a:latin typeface="Cambria Math" panose="02040503050406030204" pitchFamily="18" charset="0"/>
                        <a:cs typeface="Vani" panose="020B0502040204020203" pitchFamily="34" charset="0"/>
                      </a:rPr>
                      <m:t>=8855</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4</m:t>
                        </m:r>
                      </m:e>
                    </m:d>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8855</m:t>
                    </m:r>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0.15</m:t>
                        </m:r>
                      </m:e>
                      <m:sup>
                        <m:r>
                          <a:rPr lang="en-US" sz="2300" i="1">
                            <a:latin typeface="Cambria Math" panose="02040503050406030204" pitchFamily="18" charset="0"/>
                            <a:cs typeface="Vani" panose="020B0502040204020203" pitchFamily="34" charset="0"/>
                          </a:rPr>
                          <m:t>4</m:t>
                        </m:r>
                      </m:sup>
                    </m:sSup>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0.85</m:t>
                        </m:r>
                      </m:e>
                      <m:sup>
                        <m:r>
                          <a:rPr lang="en-US" sz="2300" b="0" i="1" smtClean="0">
                            <a:latin typeface="Cambria Math" panose="02040503050406030204" pitchFamily="18" charset="0"/>
                            <a:cs typeface="Vani" panose="020B0502040204020203" pitchFamily="34" charset="0"/>
                          </a:rPr>
                          <m:t>19</m:t>
                        </m:r>
                      </m:sup>
                    </m:sSup>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4</m:t>
                        </m:r>
                      </m:e>
                    </m:d>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8855</m:t>
                    </m:r>
                    <m:r>
                      <a:rPr lang="en-US" sz="2300" i="1">
                        <a:latin typeface="Cambria Math" panose="02040503050406030204" pitchFamily="18" charset="0"/>
                        <a:cs typeface="Vani" panose="020B0502040204020203" pitchFamily="34" charset="0"/>
                      </a:rPr>
                      <m:t>∗0.00050625∗0.0455994483347228</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4</m:t>
                        </m:r>
                      </m:e>
                    </m:d>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0.204</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marL="0" indent="0">
                  <a:lnSpc>
                    <a:spcPct val="150000"/>
                  </a:lnSpc>
                  <a:buNone/>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9721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5-1.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(5.) </a:t>
                </a:r>
                <a:r>
                  <a:rPr lang="en-US" sz="2300" dirty="0" smtClean="0">
                    <a:latin typeface="Vani" panose="020B0502040204020203" pitchFamily="34" charset="0"/>
                    <a:cs typeface="Vani" panose="020B0502040204020203" pitchFamily="34" charset="0"/>
                  </a:rPr>
                  <a:t>	Johannes Paulus University admits students into its medical program either by merit or by affirmative action. Research has shown that the graduation rate for students admitted by affirmative action is 96%.</a:t>
                </a:r>
              </a:p>
              <a:p>
                <a:pPr>
                  <a:lnSpc>
                    <a:spcPct val="150000"/>
                  </a:lnSpc>
                </a:pPr>
                <a:r>
                  <a:rPr lang="en-US" sz="2300" dirty="0" smtClean="0">
                    <a:latin typeface="Vani" panose="020B0502040204020203" pitchFamily="34" charset="0"/>
                    <a:cs typeface="Vani" panose="020B0502040204020203" pitchFamily="34" charset="0"/>
                  </a:rPr>
                  <a:t>(a.)	Determine the probability that at least 14 of it’s 15 </a:t>
                </a:r>
                <a:r>
                  <a:rPr lang="en-US" sz="2300" u="sng" dirty="0" smtClean="0">
                    <a:latin typeface="Vani" panose="020B0502040204020203" pitchFamily="34" charset="0"/>
                    <a:cs typeface="Vani" panose="020B0502040204020203" pitchFamily="34" charset="0"/>
                  </a:rPr>
                  <a:t>randomly selected</a:t>
                </a:r>
                <a:r>
                  <a:rPr lang="en-US" sz="2300" dirty="0" smtClean="0">
                    <a:latin typeface="Vani" panose="020B0502040204020203" pitchFamily="34" charset="0"/>
                    <a:cs typeface="Vani" panose="020B0502040204020203" pitchFamily="34" charset="0"/>
                  </a:rPr>
                  <a:t> admitted students graduate from it’s medical school. Round to 3 </a:t>
                </a:r>
                <a:r>
                  <a:rPr lang="en-US" sz="2300" dirty="0" err="1" smtClean="0">
                    <a:latin typeface="Vani" panose="020B0502040204020203" pitchFamily="34" charset="0"/>
                    <a:cs typeface="Vani" panose="020B0502040204020203" pitchFamily="34" charset="0"/>
                  </a:rPr>
                  <a:t>d.p.</a:t>
                </a:r>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𝑎𝑡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𝑙𝑒𝑎𝑠𝑡</m:t>
                        </m:r>
                        <m:r>
                          <a:rPr lang="en-US" sz="2300" b="0" i="1" smtClean="0">
                            <a:latin typeface="Cambria Math" panose="02040503050406030204" pitchFamily="18" charset="0"/>
                            <a:cs typeface="Vani" panose="020B0502040204020203" pitchFamily="34" charset="0"/>
                          </a:rPr>
                          <m:t> 14</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≥14</m:t>
                        </m:r>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14</m:t>
                        </m:r>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15</m:t>
                        </m:r>
                      </m:e>
                    </m:d>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𝑛</m:t>
                    </m:r>
                    <m:r>
                      <a:rPr lang="en-US" sz="2300" b="0" i="1" smtClean="0">
                        <a:latin typeface="Cambria Math" panose="02040503050406030204" pitchFamily="18" charset="0"/>
                        <a:ea typeface="Cambria Math" panose="02040503050406030204" pitchFamily="18" charset="0"/>
                        <a:cs typeface="Vani" panose="020B0502040204020203" pitchFamily="34" charset="0"/>
                      </a:rPr>
                      <m:t>=15,     </m:t>
                    </m:r>
                    <m:r>
                      <a:rPr lang="en-US" sz="2300" b="0" i="1" smtClean="0">
                        <a:latin typeface="Cambria Math" panose="02040503050406030204" pitchFamily="18" charset="0"/>
                        <a:ea typeface="Cambria Math" panose="02040503050406030204" pitchFamily="18" charset="0"/>
                        <a:cs typeface="Vani" panose="020B0502040204020203" pitchFamily="34" charset="0"/>
                      </a:rPr>
                      <m:t>𝑝</m:t>
                    </m:r>
                    <m:r>
                      <a:rPr lang="en-US" sz="2300" b="0" i="1" smtClean="0">
                        <a:latin typeface="Cambria Math" panose="02040503050406030204" pitchFamily="18" charset="0"/>
                        <a:ea typeface="Cambria Math" panose="02040503050406030204" pitchFamily="18" charset="0"/>
                        <a:cs typeface="Vani" panose="020B0502040204020203" pitchFamily="34" charset="0"/>
                      </a:rPr>
                      <m:t>=0.96,     </m:t>
                    </m:r>
                    <m:r>
                      <a:rPr lang="en-US" sz="2300" b="0" i="1" smtClean="0">
                        <a:latin typeface="Cambria Math" panose="02040503050406030204" pitchFamily="18" charset="0"/>
                        <a:ea typeface="Cambria Math" panose="02040503050406030204" pitchFamily="18" charset="0"/>
                        <a:cs typeface="Vani" panose="020B0502040204020203" pitchFamily="34" charset="0"/>
                      </a:rPr>
                      <m:t>𝑞</m:t>
                    </m:r>
                    <m:r>
                      <a:rPr lang="en-US" sz="2300" b="0" i="1" smtClean="0">
                        <a:latin typeface="Cambria Math" panose="02040503050406030204" pitchFamily="18" charset="0"/>
                        <a:ea typeface="Cambria Math" panose="02040503050406030204" pitchFamily="18" charset="0"/>
                        <a:cs typeface="Vani" panose="020B0502040204020203" pitchFamily="34" charset="0"/>
                      </a:rPr>
                      <m:t>=1−0.96=0.04</m:t>
                    </m:r>
                  </m:oMath>
                </a14:m>
                <a:endParaRPr lang="en-US" sz="2300" b="0" dirty="0" smtClean="0">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4</m:t>
                        </m:r>
                      </m:e>
                    </m:d>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15</m:t>
                        </m:r>
                        <m:r>
                          <a:rPr lang="en-US" sz="2300" i="1">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4</m:t>
                        </m:r>
                      </m:e>
                    </m:d>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m:t>
                        </m:r>
                        <m:r>
                          <a:rPr lang="en-US" sz="2300" b="0" i="1" smtClean="0">
                            <a:latin typeface="Cambria Math" panose="02040503050406030204" pitchFamily="18" charset="0"/>
                            <a:cs typeface="Vani" panose="020B0502040204020203" pitchFamily="34" charset="0"/>
                          </a:rPr>
                          <m:t>96</m:t>
                        </m:r>
                      </m:e>
                      <m:sup>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4</m:t>
                        </m:r>
                      </m:sup>
                    </m:sSup>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m:t>
                        </m:r>
                        <m:r>
                          <a:rPr lang="en-US" sz="2300" b="0" i="1" smtClean="0">
                            <a:latin typeface="Cambria Math" panose="02040503050406030204" pitchFamily="18" charset="0"/>
                            <a:cs typeface="Vani" panose="020B0502040204020203" pitchFamily="34" charset="0"/>
                          </a:rPr>
                          <m:t>04</m:t>
                        </m:r>
                      </m:e>
                      <m:sup>
                        <m:r>
                          <a:rPr lang="en-US" sz="2300" b="0" i="1" smtClean="0">
                            <a:latin typeface="Cambria Math" panose="02040503050406030204" pitchFamily="18" charset="0"/>
                            <a:cs typeface="Vani" panose="020B0502040204020203" pitchFamily="34" charset="0"/>
                          </a:rPr>
                          <m:t>15</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4</m:t>
                        </m:r>
                      </m:sup>
                    </m:sSup>
                    <m:r>
                      <a:rPr lang="en-US" sz="2300" i="1">
                        <a:latin typeface="Cambria Math" panose="02040503050406030204" pitchFamily="18" charset="0"/>
                        <a:cs typeface="Vani" panose="020B0502040204020203" pitchFamily="34" charset="0"/>
                      </a:rPr>
                      <m:t>=0.3388039874130682</m:t>
                    </m:r>
                  </m:oMath>
                </a14:m>
                <a:endParaRPr lang="en-US" sz="2300" b="0" dirty="0" smtClean="0">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5</m:t>
                        </m:r>
                      </m:e>
                    </m:d>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15, 1</m:t>
                        </m:r>
                        <m:r>
                          <a:rPr lang="en-US" sz="2300" b="0" i="1" smtClean="0">
                            <a:latin typeface="Cambria Math" panose="02040503050406030204" pitchFamily="18" charset="0"/>
                            <a:cs typeface="Vani" panose="020B0502040204020203" pitchFamily="34" charset="0"/>
                          </a:rPr>
                          <m:t>5</m:t>
                        </m:r>
                      </m:e>
                    </m:d>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0.96</m:t>
                        </m:r>
                      </m:e>
                      <m:sup>
                        <m:r>
                          <a:rPr lang="en-US" sz="2300" i="1">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5</m:t>
                        </m:r>
                      </m:sup>
                    </m:sSup>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0.04</m:t>
                        </m:r>
                      </m:e>
                      <m:sup>
                        <m:r>
                          <a:rPr lang="en-US" sz="2300" i="1">
                            <a:latin typeface="Cambria Math" panose="02040503050406030204" pitchFamily="18" charset="0"/>
                            <a:cs typeface="Vani" panose="020B0502040204020203" pitchFamily="34" charset="0"/>
                          </a:rPr>
                          <m:t>15−1</m:t>
                        </m:r>
                        <m:r>
                          <a:rPr lang="en-US" sz="2300" b="0" i="1" smtClean="0">
                            <a:latin typeface="Cambria Math" panose="02040503050406030204" pitchFamily="18" charset="0"/>
                            <a:cs typeface="Vani" panose="020B0502040204020203" pitchFamily="34" charset="0"/>
                          </a:rPr>
                          <m:t>5</m:t>
                        </m:r>
                      </m:sup>
                    </m:sSup>
                    <m:r>
                      <a:rPr lang="en-US" sz="2300" i="1">
                        <a:latin typeface="Cambria Math" panose="02040503050406030204" pitchFamily="18" charset="0"/>
                        <a:cs typeface="Vani" panose="020B0502040204020203" pitchFamily="34" charset="0"/>
                      </a:rPr>
                      <m:t>=0.5420863798609091</m:t>
                    </m:r>
                  </m:oMath>
                </a14:m>
                <a:endParaRPr lang="en-US" sz="2300" b="0" dirty="0" smtClean="0">
                  <a:latin typeface="Vani" panose="020B0502040204020203" pitchFamily="34" charset="0"/>
                  <a:ea typeface="Cambria Math" panose="02040503050406030204" pitchFamily="18"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marL="0" indent="0">
                  <a:lnSpc>
                    <a:spcPct val="150000"/>
                  </a:lnSpc>
                  <a:buNone/>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900"/>
                </a:stretch>
              </a:blipFill>
            </p:spPr>
            <p:txBody>
              <a:bodyPr/>
              <a:lstStyle/>
              <a:p>
                <a:r>
                  <a:rPr lang="en-US">
                    <a:noFill/>
                  </a:rPr>
                  <a:t> </a:t>
                </a:r>
              </a:p>
            </p:txBody>
          </p:sp>
        </mc:Fallback>
      </mc:AlternateContent>
    </p:spTree>
    <p:extLst>
      <p:ext uri="{BB962C8B-B14F-4D97-AF65-F5344CB8AC3E}">
        <p14:creationId xmlns:p14="http://schemas.microsoft.com/office/powerpoint/2010/main" val="167456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5-2.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(a.)</a:t>
                </a:r>
                <a:r>
                  <a:rPr lang="en-US" sz="2300" dirty="0">
                    <a:latin typeface="Vani" panose="020B0502040204020203" pitchFamily="34" charset="0"/>
                    <a:cs typeface="Vani" panose="020B0502040204020203" pitchFamily="34" charset="0"/>
                  </a:rPr>
                  <a:t>	</a:t>
                </a: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≥14</m:t>
                        </m:r>
                      </m:e>
                    </m:d>
                    <m:r>
                      <a:rPr lang="en-US" sz="2300" b="0" i="1" smtClean="0">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0.3388</m:t>
                    </m:r>
                    <m:r>
                      <a:rPr lang="en-US" sz="2300" b="0" i="1" smtClean="0">
                        <a:latin typeface="Cambria Math" panose="02040503050406030204" pitchFamily="18" charset="0"/>
                        <a:cs typeface="Vani" panose="020B0502040204020203" pitchFamily="34" charset="0"/>
                      </a:rPr>
                      <m:t>0+</m:t>
                    </m:r>
                    <m:r>
                      <a:rPr lang="en-US" sz="2300" i="1">
                        <a:latin typeface="Cambria Math" panose="02040503050406030204" pitchFamily="18" charset="0"/>
                        <a:cs typeface="Vani" panose="020B0502040204020203" pitchFamily="34" charset="0"/>
                      </a:rPr>
                      <m:t>0.5420</m:t>
                    </m:r>
                    <m:r>
                      <a:rPr lang="en-US" sz="2300" b="0" i="1" smtClean="0">
                        <a:latin typeface="Cambria Math" panose="02040503050406030204" pitchFamily="18" charset="0"/>
                        <a:cs typeface="Vani" panose="020B0502040204020203" pitchFamily="34" charset="0"/>
                      </a:rPr>
                      <m:t>9=</m:t>
                    </m:r>
                    <m:r>
                      <a:rPr lang="en-US" sz="2300" i="1">
                        <a:latin typeface="Cambria Math" panose="02040503050406030204" pitchFamily="18" charset="0"/>
                        <a:cs typeface="Vani" panose="020B0502040204020203" pitchFamily="34" charset="0"/>
                      </a:rPr>
                      <m:t>0.88089</m:t>
                    </m:r>
                    <m:r>
                      <a:rPr lang="en-US" sz="230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0.881</m:t>
                    </m:r>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r>
                  <a:rPr lang="en-US" sz="2300" b="1" u="sng" dirty="0" smtClean="0">
                    <a:solidFill>
                      <a:srgbClr val="115981"/>
                    </a:solidFill>
                    <a:latin typeface="Vani" panose="020B0502040204020203" pitchFamily="34" charset="0"/>
                    <a:cs typeface="Vani" panose="020B0502040204020203" pitchFamily="34" charset="0"/>
                  </a:rPr>
                  <a:t>NOTE</a:t>
                </a:r>
                <a:r>
                  <a:rPr lang="en-US" sz="2300" dirty="0" smtClean="0">
                    <a:solidFill>
                      <a:srgbClr val="115981"/>
                    </a:solidFill>
                    <a:latin typeface="Vani" panose="020B0502040204020203" pitchFamily="34" charset="0"/>
                    <a:cs typeface="Vani" panose="020B0502040204020203" pitchFamily="34" charset="0"/>
                  </a:rPr>
                  <a:t>: Because the question required us to round our answers to 3 decimal places, we have to round all intermediate calculations to at least 4 decimal places – the higher number of decimal places we round, the better. This is to ensure that we avoid rounding errors in the final answer.</a:t>
                </a:r>
                <a:endParaRPr lang="en-US" sz="2300" b="0" i="1" dirty="0" smtClean="0">
                  <a:latin typeface="Cambria Math" panose="02040503050406030204" pitchFamily="18"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	Will this probability apply if 14 of those selected students were not chosen at random?</a:t>
                </a:r>
              </a:p>
              <a:p>
                <a:pPr>
                  <a:lnSpc>
                    <a:spcPct val="150000"/>
                  </a:lnSpc>
                </a:pPr>
                <a:r>
                  <a:rPr lang="en-US" sz="2300" dirty="0" smtClean="0">
                    <a:solidFill>
                      <a:srgbClr val="FF0000"/>
                    </a:solidFill>
                    <a:latin typeface="Vani" panose="020B0502040204020203" pitchFamily="34" charset="0"/>
                    <a:cs typeface="Vani" panose="020B0502040204020203" pitchFamily="34" charset="0"/>
                  </a:rPr>
                  <a:t>No. This probability will not apply for students not selected at random</a:t>
                </a:r>
              </a:p>
              <a:p>
                <a:pPr>
                  <a:lnSpc>
                    <a:spcPct val="150000"/>
                  </a:lnSpc>
                </a:pPr>
                <a:r>
                  <a:rPr lang="en-US" sz="2300" dirty="0" smtClean="0">
                    <a:solidFill>
                      <a:srgbClr val="FF0000"/>
                    </a:solidFill>
                    <a:latin typeface="Vani" panose="020B0502040204020203" pitchFamily="34" charset="0"/>
                    <a:cs typeface="Vani" panose="020B0502040204020203" pitchFamily="34" charset="0"/>
                  </a:rPr>
                  <a:t>0.881 is the probability that 14 of the 15 </a:t>
                </a:r>
                <a:r>
                  <a:rPr lang="en-US" sz="2300" u="sng" dirty="0" smtClean="0">
                    <a:solidFill>
                      <a:srgbClr val="FF0000"/>
                    </a:solidFill>
                    <a:latin typeface="Vani" panose="020B0502040204020203" pitchFamily="34" charset="0"/>
                    <a:cs typeface="Vani" panose="020B0502040204020203" pitchFamily="34" charset="0"/>
                  </a:rPr>
                  <a:t>randomly selected</a:t>
                </a:r>
                <a:r>
                  <a:rPr lang="en-US" sz="2300" dirty="0" smtClean="0">
                    <a:solidFill>
                      <a:srgbClr val="FF0000"/>
                    </a:solidFill>
                    <a:latin typeface="Vani" panose="020B0502040204020203" pitchFamily="34" charset="0"/>
                    <a:cs typeface="Vani" panose="020B0502040204020203" pitchFamily="34" charset="0"/>
                  </a:rPr>
                  <a:t> students graduated.</a:t>
                </a:r>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800"/>
                </a:stretch>
              </a:blipFill>
            </p:spPr>
            <p:txBody>
              <a:bodyPr/>
              <a:lstStyle/>
              <a:p>
                <a:r>
                  <a:rPr lang="en-US">
                    <a:noFill/>
                  </a:rPr>
                  <a:t> </a:t>
                </a:r>
              </a:p>
            </p:txBody>
          </p:sp>
        </mc:Fallback>
      </mc:AlternateContent>
    </p:spTree>
    <p:extLst>
      <p:ext uri="{BB962C8B-B14F-4D97-AF65-F5344CB8AC3E}">
        <p14:creationId xmlns:p14="http://schemas.microsoft.com/office/powerpoint/2010/main" val="340196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6-1.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(6.) </a:t>
                </a:r>
                <a:r>
                  <a:rPr lang="en-US" sz="2300" dirty="0" smtClean="0">
                    <a:latin typeface="Vani" panose="020B0502040204020203" pitchFamily="34" charset="0"/>
                    <a:cs typeface="Vani" panose="020B0502040204020203" pitchFamily="34" charset="0"/>
                  </a:rPr>
                  <a:t>	Safe Flight Air seats 10 passengers. The probability that a passenger who buys a ticket will not show up is </a:t>
                </a:r>
                <a14:m>
                  <m:oMath xmlns:m="http://schemas.openxmlformats.org/officeDocument/2006/math">
                    <m:r>
                      <a:rPr lang="en-US" sz="2300" i="1" dirty="0" smtClean="0">
                        <a:latin typeface="Cambria Math" panose="02040503050406030204" pitchFamily="18" charset="0"/>
                        <a:cs typeface="Vani" panose="020B0502040204020203" pitchFamily="34" charset="0"/>
                      </a:rPr>
                      <m:t>0.0987</m:t>
                    </m:r>
                  </m:oMath>
                </a14:m>
                <a:r>
                  <a:rPr lang="en-US" sz="2300" dirty="0" smtClean="0">
                    <a:latin typeface="Vani" panose="020B0502040204020203" pitchFamily="34" charset="0"/>
                    <a:cs typeface="Vani" panose="020B0502040204020203" pitchFamily="34" charset="0"/>
                  </a:rPr>
                  <a:t>. The manager of Safe Flight Air wants to book 12 passengers. Would you advise the manager to do so? Why? Round to 4 decimal places as needed.</a:t>
                </a:r>
              </a:p>
              <a:p>
                <a:pPr>
                  <a:lnSpc>
                    <a:spcPct val="150000"/>
                  </a:lnSpc>
                </a:pPr>
                <a:r>
                  <a:rPr lang="en-US" sz="2300" dirty="0" smtClean="0">
                    <a:latin typeface="Vani" panose="020B0502040204020203" pitchFamily="34" charset="0"/>
                    <a:cs typeface="Vani" panose="020B0502040204020203" pitchFamily="34" charset="0"/>
                  </a:rPr>
                  <a:t>Assume the manager books 12 passengers for a 10-seat passenger jet. Let us first, find the probability of “</a:t>
                </a:r>
                <a:r>
                  <a:rPr lang="en-US" sz="2300" dirty="0" smtClean="0">
                    <a:solidFill>
                      <a:srgbClr val="0070C0"/>
                    </a:solidFill>
                    <a:latin typeface="Vani" panose="020B0502040204020203" pitchFamily="34" charset="0"/>
                    <a:cs typeface="Vani" panose="020B0502040204020203" pitchFamily="34" charset="0"/>
                  </a:rPr>
                  <a:t>overbooking</a:t>
                </a:r>
                <a:r>
                  <a:rPr lang="en-US" sz="2300" dirty="0" smtClean="0">
                    <a:latin typeface="Vani" panose="020B0502040204020203" pitchFamily="34" charset="0"/>
                    <a:cs typeface="Vani" panose="020B0502040204020203" pitchFamily="34" charset="0"/>
                  </a:rPr>
                  <a:t>” – that at least 11 passengers show up.</a:t>
                </a:r>
              </a:p>
              <a:p>
                <a:pPr>
                  <a:lnSpc>
                    <a:spcPct val="150000"/>
                  </a:lnSpc>
                </a:pPr>
                <a:r>
                  <a:rPr lang="en-US" sz="2300" dirty="0" smtClean="0">
                    <a:latin typeface="Vani" panose="020B0502040204020203" pitchFamily="34" charset="0"/>
                    <a:cs typeface="Vani" panose="020B0502040204020203" pitchFamily="34" charset="0"/>
                  </a:rPr>
                  <a:t>In this question, the probability of success, </a:t>
                </a:r>
                <a14:m>
                  <m:oMath xmlns:m="http://schemas.openxmlformats.org/officeDocument/2006/math">
                    <m:r>
                      <a:rPr lang="en-US" sz="2300" i="1" dirty="0" smtClean="0">
                        <a:latin typeface="Cambria Math" panose="02040503050406030204" pitchFamily="18" charset="0"/>
                        <a:cs typeface="Vani" panose="020B0502040204020203" pitchFamily="34" charset="0"/>
                      </a:rPr>
                      <m:t>𝑝</m:t>
                    </m:r>
                  </m:oMath>
                </a14:m>
                <a:r>
                  <a:rPr lang="en-US" sz="2300" dirty="0" smtClean="0">
                    <a:latin typeface="Vani" panose="020B0502040204020203" pitchFamily="34" charset="0"/>
                    <a:cs typeface="Vani" panose="020B0502040204020203" pitchFamily="34" charset="0"/>
                  </a:rPr>
                  <a:t> is the probability that the passenger shows up for the flight. The probability of failure, </a:t>
                </a:r>
                <a14:m>
                  <m:oMath xmlns:m="http://schemas.openxmlformats.org/officeDocument/2006/math">
                    <m:r>
                      <a:rPr lang="en-US" sz="2300" i="1" dirty="0" smtClean="0">
                        <a:latin typeface="Cambria Math" panose="02040503050406030204" pitchFamily="18" charset="0"/>
                        <a:cs typeface="Vani" panose="020B0502040204020203" pitchFamily="34" charset="0"/>
                      </a:rPr>
                      <m:t>𝑞</m:t>
                    </m:r>
                  </m:oMath>
                </a14:m>
                <a:r>
                  <a:rPr lang="en-US" sz="2300" dirty="0" smtClean="0">
                    <a:latin typeface="Vani" panose="020B0502040204020203" pitchFamily="34" charset="0"/>
                    <a:cs typeface="Vani" panose="020B0502040204020203" pitchFamily="34" charset="0"/>
                  </a:rPr>
                  <a:t> is the probability that the passenger does not show up for the flight. </a:t>
                </a:r>
              </a:p>
              <a:p>
                <a:pPr>
                  <a:lnSpc>
                    <a:spcPct val="150000"/>
                  </a:lnSpc>
                </a:pPr>
                <a:endParaRPr lang="en-US" sz="230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200"/>
                </a:stretch>
              </a:blipFill>
            </p:spPr>
            <p:txBody>
              <a:bodyPr/>
              <a:lstStyle/>
              <a:p>
                <a:r>
                  <a:rPr lang="en-US">
                    <a:noFill/>
                  </a:rPr>
                  <a:t> </a:t>
                </a:r>
              </a:p>
            </p:txBody>
          </p:sp>
        </mc:Fallback>
      </mc:AlternateContent>
    </p:spTree>
    <p:extLst>
      <p:ext uri="{BB962C8B-B14F-4D97-AF65-F5344CB8AC3E}">
        <p14:creationId xmlns:p14="http://schemas.microsoft.com/office/powerpoint/2010/main" val="377164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6-2.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cs typeface="Vani" panose="020B0502040204020203" pitchFamily="34" charset="0"/>
                          </a:rPr>
                          <m:t>𝑎𝑡</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𝑙𝑒𝑎𝑠𝑡</m:t>
                        </m:r>
                        <m:r>
                          <a:rPr lang="en-US" sz="2300" i="1">
                            <a:solidFill>
                              <a:srgbClr val="115981"/>
                            </a:solidFill>
                            <a:latin typeface="Cambria Math" panose="02040503050406030204" pitchFamily="18" charset="0"/>
                            <a:cs typeface="Vani" panose="020B0502040204020203" pitchFamily="34" charset="0"/>
                          </a:rPr>
                          <m:t> 11</m:t>
                        </m:r>
                      </m:e>
                    </m:d>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≥11</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11</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12</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𝑛</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=12,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𝑞</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=0.0987,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𝑝</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=1−0.0987=0.9013</m:t>
                    </m:r>
                  </m:oMath>
                </a14:m>
                <a:endParaRPr lang="en-US" sz="2300" dirty="0">
                  <a:solidFill>
                    <a:srgbClr val="115981"/>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11</m:t>
                        </m:r>
                      </m:e>
                    </m:d>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12, 11</m:t>
                        </m:r>
                      </m:e>
                    </m:d>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0.9013</m:t>
                        </m:r>
                      </m:e>
                      <m:sup>
                        <m:r>
                          <a:rPr lang="en-US" sz="2300" i="1">
                            <a:latin typeface="Cambria Math" panose="02040503050406030204" pitchFamily="18" charset="0"/>
                            <a:cs typeface="Vani" panose="020B0502040204020203" pitchFamily="34" charset="0"/>
                          </a:rPr>
                          <m:t>11</m:t>
                        </m:r>
                      </m:sup>
                    </m:sSup>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0.0987</m:t>
                        </m:r>
                      </m:e>
                      <m:sup>
                        <m:r>
                          <a:rPr lang="en-US" sz="2300" i="1">
                            <a:latin typeface="Cambria Math" panose="02040503050406030204" pitchFamily="18" charset="0"/>
                            <a:cs typeface="Vani" panose="020B0502040204020203" pitchFamily="34" charset="0"/>
                          </a:rPr>
                          <m:t>12−11</m:t>
                        </m:r>
                      </m:sup>
                    </m:sSup>
                    <m:r>
                      <a:rPr lang="en-US" sz="2300" i="1">
                        <a:latin typeface="Cambria Math" panose="02040503050406030204" pitchFamily="18" charset="0"/>
                        <a:cs typeface="Vani" panose="020B0502040204020203" pitchFamily="34" charset="0"/>
                      </a:rPr>
                      <m:t>=0.3776256453250836393</m:t>
                    </m:r>
                  </m:oMath>
                </a14:m>
                <a:endParaRPr lang="en-US" sz="2300" i="1" dirty="0">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12</m:t>
                        </m:r>
                      </m:e>
                    </m:d>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12, 12</m:t>
                        </m:r>
                      </m:e>
                    </m:d>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0.9013</m:t>
                        </m:r>
                      </m:e>
                      <m:sup>
                        <m:r>
                          <a:rPr lang="en-US" sz="2300" i="1">
                            <a:latin typeface="Cambria Math" panose="02040503050406030204" pitchFamily="18" charset="0"/>
                            <a:cs typeface="Vani" panose="020B0502040204020203" pitchFamily="34" charset="0"/>
                          </a:rPr>
                          <m:t>12</m:t>
                        </m:r>
                      </m:sup>
                    </m:sSup>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0.0987</m:t>
                        </m:r>
                      </m:e>
                      <m:sup>
                        <m:r>
                          <a:rPr lang="en-US" sz="2300" i="1">
                            <a:latin typeface="Cambria Math" panose="02040503050406030204" pitchFamily="18" charset="0"/>
                            <a:cs typeface="Vani" panose="020B0502040204020203" pitchFamily="34" charset="0"/>
                          </a:rPr>
                          <m:t>12−12</m:t>
                        </m:r>
                      </m:sup>
                    </m:sSup>
                    <m:r>
                      <a:rPr lang="en-US" sz="2300" i="1">
                        <a:latin typeface="Cambria Math" panose="02040503050406030204" pitchFamily="18" charset="0"/>
                        <a:cs typeface="Vani" panose="020B0502040204020203" pitchFamily="34" charset="0"/>
                      </a:rPr>
                      <m:t>=0.2873640612390222</m:t>
                    </m:r>
                  </m:oMath>
                </a14:m>
                <a:endParaRPr lang="en-US" sz="2300" i="1" dirty="0" smtClean="0">
                  <a:solidFill>
                    <a:srgbClr val="115981"/>
                  </a:solidFill>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smtClean="0">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1</m:t>
                        </m:r>
                      </m:e>
                    </m:d>
                    <m:r>
                      <a:rPr lang="en-US" sz="2300" i="1">
                        <a:solidFill>
                          <a:srgbClr val="115981"/>
                        </a:solidFill>
                        <a:latin typeface="Cambria Math" panose="02040503050406030204" pitchFamily="18" charset="0"/>
                        <a:cs typeface="Vani" panose="020B0502040204020203" pitchFamily="34" charset="0"/>
                      </a:rPr>
                      <m:t>=0.3</m:t>
                    </m:r>
                    <m:r>
                      <a:rPr lang="en-US" sz="2300" b="0" i="1" smtClean="0">
                        <a:solidFill>
                          <a:srgbClr val="115981"/>
                        </a:solidFill>
                        <a:latin typeface="Cambria Math" panose="02040503050406030204" pitchFamily="18" charset="0"/>
                        <a:cs typeface="Vani" panose="020B0502040204020203" pitchFamily="34" charset="0"/>
                      </a:rPr>
                      <m:t>7763</m:t>
                    </m:r>
                    <m:r>
                      <a:rPr lang="en-US" sz="2300" i="1">
                        <a:solidFill>
                          <a:srgbClr val="115981"/>
                        </a:solidFill>
                        <a:latin typeface="Cambria Math" panose="02040503050406030204" pitchFamily="18" charset="0"/>
                        <a:cs typeface="Vani" panose="020B0502040204020203" pitchFamily="34" charset="0"/>
                      </a:rPr>
                      <m:t>+0.</m:t>
                    </m:r>
                    <m:r>
                      <a:rPr lang="en-US" sz="2300" b="0" i="1" smtClean="0">
                        <a:solidFill>
                          <a:srgbClr val="115981"/>
                        </a:solidFill>
                        <a:latin typeface="Cambria Math" panose="02040503050406030204" pitchFamily="18" charset="0"/>
                        <a:cs typeface="Vani" panose="020B0502040204020203" pitchFamily="34" charset="0"/>
                      </a:rPr>
                      <m:t>28736</m:t>
                    </m:r>
                    <m:r>
                      <a:rPr lang="en-US" sz="2300" i="1">
                        <a:solidFill>
                          <a:srgbClr val="115981"/>
                        </a:solidFill>
                        <a:latin typeface="Cambria Math" panose="02040503050406030204" pitchFamily="18" charset="0"/>
                        <a:cs typeface="Vani" panose="020B0502040204020203" pitchFamily="34" charset="0"/>
                      </a:rPr>
                      <m:t>=0.</m:t>
                    </m:r>
                    <m:r>
                      <a:rPr lang="en-US" sz="2300" b="0" i="1" smtClean="0">
                        <a:solidFill>
                          <a:srgbClr val="115981"/>
                        </a:solidFill>
                        <a:latin typeface="Cambria Math" panose="02040503050406030204" pitchFamily="18" charset="0"/>
                        <a:cs typeface="Vani" panose="020B0502040204020203" pitchFamily="34" charset="0"/>
                      </a:rPr>
                      <m:t>66499</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FF0000"/>
                        </a:solidFill>
                        <a:latin typeface="Cambria Math" panose="02040503050406030204" pitchFamily="18" charset="0"/>
                        <a:cs typeface="Vani" panose="020B0502040204020203" pitchFamily="34" charset="0"/>
                      </a:rPr>
                      <m:t>0.</m:t>
                    </m:r>
                    <m:r>
                      <a:rPr lang="en-US" sz="2300" b="0" i="1" smtClean="0">
                        <a:solidFill>
                          <a:srgbClr val="FF0000"/>
                        </a:solidFill>
                        <a:latin typeface="Cambria Math" panose="02040503050406030204" pitchFamily="18" charset="0"/>
                        <a:cs typeface="Vani" panose="020B0502040204020203" pitchFamily="34" charset="0"/>
                      </a:rPr>
                      <m:t>6650</m:t>
                    </m:r>
                  </m:oMath>
                </a14:m>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solidFill>
                      <a:srgbClr val="FF0000"/>
                    </a:solidFill>
                    <a:latin typeface="Vani" panose="020B0502040204020203" pitchFamily="34" charset="0"/>
                    <a:cs typeface="Vani" panose="020B0502040204020203" pitchFamily="34" charset="0"/>
                  </a:rPr>
                  <a:t>The probability of overbooking, </a:t>
                </a:r>
                <a14:m>
                  <m:oMath xmlns:m="http://schemas.openxmlformats.org/officeDocument/2006/math">
                    <m:r>
                      <a:rPr lang="en-US" sz="2300" b="0" i="1" smtClean="0">
                        <a:solidFill>
                          <a:srgbClr val="FF0000"/>
                        </a:solidFill>
                        <a:latin typeface="Cambria Math" panose="02040503050406030204" pitchFamily="18" charset="0"/>
                        <a:cs typeface="Vani" panose="020B0502040204020203" pitchFamily="34" charset="0"/>
                      </a:rPr>
                      <m:t>0.6650</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&gt;0.05;</m:t>
                    </m:r>
                  </m:oMath>
                </a14:m>
                <a:r>
                  <a:rPr lang="en-US" sz="2300" dirty="0" smtClean="0">
                    <a:solidFill>
                      <a:srgbClr val="FF0000"/>
                    </a:solidFill>
                    <a:latin typeface="Vani" panose="020B0502040204020203" pitchFamily="34" charset="0"/>
                    <a:cs typeface="Vani" panose="020B0502040204020203" pitchFamily="34" charset="0"/>
                  </a:rPr>
                  <a:t> hence </a:t>
                </a:r>
                <a:r>
                  <a:rPr lang="en-US" sz="2300" u="sng" dirty="0" smtClean="0">
                    <a:solidFill>
                      <a:srgbClr val="FF0000"/>
                    </a:solidFill>
                    <a:latin typeface="Vani" panose="020B0502040204020203" pitchFamily="34" charset="0"/>
                    <a:cs typeface="Vani" panose="020B0502040204020203" pitchFamily="34" charset="0"/>
                  </a:rPr>
                  <a:t>overbooking is not an unlikely event</a:t>
                </a:r>
                <a:r>
                  <a:rPr lang="en-US" sz="2300" dirty="0" smtClean="0">
                    <a:solidFill>
                      <a:srgbClr val="FF0000"/>
                    </a:solidFill>
                    <a:latin typeface="Vani" panose="020B0502040204020203" pitchFamily="34" charset="0"/>
                    <a:cs typeface="Vani" panose="020B0502040204020203" pitchFamily="34" charset="0"/>
                  </a:rPr>
                  <a:t>. So, it is better not to overbook.</a:t>
                </a:r>
              </a:p>
              <a:p>
                <a:pPr>
                  <a:lnSpc>
                    <a:spcPct val="150000"/>
                  </a:lnSpc>
                </a:pPr>
                <a:r>
                  <a:rPr lang="en-US" sz="2300" b="1" u="sng" dirty="0" smtClean="0">
                    <a:solidFill>
                      <a:srgbClr val="115981"/>
                    </a:solidFill>
                    <a:latin typeface="Vani" panose="020B0502040204020203" pitchFamily="34" charset="0"/>
                    <a:cs typeface="Vani" panose="020B0502040204020203" pitchFamily="34" charset="0"/>
                  </a:rPr>
                  <a:t>Remember</a:t>
                </a:r>
                <a:r>
                  <a:rPr lang="en-US" sz="2300" dirty="0" smtClean="0">
                    <a:solidFill>
                      <a:srgbClr val="115981"/>
                    </a:solidFill>
                    <a:latin typeface="Vani" panose="020B0502040204020203" pitchFamily="34" charset="0"/>
                    <a:cs typeface="Vani" panose="020B0502040204020203" pitchFamily="34" charset="0"/>
                  </a:rPr>
                  <a:t>: An event is unlikely if the probability of that event is less than or equal to 5%.</a:t>
                </a:r>
                <a:endParaRPr lang="en-US" sz="230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302822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7-1.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a:t>
                </a:r>
                <a:r>
                  <a:rPr lang="en-US" sz="2300" dirty="0">
                    <a:solidFill>
                      <a:srgbClr val="7030A0"/>
                    </a:solidFill>
                    <a:latin typeface="Vani" panose="020B0502040204020203" pitchFamily="34" charset="0"/>
                    <a:cs typeface="Vani" panose="020B0502040204020203" pitchFamily="34" charset="0"/>
                  </a:rPr>
                  <a:t>7</a:t>
                </a:r>
                <a:r>
                  <a:rPr lang="en-US" sz="2300" dirty="0" smtClean="0">
                    <a:solidFill>
                      <a:srgbClr val="7030A0"/>
                    </a:solidFill>
                    <a:latin typeface="Vani" panose="020B0502040204020203" pitchFamily="34" charset="0"/>
                    <a:cs typeface="Vani" panose="020B0502040204020203" pitchFamily="34" charset="0"/>
                  </a:rPr>
                  <a:t>.)</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Be Healed Pharmaceuticals manufactures ibuprofen tablets. The quality control plan is to randomly select and test 17 tablets. The entire batch is accepted if at most 2 tablets do not meet the required specifications. If a particular batch of thousands of ibuprofen tablets has a 4% defective rate, determine the probability that this entire batch is accepted? Round to 3 decimal places as needed. </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𝐴𝑡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𝑚𝑜𝑠𝑡</m:t>
                    </m:r>
                    <m:r>
                      <a:rPr lang="en-US" sz="2300" b="0" i="1" smtClean="0">
                        <a:latin typeface="Cambria Math" panose="02040503050406030204" pitchFamily="18" charset="0"/>
                        <a:cs typeface="Vani" panose="020B0502040204020203" pitchFamily="34" charset="0"/>
                      </a:rPr>
                      <m:t> 2 </m:t>
                    </m:r>
                    <m:r>
                      <a:rPr lang="en-US" sz="2300" b="0" i="1" smtClean="0">
                        <a:latin typeface="Cambria Math" panose="02040503050406030204" pitchFamily="18" charset="0"/>
                        <a:cs typeface="Vani" panose="020B0502040204020203" pitchFamily="34" charset="0"/>
                      </a:rPr>
                      <m:t>𝑚𝑒𝑎𝑛𝑠</m:t>
                    </m:r>
                    <m:r>
                      <a:rPr lang="en-US" sz="2300" b="0" i="1" smtClean="0">
                        <a:latin typeface="Cambria Math" panose="02040503050406030204" pitchFamily="18" charset="0"/>
                        <a:cs typeface="Vani" panose="020B0502040204020203" pitchFamily="34" charset="0"/>
                      </a:rPr>
                      <m:t> ≤2. </m:t>
                    </m:r>
                    <m:r>
                      <a:rPr lang="en-US" sz="2300" b="0" i="1" smtClean="0">
                        <a:latin typeface="Cambria Math" panose="02040503050406030204" pitchFamily="18" charset="0"/>
                        <a:ea typeface="Cambria Math" panose="02040503050406030204" pitchFamily="18" charset="0"/>
                        <a:cs typeface="Vani" panose="020B0502040204020203" pitchFamily="34" charset="0"/>
                      </a:rPr>
                      <m:t>𝑇h𝑖𝑠</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𝑚𝑒𝑎𝑛𝑠</m:t>
                    </m:r>
                    <m:r>
                      <a:rPr lang="en-US" sz="2300" b="0" i="1" smtClean="0">
                        <a:latin typeface="Cambria Math" panose="02040503050406030204" pitchFamily="18" charset="0"/>
                        <a:ea typeface="Cambria Math" panose="02040503050406030204" pitchFamily="18" charset="0"/>
                        <a:cs typeface="Vani" panose="020B0502040204020203" pitchFamily="34" charset="0"/>
                      </a:rPr>
                      <m:t> 2 </m:t>
                    </m:r>
                    <m:r>
                      <a:rPr lang="en-US" sz="2300" b="0" i="1" smtClean="0">
                        <a:latin typeface="Cambria Math" panose="02040503050406030204" pitchFamily="18" charset="0"/>
                        <a:ea typeface="Cambria Math" panose="02040503050406030204" pitchFamily="18" charset="0"/>
                        <a:cs typeface="Vani" panose="020B0502040204020203" pitchFamily="34" charset="0"/>
                      </a:rPr>
                      <m:t>𝑜𝑟</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𝑙𝑒𝑠𝑠</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𝑆𝑜</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𝑖𝑡</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𝑐𝑜𝑢𝑙𝑑</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𝑏𝑒</m:t>
                    </m:r>
                    <m:r>
                      <a:rPr lang="en-US" sz="2300" b="0" i="1" smtClean="0">
                        <a:latin typeface="Cambria Math" panose="02040503050406030204" pitchFamily="18" charset="0"/>
                        <a:ea typeface="Cambria Math" panose="02040503050406030204" pitchFamily="18" charset="0"/>
                        <a:cs typeface="Vani" panose="020B0502040204020203" pitchFamily="34" charset="0"/>
                      </a:rPr>
                      <m:t> 2 </m:t>
                    </m:r>
                    <m:r>
                      <a:rPr lang="en-US" sz="2300" b="0" i="1" smtClean="0">
                        <a:latin typeface="Cambria Math" panose="02040503050406030204" pitchFamily="18" charset="0"/>
                        <a:ea typeface="Cambria Math" panose="02040503050406030204" pitchFamily="18" charset="0"/>
                        <a:cs typeface="Vani" panose="020B0502040204020203" pitchFamily="34" charset="0"/>
                      </a:rPr>
                      <m:t>𝑜𝑟</m:t>
                    </m:r>
                    <m:r>
                      <a:rPr lang="en-US" sz="2300" b="0" i="1" smtClean="0">
                        <a:latin typeface="Cambria Math" panose="02040503050406030204" pitchFamily="18" charset="0"/>
                        <a:ea typeface="Cambria Math" panose="02040503050406030204" pitchFamily="18" charset="0"/>
                        <a:cs typeface="Vani" panose="020B0502040204020203" pitchFamily="34" charset="0"/>
                      </a:rPr>
                      <m:t> 1 </m:t>
                    </m:r>
                    <m:r>
                      <a:rPr lang="en-US" sz="2300" b="0" i="1" smtClean="0">
                        <a:latin typeface="Cambria Math" panose="02040503050406030204" pitchFamily="18" charset="0"/>
                        <a:ea typeface="Cambria Math" panose="02040503050406030204" pitchFamily="18" charset="0"/>
                        <a:cs typeface="Vani" panose="020B0502040204020203" pitchFamily="34" charset="0"/>
                      </a:rPr>
                      <m:t>𝑜𝑟</m:t>
                    </m:r>
                    <m:r>
                      <a:rPr lang="en-US" sz="2300" b="0" i="1" smtClean="0">
                        <a:latin typeface="Cambria Math" panose="02040503050406030204" pitchFamily="18" charset="0"/>
                        <a:ea typeface="Cambria Math" panose="02040503050406030204" pitchFamily="18" charset="0"/>
                        <a:cs typeface="Vani" panose="020B0502040204020203" pitchFamily="34" charset="0"/>
                      </a:rPr>
                      <m:t> 0</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2</m:t>
                        </m:r>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2</m:t>
                        </m:r>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1</m:t>
                        </m:r>
                      </m:e>
                    </m:d>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𝑃</m:t>
                    </m:r>
                    <m:r>
                      <a:rPr lang="en-US" sz="2300" b="0" i="1" smtClean="0">
                        <a:latin typeface="Cambria Math" panose="02040503050406030204" pitchFamily="18" charset="0"/>
                        <a:ea typeface="Cambria Math" panose="02040503050406030204" pitchFamily="18" charset="0"/>
                        <a:cs typeface="Vani" panose="020B0502040204020203" pitchFamily="34" charset="0"/>
                      </a:rPr>
                      <m:t>(0)</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4% </m:t>
                    </m:r>
                    <m:r>
                      <a:rPr lang="en-US" sz="2300" b="0" i="1" smtClean="0">
                        <a:latin typeface="Cambria Math" panose="02040503050406030204" pitchFamily="18" charset="0"/>
                        <a:cs typeface="Vani" panose="020B0502040204020203" pitchFamily="34" charset="0"/>
                      </a:rPr>
                      <m:t>𝑑𝑒𝑓𝑒𝑐𝑡𝑖𝑣𝑒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𝑟𝑎𝑡𝑒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𝑚𝑒𝑎𝑛𝑠</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𝑡h𝑎𝑡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m:t>
                    </m:r>
                    <m:r>
                      <a:rPr lang="en-US" sz="2300" b="0" i="1" smtClean="0">
                        <a:latin typeface="Cambria Math" panose="02040503050406030204" pitchFamily="18" charset="0"/>
                        <a:cs typeface="Vani" panose="020B0502040204020203" pitchFamily="34" charset="0"/>
                      </a:rPr>
                      <m:t>=0.04.</m:t>
                    </m:r>
                  </m:oMath>
                </a14:m>
                <a:r>
                  <a:rPr lang="en-US" sz="2300" b="0" i="1" dirty="0" smtClean="0">
                    <a:latin typeface="Cambria Math" panose="02040503050406030204" pitchFamily="18" charset="0"/>
                    <a:cs typeface="Vani" panose="020B0502040204020203" pitchFamily="34" charset="0"/>
                  </a:rPr>
                  <a:t> </a:t>
                </a:r>
                <a:r>
                  <a:rPr lang="en-US" sz="2300" b="0" dirty="0" smtClean="0">
                    <a:latin typeface="Vani" panose="020B0502040204020203" pitchFamily="34" charset="0"/>
                    <a:cs typeface="Vani" panose="020B0502040204020203" pitchFamily="34" charset="0"/>
                  </a:rPr>
                  <a:t>This is because 2 or less has to be defective for the shipment to be accepted. </a:t>
                </a:r>
                <a14:m>
                  <m:oMath xmlns:m="http://schemas.openxmlformats.org/officeDocument/2006/math">
                    <m:r>
                      <a:rPr lang="en-US" sz="2300" i="1">
                        <a:latin typeface="Cambria Math" panose="02040503050406030204" pitchFamily="18" charset="0"/>
                        <a:cs typeface="Vani" panose="020B0502040204020203" pitchFamily="34" charset="0"/>
                      </a:rPr>
                      <m:t>𝑛</m:t>
                    </m:r>
                    <m:r>
                      <a:rPr lang="en-US" sz="2300" i="1">
                        <a:latin typeface="Cambria Math" panose="02040503050406030204" pitchFamily="18" charset="0"/>
                        <a:cs typeface="Vani" panose="020B0502040204020203" pitchFamily="34" charset="0"/>
                      </a:rPr>
                      <m:t>=17</m:t>
                    </m:r>
                  </m:oMath>
                </a14:m>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300" b="-952"/>
                </a:stretch>
              </a:blipFill>
            </p:spPr>
            <p:txBody>
              <a:bodyPr/>
              <a:lstStyle/>
              <a:p>
                <a:r>
                  <a:rPr lang="en-US">
                    <a:noFill/>
                  </a:rPr>
                  <a:t> </a:t>
                </a:r>
              </a:p>
            </p:txBody>
          </p:sp>
        </mc:Fallback>
      </mc:AlternateContent>
    </p:spTree>
    <p:extLst>
      <p:ext uri="{BB962C8B-B14F-4D97-AF65-F5344CB8AC3E}">
        <p14:creationId xmlns:p14="http://schemas.microsoft.com/office/powerpoint/2010/main" val="327836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7-2.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14:m>
                  <m:oMath xmlns:m="http://schemas.openxmlformats.org/officeDocument/2006/math">
                    <m:r>
                      <a:rPr lang="en-US" sz="2300" i="1" smtClean="0">
                        <a:latin typeface="Cambria Math" panose="02040503050406030204" pitchFamily="18" charset="0"/>
                        <a:cs typeface="Vani" panose="020B0502040204020203" pitchFamily="34" charset="0"/>
                      </a:rPr>
                      <m:t>𝐻𝑒𝑛𝑐𝑒</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𝑡h𝑒</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𝑁𝑜𝑛</m:t>
                    </m:r>
                    <m:r>
                      <a:rPr lang="en-US" sz="2300" i="1" smtClean="0">
                        <a:latin typeface="Cambria Math" panose="02040503050406030204" pitchFamily="18" charset="0"/>
                        <a:cs typeface="Vani" panose="020B0502040204020203" pitchFamily="34" charset="0"/>
                      </a:rPr>
                      <m:t>−</m:t>
                    </m:r>
                    <m:r>
                      <a:rPr lang="en-US" sz="2300" i="1" smtClean="0">
                        <a:latin typeface="Cambria Math" panose="02040503050406030204" pitchFamily="18" charset="0"/>
                        <a:cs typeface="Vani" panose="020B0502040204020203" pitchFamily="34" charset="0"/>
                      </a:rPr>
                      <m:t>𝐷𝑒𝑓𝑒𝑐𝑡𝑖𝑣𝑒</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𝑟𝑎𝑡𝑒</m:t>
                    </m:r>
                    <m:r>
                      <a:rPr lang="en-US" sz="2300" i="1" smtClean="0">
                        <a:latin typeface="Cambria Math" panose="02040503050406030204" pitchFamily="18" charset="0"/>
                        <a:cs typeface="Vani" panose="020B0502040204020203" pitchFamily="34" charset="0"/>
                      </a:rPr>
                      <m:t>=96%. </m:t>
                    </m:r>
                    <m:r>
                      <a:rPr lang="en-US" sz="2300" i="1" smtClean="0">
                        <a:latin typeface="Cambria Math" panose="02040503050406030204" pitchFamily="18" charset="0"/>
                        <a:cs typeface="Vani" panose="020B0502040204020203" pitchFamily="34" charset="0"/>
                      </a:rPr>
                      <m:t>𝑇h𝑖𝑠</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𝑚𝑒𝑎𝑛𝑠</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𝑡h𝑎𝑡</m:t>
                    </m:r>
                    <m:r>
                      <a:rPr lang="en-US" sz="2300" i="1" smtClean="0">
                        <a:latin typeface="Cambria Math" panose="02040503050406030204" pitchFamily="18" charset="0"/>
                        <a:cs typeface="Vani" panose="020B0502040204020203" pitchFamily="34" charset="0"/>
                      </a:rPr>
                      <m:t> </m:t>
                    </m:r>
                    <m:r>
                      <a:rPr lang="en-US" sz="2300" i="1" smtClean="0">
                        <a:latin typeface="Cambria Math" panose="02040503050406030204" pitchFamily="18" charset="0"/>
                        <a:cs typeface="Vani" panose="020B0502040204020203" pitchFamily="34" charset="0"/>
                      </a:rPr>
                      <m:t>𝑞</m:t>
                    </m:r>
                    <m:r>
                      <a:rPr lang="en-US" sz="2300" i="1" smtClean="0">
                        <a:latin typeface="Cambria Math" panose="02040503050406030204" pitchFamily="18" charset="0"/>
                        <a:cs typeface="Vani" panose="020B0502040204020203" pitchFamily="34" charset="0"/>
                      </a:rPr>
                      <m:t>=0.96 </m:t>
                    </m:r>
                  </m:oMath>
                </a14:m>
                <a:endParaRPr lang="en-US" sz="2300" dirty="0">
                  <a:latin typeface="Vani" panose="020B0502040204020203" pitchFamily="34" charset="0"/>
                  <a:cs typeface="Vani" panose="020B0502040204020203" pitchFamily="34" charset="0"/>
                </a:endParaRPr>
              </a:p>
              <a:p>
                <a:pPr lvl="0">
                  <a:lnSpc>
                    <a:spcPct val="150000"/>
                  </a:lnSpc>
                </a:pPr>
                <a14:m>
                  <m:oMath xmlns:m="http://schemas.openxmlformats.org/officeDocument/2006/math">
                    <m:r>
                      <a:rPr lang="en-US" sz="2300" i="1" smtClean="0">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cs typeface="Vani" panose="020B0502040204020203" pitchFamily="34" charset="0"/>
                          </a:rPr>
                          <m:t>2</m:t>
                        </m:r>
                      </m:e>
                    </m:d>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cs typeface="Vani" panose="020B0502040204020203" pitchFamily="34" charset="0"/>
                      </a:rPr>
                      <m:t>𝐶</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cs typeface="Vani" panose="020B0502040204020203" pitchFamily="34" charset="0"/>
                          </a:rPr>
                          <m:t>1</m:t>
                        </m:r>
                        <m:r>
                          <a:rPr lang="en-US" sz="2300" b="0" i="1" smtClean="0">
                            <a:solidFill>
                              <a:srgbClr val="115981"/>
                            </a:solidFill>
                            <a:latin typeface="Cambria Math" panose="02040503050406030204" pitchFamily="18" charset="0"/>
                            <a:cs typeface="Vani" panose="020B0502040204020203" pitchFamily="34" charset="0"/>
                          </a:rPr>
                          <m:t>7</m:t>
                        </m:r>
                        <m:r>
                          <a:rPr lang="en-US" sz="2300" i="1">
                            <a:solidFill>
                              <a:srgbClr val="115981"/>
                            </a:solidFill>
                            <a:latin typeface="Cambria Math" panose="02040503050406030204" pitchFamily="18" charset="0"/>
                            <a:cs typeface="Vani" panose="020B0502040204020203" pitchFamily="34" charset="0"/>
                          </a:rPr>
                          <m:t>, </m:t>
                        </m:r>
                        <m:r>
                          <a:rPr lang="en-US" sz="2300" b="0" i="1" smtClean="0">
                            <a:solidFill>
                              <a:srgbClr val="115981"/>
                            </a:solidFill>
                            <a:latin typeface="Cambria Math" panose="02040503050406030204" pitchFamily="18" charset="0"/>
                            <a:cs typeface="Vani" panose="020B0502040204020203" pitchFamily="34" charset="0"/>
                          </a:rPr>
                          <m:t>2</m:t>
                        </m:r>
                      </m:e>
                    </m:d>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m:t>
                        </m:r>
                        <m:r>
                          <a:rPr lang="en-US" sz="2300" b="0" i="1" smtClean="0">
                            <a:solidFill>
                              <a:srgbClr val="115981"/>
                            </a:solidFill>
                            <a:latin typeface="Cambria Math" panose="02040503050406030204" pitchFamily="18" charset="0"/>
                            <a:cs typeface="Vani" panose="020B0502040204020203" pitchFamily="34" charset="0"/>
                          </a:rPr>
                          <m:t>04</m:t>
                        </m:r>
                      </m:e>
                      <m:sup>
                        <m:r>
                          <a:rPr lang="en-US" sz="2300" b="0" i="1" smtClean="0">
                            <a:solidFill>
                              <a:srgbClr val="115981"/>
                            </a:solidFill>
                            <a:latin typeface="Cambria Math" panose="02040503050406030204" pitchFamily="18" charset="0"/>
                            <a:cs typeface="Vani" panose="020B0502040204020203" pitchFamily="34" charset="0"/>
                          </a:rPr>
                          <m:t>2</m:t>
                        </m:r>
                      </m:sup>
                    </m:sSup>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m:t>
                        </m:r>
                        <m:r>
                          <a:rPr lang="en-US" sz="2300" b="0" i="1" smtClean="0">
                            <a:solidFill>
                              <a:srgbClr val="115981"/>
                            </a:solidFill>
                            <a:latin typeface="Cambria Math" panose="02040503050406030204" pitchFamily="18" charset="0"/>
                            <a:cs typeface="Vani" panose="020B0502040204020203" pitchFamily="34" charset="0"/>
                          </a:rPr>
                          <m:t>96</m:t>
                        </m:r>
                      </m:e>
                      <m:sup>
                        <m:r>
                          <a:rPr lang="en-US" sz="2300" i="1">
                            <a:solidFill>
                              <a:srgbClr val="115981"/>
                            </a:solidFill>
                            <a:latin typeface="Cambria Math" panose="02040503050406030204" pitchFamily="18" charset="0"/>
                            <a:cs typeface="Vani" panose="020B0502040204020203" pitchFamily="34" charset="0"/>
                          </a:rPr>
                          <m:t>1</m:t>
                        </m:r>
                        <m:r>
                          <a:rPr lang="en-US" sz="2300" b="0" i="1" smtClean="0">
                            <a:solidFill>
                              <a:srgbClr val="115981"/>
                            </a:solidFill>
                            <a:latin typeface="Cambria Math" panose="02040503050406030204" pitchFamily="18" charset="0"/>
                            <a:cs typeface="Vani" panose="020B0502040204020203" pitchFamily="34" charset="0"/>
                          </a:rPr>
                          <m:t>7</m:t>
                        </m:r>
                        <m:r>
                          <a:rPr lang="en-US" sz="2300" i="1">
                            <a:solidFill>
                              <a:srgbClr val="115981"/>
                            </a:solidFill>
                            <a:latin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cs typeface="Vani" panose="020B0502040204020203" pitchFamily="34" charset="0"/>
                          </a:rPr>
                          <m:t>2</m:t>
                        </m:r>
                      </m:sup>
                    </m:sSup>
                    <m:r>
                      <a:rPr lang="en-US" sz="2300" i="1">
                        <a:solidFill>
                          <a:srgbClr val="115981"/>
                        </a:solidFill>
                        <a:latin typeface="Cambria Math" panose="02040503050406030204" pitchFamily="18" charset="0"/>
                        <a:cs typeface="Vani" panose="020B0502040204020203" pitchFamily="34" charset="0"/>
                      </a:rPr>
                      <m:t>=0.1179579962577338</m:t>
                    </m:r>
                  </m:oMath>
                </a14:m>
                <a:endParaRPr lang="en-US" sz="2300" dirty="0" smtClean="0">
                  <a:solidFill>
                    <a:srgbClr val="115981"/>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cs typeface="Vani" panose="020B0502040204020203" pitchFamily="34" charset="0"/>
                          </a:rPr>
                          <m:t>1</m:t>
                        </m:r>
                      </m:e>
                    </m:d>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cs typeface="Vani" panose="020B0502040204020203" pitchFamily="34" charset="0"/>
                      </a:rPr>
                      <m:t>𝐶</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cs typeface="Vani" panose="020B0502040204020203" pitchFamily="34" charset="0"/>
                          </a:rPr>
                          <m:t>17, </m:t>
                        </m:r>
                        <m:r>
                          <a:rPr lang="en-US" sz="2300" b="0" i="1" smtClean="0">
                            <a:solidFill>
                              <a:srgbClr val="115981"/>
                            </a:solidFill>
                            <a:latin typeface="Cambria Math" panose="02040503050406030204" pitchFamily="18" charset="0"/>
                            <a:cs typeface="Vani" panose="020B0502040204020203" pitchFamily="34" charset="0"/>
                          </a:rPr>
                          <m:t>1</m:t>
                        </m:r>
                      </m:e>
                    </m:d>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0.04</m:t>
                        </m:r>
                      </m:e>
                      <m:sup>
                        <m:r>
                          <a:rPr lang="en-US" sz="2300" b="0" i="1" smtClean="0">
                            <a:solidFill>
                              <a:srgbClr val="115981"/>
                            </a:solidFill>
                            <a:latin typeface="Cambria Math" panose="02040503050406030204" pitchFamily="18" charset="0"/>
                            <a:cs typeface="Vani" panose="020B0502040204020203" pitchFamily="34" charset="0"/>
                          </a:rPr>
                          <m:t>1</m:t>
                        </m:r>
                      </m:sup>
                    </m:sSup>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0.96</m:t>
                        </m:r>
                      </m:e>
                      <m:sup>
                        <m:r>
                          <a:rPr lang="en-US" sz="2300" i="1">
                            <a:solidFill>
                              <a:srgbClr val="115981"/>
                            </a:solidFill>
                            <a:latin typeface="Cambria Math" panose="02040503050406030204" pitchFamily="18" charset="0"/>
                            <a:cs typeface="Vani" panose="020B0502040204020203" pitchFamily="34" charset="0"/>
                          </a:rPr>
                          <m:t>17−</m:t>
                        </m:r>
                        <m:r>
                          <a:rPr lang="en-US" sz="2300" b="0" i="1" smtClean="0">
                            <a:solidFill>
                              <a:srgbClr val="115981"/>
                            </a:solidFill>
                            <a:latin typeface="Cambria Math" panose="02040503050406030204" pitchFamily="18" charset="0"/>
                            <a:cs typeface="Vani" panose="020B0502040204020203" pitchFamily="34" charset="0"/>
                          </a:rPr>
                          <m:t>1</m:t>
                        </m:r>
                      </m:sup>
                    </m:sSup>
                    <m:r>
                      <a:rPr lang="en-US" sz="2300" i="1">
                        <a:solidFill>
                          <a:srgbClr val="115981"/>
                        </a:solidFill>
                        <a:latin typeface="Cambria Math" panose="02040503050406030204" pitchFamily="18" charset="0"/>
                        <a:cs typeface="Vani" panose="020B0502040204020203" pitchFamily="34" charset="0"/>
                      </a:rPr>
                      <m:t>=0.3538739887732014</m:t>
                    </m:r>
                  </m:oMath>
                </a14:m>
                <a:endParaRPr lang="en-US" sz="2300" dirty="0" smtClean="0">
                  <a:solidFill>
                    <a:srgbClr val="115981"/>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cs typeface="Vani" panose="020B0502040204020203" pitchFamily="34" charset="0"/>
                          </a:rPr>
                          <m:t>0</m:t>
                        </m:r>
                      </m:e>
                    </m:d>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cs typeface="Vani" panose="020B0502040204020203" pitchFamily="34" charset="0"/>
                      </a:rPr>
                      <m:t>𝐶</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cs typeface="Vani" panose="020B0502040204020203" pitchFamily="34" charset="0"/>
                          </a:rPr>
                          <m:t>17, </m:t>
                        </m:r>
                        <m:r>
                          <a:rPr lang="en-US" sz="2300" b="0" i="1" smtClean="0">
                            <a:solidFill>
                              <a:srgbClr val="115981"/>
                            </a:solidFill>
                            <a:latin typeface="Cambria Math" panose="02040503050406030204" pitchFamily="18" charset="0"/>
                            <a:cs typeface="Vani" panose="020B0502040204020203" pitchFamily="34" charset="0"/>
                          </a:rPr>
                          <m:t>0</m:t>
                        </m:r>
                      </m:e>
                    </m:d>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0.04</m:t>
                        </m:r>
                      </m:e>
                      <m:sup>
                        <m:r>
                          <a:rPr lang="en-US" sz="2300" b="0" i="1" smtClean="0">
                            <a:solidFill>
                              <a:srgbClr val="115981"/>
                            </a:solidFill>
                            <a:latin typeface="Cambria Math" panose="02040503050406030204" pitchFamily="18" charset="0"/>
                            <a:cs typeface="Vani" panose="020B0502040204020203" pitchFamily="34" charset="0"/>
                          </a:rPr>
                          <m:t>0</m:t>
                        </m:r>
                      </m:sup>
                    </m:sSup>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r>
                          <a:rPr lang="en-US" sz="2300" i="1">
                            <a:solidFill>
                              <a:srgbClr val="115981"/>
                            </a:solidFill>
                            <a:latin typeface="Cambria Math" panose="02040503050406030204" pitchFamily="18" charset="0"/>
                            <a:cs typeface="Vani" panose="020B0502040204020203" pitchFamily="34" charset="0"/>
                          </a:rPr>
                          <m:t>0.96</m:t>
                        </m:r>
                      </m:e>
                      <m:sup>
                        <m:r>
                          <a:rPr lang="en-US" sz="2300" i="1">
                            <a:solidFill>
                              <a:srgbClr val="115981"/>
                            </a:solidFill>
                            <a:latin typeface="Cambria Math" panose="02040503050406030204" pitchFamily="18" charset="0"/>
                            <a:cs typeface="Vani" panose="020B0502040204020203" pitchFamily="34" charset="0"/>
                          </a:rPr>
                          <m:t>17−</m:t>
                        </m:r>
                        <m:r>
                          <a:rPr lang="en-US" sz="2300" b="0" i="1" smtClean="0">
                            <a:solidFill>
                              <a:srgbClr val="115981"/>
                            </a:solidFill>
                            <a:latin typeface="Cambria Math" panose="02040503050406030204" pitchFamily="18" charset="0"/>
                            <a:cs typeface="Vani" panose="020B0502040204020203" pitchFamily="34" charset="0"/>
                          </a:rPr>
                          <m:t>0</m:t>
                        </m:r>
                      </m:sup>
                    </m:sSup>
                    <m:r>
                      <a:rPr lang="en-US" sz="2300" i="1">
                        <a:solidFill>
                          <a:srgbClr val="115981"/>
                        </a:solidFill>
                        <a:latin typeface="Cambria Math" panose="02040503050406030204" pitchFamily="18" charset="0"/>
                        <a:cs typeface="Vani" panose="020B0502040204020203" pitchFamily="34" charset="0"/>
                      </a:rPr>
                      <m:t>=0.4995868076798138</m:t>
                    </m:r>
                  </m:oMath>
                </a14:m>
                <a:endParaRPr lang="en-US" sz="2300" dirty="0" smtClean="0">
                  <a:solidFill>
                    <a:srgbClr val="115981"/>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0.11796+0.35387+0.49959=0.97142≅</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0.971</m:t>
                    </m:r>
                  </m:oMath>
                </a14:m>
                <a:endParaRPr lang="en-US" sz="2300" dirty="0" smtClean="0">
                  <a:solidFill>
                    <a:srgbClr val="FF0000"/>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r>
                  <a:rPr lang="en-US" sz="2300" dirty="0" smtClean="0">
                    <a:latin typeface="Vani" panose="020B0502040204020203" pitchFamily="34" charset="0"/>
                    <a:cs typeface="Vani" panose="020B0502040204020203" pitchFamily="34" charset="0"/>
                  </a:rPr>
                  <a:t>There is a 97.1% probability that the </a:t>
                </a:r>
                <a:r>
                  <a:rPr lang="en-US" sz="2300" smtClean="0">
                    <a:latin typeface="Vani" panose="020B0502040204020203" pitchFamily="34" charset="0"/>
                    <a:cs typeface="Vani" panose="020B0502040204020203" pitchFamily="34" charset="0"/>
                  </a:rPr>
                  <a:t>entire batch will </a:t>
                </a:r>
                <a:r>
                  <a:rPr lang="en-US" sz="2300" dirty="0" smtClean="0">
                    <a:latin typeface="Vani" panose="020B0502040204020203" pitchFamily="34" charset="0"/>
                    <a:cs typeface="Vani" panose="020B0502040204020203" pitchFamily="34" charset="0"/>
                  </a:rPr>
                  <a:t>be accepted.</a:t>
                </a:r>
                <a:endParaRPr lang="en-US" sz="2300" dirty="0" smtClean="0">
                  <a:solidFill>
                    <a:srgbClr val="FF0000"/>
                  </a:solidFill>
                  <a:latin typeface="Vani" panose="020B0502040204020203" pitchFamily="34" charset="0"/>
                  <a:ea typeface="Cambria Math" panose="02040503050406030204" pitchFamily="18"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92217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8-1.</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(8.)	</a:t>
                </a:r>
                <a:r>
                  <a:rPr lang="en-US" sz="2300" dirty="0" smtClean="0">
                    <a:latin typeface="Vani" panose="020B0502040204020203" pitchFamily="34" charset="0"/>
                    <a:cs typeface="Vani" panose="020B0502040204020203" pitchFamily="34" charset="0"/>
                  </a:rPr>
                  <a:t>21% of the laptops produced by </a:t>
                </a:r>
                <a:r>
                  <a:rPr lang="en-US" sz="2300" dirty="0" err="1" smtClean="0">
                    <a:latin typeface="Vani" panose="020B0502040204020203" pitchFamily="34" charset="0"/>
                    <a:cs typeface="Vani" panose="020B0502040204020203" pitchFamily="34" charset="0"/>
                  </a:rPr>
                  <a:t>TechGuys</a:t>
                </a:r>
                <a:r>
                  <a:rPr lang="en-US" sz="2300" dirty="0" smtClean="0">
                    <a:latin typeface="Vani" panose="020B0502040204020203" pitchFamily="34" charset="0"/>
                    <a:cs typeface="Vani" panose="020B0502040204020203" pitchFamily="34" charset="0"/>
                  </a:rPr>
                  <a:t> Inc. are </a:t>
                </a:r>
                <a:r>
                  <a:rPr lang="en-US" sz="2300" dirty="0" smtClean="0">
                    <a:latin typeface="Vani" panose="020B0502040204020203" pitchFamily="34" charset="0"/>
                    <a:cs typeface="Vani" panose="020B0502040204020203" pitchFamily="34" charset="0"/>
                  </a:rPr>
                  <a:t>“claimed” to be red </a:t>
                </a:r>
                <a:r>
                  <a:rPr lang="en-US" sz="2300" dirty="0" smtClean="0">
                    <a:latin typeface="Vani" panose="020B0502040204020203" pitchFamily="34" charset="0"/>
                    <a:cs typeface="Vani" panose="020B0502040204020203" pitchFamily="34" charset="0"/>
                  </a:rPr>
                  <a:t>in </a:t>
                </a:r>
                <a:r>
                  <a:rPr lang="en-US" sz="2300" dirty="0" smtClean="0">
                    <a:latin typeface="Vani" panose="020B0502040204020203" pitchFamily="34" charset="0"/>
                    <a:cs typeface="Vani" panose="020B0502040204020203" pitchFamily="34" charset="0"/>
                  </a:rPr>
                  <a:t>color. A </a:t>
                </a:r>
                <a:r>
                  <a:rPr lang="en-US" sz="2300" dirty="0" smtClean="0">
                    <a:latin typeface="Vani" panose="020B0502040204020203" pitchFamily="34" charset="0"/>
                    <a:cs typeface="Vani" panose="020B0502040204020203" pitchFamily="34" charset="0"/>
                  </a:rPr>
                  <a:t>sample of 100 laptops are randomly selected.  </a:t>
                </a:r>
              </a:p>
              <a:p>
                <a:pPr>
                  <a:lnSpc>
                    <a:spcPct val="150000"/>
                  </a:lnSpc>
                </a:pPr>
                <a:r>
                  <a:rPr lang="en-US" sz="2300" dirty="0" smtClean="0">
                    <a:latin typeface="Vani" panose="020B0502040204020203" pitchFamily="34" charset="0"/>
                    <a:cs typeface="Vani" panose="020B0502040204020203" pitchFamily="34" charset="0"/>
                  </a:rPr>
                  <a:t>(a.)	</a:t>
                </a:r>
                <a:r>
                  <a:rPr lang="en-US" sz="2300" dirty="0" smtClean="0">
                    <a:latin typeface="Vani" panose="020B0502040204020203" pitchFamily="34" charset="0"/>
                    <a:cs typeface="Vani" panose="020B0502040204020203" pitchFamily="34" charset="0"/>
                  </a:rPr>
                  <a:t>Calculate the mean and standard deviation of the number of red laptops in the sample of 100 laptops. Round to 1 decimal place as needed.</a:t>
                </a:r>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=100 </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m:t>
                    </m:r>
                    <m:r>
                      <a:rPr lang="en-US" sz="2300" b="0" i="1" smtClean="0">
                        <a:latin typeface="Cambria Math" panose="02040503050406030204" pitchFamily="18" charset="0"/>
                        <a:cs typeface="Vani" panose="020B0502040204020203" pitchFamily="34" charset="0"/>
                      </a:rPr>
                      <m:t>=21%=0.21       </m:t>
                    </m:r>
                    <m:r>
                      <a:rPr lang="en-US" sz="2300" b="0" i="1" smtClean="0">
                        <a:latin typeface="Cambria Math" panose="02040503050406030204" pitchFamily="18" charset="0"/>
                        <a:cs typeface="Vani" panose="020B0502040204020203" pitchFamily="34" charset="0"/>
                      </a:rPr>
                      <m:t>𝑞</m:t>
                    </m:r>
                    <m:r>
                      <a:rPr lang="en-US" sz="2300" b="0" i="1" smtClean="0">
                        <a:latin typeface="Cambria Math" panose="02040503050406030204" pitchFamily="18" charset="0"/>
                        <a:cs typeface="Vani" panose="020B0502040204020203" pitchFamily="34" charset="0"/>
                      </a:rPr>
                      <m:t>=1−0.21=0</m:t>
                    </m:r>
                    <m:r>
                      <a:rPr lang="en-US" sz="2300" b="0" i="1" smtClean="0">
                        <a:latin typeface="Cambria Math" panose="02040503050406030204" pitchFamily="18" charset="0"/>
                        <a:cs typeface="Vani" panose="020B0502040204020203" pitchFamily="34" charset="0"/>
                      </a:rPr>
                      <m:t>.79</m:t>
                    </m:r>
                  </m:oMath>
                </a14:m>
                <a:endParaRPr lang="en-US" sz="2300" b="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𝑀𝑒𝑎𝑛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𝜇</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𝑛</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𝑝</m:t>
                    </m:r>
                    <m:r>
                      <a:rPr lang="en-US" sz="2300" b="0" i="1" smtClean="0">
                        <a:latin typeface="Cambria Math" panose="02040503050406030204" pitchFamily="18" charset="0"/>
                        <a:ea typeface="Cambria Math" panose="02040503050406030204" pitchFamily="18" charset="0"/>
                        <a:cs typeface="Vani" panose="020B0502040204020203" pitchFamily="34" charset="0"/>
                      </a:rPr>
                      <m:t>=100∗0.21=21</m:t>
                    </m:r>
                  </m:oMath>
                </a14:m>
                <a:endParaRPr lang="en-US" sz="2300" b="0" dirty="0" smtClean="0">
                  <a:solidFill>
                    <a:srgbClr val="FF0000"/>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𝑆𝑡𝑎𝑛𝑑𝑎𝑟𝑑</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𝐷𝑒𝑣𝑖𝑎𝑡𝑖𝑜𝑛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𝜎</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b="0" i="1" smtClean="0">
                            <a:latin typeface="Cambria Math" panose="02040503050406030204" pitchFamily="18" charset="0"/>
                            <a:ea typeface="Cambria Math" panose="02040503050406030204" pitchFamily="18" charset="0"/>
                          </a:rPr>
                        </m:ctrlPr>
                      </m:radPr>
                      <m:deg/>
                      <m:e>
                        <m:r>
                          <a:rPr lang="en-US" sz="2300" b="0" i="1" smtClean="0">
                            <a:latin typeface="Cambria Math" panose="02040503050406030204" pitchFamily="18" charset="0"/>
                            <a:ea typeface="Cambria Math" panose="02040503050406030204" pitchFamily="18" charset="0"/>
                          </a:rPr>
                          <m:t>𝑛</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𝑝</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𝑞</m:t>
                        </m:r>
                      </m:e>
                    </m:rad>
                    <m:r>
                      <a:rPr lang="en-US" sz="2300" b="0" i="1" smtClean="0">
                        <a:latin typeface="Cambria Math" panose="02040503050406030204" pitchFamily="18" charset="0"/>
                        <a:ea typeface="Cambria Math" panose="02040503050406030204" pitchFamily="18" charset="0"/>
                      </a:rPr>
                      <m:t>=</m:t>
                    </m:r>
                    <m:rad>
                      <m:radPr>
                        <m:degHide m:val="on"/>
                        <m:ctrlPr>
                          <a:rPr lang="en-US" sz="2300" b="0" i="1" smtClean="0">
                            <a:latin typeface="Cambria Math" panose="02040503050406030204" pitchFamily="18" charset="0"/>
                            <a:ea typeface="Cambria Math" panose="02040503050406030204" pitchFamily="18" charset="0"/>
                          </a:rPr>
                        </m:ctrlPr>
                      </m:radPr>
                      <m:deg/>
                      <m:e>
                        <m:r>
                          <a:rPr lang="en-US" sz="2300" b="0" i="1" smtClean="0">
                            <a:latin typeface="Cambria Math" panose="02040503050406030204" pitchFamily="18" charset="0"/>
                            <a:ea typeface="Cambria Math" panose="02040503050406030204" pitchFamily="18" charset="0"/>
                          </a:rPr>
                          <m:t>100∗0.21∗0.79</m:t>
                        </m:r>
                      </m:e>
                    </m:rad>
                    <m:r>
                      <a:rPr lang="en-US" sz="2300" b="0" i="1" smtClean="0">
                        <a:latin typeface="Cambria Math" panose="02040503050406030204" pitchFamily="18" charset="0"/>
                        <a:ea typeface="Cambria Math" panose="02040503050406030204" pitchFamily="18" charset="0"/>
                      </a:rPr>
                      <m:t>=</m:t>
                    </m:r>
                    <m:rad>
                      <m:radPr>
                        <m:degHide m:val="on"/>
                        <m:ctrlPr>
                          <a:rPr lang="en-US" sz="2300" b="0" i="1" smtClean="0">
                            <a:latin typeface="Cambria Math" panose="02040503050406030204" pitchFamily="18" charset="0"/>
                            <a:ea typeface="Cambria Math" panose="02040503050406030204" pitchFamily="18" charset="0"/>
                          </a:rPr>
                        </m:ctrlPr>
                      </m:radPr>
                      <m:deg/>
                      <m:e>
                        <m:r>
                          <a:rPr lang="en-US" sz="2300" b="0" i="1" smtClean="0">
                            <a:latin typeface="Cambria Math" panose="02040503050406030204" pitchFamily="18" charset="0"/>
                            <a:ea typeface="Cambria Math" panose="02040503050406030204" pitchFamily="18" charset="0"/>
                          </a:rPr>
                          <m:t>16.59</m:t>
                        </m:r>
                      </m:e>
                    </m:rad>
                    <m:r>
                      <a:rPr lang="en-US" sz="2300" b="0" i="1" smtClean="0">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4.1</m:t>
                    </m:r>
                  </m:oMath>
                </a14:m>
                <a:endParaRPr lang="en-US" sz="2300" b="0" dirty="0" smtClean="0">
                  <a:solidFill>
                    <a:srgbClr val="FF0000"/>
                  </a:solidFill>
                  <a:latin typeface="Vani" panose="020B0502040204020203" pitchFamily="34" charset="0"/>
                  <a:cs typeface="Vani" panose="020B0502040204020203" pitchFamily="34" charset="0"/>
                </a:endParaRPr>
              </a:p>
              <a:p>
                <a:pPr>
                  <a:lnSpc>
                    <a:spcPct val="150000"/>
                  </a:lnSpc>
                </a:pPr>
                <a:r>
                  <a:rPr lang="en-US" sz="2300" dirty="0" smtClean="0">
                    <a:solidFill>
                      <a:srgbClr val="115981"/>
                    </a:solidFill>
                    <a:latin typeface="Vani" panose="020B0502040204020203" pitchFamily="34" charset="0"/>
                    <a:cs typeface="Vani" panose="020B0502040204020203" pitchFamily="34" charset="0"/>
                  </a:rPr>
                  <a:t>(b.)	A </a:t>
                </a:r>
                <a:r>
                  <a:rPr lang="en-US" sz="2300" dirty="0">
                    <a:solidFill>
                      <a:srgbClr val="115981"/>
                    </a:solidFill>
                    <a:latin typeface="Vani" panose="020B0502040204020203" pitchFamily="34" charset="0"/>
                    <a:cs typeface="Vani" panose="020B0502040204020203" pitchFamily="34" charset="0"/>
                  </a:rPr>
                  <a:t>random sample of 100 laptops contains 32 red laptops</a:t>
                </a:r>
                <a:r>
                  <a:rPr lang="en-US" sz="2300" dirty="0" smtClean="0">
                    <a:solidFill>
                      <a:srgbClr val="115981"/>
                    </a:solidFill>
                    <a:latin typeface="Vani" panose="020B0502040204020203" pitchFamily="34" charset="0"/>
                    <a:cs typeface="Vani" panose="020B0502040204020203" pitchFamily="34" charset="0"/>
                  </a:rPr>
                  <a:t>. </a:t>
                </a:r>
                <a:r>
                  <a:rPr lang="en-US" sz="2300" dirty="0">
                    <a:latin typeface="Vani" panose="020B0502040204020203" pitchFamily="34" charset="0"/>
                    <a:cs typeface="Vani" panose="020B0502040204020203" pitchFamily="34" charset="0"/>
                  </a:rPr>
                  <a:t>Is this result unusual?</a:t>
                </a: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marL="0" indent="0">
                  <a:lnSpc>
                    <a:spcPct val="150000"/>
                  </a:lnSpc>
                  <a:buNone/>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700"/>
                </a:stretch>
              </a:blipFill>
            </p:spPr>
            <p:txBody>
              <a:bodyPr/>
              <a:lstStyle/>
              <a:p>
                <a:r>
                  <a:rPr lang="en-US">
                    <a:noFill/>
                  </a:rPr>
                  <a:t> </a:t>
                </a:r>
              </a:p>
            </p:txBody>
          </p:sp>
        </mc:Fallback>
      </mc:AlternateContent>
    </p:spTree>
    <p:extLst>
      <p:ext uri="{BB962C8B-B14F-4D97-AF65-F5344CB8AC3E}">
        <p14:creationId xmlns:p14="http://schemas.microsoft.com/office/powerpoint/2010/main" val="20533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8-2</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Is the “claimed” rate of 21% wrong?</a:t>
                </a:r>
              </a:p>
              <a:p>
                <a:pPr>
                  <a:lnSpc>
                    <a:spcPct val="150000"/>
                  </a:lnSpc>
                </a:pPr>
                <a:r>
                  <a:rPr lang="en-US" sz="2300" dirty="0" smtClean="0">
                    <a:latin typeface="Vani" panose="020B0502040204020203" pitchFamily="34" charset="0"/>
                    <a:cs typeface="Vani" panose="020B0502040204020203" pitchFamily="34" charset="0"/>
                  </a:rPr>
                  <a:t>Using the Range Rule of Thumb;</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𝑀𝑎𝑥𝑖𝑚𝑢𝑚</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𝑈𝑠𝑢𝑎𝑙</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𝑉𝑎𝑙𝑢𝑒</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𝜇</m:t>
                    </m:r>
                    <m:r>
                      <a:rPr lang="en-US" sz="2300" b="0" i="1" smtClean="0">
                        <a:latin typeface="Cambria Math" panose="02040503050406030204" pitchFamily="18" charset="0"/>
                        <a:ea typeface="Cambria Math" panose="02040503050406030204" pitchFamily="18" charset="0"/>
                        <a:cs typeface="Vani" panose="020B0502040204020203" pitchFamily="34" charset="0"/>
                      </a:rPr>
                      <m:t>+2</m:t>
                    </m:r>
                    <m:r>
                      <a:rPr lang="en-US" sz="2300" b="0" i="1" smtClean="0">
                        <a:latin typeface="Cambria Math" panose="02040503050406030204" pitchFamily="18" charset="0"/>
                        <a:ea typeface="Cambria Math" panose="02040503050406030204" pitchFamily="18" charset="0"/>
                        <a:cs typeface="Vani" panose="020B0502040204020203" pitchFamily="34" charset="0"/>
                      </a:rPr>
                      <m:t>𝜎</m:t>
                    </m:r>
                    <m:r>
                      <a:rPr lang="en-US" sz="2300" b="0" i="1" smtClean="0">
                        <a:latin typeface="Cambria Math" panose="02040503050406030204" pitchFamily="18" charset="0"/>
                        <a:ea typeface="Cambria Math" panose="02040503050406030204" pitchFamily="18" charset="0"/>
                        <a:cs typeface="Vani" panose="020B0502040204020203" pitchFamily="34" charset="0"/>
                      </a:rPr>
                      <m:t>=21+2</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4.1</m:t>
                        </m:r>
                      </m:e>
                    </m:d>
                    <m:r>
                      <a:rPr lang="en-US" sz="2300" b="0" i="1" smtClean="0">
                        <a:latin typeface="Cambria Math" panose="02040503050406030204" pitchFamily="18" charset="0"/>
                        <a:ea typeface="Cambria Math" panose="02040503050406030204" pitchFamily="18" charset="0"/>
                        <a:cs typeface="Vani" panose="020B0502040204020203" pitchFamily="34" charset="0"/>
                      </a:rPr>
                      <m:t>=21+8.2=29.2</m:t>
                    </m:r>
                  </m:oMath>
                </a14:m>
                <a:endParaRPr lang="en-US" sz="2300" b="0" dirty="0" smtClean="0">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𝑀𝑖𝑛𝑖𝑚𝑢𝑚</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𝑈𝑠𝑢𝑎𝑙</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𝑉𝑎𝑙𝑢𝑒</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𝜇</m:t>
                    </m:r>
                    <m:r>
                      <a:rPr lang="en-US" sz="2300" b="0" i="1" smtClean="0">
                        <a:latin typeface="Cambria Math" panose="02040503050406030204" pitchFamily="18" charset="0"/>
                        <a:ea typeface="Cambria Math" panose="02040503050406030204" pitchFamily="18" charset="0"/>
                        <a:cs typeface="Vani" panose="020B0502040204020203" pitchFamily="34" charset="0"/>
                      </a:rPr>
                      <m:t>−2</m:t>
                    </m:r>
                    <m:r>
                      <a:rPr lang="en-US" sz="2300" b="0" i="1" smtClean="0">
                        <a:latin typeface="Cambria Math" panose="02040503050406030204" pitchFamily="18" charset="0"/>
                        <a:ea typeface="Cambria Math" panose="02040503050406030204" pitchFamily="18" charset="0"/>
                        <a:cs typeface="Vani" panose="020B0502040204020203" pitchFamily="34" charset="0"/>
                      </a:rPr>
                      <m:t>𝜎</m:t>
                    </m:r>
                    <m:r>
                      <a:rPr lang="en-US" sz="2300" b="0" i="1" smtClean="0">
                        <a:latin typeface="Cambria Math" panose="02040503050406030204" pitchFamily="18" charset="0"/>
                        <a:ea typeface="Cambria Math" panose="02040503050406030204" pitchFamily="18" charset="0"/>
                        <a:cs typeface="Vani" panose="020B0502040204020203" pitchFamily="34" charset="0"/>
                      </a:rPr>
                      <m:t>=21−2</m:t>
                    </m:r>
                    <m:d>
                      <m:dPr>
                        <m:ctrlPr>
                          <a:rPr lang="en-US" sz="2300" b="0" i="1" smtClean="0">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latin typeface="Cambria Math" panose="02040503050406030204" pitchFamily="18" charset="0"/>
                            <a:ea typeface="Cambria Math" panose="02040503050406030204" pitchFamily="18" charset="0"/>
                            <a:cs typeface="Vani" panose="020B0502040204020203" pitchFamily="34" charset="0"/>
                          </a:rPr>
                          <m:t>4.1</m:t>
                        </m:r>
                      </m:e>
                    </m:d>
                    <m:r>
                      <a:rPr lang="en-US" sz="2300" b="0" i="1" smtClean="0">
                        <a:latin typeface="Cambria Math" panose="02040503050406030204" pitchFamily="18" charset="0"/>
                        <a:ea typeface="Cambria Math" panose="02040503050406030204" pitchFamily="18" charset="0"/>
                        <a:cs typeface="Vani" panose="020B0502040204020203" pitchFamily="34" charset="0"/>
                      </a:rPr>
                      <m:t>=21−8.2=12.8</m:t>
                    </m:r>
                  </m:oMath>
                </a14:m>
                <a:r>
                  <a:rPr lang="en-US" sz="2300" dirty="0" smtClean="0">
                    <a:latin typeface="Vani" panose="020B0502040204020203" pitchFamily="34" charset="0"/>
                    <a:cs typeface="Vani" panose="020B0502040204020203" pitchFamily="34" charset="0"/>
                  </a:rPr>
                  <a:t> </a:t>
                </a:r>
              </a:p>
              <a:p>
                <a:pPr>
                  <a:lnSpc>
                    <a:spcPct val="150000"/>
                  </a:lnSpc>
                </a:pPr>
                <a14:m>
                  <m:oMath xmlns:m="http://schemas.openxmlformats.org/officeDocument/2006/math">
                    <m:r>
                      <a:rPr lang="en-US" sz="2300" i="1" dirty="0" smtClean="0">
                        <a:latin typeface="Cambria Math" panose="02040503050406030204" pitchFamily="18" charset="0"/>
                        <a:cs typeface="Vani" panose="020B0502040204020203" pitchFamily="34" charset="0"/>
                      </a:rPr>
                      <m:t>𝐴</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𝑑𝑎𝑡𝑎</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𝑣𝑎𝑙𝑢𝑒</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𝑖𝑠</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𝑢𝑛𝑢𝑠𝑢𝑎𝑙</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𝑖𝑓</m:t>
                    </m:r>
                    <m:r>
                      <a:rPr lang="en-US" sz="2300" b="0" i="1" dirty="0" smtClean="0">
                        <a:latin typeface="Cambria Math" panose="02040503050406030204" pitchFamily="18" charset="0"/>
                        <a:cs typeface="Vani" panose="020B0502040204020203" pitchFamily="34" charset="0"/>
                      </a:rPr>
                      <m:t>:</m:t>
                    </m:r>
                    <m:r>
                      <a:rPr lang="en-US" sz="2300" i="1" dirty="0" smtClean="0">
                        <a:latin typeface="Cambria Math" panose="02040503050406030204" pitchFamily="18" charset="0"/>
                        <a:cs typeface="Vani" panose="020B0502040204020203" pitchFamily="34" charset="0"/>
                      </a:rPr>
                      <m:t> </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dirty="0" smtClean="0">
                        <a:latin typeface="Cambria Math" panose="02040503050406030204" pitchFamily="18" charset="0"/>
                        <a:cs typeface="Vani" panose="020B0502040204020203" pitchFamily="34" charset="0"/>
                      </a:rPr>
                      <m:t>𝑖𝑡</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𝑖𝑠</m:t>
                    </m:r>
                    <m:r>
                      <a:rPr lang="en-US" sz="2300" i="1" dirty="0" smtClean="0">
                        <a:latin typeface="Cambria Math" panose="02040503050406030204" pitchFamily="18" charset="0"/>
                        <a:cs typeface="Vani" panose="020B0502040204020203" pitchFamily="34" charset="0"/>
                      </a:rPr>
                      <m:t> &lt; </m:t>
                    </m:r>
                    <m:r>
                      <a:rPr lang="en-US" sz="2300" i="1" dirty="0" smtClean="0">
                        <a:latin typeface="Cambria Math" panose="02040503050406030204" pitchFamily="18" charset="0"/>
                        <a:cs typeface="Vani" panose="020B0502040204020203" pitchFamily="34" charset="0"/>
                      </a:rPr>
                      <m:t>𝑡h𝑒</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𝑚𝑖𝑛𝑖𝑚𝑢𝑚</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𝑢𝑠𝑢𝑎𝑙</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𝑣𝑎𝑙𝑢𝑒</m:t>
                    </m:r>
                    <m:r>
                      <a:rPr lang="en-US" sz="2300" i="1" dirty="0" smtClean="0">
                        <a:latin typeface="Cambria Math" panose="02040503050406030204" pitchFamily="18" charset="0"/>
                        <a:cs typeface="Vani" panose="020B0502040204020203" pitchFamily="34" charset="0"/>
                      </a:rPr>
                      <m:t> </m:t>
                    </m:r>
                    <m:r>
                      <a:rPr lang="en-US" sz="2300" i="1" dirty="0" smtClean="0">
                        <a:latin typeface="Cambria Math" panose="02040503050406030204" pitchFamily="18" charset="0"/>
                        <a:cs typeface="Vani" panose="020B0502040204020203" pitchFamily="34" charset="0"/>
                      </a:rPr>
                      <m:t>𝑜𝑟</m:t>
                    </m:r>
                    <m:r>
                      <a:rPr lang="en-US" sz="2300" b="0" i="1" dirty="0" smtClean="0">
                        <a:latin typeface="Cambria Math" panose="02040503050406030204" pitchFamily="18" charset="0"/>
                        <a:cs typeface="Vani" panose="020B0502040204020203" pitchFamily="34" charset="0"/>
                      </a:rPr>
                      <m:t> </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&gt;</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𝑚𝑎𝑥𝑖𝑚𝑢𝑚</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 </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𝑢𝑠𝑢𝑎𝑙</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 </m:t>
                    </m:r>
                    <m:r>
                      <a:rPr lang="en-US" sz="2300" b="0" i="1" dirty="0" smtClean="0">
                        <a:latin typeface="Cambria Math" panose="02040503050406030204" pitchFamily="18" charset="0"/>
                        <a:ea typeface="Cambria Math" panose="02040503050406030204" pitchFamily="18" charset="0"/>
                        <a:cs typeface="Vani" panose="020B0502040204020203" pitchFamily="34" charset="0"/>
                      </a:rPr>
                      <m:t>𝑣𝑎𝑙𝑢𝑒</m:t>
                    </m:r>
                    <m:r>
                      <a:rPr lang="en-US" sz="2300" i="1" dirty="0" smtClean="0">
                        <a:latin typeface="Cambria Math" panose="02040503050406030204" pitchFamily="18" charset="0"/>
                        <a:cs typeface="Vani" panose="020B0502040204020203" pitchFamily="34" charset="0"/>
                      </a:rPr>
                      <m:t> </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solidFill>
                          <a:srgbClr val="FF0000"/>
                        </a:solidFill>
                        <a:latin typeface="Cambria Math" panose="02040503050406030204" pitchFamily="18" charset="0"/>
                        <a:cs typeface="Vani" panose="020B0502040204020203" pitchFamily="34" charset="0"/>
                      </a:rPr>
                      <m:t>32 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&gt;29.2</m:t>
                    </m:r>
                  </m:oMath>
                </a14:m>
                <a:r>
                  <a:rPr lang="en-US" sz="2300" dirty="0" smtClean="0">
                    <a:solidFill>
                      <a:srgbClr val="FF0000"/>
                    </a:solidFill>
                    <a:latin typeface="Vani" panose="020B0502040204020203" pitchFamily="34" charset="0"/>
                    <a:cs typeface="Vani" panose="020B0502040204020203" pitchFamily="34" charset="0"/>
                  </a:rPr>
                  <a:t>. </a:t>
                </a:r>
                <a:r>
                  <a:rPr lang="en-US" sz="2300" dirty="0" smtClean="0">
                    <a:solidFill>
                      <a:srgbClr val="FF0000"/>
                    </a:solidFill>
                    <a:latin typeface="Vani" panose="020B0502040204020203" pitchFamily="34" charset="0"/>
                    <a:cs typeface="Vani" panose="020B0502040204020203" pitchFamily="34" charset="0"/>
                  </a:rPr>
                  <a:t>Hence, the result is unusual. The “claimed” rate of 21% is probably wrong.</a:t>
                </a:r>
                <a:r>
                  <a:rPr lang="en-US" sz="2300" dirty="0" smtClean="0">
                    <a:latin typeface="Vani" panose="020B0502040204020203" pitchFamily="34" charset="0"/>
                    <a:cs typeface="Vani" panose="020B0502040204020203" pitchFamily="34" charset="0"/>
                  </a:rPr>
                  <a:t>	</a:t>
                </a: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73205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9-1.</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(9.)</a:t>
                </a:r>
                <a:r>
                  <a:rPr lang="en-US" sz="2300" dirty="0">
                    <a:solidFill>
                      <a:srgbClr val="7030A0"/>
                    </a:solidFill>
                    <a:latin typeface="Vani" panose="020B0502040204020203" pitchFamily="34" charset="0"/>
                    <a:cs typeface="Vani" panose="020B0502040204020203" pitchFamily="34" charset="0"/>
                  </a:rPr>
                  <a:t>	</a:t>
                </a:r>
                <a:r>
                  <a:rPr lang="en-US" sz="2300" dirty="0" smtClean="0">
                    <a:solidFill>
                      <a:srgbClr val="115981"/>
                    </a:solidFill>
                    <a:latin typeface="Vani" panose="020B0502040204020203" pitchFamily="34" charset="0"/>
                    <a:cs typeface="Vani" panose="020B0502040204020203" pitchFamily="34" charset="0"/>
                  </a:rPr>
                  <a:t>In the past gubernatorial election in a certain State, the voter turnout was 65%</a:t>
                </a:r>
                <a:r>
                  <a:rPr lang="en-US" sz="2300" dirty="0" smtClean="0">
                    <a:latin typeface="Vani" panose="020B0502040204020203" pitchFamily="34" charset="0"/>
                    <a:cs typeface="Vani" panose="020B0502040204020203" pitchFamily="34" charset="0"/>
                  </a:rPr>
                  <a:t>. 1038 residents were asked if they voted in the election.</a:t>
                </a:r>
              </a:p>
              <a:p>
                <a:pPr>
                  <a:lnSpc>
                    <a:spcPct val="150000"/>
                  </a:lnSpc>
                </a:pPr>
                <a:r>
                  <a:rPr lang="en-US" sz="2300" dirty="0" smtClean="0">
                    <a:latin typeface="Vani" panose="020B0502040204020203" pitchFamily="34" charset="0"/>
                    <a:cs typeface="Vani" panose="020B0502040204020203" pitchFamily="34" charset="0"/>
                  </a:rPr>
                  <a:t>(a.)	Calculate the mean and standard deviation for the number of voters in the 1038 residents. Round to 1 decimal place as needed.</a:t>
                </a: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𝑛</m:t>
                    </m:r>
                    <m:r>
                      <a:rPr lang="en-US" sz="2300" i="1">
                        <a:latin typeface="Cambria Math" panose="02040503050406030204" pitchFamily="18" charset="0"/>
                        <a:cs typeface="Vani" panose="020B0502040204020203" pitchFamily="34" charset="0"/>
                      </a:rPr>
                      <m:t>=1038</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𝑝</m:t>
                    </m:r>
                    <m:r>
                      <a:rPr lang="en-US" sz="2300" i="1">
                        <a:latin typeface="Cambria Math" panose="02040503050406030204" pitchFamily="18" charset="0"/>
                        <a:cs typeface="Vani" panose="020B0502040204020203" pitchFamily="34" charset="0"/>
                      </a:rPr>
                      <m:t>=65%=0.65       </m:t>
                    </m:r>
                    <m:r>
                      <a:rPr lang="en-US" sz="2300" i="1">
                        <a:latin typeface="Cambria Math" panose="02040503050406030204" pitchFamily="18" charset="0"/>
                        <a:cs typeface="Vani" panose="020B0502040204020203" pitchFamily="34" charset="0"/>
                      </a:rPr>
                      <m:t>𝑞</m:t>
                    </m:r>
                    <m:r>
                      <a:rPr lang="en-US" sz="2300" i="1">
                        <a:latin typeface="Cambria Math" panose="02040503050406030204" pitchFamily="18" charset="0"/>
                        <a:cs typeface="Vani" panose="020B0502040204020203" pitchFamily="34" charset="0"/>
                      </a:rPr>
                      <m:t>=1−0.65=0.35</m:t>
                    </m:r>
                  </m:oMath>
                </a14:m>
                <a:endParaRPr lang="en-US" sz="2300" dirty="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𝑀𝑒𝑎𝑛</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ea typeface="Cambria Math" panose="02040503050406030204" pitchFamily="18" charset="0"/>
                        <a:cs typeface="Vani" panose="020B0502040204020203" pitchFamily="34" charset="0"/>
                      </a:rPr>
                      <m:t>𝜇</m:t>
                    </m:r>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𝑛</m:t>
                    </m:r>
                    <m:r>
                      <a:rPr lang="en-US" sz="2300" i="1">
                        <a:latin typeface="Cambria Math" panose="02040503050406030204" pitchFamily="18" charset="0"/>
                        <a:ea typeface="Cambria Math" panose="02040503050406030204" pitchFamily="18" charset="0"/>
                        <a:cs typeface="Vani" panose="020B0502040204020203" pitchFamily="34" charset="0"/>
                      </a:rPr>
                      <m:t>∗</m:t>
                    </m:r>
                    <m:r>
                      <a:rPr lang="en-US" sz="2300" i="1">
                        <a:latin typeface="Cambria Math" panose="02040503050406030204" pitchFamily="18" charset="0"/>
                        <a:ea typeface="Cambria Math" panose="02040503050406030204" pitchFamily="18" charset="0"/>
                        <a:cs typeface="Vani" panose="020B0502040204020203" pitchFamily="34" charset="0"/>
                      </a:rPr>
                      <m:t>𝑝</m:t>
                    </m:r>
                    <m:r>
                      <a:rPr lang="en-US" sz="2300" i="1">
                        <a:latin typeface="Cambria Math" panose="02040503050406030204" pitchFamily="18" charset="0"/>
                        <a:ea typeface="Cambria Math" panose="02040503050406030204" pitchFamily="18" charset="0"/>
                        <a:cs typeface="Vani" panose="020B0502040204020203" pitchFamily="34" charset="0"/>
                      </a:rPr>
                      <m:t>=1038∗0.65=674.7</m:t>
                    </m:r>
                  </m:oMath>
                </a14:m>
                <a:endParaRPr lang="en-US" sz="2300" dirty="0">
                  <a:solidFill>
                    <a:srgbClr val="FF0000"/>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𝑆𝑡𝑎𝑛𝑑𝑎𝑟𝑑</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𝐷𝑒𝑣𝑖𝑎𝑡𝑖𝑜𝑛</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ea typeface="Cambria Math" panose="02040503050406030204" pitchFamily="18" charset="0"/>
                        <a:cs typeface="Vani" panose="020B0502040204020203" pitchFamily="34" charset="0"/>
                      </a:rPr>
                      <m:t>𝜎</m:t>
                    </m:r>
                    <m:r>
                      <a:rPr lang="en-US" sz="2300" i="1">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i="1">
                            <a:latin typeface="Cambria Math" panose="02040503050406030204" pitchFamily="18" charset="0"/>
                            <a:ea typeface="Cambria Math" panose="02040503050406030204" pitchFamily="18" charset="0"/>
                          </a:rPr>
                        </m:ctrlPr>
                      </m:radPr>
                      <m:deg/>
                      <m:e>
                        <m:r>
                          <a:rPr lang="en-US" sz="2300" i="1">
                            <a:latin typeface="Cambria Math" panose="02040503050406030204" pitchFamily="18" charset="0"/>
                            <a:ea typeface="Cambria Math" panose="02040503050406030204" pitchFamily="18" charset="0"/>
                          </a:rPr>
                          <m:t>𝑛</m:t>
                        </m:r>
                        <m:r>
                          <a:rPr lang="en-US" sz="2300" i="1">
                            <a:latin typeface="Cambria Math" panose="02040503050406030204" pitchFamily="18" charset="0"/>
                            <a:ea typeface="Cambria Math" panose="02040503050406030204" pitchFamily="18" charset="0"/>
                          </a:rPr>
                          <m:t>∗</m:t>
                        </m:r>
                        <m:r>
                          <a:rPr lang="en-US" sz="2300" i="1">
                            <a:latin typeface="Cambria Math" panose="02040503050406030204" pitchFamily="18" charset="0"/>
                            <a:ea typeface="Cambria Math" panose="02040503050406030204" pitchFamily="18" charset="0"/>
                          </a:rPr>
                          <m:t>𝑝</m:t>
                        </m:r>
                        <m:r>
                          <a:rPr lang="en-US" sz="2300" i="1">
                            <a:latin typeface="Cambria Math" panose="02040503050406030204" pitchFamily="18" charset="0"/>
                            <a:ea typeface="Cambria Math" panose="02040503050406030204" pitchFamily="18" charset="0"/>
                          </a:rPr>
                          <m:t>∗</m:t>
                        </m:r>
                        <m:r>
                          <a:rPr lang="en-US" sz="2300" i="1">
                            <a:latin typeface="Cambria Math" panose="02040503050406030204" pitchFamily="18" charset="0"/>
                            <a:ea typeface="Cambria Math" panose="02040503050406030204" pitchFamily="18" charset="0"/>
                          </a:rPr>
                          <m:t>𝑞</m:t>
                        </m:r>
                      </m:e>
                    </m:rad>
                    <m:r>
                      <a:rPr lang="en-US" sz="2300" i="1">
                        <a:latin typeface="Cambria Math" panose="02040503050406030204" pitchFamily="18" charset="0"/>
                        <a:ea typeface="Cambria Math" panose="02040503050406030204" pitchFamily="18" charset="0"/>
                      </a:rPr>
                      <m:t>=</m:t>
                    </m:r>
                    <m:rad>
                      <m:radPr>
                        <m:degHide m:val="on"/>
                        <m:ctrlPr>
                          <a:rPr lang="en-US" sz="2300" i="1">
                            <a:latin typeface="Cambria Math" panose="02040503050406030204" pitchFamily="18" charset="0"/>
                            <a:ea typeface="Cambria Math" panose="02040503050406030204" pitchFamily="18" charset="0"/>
                          </a:rPr>
                        </m:ctrlPr>
                      </m:radPr>
                      <m:deg/>
                      <m:e>
                        <m:r>
                          <a:rPr lang="en-US" sz="2300" i="1">
                            <a:latin typeface="Cambria Math" panose="02040503050406030204" pitchFamily="18" charset="0"/>
                            <a:ea typeface="Cambria Math" panose="02040503050406030204" pitchFamily="18" charset="0"/>
                          </a:rPr>
                          <m:t>10</m:t>
                        </m:r>
                        <m:r>
                          <a:rPr lang="en-US" sz="2300" b="0" i="1" smtClean="0">
                            <a:latin typeface="Cambria Math" panose="02040503050406030204" pitchFamily="18" charset="0"/>
                            <a:ea typeface="Cambria Math" panose="02040503050406030204" pitchFamily="18" charset="0"/>
                          </a:rPr>
                          <m:t>38</m:t>
                        </m:r>
                        <m:r>
                          <a:rPr lang="en-US" sz="2300" i="1">
                            <a:latin typeface="Cambria Math" panose="02040503050406030204" pitchFamily="18" charset="0"/>
                            <a:ea typeface="Cambria Math" panose="02040503050406030204" pitchFamily="18" charset="0"/>
                          </a:rPr>
                          <m:t>∗0.</m:t>
                        </m:r>
                        <m:r>
                          <a:rPr lang="en-US" sz="2300" b="0" i="1" smtClean="0">
                            <a:latin typeface="Cambria Math" panose="02040503050406030204" pitchFamily="18" charset="0"/>
                            <a:ea typeface="Cambria Math" panose="02040503050406030204" pitchFamily="18" charset="0"/>
                          </a:rPr>
                          <m:t>65</m:t>
                        </m:r>
                        <m:r>
                          <a:rPr lang="en-US" sz="2300" i="1">
                            <a:latin typeface="Cambria Math" panose="02040503050406030204" pitchFamily="18" charset="0"/>
                            <a:ea typeface="Cambria Math" panose="02040503050406030204" pitchFamily="18" charset="0"/>
                          </a:rPr>
                          <m:t>∗0.</m:t>
                        </m:r>
                        <m:r>
                          <a:rPr lang="en-US" sz="2300" b="0" i="1" smtClean="0">
                            <a:latin typeface="Cambria Math" panose="02040503050406030204" pitchFamily="18" charset="0"/>
                            <a:ea typeface="Cambria Math" panose="02040503050406030204" pitchFamily="18" charset="0"/>
                          </a:rPr>
                          <m:t>35</m:t>
                        </m:r>
                      </m:e>
                    </m:rad>
                    <m:r>
                      <a:rPr lang="en-US" sz="2300" i="1">
                        <a:latin typeface="Cambria Math" panose="02040503050406030204" pitchFamily="18" charset="0"/>
                        <a:ea typeface="Cambria Math" panose="02040503050406030204" pitchFamily="18" charset="0"/>
                      </a:rPr>
                      <m:t>=</m:t>
                    </m:r>
                    <m:rad>
                      <m:radPr>
                        <m:degHide m:val="on"/>
                        <m:ctrlPr>
                          <a:rPr lang="en-US" sz="2300" i="1">
                            <a:latin typeface="Cambria Math" panose="02040503050406030204" pitchFamily="18" charset="0"/>
                            <a:ea typeface="Cambria Math" panose="02040503050406030204" pitchFamily="18" charset="0"/>
                          </a:rPr>
                        </m:ctrlPr>
                      </m:radPr>
                      <m:deg/>
                      <m:e>
                        <m:r>
                          <a:rPr lang="en-US" sz="2300" b="0" i="1" smtClean="0">
                            <a:latin typeface="Cambria Math" panose="02040503050406030204" pitchFamily="18" charset="0"/>
                            <a:ea typeface="Cambria Math" panose="02040503050406030204" pitchFamily="18" charset="0"/>
                          </a:rPr>
                          <m:t>236.145</m:t>
                        </m:r>
                      </m:e>
                    </m:rad>
                    <m:r>
                      <a:rPr lang="en-US" sz="2300" i="1">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15.4</m:t>
                    </m:r>
                  </m:oMath>
                </a14:m>
                <a:endParaRPr lang="en-US" sz="2300" dirty="0">
                  <a:solidFill>
                    <a:srgbClr val="FF0000"/>
                  </a:solidFill>
                  <a:latin typeface="Vani" panose="020B0502040204020203" pitchFamily="34" charset="0"/>
                  <a:cs typeface="Vani" panose="020B0502040204020203" pitchFamily="34" charset="0"/>
                </a:endParaRPr>
              </a:p>
              <a:p>
                <a:pPr lvl="0">
                  <a:lnSpc>
                    <a:spcPct val="150000"/>
                  </a:lnSpc>
                </a:pPr>
                <a:r>
                  <a:rPr lang="en-US" sz="2300" dirty="0">
                    <a:solidFill>
                      <a:srgbClr val="115981"/>
                    </a:solidFill>
                    <a:latin typeface="Vani" panose="020B0502040204020203" pitchFamily="34" charset="0"/>
                    <a:cs typeface="Vani" panose="020B0502040204020203" pitchFamily="34" charset="0"/>
                  </a:rPr>
                  <a:t>(b.)	</a:t>
                </a:r>
                <a:r>
                  <a:rPr lang="en-US" sz="2300" dirty="0" smtClean="0">
                    <a:solidFill>
                      <a:srgbClr val="115981"/>
                    </a:solidFill>
                    <a:latin typeface="Vani" panose="020B0502040204020203" pitchFamily="34" charset="0"/>
                    <a:cs typeface="Vani" panose="020B0502040204020203" pitchFamily="34" charset="0"/>
                  </a:rPr>
                  <a:t>The survey of the 1038 residents found that 632 voted. </a:t>
                </a:r>
                <a:r>
                  <a:rPr lang="en-US" sz="2300" dirty="0">
                    <a:solidFill>
                      <a:srgbClr val="115981"/>
                    </a:solidFill>
                    <a:latin typeface="Vani" panose="020B0502040204020203" pitchFamily="34" charset="0"/>
                    <a:cs typeface="Vani" panose="020B0502040204020203" pitchFamily="34" charset="0"/>
                  </a:rPr>
                  <a:t>Is this result unusual</a:t>
                </a:r>
                <a:r>
                  <a:rPr lang="en-US" sz="2300" dirty="0" smtClean="0">
                    <a:solidFill>
                      <a:srgbClr val="115981"/>
                    </a:solidFill>
                    <a:latin typeface="Vani" panose="020B0502040204020203" pitchFamily="34" charset="0"/>
                    <a:cs typeface="Vani" panose="020B0502040204020203" pitchFamily="34" charset="0"/>
                  </a:rPr>
                  <a:t>?</a:t>
                </a: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3690987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9-2.</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14:m>
                  <m:oMath xmlns:m="http://schemas.openxmlformats.org/officeDocument/2006/math">
                    <m:r>
                      <a:rPr lang="en-US" sz="2300" i="1" smtClean="0">
                        <a:solidFill>
                          <a:srgbClr val="115981"/>
                        </a:solidFill>
                        <a:latin typeface="Cambria Math" panose="02040503050406030204" pitchFamily="18" charset="0"/>
                        <a:cs typeface="Vani" panose="020B0502040204020203" pitchFamily="34" charset="0"/>
                      </a:rPr>
                      <m:t>𝑀𝑎𝑥𝑖𝑚𝑢𝑚</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𝑈𝑠𝑢𝑎𝑙</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𝑉𝑎𝑙𝑢𝑒</m:t>
                    </m:r>
                    <m:r>
                      <a:rPr lang="en-US" sz="2300" i="1" smtClean="0">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=674.7+2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15.4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674.7</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30.8</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705.5</m:t>
                    </m:r>
                  </m:oMath>
                </a14:m>
                <a:endParaRPr lang="en-US" sz="2300" dirty="0">
                  <a:solidFill>
                    <a:srgbClr val="115981"/>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𝑀𝑖𝑛𝑖𝑚𝑢𝑚</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𝑈𝑠𝑢𝑎𝑙</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𝑉𝑎𝑙𝑢𝑒</m:t>
                    </m:r>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=674.7−2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15.4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674.7</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30.8=</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643.9</m:t>
                    </m:r>
                  </m:oMath>
                </a14:m>
                <a:r>
                  <a:rPr lang="en-US" sz="2300" dirty="0">
                    <a:solidFill>
                      <a:srgbClr val="115981"/>
                    </a:solidFill>
                    <a:latin typeface="Vani" panose="020B0502040204020203" pitchFamily="34" charset="0"/>
                    <a:cs typeface="Vani" panose="020B0502040204020203" pitchFamily="34" charset="0"/>
                  </a:rPr>
                  <a:t> </a:t>
                </a:r>
              </a:p>
              <a:p>
                <a:pPr>
                  <a:lnSpc>
                    <a:spcPct val="150000"/>
                  </a:lnSpc>
                </a:pPr>
                <a14:m>
                  <m:oMath xmlns:m="http://schemas.openxmlformats.org/officeDocument/2006/math">
                    <m:r>
                      <a:rPr lang="en-US" sz="2300" b="0" i="1" smtClean="0">
                        <a:solidFill>
                          <a:srgbClr val="FF0000"/>
                        </a:solidFill>
                        <a:latin typeface="Cambria Math" panose="02040503050406030204" pitchFamily="18" charset="0"/>
                        <a:cs typeface="Vani" panose="020B0502040204020203" pitchFamily="34" charset="0"/>
                      </a:rPr>
                      <m:t>6</m:t>
                    </m:r>
                    <m:r>
                      <a:rPr lang="en-US" sz="2300" i="1">
                        <a:solidFill>
                          <a:srgbClr val="FF0000"/>
                        </a:solidFill>
                        <a:latin typeface="Cambria Math" panose="02040503050406030204" pitchFamily="18" charset="0"/>
                        <a:cs typeface="Vani" panose="020B0502040204020203" pitchFamily="34" charset="0"/>
                      </a:rPr>
                      <m:t>32 </m:t>
                    </m:r>
                    <m:r>
                      <a:rPr lang="en-US" sz="230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&lt;</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643.9</m:t>
                    </m:r>
                  </m:oMath>
                </a14:m>
                <a:r>
                  <a:rPr lang="en-US" sz="2300" dirty="0">
                    <a:solidFill>
                      <a:srgbClr val="FF0000"/>
                    </a:solidFill>
                    <a:latin typeface="Vani" panose="020B0502040204020203" pitchFamily="34" charset="0"/>
                    <a:cs typeface="Vani" panose="020B0502040204020203" pitchFamily="34" charset="0"/>
                  </a:rPr>
                  <a:t>. </a:t>
                </a:r>
                <a:r>
                  <a:rPr lang="en-US" sz="2300" dirty="0">
                    <a:solidFill>
                      <a:srgbClr val="FF0000"/>
                    </a:solidFill>
                    <a:latin typeface="Vani" panose="020B0502040204020203" pitchFamily="34" charset="0"/>
                    <a:cs typeface="Vani" panose="020B0502040204020203" pitchFamily="34" charset="0"/>
                  </a:rPr>
                  <a:t>Hence, the result is unusual</a:t>
                </a:r>
                <a:r>
                  <a:rPr lang="en-US" sz="2300" dirty="0" smtClean="0">
                    <a:solidFill>
                      <a:srgbClr val="FF0000"/>
                    </a:solidFill>
                    <a:latin typeface="Vani" panose="020B0502040204020203" pitchFamily="34" charset="0"/>
                    <a:cs typeface="Vani" panose="020B0502040204020203" pitchFamily="34" charset="0"/>
                  </a:rPr>
                  <a:t>.</a:t>
                </a:r>
              </a:p>
              <a:p>
                <a:pPr lvl="0">
                  <a:lnSpc>
                    <a:spcPct val="150000"/>
                  </a:lnSpc>
                </a:pPr>
                <a:r>
                  <a:rPr lang="en-US" sz="2300" dirty="0" smtClean="0">
                    <a:solidFill>
                      <a:srgbClr val="115981"/>
                    </a:solidFill>
                    <a:latin typeface="Vani" panose="020B0502040204020203" pitchFamily="34" charset="0"/>
                    <a:cs typeface="Vani" panose="020B0502040204020203" pitchFamily="34" charset="0"/>
                  </a:rPr>
                  <a:t>(c.)</a:t>
                </a:r>
                <a:r>
                  <a:rPr lang="en-US" sz="2300" dirty="0">
                    <a:solidFill>
                      <a:srgbClr val="115981"/>
                    </a:solidFill>
                    <a:latin typeface="Vani" panose="020B0502040204020203" pitchFamily="34" charset="0"/>
                    <a:cs typeface="Vani" panose="020B0502040204020203" pitchFamily="34" charset="0"/>
                  </a:rPr>
                  <a:t>	</a:t>
                </a:r>
                <a:r>
                  <a:rPr lang="en-US" sz="2300" dirty="0" smtClean="0">
                    <a:solidFill>
                      <a:srgbClr val="115981"/>
                    </a:solidFill>
                    <a:latin typeface="Vani" panose="020B0502040204020203" pitchFamily="34" charset="0"/>
                    <a:cs typeface="Vani" panose="020B0502040204020203" pitchFamily="34" charset="0"/>
                  </a:rPr>
                  <a:t>Based on this result, do you think accurate voting results can be obtained by asking residents whether they voted?</a:t>
                </a:r>
              </a:p>
              <a:p>
                <a:pPr lvl="0">
                  <a:lnSpc>
                    <a:spcPct val="150000"/>
                  </a:lnSpc>
                </a:pPr>
                <a:r>
                  <a:rPr lang="en-US" sz="2300" dirty="0" smtClean="0">
                    <a:solidFill>
                      <a:srgbClr val="FF0000"/>
                    </a:solidFill>
                    <a:latin typeface="Vani" panose="020B0502040204020203" pitchFamily="34" charset="0"/>
                    <a:cs typeface="Vani" panose="020B0502040204020203" pitchFamily="34" charset="0"/>
                  </a:rPr>
                  <a:t>No, it does not seem that accurate voting results can be obtained by surveying residents directly. It appears that fewer residents say they voted, than the proportion of residents who actually voted.</a:t>
                </a:r>
                <a:endParaRPr lang="en-US" sz="2300" dirty="0">
                  <a:solidFill>
                    <a:srgbClr val="FF0000"/>
                  </a:solidFill>
                  <a:latin typeface="Vani" panose="020B0502040204020203" pitchFamily="34" charset="0"/>
                  <a:cs typeface="Vani" panose="020B0502040204020203" pitchFamily="34" charset="0"/>
                </a:endParaRPr>
              </a:p>
              <a:p>
                <a:pPr>
                  <a:lnSpc>
                    <a:spcPct val="150000"/>
                  </a:lnSpc>
                </a:pPr>
                <a:endParaRPr lang="en-US" sz="2500" i="1" dirty="0" smtClean="0">
                  <a:latin typeface="Cambria Math" panose="02040503050406030204" pitchFamily="18" charset="0"/>
                  <a:ea typeface="Cambria Math" panose="02040503050406030204" pitchFamily="18"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500"/>
                </a:stretch>
              </a:blipFill>
            </p:spPr>
            <p:txBody>
              <a:bodyPr/>
              <a:lstStyle/>
              <a:p>
                <a:r>
                  <a:rPr lang="en-US">
                    <a:noFill/>
                  </a:rPr>
                  <a:t> </a:t>
                </a:r>
              </a:p>
            </p:txBody>
          </p:sp>
        </mc:Fallback>
      </mc:AlternateContent>
    </p:spTree>
    <p:extLst>
      <p:ext uri="{BB962C8B-B14F-4D97-AF65-F5344CB8AC3E}">
        <p14:creationId xmlns:p14="http://schemas.microsoft.com/office/powerpoint/2010/main" val="37032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10-1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solidFill>
                      <a:srgbClr val="7030A0"/>
                    </a:solidFill>
                    <a:latin typeface="Vani" panose="020B0502040204020203" pitchFamily="34" charset="0"/>
                    <a:cs typeface="Vani" panose="020B0502040204020203" pitchFamily="34" charset="0"/>
                  </a:rPr>
                  <a:t>(10.)</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(a.)	Calculate the mean and standard deviation for the number of students born on the 1</a:t>
                </a:r>
                <a:r>
                  <a:rPr lang="en-US" sz="2300" baseline="30000" dirty="0" smtClean="0">
                    <a:latin typeface="Vani" panose="020B0502040204020203" pitchFamily="34" charset="0"/>
                    <a:cs typeface="Vani" panose="020B0502040204020203" pitchFamily="34" charset="0"/>
                  </a:rPr>
                  <a:t>st</a:t>
                </a:r>
                <a:r>
                  <a:rPr lang="en-US" sz="2300" dirty="0" smtClean="0">
                    <a:latin typeface="Vani" panose="020B0502040204020203" pitchFamily="34" charset="0"/>
                    <a:cs typeface="Vani" panose="020B0502040204020203" pitchFamily="34" charset="0"/>
                  </a:rPr>
                  <a:t> day of November for classes of 246 students. Ignore leap years. Round to 6 </a:t>
                </a:r>
                <a:r>
                  <a:rPr lang="en-US" sz="2300" dirty="0" err="1" smtClean="0">
                    <a:latin typeface="Vani" panose="020B0502040204020203" pitchFamily="34" charset="0"/>
                    <a:cs typeface="Vani" panose="020B0502040204020203" pitchFamily="34" charset="0"/>
                  </a:rPr>
                  <a:t>d.p.</a:t>
                </a:r>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𝑛</m:t>
                    </m:r>
                    <m:r>
                      <a:rPr lang="en-US" sz="2300" i="1">
                        <a:latin typeface="Cambria Math" panose="02040503050406030204" pitchFamily="18" charset="0"/>
                        <a:cs typeface="Vani" panose="020B0502040204020203" pitchFamily="34" charset="0"/>
                      </a:rPr>
                      <m:t>=246 </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𝑝</m:t>
                    </m:r>
                    <m:r>
                      <a:rPr lang="en-US" sz="2300" i="1">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365</m:t>
                        </m:r>
                      </m:den>
                    </m:f>
                    <m:r>
                      <a:rPr lang="en-US" sz="2300" b="0" i="1" smtClean="0">
                        <a:latin typeface="Cambria Math" panose="02040503050406030204" pitchFamily="18" charset="0"/>
                        <a:cs typeface="Vani" panose="020B0502040204020203" pitchFamily="34" charset="0"/>
                      </a:rPr>
                      <m:t>=0.00273973       </m:t>
                    </m:r>
                    <m:r>
                      <a:rPr lang="en-US" sz="2300" i="1">
                        <a:latin typeface="Cambria Math" panose="02040503050406030204" pitchFamily="18" charset="0"/>
                        <a:cs typeface="Vani" panose="020B0502040204020203" pitchFamily="34" charset="0"/>
                      </a:rPr>
                      <m:t>𝑞</m:t>
                    </m:r>
                    <m:r>
                      <a:rPr lang="en-US" sz="2300" i="1">
                        <a:latin typeface="Cambria Math" panose="02040503050406030204" pitchFamily="18" charset="0"/>
                        <a:cs typeface="Vani" panose="020B0502040204020203" pitchFamily="34" charset="0"/>
                      </a:rPr>
                      <m:t>=1−0.0027</m:t>
                    </m:r>
                    <m:r>
                      <a:rPr lang="en-US" sz="2300" b="0" i="1" smtClean="0">
                        <a:latin typeface="Cambria Math" panose="02040503050406030204" pitchFamily="18" charset="0"/>
                        <a:cs typeface="Vani" panose="020B0502040204020203" pitchFamily="34" charset="0"/>
                      </a:rPr>
                      <m:t>3973=0.99726</m:t>
                    </m:r>
                    <m:r>
                      <a:rPr lang="en-US" sz="2300" b="0" i="1" smtClean="0">
                        <a:latin typeface="Cambria Math" panose="02040503050406030204" pitchFamily="18" charset="0"/>
                        <a:cs typeface="Vani" panose="020B0502040204020203" pitchFamily="34" charset="0"/>
                      </a:rPr>
                      <m:t>027</m:t>
                    </m:r>
                  </m:oMath>
                </a14:m>
                <a:endParaRPr lang="en-US" sz="2300" b="0" dirty="0" smtClean="0">
                  <a:latin typeface="Vani" panose="020B0502040204020203" pitchFamily="34"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𝑀𝑒𝑎𝑛</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𝑛</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𝑝</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=246∗0.00273973=0</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.67</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3974</m:t>
                    </m:r>
                  </m:oMath>
                </a14:m>
                <a:endParaRPr lang="en-US" sz="2300" dirty="0">
                  <a:solidFill>
                    <a:srgbClr val="FF0000"/>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𝑆𝑡𝑎𝑛𝑑𝑎𝑟𝑑</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𝐷𝑒𝑣𝑖𝑎𝑡𝑖𝑜𝑛</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i="1">
                            <a:solidFill>
                              <a:srgbClr val="115981"/>
                            </a:solidFill>
                            <a:latin typeface="Cambria Math" panose="02040503050406030204" pitchFamily="18" charset="0"/>
                            <a:ea typeface="Cambria Math" panose="02040503050406030204" pitchFamily="18" charset="0"/>
                          </a:rPr>
                        </m:ctrlPr>
                      </m:radPr>
                      <m:deg/>
                      <m:e>
                        <m:r>
                          <a:rPr lang="en-US" sz="2300" i="1" smtClean="0">
                            <a:solidFill>
                              <a:srgbClr val="115981"/>
                            </a:solidFill>
                            <a:latin typeface="Cambria Math" panose="02040503050406030204" pitchFamily="18" charset="0"/>
                            <a:ea typeface="Cambria Math" panose="02040503050406030204" pitchFamily="18" charset="0"/>
                          </a:rPr>
                          <m:t>𝑛</m:t>
                        </m:r>
                        <m:r>
                          <a:rPr lang="en-US" sz="2300" i="1">
                            <a:solidFill>
                              <a:srgbClr val="115981"/>
                            </a:solidFill>
                            <a:latin typeface="Cambria Math" panose="02040503050406030204" pitchFamily="18" charset="0"/>
                            <a:ea typeface="Cambria Math" panose="02040503050406030204" pitchFamily="18" charset="0"/>
                          </a:rPr>
                          <m:t>∗</m:t>
                        </m:r>
                        <m:r>
                          <a:rPr lang="en-US" sz="2300" i="1">
                            <a:solidFill>
                              <a:srgbClr val="115981"/>
                            </a:solidFill>
                            <a:latin typeface="Cambria Math" panose="02040503050406030204" pitchFamily="18" charset="0"/>
                            <a:ea typeface="Cambria Math" panose="02040503050406030204" pitchFamily="18" charset="0"/>
                          </a:rPr>
                          <m:t>𝑝</m:t>
                        </m:r>
                        <m:r>
                          <a:rPr lang="en-US" sz="2300" i="1">
                            <a:solidFill>
                              <a:srgbClr val="115981"/>
                            </a:solidFill>
                            <a:latin typeface="Cambria Math" panose="02040503050406030204" pitchFamily="18" charset="0"/>
                            <a:ea typeface="Cambria Math" panose="02040503050406030204" pitchFamily="18" charset="0"/>
                          </a:rPr>
                          <m:t>∗</m:t>
                        </m:r>
                        <m:r>
                          <a:rPr lang="en-US" sz="2300" i="1">
                            <a:solidFill>
                              <a:srgbClr val="115981"/>
                            </a:solidFill>
                            <a:latin typeface="Cambria Math" panose="02040503050406030204" pitchFamily="18" charset="0"/>
                            <a:ea typeface="Cambria Math" panose="02040503050406030204" pitchFamily="18" charset="0"/>
                          </a:rPr>
                          <m:t>𝑞</m:t>
                        </m:r>
                      </m:e>
                    </m:rad>
                    <m:r>
                      <a:rPr lang="en-US" sz="2300" i="1">
                        <a:solidFill>
                          <a:srgbClr val="115981"/>
                        </a:solidFill>
                        <a:latin typeface="Cambria Math" panose="02040503050406030204" pitchFamily="18" charset="0"/>
                        <a:ea typeface="Cambria Math" panose="02040503050406030204" pitchFamily="18" charset="0"/>
                      </a:rPr>
                      <m:t>=</m:t>
                    </m:r>
                    <m:rad>
                      <m:radPr>
                        <m:degHide m:val="on"/>
                        <m:ctrlPr>
                          <a:rPr lang="en-US" sz="2300" i="1">
                            <a:solidFill>
                              <a:srgbClr val="115981"/>
                            </a:solidFill>
                            <a:latin typeface="Cambria Math" panose="02040503050406030204" pitchFamily="18" charset="0"/>
                            <a:ea typeface="Cambria Math" panose="02040503050406030204" pitchFamily="18" charset="0"/>
                          </a:rPr>
                        </m:ctrlPr>
                      </m:radPr>
                      <m:deg/>
                      <m:e>
                        <m:r>
                          <a:rPr lang="en-US" sz="2300" b="0" i="1" smtClean="0">
                            <a:solidFill>
                              <a:srgbClr val="115981"/>
                            </a:solidFill>
                            <a:latin typeface="Cambria Math" panose="02040503050406030204" pitchFamily="18" charset="0"/>
                            <a:ea typeface="Cambria Math" panose="02040503050406030204" pitchFamily="18" charset="0"/>
                          </a:rPr>
                          <m:t>246∗</m:t>
                        </m:r>
                        <m:r>
                          <a:rPr lang="en-US" sz="2300" i="1">
                            <a:latin typeface="Cambria Math" panose="02040503050406030204" pitchFamily="18" charset="0"/>
                            <a:cs typeface="Vani" panose="020B0502040204020203" pitchFamily="34" charset="0"/>
                          </a:rPr>
                          <m:t>0.00273973</m:t>
                        </m:r>
                        <m:r>
                          <a:rPr lang="en-US" sz="2300" b="0" i="1" smtClean="0">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0.99726027</m:t>
                        </m:r>
                        <m:r>
                          <m:rPr>
                            <m:nor/>
                          </m:rPr>
                          <a:rPr lang="en-US" sz="2300" dirty="0">
                            <a:latin typeface="Vani" panose="020B0502040204020203" pitchFamily="34" charset="0"/>
                            <a:cs typeface="Vani" panose="020B0502040204020203" pitchFamily="34" charset="0"/>
                          </a:rPr>
                          <m:t> </m:t>
                        </m:r>
                      </m:e>
                    </m:rad>
                    <m:r>
                      <a:rPr lang="en-US" sz="2300" i="1">
                        <a:solidFill>
                          <a:srgbClr val="115981"/>
                        </a:solidFill>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0.819834</m:t>
                    </m:r>
                  </m:oMath>
                </a14:m>
                <a:endParaRPr lang="en-US" sz="2300" dirty="0" smtClean="0">
                  <a:solidFill>
                    <a:srgbClr val="FF0000"/>
                  </a:solidFill>
                  <a:latin typeface="Vani" panose="020B0502040204020203" pitchFamily="34" charset="0"/>
                  <a:cs typeface="Vani" panose="020B0502040204020203" pitchFamily="34" charset="0"/>
                </a:endParaRPr>
              </a:p>
              <a:p>
                <a:pPr lvl="0">
                  <a:lnSpc>
                    <a:spcPct val="150000"/>
                  </a:lnSpc>
                </a:pPr>
                <a:r>
                  <a:rPr lang="en-US" sz="2300" dirty="0">
                    <a:solidFill>
                      <a:srgbClr val="115981"/>
                    </a:solidFill>
                    <a:latin typeface="Vani" panose="020B0502040204020203" pitchFamily="34" charset="0"/>
                    <a:cs typeface="Vani" panose="020B0502040204020203" pitchFamily="34" charset="0"/>
                  </a:rPr>
                  <a:t>(b.)	</a:t>
                </a:r>
                <a:r>
                  <a:rPr lang="en-US" sz="2300" dirty="0" smtClean="0">
                    <a:solidFill>
                      <a:srgbClr val="115981"/>
                    </a:solidFill>
                    <a:latin typeface="Vani" panose="020B0502040204020203" pitchFamily="34" charset="0"/>
                    <a:cs typeface="Vani" panose="020B0502040204020203" pitchFamily="34" charset="0"/>
                  </a:rPr>
                  <a:t>Would </a:t>
                </a:r>
                <a14:m>
                  <m:oMath xmlns:m="http://schemas.openxmlformats.org/officeDocument/2006/math">
                    <m:r>
                      <a:rPr lang="en-US" sz="2300" i="1" dirty="0" smtClean="0">
                        <a:solidFill>
                          <a:srgbClr val="115981"/>
                        </a:solidFill>
                        <a:latin typeface="Cambria Math" panose="02040503050406030204" pitchFamily="18" charset="0"/>
                        <a:cs typeface="Vani" panose="020B0502040204020203" pitchFamily="34" charset="0"/>
                      </a:rPr>
                      <m:t>2</m:t>
                    </m:r>
                  </m:oMath>
                </a14:m>
                <a:r>
                  <a:rPr lang="en-US" sz="2300" dirty="0" smtClean="0">
                    <a:solidFill>
                      <a:srgbClr val="115981"/>
                    </a:solidFill>
                    <a:latin typeface="Vani" panose="020B0502040204020203" pitchFamily="34" charset="0"/>
                    <a:cs typeface="Vani" panose="020B0502040204020203" pitchFamily="34" charset="0"/>
                  </a:rPr>
                  <a:t> be an unusually high number of individuals who were born on the 1</a:t>
                </a:r>
                <a:r>
                  <a:rPr lang="en-US" sz="2300" baseline="30000" dirty="0" smtClean="0">
                    <a:solidFill>
                      <a:srgbClr val="115981"/>
                    </a:solidFill>
                    <a:latin typeface="Vani" panose="020B0502040204020203" pitchFamily="34" charset="0"/>
                    <a:cs typeface="Vani" panose="020B0502040204020203" pitchFamily="34" charset="0"/>
                  </a:rPr>
                  <a:t>st</a:t>
                </a:r>
                <a:r>
                  <a:rPr lang="en-US" sz="2300" dirty="0" smtClean="0">
                    <a:solidFill>
                      <a:srgbClr val="115981"/>
                    </a:solidFill>
                    <a:latin typeface="Vani" panose="020B0502040204020203" pitchFamily="34" charset="0"/>
                    <a:cs typeface="Vani" panose="020B0502040204020203" pitchFamily="34" charset="0"/>
                  </a:rPr>
                  <a:t> day of November?</a:t>
                </a:r>
                <a:endParaRPr lang="en-US" sz="2300" dirty="0">
                  <a:solidFill>
                    <a:srgbClr val="FF0000"/>
                  </a:solidFill>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endParaRPr>
              </a:p>
              <a:p>
                <a:pPr marL="0" indent="0">
                  <a:lnSpc>
                    <a:spcPct val="150000"/>
                  </a:lnSpc>
                  <a:buNone/>
                </a:pPr>
                <a:endParaRPr lang="en-US" sz="2500" i="1" dirty="0" smtClean="0">
                  <a:latin typeface="Cambria Math" panose="02040503050406030204" pitchFamily="18" charset="0"/>
                  <a:ea typeface="Cambria Math" panose="02040503050406030204" pitchFamily="18"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350"/>
                </a:stretch>
              </a:blipFill>
            </p:spPr>
            <p:txBody>
              <a:bodyPr/>
              <a:lstStyle/>
              <a:p>
                <a:r>
                  <a:rPr lang="en-US">
                    <a:noFill/>
                  </a:rPr>
                  <a:t> </a:t>
                </a:r>
              </a:p>
            </p:txBody>
          </p:sp>
        </mc:Fallback>
      </mc:AlternateContent>
    </p:spTree>
    <p:extLst>
      <p:ext uri="{BB962C8B-B14F-4D97-AF65-F5344CB8AC3E}">
        <p14:creationId xmlns:p14="http://schemas.microsoft.com/office/powerpoint/2010/main" val="408580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10-2</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14:m>
                  <m:oMath xmlns:m="http://schemas.openxmlformats.org/officeDocument/2006/math">
                    <m:r>
                      <a:rPr lang="en-US" sz="2300" i="1" smtClean="0">
                        <a:solidFill>
                          <a:srgbClr val="115981"/>
                        </a:solidFill>
                        <a:latin typeface="Cambria Math" panose="02040503050406030204" pitchFamily="18" charset="0"/>
                        <a:cs typeface="Vani" panose="020B0502040204020203" pitchFamily="34" charset="0"/>
                      </a:rPr>
                      <m:t>𝑀𝑎𝑥𝑖𝑚𝑢𝑚</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𝑈𝑠𝑢𝑎𝑙</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𝑉𝑎𝑙𝑢𝑒</m:t>
                    </m:r>
                    <m:r>
                      <a:rPr lang="en-US" sz="2300" i="1" smtClean="0">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=0.673974+2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0.819834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2.313642</m:t>
                    </m:r>
                  </m:oMath>
                </a14:m>
                <a:endParaRPr lang="en-US" sz="2300" dirty="0">
                  <a:solidFill>
                    <a:srgbClr val="115981"/>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𝑀𝑖𝑛𝑖𝑚𝑢𝑚</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𝑈𝑠𝑢𝑎𝑙</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𝑉𝑎𝑙𝑢𝑒</m:t>
                    </m:r>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=0.673974−2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0.819834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−0.965694</m:t>
                    </m:r>
                  </m:oMath>
                </a14:m>
                <a:endParaRPr lang="en-US" sz="2300" dirty="0" smtClean="0">
                  <a:solidFill>
                    <a:srgbClr val="115981"/>
                  </a:solidFill>
                  <a:latin typeface="Vani" panose="020B0502040204020203" pitchFamily="34" charset="0"/>
                  <a:cs typeface="Vani" panose="020B0502040204020203" pitchFamily="34" charset="0"/>
                </a:endParaRPr>
              </a:p>
              <a:p>
                <a:pPr>
                  <a:lnSpc>
                    <a:spcPct val="150000"/>
                  </a:lnSpc>
                </a:pPr>
                <a:r>
                  <a:rPr lang="en-US" sz="2300" dirty="0">
                    <a:solidFill>
                      <a:srgbClr val="115981"/>
                    </a:solidFill>
                    <a:latin typeface="Vani" panose="020B0502040204020203" pitchFamily="34" charset="0"/>
                    <a:cs typeface="Vani" panose="020B0502040204020203" pitchFamily="34" charset="0"/>
                  </a:rPr>
                  <a:t> </a:t>
                </a:r>
                <a14:m>
                  <m:oMath xmlns:m="http://schemas.openxmlformats.org/officeDocument/2006/math">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−0.965694</m:t>
                    </m:r>
                    <m:r>
                      <a:rPr lang="en-US" sz="230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2.313642</m:t>
                    </m:r>
                  </m:oMath>
                </a14:m>
                <a:endParaRPr lang="en-US" sz="2300" dirty="0" smtClean="0">
                  <a:solidFill>
                    <a:srgbClr val="115981"/>
                  </a:solidFill>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2 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𝑖𝑠</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𝑤𝑖𝑡h𝑖𝑛</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𝑡h𝑒</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𝑟𝑎𝑛𝑔𝑒</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𝑜𝑓</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𝑡h𝑒</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𝑢𝑠𝑢𝑎𝑙</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𝑣𝑎𝑙𝑢𝑒𝑠</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𝐻𝑒𝑛𝑐𝑒</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𝑖𝑡</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𝑖𝑠</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𝑛𝑜𝑡</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𝑢𝑛𝑢𝑠𝑢𝑎𝑙</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m:t>
                    </m:r>
                  </m:oMath>
                </a14:m>
                <a:endParaRPr lang="en-US" sz="2300" dirty="0">
                  <a:solidFill>
                    <a:srgbClr val="FF0000"/>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endParaRPr lang="en-US" sz="2300" dirty="0">
                  <a:solidFill>
                    <a:srgbClr val="115981"/>
                  </a:solidFill>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50439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11-1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(11.)</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The probability that a gambler wins by placing a bet on the number, 7 in a roulette is </a:t>
                </a:r>
                <a14:m>
                  <m:oMath xmlns:m="http://schemas.openxmlformats.org/officeDocument/2006/math">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38</m:t>
                        </m:r>
                      </m:den>
                    </m:f>
                  </m:oMath>
                </a14:m>
                <a:r>
                  <a:rPr lang="en-US" sz="2300" dirty="0" smtClean="0">
                    <a:latin typeface="Vani" panose="020B0502040204020203" pitchFamily="34" charset="0"/>
                    <a:cs typeface="Vani" panose="020B0502040204020203" pitchFamily="34" charset="0"/>
                  </a:rPr>
                  <a:t> </a:t>
                </a:r>
              </a:p>
              <a:p>
                <a:pPr>
                  <a:lnSpc>
                    <a:spcPct val="150000"/>
                  </a:lnSpc>
                </a:pPr>
                <a:r>
                  <a:rPr lang="en-US" sz="2300" dirty="0" smtClean="0">
                    <a:latin typeface="Vani" panose="020B0502040204020203" pitchFamily="34" charset="0"/>
                    <a:cs typeface="Vani" panose="020B0502040204020203" pitchFamily="34" charset="0"/>
                  </a:rPr>
                  <a:t>(a.)	Calculate the mean and standard deviation for the number of wins of gamblers who placed 230 bets on the number, 7. Round to 1 decimal place as needed.</a:t>
                </a: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𝑛</m:t>
                    </m:r>
                    <m:r>
                      <a:rPr lang="en-US" sz="2300" i="1">
                        <a:solidFill>
                          <a:srgbClr val="115981"/>
                        </a:solidFill>
                        <a:latin typeface="Cambria Math" panose="02040503050406030204" pitchFamily="18" charset="0"/>
                        <a:cs typeface="Vani" panose="020B0502040204020203" pitchFamily="34" charset="0"/>
                      </a:rPr>
                      <m:t>=230  </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𝑝</m:t>
                    </m:r>
                    <m:r>
                      <a:rPr lang="en-US" sz="2300" i="1">
                        <a:solidFill>
                          <a:srgbClr val="115981"/>
                        </a:solidFill>
                        <a:latin typeface="Cambria Math" panose="02040503050406030204" pitchFamily="18" charset="0"/>
                        <a:cs typeface="Vani" panose="020B0502040204020203" pitchFamily="34" charset="0"/>
                      </a:rPr>
                      <m:t>=</m:t>
                    </m:r>
                    <m:f>
                      <m:fPr>
                        <m:ctrlPr>
                          <a:rPr lang="en-US" sz="2300" i="1">
                            <a:solidFill>
                              <a:srgbClr val="115981"/>
                            </a:solidFill>
                            <a:latin typeface="Cambria Math" panose="02040503050406030204" pitchFamily="18" charset="0"/>
                            <a:cs typeface="Vani" panose="020B0502040204020203" pitchFamily="34" charset="0"/>
                          </a:rPr>
                        </m:ctrlPr>
                      </m:fPr>
                      <m:num>
                        <m:r>
                          <a:rPr lang="en-US" sz="2300" i="1">
                            <a:solidFill>
                              <a:srgbClr val="115981"/>
                            </a:solidFill>
                            <a:latin typeface="Cambria Math" panose="02040503050406030204" pitchFamily="18" charset="0"/>
                            <a:cs typeface="Vani" panose="020B0502040204020203" pitchFamily="34" charset="0"/>
                          </a:rPr>
                          <m:t>1</m:t>
                        </m:r>
                      </m:num>
                      <m:den>
                        <m:r>
                          <a:rPr lang="en-US" sz="2300" i="1">
                            <a:solidFill>
                              <a:srgbClr val="115981"/>
                            </a:solidFill>
                            <a:latin typeface="Cambria Math" panose="02040503050406030204" pitchFamily="18" charset="0"/>
                            <a:cs typeface="Vani" panose="020B0502040204020203" pitchFamily="34" charset="0"/>
                          </a:rPr>
                          <m:t>3</m:t>
                        </m:r>
                        <m:r>
                          <a:rPr lang="en-US" sz="2300" b="0" i="1" smtClean="0">
                            <a:solidFill>
                              <a:srgbClr val="115981"/>
                            </a:solidFill>
                            <a:latin typeface="Cambria Math" panose="02040503050406030204" pitchFamily="18" charset="0"/>
                            <a:cs typeface="Vani" panose="020B0502040204020203" pitchFamily="34" charset="0"/>
                          </a:rPr>
                          <m:t>8</m:t>
                        </m:r>
                      </m:den>
                    </m:f>
                    <m:r>
                      <a:rPr lang="en-US" sz="2300" i="1">
                        <a:solidFill>
                          <a:srgbClr val="115981"/>
                        </a:solidFill>
                        <a:latin typeface="Cambria Math" panose="02040503050406030204" pitchFamily="18" charset="0"/>
                        <a:cs typeface="Vani" panose="020B0502040204020203" pitchFamily="34" charset="0"/>
                      </a:rPr>
                      <m:t>=0.0</m:t>
                    </m:r>
                    <m:r>
                      <a:rPr lang="en-US" sz="2300" b="0" i="1" smtClean="0">
                        <a:solidFill>
                          <a:srgbClr val="115981"/>
                        </a:solidFill>
                        <a:latin typeface="Cambria Math" panose="02040503050406030204" pitchFamily="18" charset="0"/>
                        <a:cs typeface="Vani" panose="020B0502040204020203" pitchFamily="34" charset="0"/>
                      </a:rPr>
                      <m:t>263158</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𝑞</m:t>
                    </m:r>
                    <m:r>
                      <a:rPr lang="en-US" sz="2300" i="1">
                        <a:solidFill>
                          <a:srgbClr val="115981"/>
                        </a:solidFill>
                        <a:latin typeface="Cambria Math" panose="02040503050406030204" pitchFamily="18" charset="0"/>
                        <a:cs typeface="Vani" panose="020B0502040204020203" pitchFamily="34" charset="0"/>
                      </a:rPr>
                      <m:t>=1−0.0263</m:t>
                    </m:r>
                    <m:r>
                      <a:rPr lang="en-US" sz="2300" b="0" i="1" smtClean="0">
                        <a:solidFill>
                          <a:srgbClr val="115981"/>
                        </a:solidFill>
                        <a:latin typeface="Cambria Math" panose="02040503050406030204" pitchFamily="18" charset="0"/>
                        <a:cs typeface="Vani" panose="020B0502040204020203" pitchFamily="34" charset="0"/>
                      </a:rPr>
                      <m:t>158=0.97368</m:t>
                    </m:r>
                    <m:r>
                      <a:rPr lang="en-US" sz="2300" b="0" i="1" smtClean="0">
                        <a:solidFill>
                          <a:srgbClr val="115981"/>
                        </a:solidFill>
                        <a:latin typeface="Cambria Math" panose="02040503050406030204" pitchFamily="18" charset="0"/>
                        <a:cs typeface="Vani" panose="020B0502040204020203" pitchFamily="34" charset="0"/>
                      </a:rPr>
                      <m:t>42</m:t>
                    </m:r>
                  </m:oMath>
                </a14:m>
                <a:endParaRPr lang="en-US" sz="2300" dirty="0" smtClean="0">
                  <a:solidFill>
                    <a:srgbClr val="115981"/>
                  </a:solidFill>
                  <a:latin typeface="Vani" panose="020B0502040204020203" pitchFamily="34"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𝑀𝑒𝑎𝑛</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𝑛</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𝑝</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=230∗0.0263158=6.</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052634≅6.</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1</m:t>
                    </m:r>
                  </m:oMath>
                </a14:m>
                <a:endParaRPr lang="en-US" sz="2300" dirty="0">
                  <a:solidFill>
                    <a:srgbClr val="FF0000"/>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𝑆𝑡𝑎𝑛𝑑𝑎𝑟𝑑</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𝐷𝑒𝑣𝑖𝑎𝑡𝑖𝑜𝑛</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ad>
                      <m:radPr>
                        <m:degHide m:val="on"/>
                        <m:ctrlPr>
                          <a:rPr lang="en-US" sz="2300" i="1">
                            <a:solidFill>
                              <a:srgbClr val="115981"/>
                            </a:solidFill>
                            <a:latin typeface="Cambria Math" panose="02040503050406030204" pitchFamily="18" charset="0"/>
                            <a:ea typeface="Cambria Math" panose="02040503050406030204" pitchFamily="18" charset="0"/>
                          </a:rPr>
                        </m:ctrlPr>
                      </m:radPr>
                      <m:deg/>
                      <m:e>
                        <m:r>
                          <a:rPr lang="en-US" sz="2300" i="1">
                            <a:solidFill>
                              <a:srgbClr val="115981"/>
                            </a:solidFill>
                            <a:latin typeface="Cambria Math" panose="02040503050406030204" pitchFamily="18" charset="0"/>
                            <a:ea typeface="Cambria Math" panose="02040503050406030204" pitchFamily="18" charset="0"/>
                          </a:rPr>
                          <m:t>𝑛</m:t>
                        </m:r>
                        <m:r>
                          <a:rPr lang="en-US" sz="2300" i="1">
                            <a:solidFill>
                              <a:srgbClr val="115981"/>
                            </a:solidFill>
                            <a:latin typeface="Cambria Math" panose="02040503050406030204" pitchFamily="18" charset="0"/>
                            <a:ea typeface="Cambria Math" panose="02040503050406030204" pitchFamily="18" charset="0"/>
                          </a:rPr>
                          <m:t>∗</m:t>
                        </m:r>
                        <m:r>
                          <a:rPr lang="en-US" sz="2300" i="1">
                            <a:solidFill>
                              <a:srgbClr val="115981"/>
                            </a:solidFill>
                            <a:latin typeface="Cambria Math" panose="02040503050406030204" pitchFamily="18" charset="0"/>
                            <a:ea typeface="Cambria Math" panose="02040503050406030204" pitchFamily="18" charset="0"/>
                          </a:rPr>
                          <m:t>𝑝</m:t>
                        </m:r>
                        <m:r>
                          <a:rPr lang="en-US" sz="2300" i="1">
                            <a:solidFill>
                              <a:srgbClr val="115981"/>
                            </a:solidFill>
                            <a:latin typeface="Cambria Math" panose="02040503050406030204" pitchFamily="18" charset="0"/>
                            <a:ea typeface="Cambria Math" panose="02040503050406030204" pitchFamily="18" charset="0"/>
                          </a:rPr>
                          <m:t>∗</m:t>
                        </m:r>
                        <m:r>
                          <a:rPr lang="en-US" sz="2300" i="1">
                            <a:solidFill>
                              <a:srgbClr val="115981"/>
                            </a:solidFill>
                            <a:latin typeface="Cambria Math" panose="02040503050406030204" pitchFamily="18" charset="0"/>
                            <a:ea typeface="Cambria Math" panose="02040503050406030204" pitchFamily="18" charset="0"/>
                          </a:rPr>
                          <m:t>𝑞</m:t>
                        </m:r>
                      </m:e>
                    </m:rad>
                    <m:r>
                      <a:rPr lang="en-US" sz="2300" i="1">
                        <a:solidFill>
                          <a:srgbClr val="115981"/>
                        </a:solidFill>
                        <a:latin typeface="Cambria Math" panose="02040503050406030204" pitchFamily="18" charset="0"/>
                        <a:ea typeface="Cambria Math" panose="02040503050406030204" pitchFamily="18" charset="0"/>
                      </a:rPr>
                      <m:t>=</m:t>
                    </m:r>
                    <m:rad>
                      <m:radPr>
                        <m:degHide m:val="on"/>
                        <m:ctrlPr>
                          <a:rPr lang="en-US" sz="2300" i="1">
                            <a:solidFill>
                              <a:srgbClr val="115981"/>
                            </a:solidFill>
                            <a:latin typeface="Cambria Math" panose="02040503050406030204" pitchFamily="18" charset="0"/>
                            <a:ea typeface="Cambria Math" panose="02040503050406030204" pitchFamily="18" charset="0"/>
                          </a:rPr>
                        </m:ctrlPr>
                      </m:radPr>
                      <m:deg/>
                      <m:e>
                        <m:r>
                          <a:rPr lang="en-US" sz="2300" b="0" i="1" smtClean="0">
                            <a:solidFill>
                              <a:srgbClr val="115981"/>
                            </a:solidFill>
                            <a:latin typeface="Cambria Math" panose="02040503050406030204" pitchFamily="18" charset="0"/>
                            <a:ea typeface="Cambria Math" panose="02040503050406030204" pitchFamily="18" charset="0"/>
                          </a:rPr>
                          <m:t>230</m:t>
                        </m:r>
                        <m:r>
                          <a:rPr lang="en-US" sz="2300" i="1">
                            <a:solidFill>
                              <a:srgbClr val="115981"/>
                            </a:solidFill>
                            <a:latin typeface="Cambria Math" panose="02040503050406030204" pitchFamily="18" charset="0"/>
                            <a:ea typeface="Cambria Math" panose="02040503050406030204" pitchFamily="18" charset="0"/>
                          </a:rPr>
                          <m:t>∗0.</m:t>
                        </m:r>
                        <m:r>
                          <a:rPr lang="en-US" sz="2300" b="0" i="1" smtClean="0">
                            <a:solidFill>
                              <a:srgbClr val="115981"/>
                            </a:solidFill>
                            <a:latin typeface="Cambria Math" panose="02040503050406030204" pitchFamily="18" charset="0"/>
                            <a:ea typeface="Cambria Math" panose="02040503050406030204" pitchFamily="18" charset="0"/>
                          </a:rPr>
                          <m:t>0263158</m:t>
                        </m:r>
                        <m:r>
                          <a:rPr lang="en-US" sz="2300" i="1">
                            <a:solidFill>
                              <a:srgbClr val="115981"/>
                            </a:solidFill>
                            <a:latin typeface="Cambria Math" panose="02040503050406030204" pitchFamily="18" charset="0"/>
                            <a:ea typeface="Cambria Math" panose="02040503050406030204" pitchFamily="18" charset="0"/>
                          </a:rPr>
                          <m:t>∗0.</m:t>
                        </m:r>
                        <m:r>
                          <a:rPr lang="en-US" sz="2300" b="0" i="1" smtClean="0">
                            <a:solidFill>
                              <a:srgbClr val="115981"/>
                            </a:solidFill>
                            <a:latin typeface="Cambria Math" panose="02040503050406030204" pitchFamily="18" charset="0"/>
                            <a:ea typeface="Cambria Math" panose="02040503050406030204" pitchFamily="18" charset="0"/>
                          </a:rPr>
                          <m:t>9736842</m:t>
                        </m:r>
                      </m:e>
                    </m:rad>
                    <m:r>
                      <a:rPr lang="en-US" sz="2300" i="1" smtClean="0">
                        <a:solidFill>
                          <a:srgbClr val="115981"/>
                        </a:solidFill>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2.4</m:t>
                    </m:r>
                  </m:oMath>
                </a14:m>
                <a:endParaRPr lang="en-US" sz="2300" dirty="0">
                  <a:solidFill>
                    <a:srgbClr val="FF0000"/>
                  </a:solidFill>
                  <a:latin typeface="Vani" panose="020B0502040204020203" pitchFamily="34" charset="0"/>
                  <a:cs typeface="Vani" panose="020B0502040204020203" pitchFamily="34" charset="0"/>
                </a:endParaRPr>
              </a:p>
              <a:p>
                <a:pPr lvl="0">
                  <a:lnSpc>
                    <a:spcPct val="150000"/>
                  </a:lnSpc>
                </a:pPr>
                <a:r>
                  <a:rPr lang="en-US" sz="2300" dirty="0">
                    <a:solidFill>
                      <a:srgbClr val="115981"/>
                    </a:solidFill>
                    <a:latin typeface="Vani" panose="020B0502040204020203" pitchFamily="34" charset="0"/>
                    <a:cs typeface="Vani" panose="020B0502040204020203" pitchFamily="34" charset="0"/>
                  </a:rPr>
                  <a:t>(b.)	Would </a:t>
                </a:r>
                <a14:m>
                  <m:oMath xmlns:m="http://schemas.openxmlformats.org/officeDocument/2006/math">
                    <m:r>
                      <a:rPr lang="en-US" sz="2300" i="1" dirty="0" smtClean="0">
                        <a:solidFill>
                          <a:srgbClr val="115981"/>
                        </a:solidFill>
                        <a:latin typeface="Cambria Math" panose="02040503050406030204" pitchFamily="18" charset="0"/>
                        <a:cs typeface="Vani" panose="020B0502040204020203" pitchFamily="34" charset="0"/>
                      </a:rPr>
                      <m:t>0</m:t>
                    </m:r>
                  </m:oMath>
                </a14:m>
                <a:r>
                  <a:rPr lang="en-US" sz="2300" dirty="0" smtClean="0">
                    <a:solidFill>
                      <a:srgbClr val="115981"/>
                    </a:solidFill>
                    <a:latin typeface="Vani" panose="020B0502040204020203" pitchFamily="34" charset="0"/>
                    <a:cs typeface="Vani" panose="020B0502040204020203" pitchFamily="34" charset="0"/>
                  </a:rPr>
                  <a:t> wins in </a:t>
                </a:r>
                <a14:m>
                  <m:oMath xmlns:m="http://schemas.openxmlformats.org/officeDocument/2006/math">
                    <m:r>
                      <a:rPr lang="en-US" sz="2300" i="1" dirty="0" smtClean="0">
                        <a:solidFill>
                          <a:srgbClr val="115981"/>
                        </a:solidFill>
                        <a:latin typeface="Cambria Math" panose="02040503050406030204" pitchFamily="18" charset="0"/>
                        <a:cs typeface="Vani" panose="020B0502040204020203" pitchFamily="34" charset="0"/>
                      </a:rPr>
                      <m:t>230</m:t>
                    </m:r>
                  </m:oMath>
                </a14:m>
                <a:r>
                  <a:rPr lang="en-US" sz="2300" dirty="0" smtClean="0">
                    <a:solidFill>
                      <a:srgbClr val="115981"/>
                    </a:solidFill>
                    <a:latin typeface="Vani" panose="020B0502040204020203" pitchFamily="34" charset="0"/>
                    <a:cs typeface="Vani" panose="020B0502040204020203" pitchFamily="34" charset="0"/>
                  </a:rPr>
                  <a:t> bets be an unusually low number of wins?</a:t>
                </a:r>
                <a:endParaRPr lang="en-US" sz="2300" dirty="0">
                  <a:solidFill>
                    <a:srgbClr val="115981"/>
                  </a:solidFill>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b="-119"/>
                </a:stretch>
              </a:blipFill>
            </p:spPr>
            <p:txBody>
              <a:bodyPr/>
              <a:lstStyle/>
              <a:p>
                <a:r>
                  <a:rPr lang="en-US">
                    <a:noFill/>
                  </a:rPr>
                  <a:t> </a:t>
                </a:r>
              </a:p>
            </p:txBody>
          </p:sp>
        </mc:Fallback>
      </mc:AlternateContent>
    </p:spTree>
    <p:extLst>
      <p:ext uri="{BB962C8B-B14F-4D97-AF65-F5344CB8AC3E}">
        <p14:creationId xmlns:p14="http://schemas.microsoft.com/office/powerpoint/2010/main" val="153605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11-2</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14:m>
                  <m:oMath xmlns:m="http://schemas.openxmlformats.org/officeDocument/2006/math">
                    <m:r>
                      <a:rPr lang="en-US" sz="2300" i="1" smtClean="0">
                        <a:solidFill>
                          <a:srgbClr val="115981"/>
                        </a:solidFill>
                        <a:latin typeface="Cambria Math" panose="02040503050406030204" pitchFamily="18" charset="0"/>
                        <a:cs typeface="Vani" panose="020B0502040204020203" pitchFamily="34" charset="0"/>
                      </a:rPr>
                      <m:t>𝑀𝑎𝑥𝑖𝑚𝑢𝑚</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𝑈𝑠𝑢𝑎𝑙</m:t>
                    </m:r>
                    <m:r>
                      <a:rPr lang="en-US" sz="2300" i="1" smtClean="0">
                        <a:solidFill>
                          <a:srgbClr val="115981"/>
                        </a:solidFill>
                        <a:latin typeface="Cambria Math" panose="02040503050406030204" pitchFamily="18" charset="0"/>
                        <a:cs typeface="Vani" panose="020B0502040204020203" pitchFamily="34" charset="0"/>
                      </a:rPr>
                      <m:t> </m:t>
                    </m:r>
                    <m:r>
                      <a:rPr lang="en-US" sz="2300" i="1" smtClean="0">
                        <a:solidFill>
                          <a:srgbClr val="115981"/>
                        </a:solidFill>
                        <a:latin typeface="Cambria Math" panose="02040503050406030204" pitchFamily="18" charset="0"/>
                        <a:cs typeface="Vani" panose="020B0502040204020203" pitchFamily="34" charset="0"/>
                      </a:rPr>
                      <m:t>𝑉𝑎𝑙𝑢𝑒</m:t>
                    </m:r>
                    <m:r>
                      <a:rPr lang="en-US" sz="2300" i="1" smtClean="0">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=6.1+2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2.4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6.1+4.8=10.9</m:t>
                    </m:r>
                  </m:oMath>
                </a14:m>
                <a:endParaRPr lang="en-US" sz="2300" dirty="0">
                  <a:solidFill>
                    <a:srgbClr val="115981"/>
                  </a:solidFill>
                  <a:latin typeface="Vani" panose="020B0502040204020203" pitchFamily="34" charset="0"/>
                  <a:ea typeface="Cambria Math" panose="02040503050406030204" pitchFamily="18" charset="0"/>
                  <a:cs typeface="Vani" panose="020B0502040204020203" pitchFamily="34" charset="0"/>
                </a:endParaRP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𝑀𝑖𝑛𝑖𝑚𝑢𝑚</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𝑈𝑠𝑢𝑎𝑙</m:t>
                    </m:r>
                    <m:r>
                      <a:rPr lang="en-US" sz="2300" i="1">
                        <a:solidFill>
                          <a:srgbClr val="115981"/>
                        </a:solidFill>
                        <a:latin typeface="Cambria Math" panose="02040503050406030204" pitchFamily="18" charset="0"/>
                        <a:cs typeface="Vani" panose="020B0502040204020203" pitchFamily="34" charset="0"/>
                      </a:rPr>
                      <m:t> </m:t>
                    </m:r>
                    <m:r>
                      <a:rPr lang="en-US" sz="2300" i="1">
                        <a:solidFill>
                          <a:srgbClr val="115981"/>
                        </a:solidFill>
                        <a:latin typeface="Cambria Math" panose="02040503050406030204" pitchFamily="18" charset="0"/>
                        <a:cs typeface="Vani" panose="020B0502040204020203" pitchFamily="34" charset="0"/>
                      </a:rPr>
                      <m:t>𝑉𝑎𝑙𝑢𝑒</m:t>
                    </m:r>
                    <m:r>
                      <a:rPr lang="en-US" sz="2300" i="1">
                        <a:solidFill>
                          <a:srgbClr val="115981"/>
                        </a:solidFill>
                        <a:latin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𝜇</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𝜎</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=6.1−2</m:t>
                    </m:r>
                    <m:d>
                      <m:dPr>
                        <m:ctrlP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ctrlPr>
                      </m:dPr>
                      <m:e>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2.4</m:t>
                        </m:r>
                      </m:e>
                    </m:d>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6.1</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m:t>
                    </m:r>
                    <m:r>
                      <a:rPr lang="en-US" sz="2300" i="1">
                        <a:solidFill>
                          <a:srgbClr val="115981"/>
                        </a:solidFill>
                        <a:latin typeface="Cambria Math" panose="02040503050406030204" pitchFamily="18" charset="0"/>
                        <a:ea typeface="Cambria Math" panose="02040503050406030204" pitchFamily="18" charset="0"/>
                        <a:cs typeface="Vani" panose="020B0502040204020203" pitchFamily="34" charset="0"/>
                      </a:rPr>
                      <m:t>4.8=1</m:t>
                    </m:r>
                    <m:r>
                      <a:rPr lang="en-US" sz="2300" b="0" i="1" smtClean="0">
                        <a:solidFill>
                          <a:srgbClr val="115981"/>
                        </a:solidFill>
                        <a:latin typeface="Cambria Math" panose="02040503050406030204" pitchFamily="18" charset="0"/>
                        <a:ea typeface="Cambria Math" panose="02040503050406030204" pitchFamily="18" charset="0"/>
                        <a:cs typeface="Vani" panose="020B0502040204020203" pitchFamily="34" charset="0"/>
                      </a:rPr>
                      <m:t>.3</m:t>
                    </m:r>
                  </m:oMath>
                </a14:m>
                <a:endParaRPr lang="en-US" sz="2300" dirty="0">
                  <a:solidFill>
                    <a:srgbClr val="115981"/>
                  </a:solidFill>
                  <a:latin typeface="Vani" panose="020B0502040204020203" pitchFamily="34" charset="0"/>
                  <a:cs typeface="Vani" panose="020B0502040204020203" pitchFamily="34" charset="0"/>
                </a:endParaRPr>
              </a:p>
              <a:p>
                <a:pPr lvl="0">
                  <a:lnSpc>
                    <a:spcPct val="150000"/>
                  </a:lnSpc>
                </a:pPr>
                <a14:m>
                  <m:oMath xmlns:m="http://schemas.openxmlformats.org/officeDocument/2006/math">
                    <m:r>
                      <a:rPr lang="en-US" sz="2300" b="0" i="1" smtClean="0">
                        <a:solidFill>
                          <a:srgbClr val="FF0000"/>
                        </a:solidFill>
                        <a:latin typeface="Cambria Math" panose="02040503050406030204" pitchFamily="18" charset="0"/>
                        <a:cs typeface="Vani" panose="020B0502040204020203" pitchFamily="34" charset="0"/>
                      </a:rPr>
                      <m:t>0</m:t>
                    </m:r>
                    <m:r>
                      <a:rPr lang="en-US" sz="2300" i="1">
                        <a:solidFill>
                          <a:srgbClr val="FF0000"/>
                        </a:solidFill>
                        <a:latin typeface="Cambria Math" panose="02040503050406030204" pitchFamily="18" charset="0"/>
                        <a:cs typeface="Vani" panose="020B0502040204020203" pitchFamily="34" charset="0"/>
                      </a:rPr>
                      <m:t> </m:t>
                    </m:r>
                    <m:r>
                      <a:rPr lang="en-US" sz="2300" i="1">
                        <a:solidFill>
                          <a:srgbClr val="FF0000"/>
                        </a:solidFill>
                        <a:latin typeface="Cambria Math" panose="02040503050406030204" pitchFamily="18" charset="0"/>
                        <a:ea typeface="Cambria Math" panose="02040503050406030204" pitchFamily="18" charset="0"/>
                        <a:cs typeface="Vani" panose="020B0502040204020203" pitchFamily="34" charset="0"/>
                      </a:rPr>
                      <m:t>&lt;</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1.3</m:t>
                    </m:r>
                  </m:oMath>
                </a14:m>
                <a:r>
                  <a:rPr lang="en-US" sz="2300" dirty="0">
                    <a:solidFill>
                      <a:srgbClr val="FF0000"/>
                    </a:solidFill>
                    <a:latin typeface="Vani" panose="020B0502040204020203" pitchFamily="34" charset="0"/>
                    <a:cs typeface="Vani" panose="020B0502040204020203" pitchFamily="34" charset="0"/>
                  </a:rPr>
                  <a:t>. </a:t>
                </a:r>
                <a:r>
                  <a:rPr lang="en-US" sz="2300" dirty="0">
                    <a:solidFill>
                      <a:srgbClr val="FF0000"/>
                    </a:solidFill>
                    <a:latin typeface="Vani" panose="020B0502040204020203" pitchFamily="34" charset="0"/>
                    <a:cs typeface="Vani" panose="020B0502040204020203" pitchFamily="34" charset="0"/>
                  </a:rPr>
                  <a:t>Hence, the result is unusual</a:t>
                </a:r>
                <a:r>
                  <a:rPr lang="en-US" sz="2300" dirty="0" smtClean="0">
                    <a:solidFill>
                      <a:srgbClr val="FF0000"/>
                    </a:solidFill>
                    <a:latin typeface="Vani" panose="020B0502040204020203" pitchFamily="34" charset="0"/>
                    <a:cs typeface="Vani" panose="020B0502040204020203" pitchFamily="34" charset="0"/>
                  </a:rPr>
                  <a:t>.</a:t>
                </a:r>
              </a:p>
              <a:p>
                <a:pPr lvl="0">
                  <a:lnSpc>
                    <a:spcPct val="150000"/>
                  </a:lnSpc>
                </a:pPr>
                <a:r>
                  <a:rPr lang="en-US" sz="2300" dirty="0" smtClean="0">
                    <a:solidFill>
                      <a:srgbClr val="FF0000"/>
                    </a:solidFill>
                    <a:latin typeface="Vani" panose="020B0502040204020203" pitchFamily="34" charset="0"/>
                    <a:cs typeface="Vani" panose="020B0502040204020203" pitchFamily="34" charset="0"/>
                  </a:rPr>
                  <a:t>It is unusual to have no wins in 230 bets. (:- </a:t>
                </a:r>
                <a:endParaRPr lang="en-US" sz="2300" dirty="0">
                  <a:solidFill>
                    <a:srgbClr val="FF0000"/>
                  </a:solidFill>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414774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12-1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(12.)</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1,000,000 radioactive atoms of a radioactive element decayed to 974,228 atoms </a:t>
                </a:r>
                <a:r>
                  <a:rPr lang="en-US" sz="2300" dirty="0" smtClean="0">
                    <a:latin typeface="Vani" panose="020B0502040204020203" pitchFamily="34" charset="0"/>
                    <a:cs typeface="Vani" panose="020B0502040204020203" pitchFamily="34" charset="0"/>
                  </a:rPr>
                  <a:t>in a year</a:t>
                </a:r>
                <a:r>
                  <a:rPr lang="en-US" sz="2300" dirty="0" smtClean="0">
                    <a:latin typeface="Vani" panose="020B0502040204020203" pitchFamily="34" charset="0"/>
                    <a:cs typeface="Vani" panose="020B0502040204020203" pitchFamily="34" charset="0"/>
                  </a:rPr>
                  <a:t>. Assume 365 days in a year.</a:t>
                </a:r>
              </a:p>
              <a:p>
                <a:pPr>
                  <a:lnSpc>
                    <a:spcPct val="150000"/>
                  </a:lnSpc>
                </a:pPr>
                <a:r>
                  <a:rPr lang="en-US" sz="2300" dirty="0" smtClean="0">
                    <a:latin typeface="Vani" panose="020B0502040204020203" pitchFamily="34" charset="0"/>
                    <a:cs typeface="Vani" panose="020B0502040204020203" pitchFamily="34" charset="0"/>
                  </a:rPr>
                  <a:t>(a.)	Calculate the mean number of radioactive atoms that decayed in a day. Round to 3 decimal places as needed. </a:t>
                </a:r>
              </a:p>
              <a:p>
                <a:pPr>
                  <a:lnSpc>
                    <a:spcPct val="150000"/>
                  </a:lnSpc>
                </a:pPr>
                <a14:m>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𝑁</m:t>
                        </m:r>
                      </m:e>
                      <m:sub>
                        <m:r>
                          <a:rPr lang="en-US" sz="2300" b="0" i="1" smtClean="0">
                            <a:latin typeface="Cambria Math" panose="02040503050406030204" pitchFamily="18" charset="0"/>
                          </a:rPr>
                          <m:t>𝑜</m:t>
                        </m:r>
                      </m:sub>
                    </m:sSub>
                    <m:r>
                      <a:rPr lang="en-US" sz="2300" b="0" i="1" smtClean="0">
                        <a:latin typeface="Cambria Math" panose="02040503050406030204" pitchFamily="18" charset="0"/>
                      </a:rPr>
                      <m:t>=</m:t>
                    </m:r>
                    <m:r>
                      <a:rPr lang="en-US" sz="2300" b="0" i="1" smtClean="0">
                        <a:latin typeface="Cambria Math" panose="02040503050406030204" pitchFamily="18" charset="0"/>
                      </a:rPr>
                      <m:t>𝑜𝑟𝑖𝑔𝑖𝑛𝑎𝑙</m:t>
                    </m:r>
                    <m:r>
                      <a:rPr lang="en-US" sz="2300" b="0" i="1" smtClean="0">
                        <a:latin typeface="Cambria Math" panose="02040503050406030204" pitchFamily="18" charset="0"/>
                      </a:rPr>
                      <m:t> </m:t>
                    </m:r>
                    <m:r>
                      <a:rPr lang="en-US" sz="2300" b="0" i="1" smtClean="0">
                        <a:latin typeface="Cambria Math" panose="02040503050406030204" pitchFamily="18" charset="0"/>
                      </a:rPr>
                      <m:t>𝑛𝑢𝑚𝑏𝑒𝑟</m:t>
                    </m:r>
                    <m:r>
                      <a:rPr lang="en-US" sz="2300" b="0" i="1" smtClean="0">
                        <a:latin typeface="Cambria Math" panose="02040503050406030204" pitchFamily="18" charset="0"/>
                      </a:rPr>
                      <m:t> </m:t>
                    </m:r>
                    <m:r>
                      <a:rPr lang="en-US" sz="2300" b="0" i="1" smtClean="0">
                        <a:latin typeface="Cambria Math" panose="02040503050406030204" pitchFamily="18" charset="0"/>
                      </a:rPr>
                      <m:t>𝑜𝑓</m:t>
                    </m:r>
                    <m:r>
                      <a:rPr lang="en-US" sz="2300" b="0" i="1" smtClean="0">
                        <a:latin typeface="Cambria Math" panose="02040503050406030204" pitchFamily="18" charset="0"/>
                      </a:rPr>
                      <m:t> </m:t>
                    </m:r>
                    <m:r>
                      <a:rPr lang="en-US" sz="2300" b="0" i="1" smtClean="0">
                        <a:latin typeface="Cambria Math" panose="02040503050406030204" pitchFamily="18" charset="0"/>
                      </a:rPr>
                      <m:t>𝑎𝑡𝑜𝑚𝑠</m:t>
                    </m:r>
                    <m:r>
                      <a:rPr lang="en-US" sz="2300" b="0" i="1" smtClean="0">
                        <a:latin typeface="Cambria Math" panose="02040503050406030204" pitchFamily="18" charset="0"/>
                      </a:rPr>
                      <m:t> </m:t>
                    </m:r>
                    <m:r>
                      <a:rPr lang="en-US" sz="2300" b="0" i="1" smtClean="0">
                        <a:latin typeface="Cambria Math" panose="02040503050406030204" pitchFamily="18" charset="0"/>
                      </a:rPr>
                      <m:t>𝑝𝑟𝑒𝑠𝑒𝑛𝑡</m:t>
                    </m:r>
                    <m:r>
                      <a:rPr lang="en-US" sz="2300" b="0" i="1" smtClean="0">
                        <a:latin typeface="Cambria Math" panose="02040503050406030204" pitchFamily="18" charset="0"/>
                      </a:rPr>
                      <m:t> </m:t>
                    </m:r>
                    <m:r>
                      <a:rPr lang="en-US" sz="2300" b="0" i="1" smtClean="0">
                        <a:latin typeface="Cambria Math" panose="02040503050406030204" pitchFamily="18" charset="0"/>
                      </a:rPr>
                      <m:t>𝑖𝑛</m:t>
                    </m:r>
                    <m:r>
                      <a:rPr lang="en-US" sz="2300" b="0" i="1" smtClean="0">
                        <a:latin typeface="Cambria Math" panose="02040503050406030204" pitchFamily="18" charset="0"/>
                      </a:rPr>
                      <m:t> </m:t>
                    </m:r>
                    <m:r>
                      <a:rPr lang="en-US" sz="2300" b="0" i="1" smtClean="0">
                        <a:latin typeface="Cambria Math" panose="02040503050406030204" pitchFamily="18" charset="0"/>
                      </a:rPr>
                      <m:t>𝑡h𝑒</m:t>
                    </m:r>
                    <m:r>
                      <a:rPr lang="en-US" sz="2300" b="0" i="1" smtClean="0">
                        <a:latin typeface="Cambria Math" panose="02040503050406030204" pitchFamily="18" charset="0"/>
                      </a:rPr>
                      <m:t> </m:t>
                    </m:r>
                    <m:r>
                      <a:rPr lang="en-US" sz="2300" b="0" i="1" smtClean="0">
                        <a:latin typeface="Cambria Math" panose="02040503050406030204" pitchFamily="18" charset="0"/>
                      </a:rPr>
                      <m:t>𝑟𝑎𝑑𝑖𝑜𝑎𝑐𝑡𝑖𝑣𝑒</m:t>
                    </m:r>
                    <m:r>
                      <a:rPr lang="en-US" sz="2300" b="0" i="1" smtClean="0">
                        <a:latin typeface="Cambria Math" panose="02040503050406030204" pitchFamily="18" charset="0"/>
                      </a:rPr>
                      <m:t> </m:t>
                    </m:r>
                    <m:r>
                      <a:rPr lang="en-US" sz="2300" b="0" i="1" smtClean="0">
                        <a:latin typeface="Cambria Math" panose="02040503050406030204" pitchFamily="18" charset="0"/>
                      </a:rPr>
                      <m:t>𝑒𝑙𝑒𝑚𝑒𝑛𝑡</m:t>
                    </m:r>
                  </m:oMath>
                </a14:m>
                <a:endParaRPr lang="en-US" sz="2300" b="0" dirty="0" smtClean="0">
                  <a:latin typeface="Vani" panose="020B0502040204020203" pitchFamily="34" charset="0"/>
                </a:endParaRPr>
              </a:p>
              <a:p>
                <a:pPr>
                  <a:lnSpc>
                    <a:spcPct val="150000"/>
                  </a:lnSpc>
                </a:pPr>
                <a14:m>
                  <m:oMath xmlns:m="http://schemas.openxmlformats.org/officeDocument/2006/math">
                    <m:sSub>
                      <m:sSubPr>
                        <m:ctrlPr>
                          <a:rPr lang="en-US" sz="2300" i="1">
                            <a:latin typeface="Cambria Math" panose="02040503050406030204" pitchFamily="18" charset="0"/>
                          </a:rPr>
                        </m:ctrlPr>
                      </m:sSubPr>
                      <m:e>
                        <m:r>
                          <a:rPr lang="en-US" sz="2300" i="1">
                            <a:latin typeface="Cambria Math" panose="02040503050406030204" pitchFamily="18" charset="0"/>
                          </a:rPr>
                          <m:t>𝑁</m:t>
                        </m:r>
                      </m:e>
                      <m:sub>
                        <m:r>
                          <a:rPr lang="en-US" sz="2300" b="0" i="1" smtClean="0">
                            <a:latin typeface="Cambria Math" panose="02040503050406030204" pitchFamily="18" charset="0"/>
                          </a:rPr>
                          <m:t>𝑟</m:t>
                        </m:r>
                      </m:sub>
                    </m:sSub>
                    <m:r>
                      <a:rPr lang="en-US" sz="2300" i="1">
                        <a:latin typeface="Cambria Math" panose="02040503050406030204" pitchFamily="18" charset="0"/>
                      </a:rPr>
                      <m:t>=</m:t>
                    </m:r>
                    <m:r>
                      <a:rPr lang="en-US" sz="2300" i="1">
                        <a:latin typeface="Cambria Math" panose="02040503050406030204" pitchFamily="18" charset="0"/>
                      </a:rPr>
                      <m:t>𝑛𝑢𝑚𝑏𝑒𝑟</m:t>
                    </m:r>
                    <m:r>
                      <a:rPr lang="en-US" sz="2300" i="1">
                        <a:latin typeface="Cambria Math" panose="02040503050406030204" pitchFamily="18" charset="0"/>
                      </a:rPr>
                      <m:t> </m:t>
                    </m:r>
                    <m:r>
                      <a:rPr lang="en-US" sz="2300" i="1">
                        <a:latin typeface="Cambria Math" panose="02040503050406030204" pitchFamily="18" charset="0"/>
                      </a:rPr>
                      <m:t>𝑜𝑓</m:t>
                    </m:r>
                    <m:r>
                      <a:rPr lang="en-US" sz="2300" i="1">
                        <a:latin typeface="Cambria Math" panose="02040503050406030204" pitchFamily="18" charset="0"/>
                      </a:rPr>
                      <m:t> </m:t>
                    </m:r>
                    <m:r>
                      <a:rPr lang="en-US" sz="2300" i="1">
                        <a:latin typeface="Cambria Math" panose="02040503050406030204" pitchFamily="18" charset="0"/>
                      </a:rPr>
                      <m:t>𝑎𝑡𝑜𝑚𝑠</m:t>
                    </m:r>
                    <m:r>
                      <a:rPr lang="en-US" sz="2300" i="1">
                        <a:latin typeface="Cambria Math" panose="02040503050406030204" pitchFamily="18" charset="0"/>
                      </a:rPr>
                      <m:t> </m:t>
                    </m:r>
                    <m:r>
                      <a:rPr lang="en-US" sz="2300" b="0" i="1" smtClean="0">
                        <a:latin typeface="Cambria Math" panose="02040503050406030204" pitchFamily="18" charset="0"/>
                      </a:rPr>
                      <m:t>𝑟𝑒𝑚𝑎𝑖𝑛𝑖𝑛𝑔</m:t>
                    </m:r>
                    <m:r>
                      <a:rPr lang="en-US" sz="2300" i="1">
                        <a:latin typeface="Cambria Math" panose="02040503050406030204" pitchFamily="18" charset="0"/>
                      </a:rPr>
                      <m:t> </m:t>
                    </m:r>
                    <m:r>
                      <a:rPr lang="en-US" sz="2300" i="1">
                        <a:latin typeface="Cambria Math" panose="02040503050406030204" pitchFamily="18" charset="0"/>
                      </a:rPr>
                      <m:t>𝑖𝑛</m:t>
                    </m:r>
                    <m:r>
                      <a:rPr lang="en-US" sz="2300" i="1">
                        <a:latin typeface="Cambria Math" panose="02040503050406030204" pitchFamily="18" charset="0"/>
                      </a:rPr>
                      <m:t> </m:t>
                    </m:r>
                    <m:r>
                      <a:rPr lang="en-US" sz="2300" i="1">
                        <a:latin typeface="Cambria Math" panose="02040503050406030204" pitchFamily="18" charset="0"/>
                      </a:rPr>
                      <m:t>𝑡h𝑒</m:t>
                    </m:r>
                    <m:r>
                      <a:rPr lang="en-US" sz="2300" i="1">
                        <a:latin typeface="Cambria Math" panose="02040503050406030204" pitchFamily="18" charset="0"/>
                      </a:rPr>
                      <m:t> </m:t>
                    </m:r>
                    <m:r>
                      <a:rPr lang="en-US" sz="2300" i="1">
                        <a:latin typeface="Cambria Math" panose="02040503050406030204" pitchFamily="18" charset="0"/>
                      </a:rPr>
                      <m:t>𝑟𝑎𝑑𝑖𝑜𝑎𝑐𝑡𝑖𝑣𝑒</m:t>
                    </m:r>
                    <m:r>
                      <a:rPr lang="en-US" sz="2300" i="1">
                        <a:latin typeface="Cambria Math" panose="02040503050406030204" pitchFamily="18" charset="0"/>
                      </a:rPr>
                      <m:t> </m:t>
                    </m:r>
                    <m:r>
                      <a:rPr lang="en-US" sz="2300" i="1">
                        <a:latin typeface="Cambria Math" panose="02040503050406030204" pitchFamily="18" charset="0"/>
                      </a:rPr>
                      <m:t>𝑒𝑙𝑒𝑚𝑒𝑛𝑡</m:t>
                    </m:r>
                    <m:r>
                      <a:rPr lang="en-US" sz="2300" b="0" i="1" smtClean="0">
                        <a:latin typeface="Cambria Math" panose="02040503050406030204" pitchFamily="18" charset="0"/>
                      </a:rPr>
                      <m:t> </m:t>
                    </m:r>
                    <m:r>
                      <a:rPr lang="en-US" sz="2300" b="0" i="1" smtClean="0">
                        <a:latin typeface="Cambria Math" panose="02040503050406030204" pitchFamily="18" charset="0"/>
                      </a:rPr>
                      <m:t>𝑎𝑓𝑡𝑒𝑟</m:t>
                    </m:r>
                    <m:r>
                      <a:rPr lang="en-US" sz="2300" b="0" i="1" smtClean="0">
                        <a:latin typeface="Cambria Math" panose="02040503050406030204" pitchFamily="18" charset="0"/>
                      </a:rPr>
                      <m:t> </m:t>
                    </m:r>
                    <m:r>
                      <a:rPr lang="en-US" sz="2300" b="0" i="1" smtClean="0">
                        <a:latin typeface="Cambria Math" panose="02040503050406030204" pitchFamily="18" charset="0"/>
                      </a:rPr>
                      <m:t>𝑠𝑜𝑚𝑒</m:t>
                    </m:r>
                    <m:r>
                      <a:rPr lang="en-US" sz="2300" b="0" i="1" smtClean="0">
                        <a:latin typeface="Cambria Math" panose="02040503050406030204" pitchFamily="18" charset="0"/>
                      </a:rPr>
                      <m:t> </m:t>
                    </m:r>
                    <m:r>
                      <a:rPr lang="en-US" sz="2300" b="0" i="1" smtClean="0">
                        <a:latin typeface="Cambria Math" panose="02040503050406030204" pitchFamily="18" charset="0"/>
                      </a:rPr>
                      <m:t>𝑡𝑖𝑚𝑒</m:t>
                    </m:r>
                    <m:r>
                      <a:rPr lang="en-US" sz="2300" b="0" i="1" smtClean="0">
                        <a:latin typeface="Cambria Math" panose="02040503050406030204" pitchFamily="18" charset="0"/>
                      </a:rPr>
                      <m:t>, </m:t>
                    </m:r>
                    <m:r>
                      <a:rPr lang="en-US" sz="2300" b="0" i="1" smtClean="0">
                        <a:latin typeface="Cambria Math" panose="02040503050406030204" pitchFamily="18" charset="0"/>
                      </a:rPr>
                      <m:t>𝑡</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sSub>
                      <m:sSubPr>
                        <m:ctrlPr>
                          <a:rPr lang="en-US" sz="2300" i="1">
                            <a:latin typeface="Cambria Math" panose="02040503050406030204" pitchFamily="18" charset="0"/>
                          </a:rPr>
                        </m:ctrlPr>
                      </m:sSubPr>
                      <m:e>
                        <m:r>
                          <a:rPr lang="en-US" sz="2300" i="1">
                            <a:latin typeface="Cambria Math" panose="02040503050406030204" pitchFamily="18" charset="0"/>
                          </a:rPr>
                          <m:t>𝑁</m:t>
                        </m:r>
                      </m:e>
                      <m:sub>
                        <m:r>
                          <a:rPr lang="en-US" sz="2300" b="0" i="1" smtClean="0">
                            <a:latin typeface="Cambria Math" panose="02040503050406030204" pitchFamily="18" charset="0"/>
                          </a:rPr>
                          <m:t>𝑇𝐷</m:t>
                        </m:r>
                      </m:sub>
                    </m:sSub>
                    <m:r>
                      <a:rPr lang="en-US" sz="2300" i="1">
                        <a:latin typeface="Cambria Math" panose="02040503050406030204" pitchFamily="18" charset="0"/>
                      </a:rPr>
                      <m:t>=</m:t>
                    </m:r>
                    <m:r>
                      <a:rPr lang="en-US" sz="2300" b="0" i="1" smtClean="0">
                        <a:latin typeface="Cambria Math" panose="02040503050406030204" pitchFamily="18" charset="0"/>
                      </a:rPr>
                      <m:t>𝑡𝑜𝑡𝑎𝑙</m:t>
                    </m:r>
                    <m:r>
                      <a:rPr lang="en-US" sz="2300" b="0" i="1" smtClean="0">
                        <a:latin typeface="Cambria Math" panose="02040503050406030204" pitchFamily="18" charset="0"/>
                      </a:rPr>
                      <m:t> </m:t>
                    </m:r>
                    <m:r>
                      <a:rPr lang="en-US" sz="2300" i="1">
                        <a:latin typeface="Cambria Math" panose="02040503050406030204" pitchFamily="18" charset="0"/>
                      </a:rPr>
                      <m:t>𝑛𝑢𝑚𝑏𝑒𝑟</m:t>
                    </m:r>
                    <m:r>
                      <a:rPr lang="en-US" sz="2300" i="1">
                        <a:latin typeface="Cambria Math" panose="02040503050406030204" pitchFamily="18" charset="0"/>
                      </a:rPr>
                      <m:t> </m:t>
                    </m:r>
                    <m:r>
                      <a:rPr lang="en-US" sz="2300" i="1">
                        <a:latin typeface="Cambria Math" panose="02040503050406030204" pitchFamily="18" charset="0"/>
                      </a:rPr>
                      <m:t>𝑜𝑓</m:t>
                    </m:r>
                    <m:r>
                      <a:rPr lang="en-US" sz="2300" i="1">
                        <a:latin typeface="Cambria Math" panose="02040503050406030204" pitchFamily="18" charset="0"/>
                      </a:rPr>
                      <m:t> </m:t>
                    </m:r>
                    <m:r>
                      <a:rPr lang="en-US" sz="2300" i="1">
                        <a:latin typeface="Cambria Math" panose="02040503050406030204" pitchFamily="18" charset="0"/>
                      </a:rPr>
                      <m:t>𝑎𝑡𝑜𝑚𝑠</m:t>
                    </m:r>
                    <m:r>
                      <a:rPr lang="en-US" sz="2300" i="1">
                        <a:latin typeface="Cambria Math" panose="02040503050406030204" pitchFamily="18" charset="0"/>
                      </a:rPr>
                      <m:t> </m:t>
                    </m:r>
                    <m:r>
                      <a:rPr lang="en-US" sz="2300" b="0" i="1" smtClean="0">
                        <a:latin typeface="Cambria Math" panose="02040503050406030204" pitchFamily="18" charset="0"/>
                      </a:rPr>
                      <m:t>𝑡h𝑎𝑡</m:t>
                    </m:r>
                    <m:r>
                      <a:rPr lang="en-US" sz="2300" b="0" i="1" smtClean="0">
                        <a:latin typeface="Cambria Math" panose="02040503050406030204" pitchFamily="18" charset="0"/>
                      </a:rPr>
                      <m:t> </m:t>
                    </m:r>
                    <m:r>
                      <a:rPr lang="en-US" sz="2300" b="0" i="1" smtClean="0">
                        <a:latin typeface="Cambria Math" panose="02040503050406030204" pitchFamily="18" charset="0"/>
                      </a:rPr>
                      <m:t>h𝑎𝑠</m:t>
                    </m:r>
                    <m:r>
                      <a:rPr lang="en-US" sz="2300" b="0" i="1" smtClean="0">
                        <a:latin typeface="Cambria Math" panose="02040503050406030204" pitchFamily="18" charset="0"/>
                      </a:rPr>
                      <m:t> </m:t>
                    </m:r>
                    <m:r>
                      <a:rPr lang="en-US" sz="2300" b="0" i="1" smtClean="0">
                        <a:latin typeface="Cambria Math" panose="02040503050406030204" pitchFamily="18" charset="0"/>
                      </a:rPr>
                      <m:t>𝑑𝑒𝑐𝑎𝑦𝑒𝑑</m:t>
                    </m:r>
                    <m:r>
                      <a:rPr lang="en-US" sz="2300" b="0" i="1" smtClean="0">
                        <a:latin typeface="Cambria Math" panose="02040503050406030204" pitchFamily="18" charset="0"/>
                      </a:rPr>
                      <m:t> </m:t>
                    </m:r>
                    <m:r>
                      <a:rPr lang="en-US" sz="2300" b="0" i="1" smtClean="0">
                        <a:latin typeface="Cambria Math" panose="02040503050406030204" pitchFamily="18" charset="0"/>
                      </a:rPr>
                      <m:t>𝑎𝑓𝑡𝑒𝑟</m:t>
                    </m:r>
                    <m:r>
                      <a:rPr lang="en-US" sz="2300" b="0" i="1" smtClean="0">
                        <a:latin typeface="Cambria Math" panose="02040503050406030204" pitchFamily="18" charset="0"/>
                      </a:rPr>
                      <m:t> </m:t>
                    </m:r>
                    <m:r>
                      <a:rPr lang="en-US" sz="2300" b="0" i="1" smtClean="0">
                        <a:latin typeface="Cambria Math" panose="02040503050406030204" pitchFamily="18" charset="0"/>
                      </a:rPr>
                      <m:t>𝑠𝑜𝑚𝑒</m:t>
                    </m:r>
                    <m:r>
                      <a:rPr lang="en-US" sz="2300" b="0" i="1" smtClean="0">
                        <a:latin typeface="Cambria Math" panose="02040503050406030204" pitchFamily="18" charset="0"/>
                      </a:rPr>
                      <m:t> </m:t>
                    </m:r>
                    <m:r>
                      <a:rPr lang="en-US" sz="2300" b="0" i="1" smtClean="0">
                        <a:latin typeface="Cambria Math" panose="02040503050406030204" pitchFamily="18" charset="0"/>
                      </a:rPr>
                      <m:t>𝑡𝑖𝑚𝑒</m:t>
                    </m:r>
                    <m:r>
                      <a:rPr lang="en-US" sz="2300" b="0" i="1" smtClean="0">
                        <a:latin typeface="Cambria Math" panose="02040503050406030204" pitchFamily="18" charset="0"/>
                      </a:rPr>
                      <m:t>, </m:t>
                    </m:r>
                    <m:r>
                      <a:rPr lang="en-US" sz="2300" b="0" i="1" smtClean="0">
                        <a:latin typeface="Cambria Math" panose="02040503050406030204" pitchFamily="18" charset="0"/>
                      </a:rPr>
                      <m:t>𝑡</m:t>
                    </m:r>
                  </m:oMath>
                </a14:m>
                <a:endParaRPr lang="en-US" sz="2300" b="0" dirty="0" smtClean="0">
                  <a:latin typeface="Vani" panose="020B0502040204020203" pitchFamily="34" charset="0"/>
                </a:endParaRPr>
              </a:p>
              <a:p>
                <a:pPr>
                  <a:lnSpc>
                    <a:spcPct val="150000"/>
                  </a:lnSpc>
                </a:pPr>
                <a14:m>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𝑁</m:t>
                        </m:r>
                      </m:e>
                      <m:sub>
                        <m:r>
                          <a:rPr lang="en-US" sz="2300" b="0" i="1" smtClean="0">
                            <a:latin typeface="Cambria Math" panose="02040503050406030204" pitchFamily="18" charset="0"/>
                          </a:rPr>
                          <m:t>𝑜</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𝑁</m:t>
                        </m:r>
                      </m:e>
                      <m:sub>
                        <m:r>
                          <a:rPr lang="en-US" sz="2300" b="0" i="1" smtClean="0">
                            <a:latin typeface="Cambria Math" panose="02040503050406030204" pitchFamily="18" charset="0"/>
                          </a:rPr>
                          <m:t>𝑟</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𝑁</m:t>
                        </m:r>
                      </m:e>
                      <m:sub>
                        <m:r>
                          <a:rPr lang="en-US" sz="2300" b="0" i="1" smtClean="0">
                            <a:latin typeface="Cambria Math" panose="02040503050406030204" pitchFamily="18" charset="0"/>
                          </a:rPr>
                          <m:t>𝑇𝐷</m:t>
                        </m:r>
                      </m:sub>
                    </m:sSub>
                    <m:r>
                      <a:rPr lang="en-US" sz="2300" b="0" i="1" smtClean="0">
                        <a:latin typeface="Cambria Math" panose="02040503050406030204" pitchFamily="18" charset="0"/>
                        <a:ea typeface="Cambria Math" panose="02040503050406030204" pitchFamily="18" charset="0"/>
                      </a:rPr>
                      <m:t>⟹</m:t>
                    </m:r>
                    <m:sSub>
                      <m:sSubPr>
                        <m:ctrlPr>
                          <a:rPr lang="en-US" sz="2300" b="0" i="1" smtClean="0">
                            <a:latin typeface="Cambria Math" panose="02040503050406030204" pitchFamily="18" charset="0"/>
                            <a:ea typeface="Cambria Math" panose="02040503050406030204" pitchFamily="18" charset="0"/>
                          </a:rPr>
                        </m:ctrlPr>
                      </m:sSubPr>
                      <m:e>
                        <m:r>
                          <a:rPr lang="en-US" sz="2300" b="0" i="1" smtClean="0">
                            <a:latin typeface="Cambria Math" panose="02040503050406030204" pitchFamily="18" charset="0"/>
                            <a:ea typeface="Cambria Math" panose="02040503050406030204" pitchFamily="18" charset="0"/>
                          </a:rPr>
                          <m:t>𝑁</m:t>
                        </m:r>
                      </m:e>
                      <m:sub>
                        <m:r>
                          <a:rPr lang="en-US" sz="2300" b="0" i="1" smtClean="0">
                            <a:latin typeface="Cambria Math" panose="02040503050406030204" pitchFamily="18" charset="0"/>
                            <a:ea typeface="Cambria Math" panose="02040503050406030204" pitchFamily="18" charset="0"/>
                          </a:rPr>
                          <m:t>𝑇𝐷</m:t>
                        </m:r>
                      </m:sub>
                    </m:sSub>
                    <m:r>
                      <a:rPr lang="en-US" sz="2300" b="0" i="1" smtClean="0">
                        <a:latin typeface="Cambria Math" panose="02040503050406030204" pitchFamily="18" charset="0"/>
                        <a:ea typeface="Cambria Math" panose="02040503050406030204" pitchFamily="18" charset="0"/>
                      </a:rPr>
                      <m:t>=</m:t>
                    </m:r>
                    <m:sSub>
                      <m:sSubPr>
                        <m:ctrlPr>
                          <a:rPr lang="en-US" sz="2300" b="0" i="1" smtClean="0">
                            <a:latin typeface="Cambria Math" panose="02040503050406030204" pitchFamily="18" charset="0"/>
                            <a:ea typeface="Cambria Math" panose="02040503050406030204" pitchFamily="18" charset="0"/>
                          </a:rPr>
                        </m:ctrlPr>
                      </m:sSubPr>
                      <m:e>
                        <m:r>
                          <a:rPr lang="en-US" sz="2300" b="0" i="1" smtClean="0">
                            <a:latin typeface="Cambria Math" panose="02040503050406030204" pitchFamily="18" charset="0"/>
                            <a:ea typeface="Cambria Math" panose="02040503050406030204" pitchFamily="18" charset="0"/>
                          </a:rPr>
                          <m:t>𝑁</m:t>
                        </m:r>
                      </m:e>
                      <m:sub>
                        <m:r>
                          <a:rPr lang="en-US" sz="2300" b="0" i="1" smtClean="0">
                            <a:latin typeface="Cambria Math" panose="02040503050406030204" pitchFamily="18" charset="0"/>
                            <a:ea typeface="Cambria Math" panose="02040503050406030204" pitchFamily="18" charset="0"/>
                          </a:rPr>
                          <m:t>𝑜</m:t>
                        </m:r>
                      </m:sub>
                    </m:sSub>
                    <m:r>
                      <a:rPr lang="en-US" sz="2300" b="0" i="1" smtClean="0">
                        <a:latin typeface="Cambria Math" panose="02040503050406030204" pitchFamily="18" charset="0"/>
                        <a:ea typeface="Cambria Math" panose="02040503050406030204" pitchFamily="18" charset="0"/>
                      </a:rPr>
                      <m:t>−</m:t>
                    </m:r>
                    <m:sSub>
                      <m:sSubPr>
                        <m:ctrlPr>
                          <a:rPr lang="en-US" sz="2300" b="0" i="1" smtClean="0">
                            <a:latin typeface="Cambria Math" panose="02040503050406030204" pitchFamily="18" charset="0"/>
                            <a:ea typeface="Cambria Math" panose="02040503050406030204" pitchFamily="18" charset="0"/>
                          </a:rPr>
                        </m:ctrlPr>
                      </m:sSubPr>
                      <m:e>
                        <m:r>
                          <a:rPr lang="en-US" sz="2300" b="0" i="1" smtClean="0">
                            <a:latin typeface="Cambria Math" panose="02040503050406030204" pitchFamily="18" charset="0"/>
                            <a:ea typeface="Cambria Math" panose="02040503050406030204" pitchFamily="18" charset="0"/>
                          </a:rPr>
                          <m:t>𝑁</m:t>
                        </m:r>
                      </m:e>
                      <m:sub>
                        <m:r>
                          <a:rPr lang="en-US" sz="2300" b="0" i="1" smtClean="0">
                            <a:latin typeface="Cambria Math" panose="02040503050406030204" pitchFamily="18" charset="0"/>
                            <a:ea typeface="Cambria Math" panose="02040503050406030204" pitchFamily="18" charset="0"/>
                          </a:rPr>
                          <m:t>𝑟</m:t>
                        </m:r>
                      </m:sub>
                    </m:sSub>
                  </m:oMath>
                </a14:m>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1519372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12-2.</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14:m>
                  <m:oMath xmlns:m="http://schemas.openxmlformats.org/officeDocument/2006/math">
                    <m:sSub>
                      <m:sSubPr>
                        <m:ctrlPr>
                          <a:rPr lang="en-US" sz="2300" i="1" smtClean="0">
                            <a:latin typeface="Cambria Math" panose="02040503050406030204" pitchFamily="18" charset="0"/>
                          </a:rPr>
                        </m:ctrlPr>
                      </m:sSubPr>
                      <m:e>
                        <m:r>
                          <a:rPr lang="en-US" sz="2300" i="1">
                            <a:latin typeface="Cambria Math" panose="02040503050406030204" pitchFamily="18" charset="0"/>
                          </a:rPr>
                          <m:t>𝑁</m:t>
                        </m:r>
                      </m:e>
                      <m:sub>
                        <m:r>
                          <a:rPr lang="en-US" sz="2300" i="1">
                            <a:latin typeface="Cambria Math" panose="02040503050406030204" pitchFamily="18" charset="0"/>
                          </a:rPr>
                          <m:t>𝑇𝐷</m:t>
                        </m:r>
                      </m:sub>
                    </m:sSub>
                    <m:r>
                      <a:rPr lang="en-US" sz="2300" i="1">
                        <a:latin typeface="Cambria Math" panose="02040503050406030204" pitchFamily="18" charset="0"/>
                      </a:rPr>
                      <m:t>=1000000−974228=25772 </m:t>
                    </m:r>
                    <m:r>
                      <a:rPr lang="en-US" sz="2300" i="1">
                        <a:latin typeface="Cambria Math" panose="02040503050406030204" pitchFamily="18" charset="0"/>
                      </a:rPr>
                      <m:t>𝑎𝑡𝑜𝑚𝑠</m:t>
                    </m:r>
                  </m:oMath>
                </a14:m>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(a.)</a:t>
                </a:r>
                <a:r>
                  <a:rPr lang="en-US" sz="2300" dirty="0">
                    <a:latin typeface="Vani" panose="020B0502040204020203" pitchFamily="34" charset="0"/>
                    <a:cs typeface="Vani" panose="020B0502040204020203" pitchFamily="34" charset="0"/>
                  </a:rPr>
                  <a:t>	</a:t>
                </a:r>
                <a14:m>
                  <m:oMath xmlns:m="http://schemas.openxmlformats.org/officeDocument/2006/math">
                    <m:r>
                      <a:rPr lang="en-US" sz="2300" i="1" smtClean="0">
                        <a:latin typeface="Cambria Math" panose="02040503050406030204" pitchFamily="18" charset="0"/>
                        <a:ea typeface="Cambria Math" panose="02040503050406030204" pitchFamily="18" charset="0"/>
                        <a:cs typeface="Vani" panose="020B0502040204020203" pitchFamily="34" charset="0"/>
                      </a:rPr>
                      <m:t>𝜇</m:t>
                    </m:r>
                    <m:r>
                      <a:rPr lang="en-US" sz="2300" b="0" i="1" smtClean="0">
                        <a:latin typeface="Cambria Math" panose="02040503050406030204" pitchFamily="18" charset="0"/>
                        <a:ea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ea typeface="Cambria Math" panose="02040503050406030204" pitchFamily="18" charset="0"/>
                          </a:rPr>
                        </m:ctrlPr>
                      </m:fPr>
                      <m:num>
                        <m:sSub>
                          <m:sSubPr>
                            <m:ctrlPr>
                              <a:rPr lang="en-US" sz="2300" b="0" i="1" smtClean="0">
                                <a:latin typeface="Cambria Math" panose="02040503050406030204" pitchFamily="18" charset="0"/>
                                <a:ea typeface="Cambria Math" panose="02040503050406030204" pitchFamily="18" charset="0"/>
                              </a:rPr>
                            </m:ctrlPr>
                          </m:sSubPr>
                          <m:e>
                            <m:r>
                              <a:rPr lang="en-US" sz="2300" b="0" i="1" smtClean="0">
                                <a:latin typeface="Cambria Math" panose="02040503050406030204" pitchFamily="18" charset="0"/>
                                <a:ea typeface="Cambria Math" panose="02040503050406030204" pitchFamily="18" charset="0"/>
                              </a:rPr>
                              <m:t>𝑁</m:t>
                            </m:r>
                          </m:e>
                          <m:sub>
                            <m:r>
                              <a:rPr lang="en-US" sz="2300" b="0" i="1" smtClean="0">
                                <a:latin typeface="Cambria Math" panose="02040503050406030204" pitchFamily="18" charset="0"/>
                                <a:ea typeface="Cambria Math" panose="02040503050406030204" pitchFamily="18" charset="0"/>
                              </a:rPr>
                              <m:t>𝑇𝐷</m:t>
                            </m:r>
                          </m:sub>
                        </m:sSub>
                      </m:num>
                      <m:den>
                        <m:r>
                          <a:rPr lang="en-US" sz="2300" b="0" i="1" smtClean="0">
                            <a:latin typeface="Cambria Math" panose="02040503050406030204" pitchFamily="18" charset="0"/>
                            <a:ea typeface="Cambria Math" panose="02040503050406030204" pitchFamily="18" charset="0"/>
                          </a:rPr>
                          <m:t>365</m:t>
                        </m:r>
                      </m:den>
                    </m:f>
                    <m:r>
                      <a:rPr lang="en-US" sz="2300" b="0" i="1" smtClean="0">
                        <a:latin typeface="Cambria Math" panose="02040503050406030204" pitchFamily="18" charset="0"/>
                        <a:ea typeface="Cambria Math" panose="02040503050406030204" pitchFamily="18" charset="0"/>
                      </a:rPr>
                      <m:t>=</m:t>
                    </m:r>
                    <m:f>
                      <m:fPr>
                        <m:ctrlPr>
                          <a:rPr lang="en-US" sz="2300" b="0" i="1" smtClean="0">
                            <a:latin typeface="Cambria Math" panose="02040503050406030204" pitchFamily="18" charset="0"/>
                            <a:ea typeface="Cambria Math" panose="02040503050406030204" pitchFamily="18" charset="0"/>
                          </a:rPr>
                        </m:ctrlPr>
                      </m:fPr>
                      <m:num>
                        <m:r>
                          <a:rPr lang="en-US" sz="2300" b="0" i="1" smtClean="0">
                            <a:latin typeface="Cambria Math" panose="02040503050406030204" pitchFamily="18" charset="0"/>
                            <a:ea typeface="Cambria Math" panose="02040503050406030204" pitchFamily="18" charset="0"/>
                          </a:rPr>
                          <m:t>25772</m:t>
                        </m:r>
                      </m:num>
                      <m:den>
                        <m:r>
                          <a:rPr lang="en-US" sz="2300" b="0" i="1" smtClean="0">
                            <a:latin typeface="Cambria Math" panose="02040503050406030204" pitchFamily="18" charset="0"/>
                            <a:ea typeface="Cambria Math" panose="02040503050406030204" pitchFamily="18" charset="0"/>
                          </a:rPr>
                          <m:t>365</m:t>
                        </m:r>
                      </m:den>
                    </m:f>
                    <m:r>
                      <a:rPr lang="en-US" sz="2300" b="0" i="1" smtClean="0">
                        <a:latin typeface="Cambria Math" panose="02040503050406030204" pitchFamily="18" charset="0"/>
                        <a:ea typeface="Cambria Math" panose="02040503050406030204" pitchFamily="18" charset="0"/>
                      </a:rPr>
                      <m:t>=70.60821918≅</m:t>
                    </m:r>
                    <m:r>
                      <a:rPr lang="en-US" sz="2300" b="0" i="1" smtClean="0">
                        <a:solidFill>
                          <a:srgbClr val="FF0000"/>
                        </a:solidFill>
                        <a:latin typeface="Cambria Math" panose="02040503050406030204" pitchFamily="18" charset="0"/>
                        <a:ea typeface="Cambria Math" panose="02040503050406030204" pitchFamily="18" charset="0"/>
                      </a:rPr>
                      <m:t>70.608</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	Determine the probability that 52 radioactive atoms decayed on a given day. Round to 6 decimal places as needed.</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𝑥</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rPr>
                        </m:ctrlPr>
                      </m:fPr>
                      <m:num>
                        <m:sSup>
                          <m:sSupPr>
                            <m:ctrlPr>
                              <a:rPr lang="en-US" sz="2300" b="0" i="1" smtClean="0">
                                <a:latin typeface="Cambria Math" panose="02040503050406030204" pitchFamily="18" charset="0"/>
                              </a:rPr>
                            </m:ctrlPr>
                          </m:sSupPr>
                          <m:e>
                            <m:r>
                              <a:rPr lang="en-US" sz="2300" b="0" i="1" smtClean="0">
                                <a:latin typeface="Cambria Math" panose="02040503050406030204" pitchFamily="18" charset="0"/>
                                <a:ea typeface="Cambria Math" panose="02040503050406030204" pitchFamily="18" charset="0"/>
                              </a:rPr>
                              <m:t>𝜇</m:t>
                            </m:r>
                          </m:e>
                          <m:sup>
                            <m:r>
                              <a:rPr lang="en-US" sz="2300" b="0" i="1" smtClean="0">
                                <a:latin typeface="Cambria Math" panose="02040503050406030204" pitchFamily="18" charset="0"/>
                              </a:rPr>
                              <m:t>𝑥</m:t>
                            </m:r>
                          </m:sup>
                        </m:sSup>
                        <m:r>
                          <a:rPr lang="en-US" sz="2300" b="0" i="1" smtClean="0">
                            <a:latin typeface="Cambria Math" panose="02040503050406030204" pitchFamily="18" charset="0"/>
                          </a:rPr>
                          <m:t>∗</m:t>
                        </m:r>
                        <m:sSup>
                          <m:sSupPr>
                            <m:ctrlPr>
                              <a:rPr lang="en-US" sz="2300" b="0" i="1" smtClean="0">
                                <a:latin typeface="Cambria Math" panose="02040503050406030204" pitchFamily="18" charset="0"/>
                              </a:rPr>
                            </m:ctrlPr>
                          </m:sSupPr>
                          <m:e>
                            <m:r>
                              <a:rPr lang="en-US" sz="2300" b="0" i="1" smtClean="0">
                                <a:latin typeface="Cambria Math" panose="02040503050406030204" pitchFamily="18" charset="0"/>
                              </a:rPr>
                              <m:t>𝑒</m:t>
                            </m:r>
                          </m:e>
                          <m:sup>
                            <m:r>
                              <a:rPr lang="en-US" sz="2300" b="0" i="1" smtClean="0">
                                <a:latin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𝜇</m:t>
                            </m:r>
                          </m:sup>
                        </m:sSup>
                      </m:num>
                      <m:den>
                        <m:r>
                          <a:rPr lang="en-US" sz="2300" b="0" i="1" smtClean="0">
                            <a:latin typeface="Cambria Math" panose="02040503050406030204" pitchFamily="18" charset="0"/>
                          </a:rPr>
                          <m:t>𝑥</m:t>
                        </m:r>
                        <m:r>
                          <a:rPr lang="en-US" sz="2300" b="0" i="1" smtClean="0">
                            <a:latin typeface="Cambria Math" panose="02040503050406030204" pitchFamily="18" charset="0"/>
                          </a:rPr>
                          <m:t>!</m:t>
                        </m:r>
                      </m:den>
                    </m:f>
                    <m:r>
                      <a:rPr lang="en-US" sz="2300" b="0" i="1" smtClean="0">
                        <a:latin typeface="Cambria Math" panose="02040503050406030204" pitchFamily="18" charset="0"/>
                      </a:rPr>
                      <m:t>                 </m:t>
                    </m:r>
                    <m:r>
                      <a:rPr lang="en-US" sz="2300" b="0" i="1" smtClean="0">
                        <a:latin typeface="Cambria Math" panose="02040503050406030204" pitchFamily="18" charset="0"/>
                      </a:rPr>
                      <m:t>𝑥</m:t>
                    </m:r>
                    <m:r>
                      <a:rPr lang="en-US" sz="2300" b="0" i="1" smtClean="0">
                        <a:latin typeface="Cambria Math" panose="02040503050406030204" pitchFamily="18" charset="0"/>
                      </a:rPr>
                      <m:t>=52       </m:t>
                    </m:r>
                    <m:r>
                      <a:rPr lang="en-US" sz="2300" i="1">
                        <a:latin typeface="Cambria Math" panose="02040503050406030204" pitchFamily="18" charset="0"/>
                        <a:ea typeface="Cambria Math" panose="02040503050406030204" pitchFamily="18" charset="0"/>
                      </a:rPr>
                      <m:t>𝜇</m:t>
                    </m:r>
                    <m:r>
                      <a:rPr lang="en-US" sz="2300" i="1">
                        <a:latin typeface="Cambria Math" panose="02040503050406030204" pitchFamily="18" charset="0"/>
                        <a:ea typeface="Cambria Math" panose="02040503050406030204" pitchFamily="18" charset="0"/>
                      </a:rPr>
                      <m:t>=70.60821918</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𝑥</m:t>
                        </m:r>
                      </m:e>
                    </m:d>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rPr>
                        </m:ctrlPr>
                      </m:fPr>
                      <m:num>
                        <m:sSup>
                          <m:sSupPr>
                            <m:ctrlPr>
                              <a:rPr lang="en-US" sz="2300" i="1">
                                <a:latin typeface="Cambria Math" panose="02040503050406030204" pitchFamily="18" charset="0"/>
                              </a:rPr>
                            </m:ctrlPr>
                          </m:sSupPr>
                          <m:e>
                            <m:r>
                              <a:rPr lang="en-US" sz="2300" b="0" i="1" smtClean="0">
                                <a:latin typeface="Cambria Math" panose="02040503050406030204" pitchFamily="18" charset="0"/>
                              </a:rPr>
                              <m:t>70.60821918</m:t>
                            </m:r>
                          </m:e>
                          <m:sup>
                            <m:r>
                              <a:rPr lang="en-US" sz="2300" b="0" i="1" smtClean="0">
                                <a:latin typeface="Cambria Math" panose="02040503050406030204" pitchFamily="18" charset="0"/>
                                <a:ea typeface="Cambria Math" panose="02040503050406030204" pitchFamily="18" charset="0"/>
                              </a:rPr>
                              <m:t>52</m:t>
                            </m:r>
                          </m:sup>
                        </m:sSup>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𝑒</m:t>
                            </m:r>
                          </m:e>
                          <m:sup>
                            <m:r>
                              <a:rPr lang="en-US" sz="2300" i="1">
                                <a:latin typeface="Cambria Math" panose="02040503050406030204" pitchFamily="18" charset="0"/>
                              </a:rPr>
                              <m:t>−</m:t>
                            </m:r>
                            <m:r>
                              <a:rPr lang="en-US" sz="2300" b="0" i="1" smtClean="0">
                                <a:latin typeface="Cambria Math" panose="02040503050406030204" pitchFamily="18" charset="0"/>
                              </a:rPr>
                              <m:t>70.60821918</m:t>
                            </m:r>
                          </m:sup>
                        </m:sSup>
                      </m:num>
                      <m:den>
                        <m:r>
                          <a:rPr lang="en-US" sz="2300" b="0" i="1" smtClean="0">
                            <a:latin typeface="Cambria Math" panose="02040503050406030204" pitchFamily="18" charset="0"/>
                            <a:ea typeface="Cambria Math" panose="02040503050406030204" pitchFamily="18" charset="0"/>
                          </a:rPr>
                          <m:t>52</m:t>
                        </m:r>
                        <m:r>
                          <a:rPr lang="en-US" sz="2300" i="1">
                            <a:latin typeface="Cambria Math" panose="02040503050406030204" pitchFamily="18" charset="0"/>
                          </a:rPr>
                          <m:t>!</m:t>
                        </m:r>
                      </m:den>
                    </m:f>
                    <m:r>
                      <a:rPr lang="en-US" sz="2300" i="1">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0.003707</m:t>
                    </m:r>
                  </m:oMath>
                </a14:m>
                <a:endParaRPr lang="en-US" sz="2300" dirty="0" smtClean="0">
                  <a:solidFill>
                    <a:srgbClr val="FF0000"/>
                  </a:solidFill>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400"/>
                </a:stretch>
              </a:blipFill>
            </p:spPr>
            <p:txBody>
              <a:bodyPr/>
              <a:lstStyle/>
              <a:p>
                <a:r>
                  <a:rPr lang="en-US">
                    <a:noFill/>
                  </a:rPr>
                  <a:t> </a:t>
                </a:r>
              </a:p>
            </p:txBody>
          </p:sp>
        </mc:Fallback>
      </mc:AlternateContent>
    </p:spTree>
    <p:extLst>
      <p:ext uri="{BB962C8B-B14F-4D97-AF65-F5344CB8AC3E}">
        <p14:creationId xmlns:p14="http://schemas.microsoft.com/office/powerpoint/2010/main" val="160702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References </a:t>
            </a:r>
            <a:endParaRPr dirty="0"/>
          </a:p>
        </p:txBody>
      </p:sp>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a:latin typeface="Vani" panose="020B0502040204020203" pitchFamily="34" charset="0"/>
                <a:cs typeface="Vani" panose="020B0502040204020203" pitchFamily="34" charset="0"/>
              </a:rPr>
              <a:t>Chukwuemeka, S. D. (2016, </a:t>
            </a:r>
            <a:r>
              <a:rPr lang="en-US" sz="2300" dirty="0" smtClean="0">
                <a:latin typeface="Vani" panose="020B0502040204020203" pitchFamily="34" charset="0"/>
                <a:cs typeface="Vani" panose="020B0502040204020203" pitchFamily="34" charset="0"/>
              </a:rPr>
              <a:t>March 18). </a:t>
            </a:r>
            <a:r>
              <a:rPr lang="en-US" sz="2300" dirty="0">
                <a:latin typeface="Vani" panose="020B0502040204020203" pitchFamily="34" charset="0"/>
                <a:cs typeface="Vani" panose="020B0502040204020203" pitchFamily="34" charset="0"/>
              </a:rPr>
              <a:t>Samuel Chukwuemeka Tutorials – Math, Science, and Technology. Retrieved from http://www.samuelchukwuemeka.com/</a:t>
            </a: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r>
              <a:rPr lang="en-US" sz="2300" dirty="0">
                <a:latin typeface="Vani" panose="020B0502040204020203" pitchFamily="34" charset="0"/>
                <a:cs typeface="Vani" panose="020B0502040204020203" pitchFamily="34" charset="0"/>
              </a:rPr>
              <a:t> </a:t>
            </a:r>
            <a:r>
              <a:rPr lang="en-US" sz="2300" dirty="0" err="1">
                <a:latin typeface="Vani" panose="020B0502040204020203" pitchFamily="34" charset="0"/>
                <a:cs typeface="Vani" panose="020B0502040204020203" pitchFamily="34" charset="0"/>
              </a:rPr>
              <a:t>Triola</a:t>
            </a:r>
            <a:r>
              <a:rPr lang="en-US" sz="2300" dirty="0">
                <a:latin typeface="Vani" panose="020B0502040204020203" pitchFamily="34" charset="0"/>
                <a:cs typeface="Vani" panose="020B0502040204020203" pitchFamily="34" charset="0"/>
              </a:rPr>
              <a:t>, M. F. (2015). Frequency Distributions. In Elementary statistics using the TI-83/84 plus calculator (4th ed.). Pearson. </a:t>
            </a: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185704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Stitched Border 16x9">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4DB5B3F-8133-4C47-A120-6F3ACAE5D1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Stitched denim borders presentation (widescreen)</Template>
  <TotalTime>0</TotalTime>
  <Words>538</Words>
  <Application>Microsoft Office PowerPoint</Application>
  <PresentationFormat>Widescreen</PresentationFormat>
  <Paragraphs>305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Cambria Math</vt:lpstr>
      <vt:lpstr>Vani</vt:lpstr>
      <vt:lpstr>Wingdings</vt:lpstr>
      <vt:lpstr>Stitched Border 16x9</vt:lpstr>
      <vt:lpstr>Test 2 Study Guide – Part 3</vt:lpstr>
      <vt:lpstr>Objectives and Pre-requisites</vt:lpstr>
      <vt:lpstr>Questions and Answers       1-1.</vt:lpstr>
      <vt:lpstr>Questions and Answers       1-2.</vt:lpstr>
      <vt:lpstr>Questions and Answers       2-1.</vt:lpstr>
      <vt:lpstr>Questions and Answers       2-2.</vt:lpstr>
      <vt:lpstr>Questions and Answers       3-1.</vt:lpstr>
      <vt:lpstr>Questions and Answers       3-2.</vt:lpstr>
      <vt:lpstr>Questions and Answers       3-3.</vt:lpstr>
      <vt:lpstr>Questions and Answers       3-4.</vt:lpstr>
      <vt:lpstr>Questions and Answers       4-1.</vt:lpstr>
      <vt:lpstr>Questions and Answers       5-1.</vt:lpstr>
      <vt:lpstr>Questions and Answers       5-2.</vt:lpstr>
      <vt:lpstr>Questions and Answers       6-1.</vt:lpstr>
      <vt:lpstr>Questions and Answers       6-2.</vt:lpstr>
      <vt:lpstr>Questions and Answers       7-1.</vt:lpstr>
      <vt:lpstr>Questions and Answers       7-2.</vt:lpstr>
      <vt:lpstr>Questions and Answers       8-1.</vt:lpstr>
      <vt:lpstr>Questions and Answers       8-2.</vt:lpstr>
      <vt:lpstr>Questions and Answers       9-1.</vt:lpstr>
      <vt:lpstr>Questions and Answers       9-2.</vt:lpstr>
      <vt:lpstr>Questions and Answers       10-1.</vt:lpstr>
      <vt:lpstr>Questions and Answers       10-2.</vt:lpstr>
      <vt:lpstr>Questions and Answers       11-1.</vt:lpstr>
      <vt:lpstr>Questions and Answers       11-2.</vt:lpstr>
      <vt:lpstr>Questions and Answers       12-1.</vt:lpstr>
      <vt:lpstr>Questions and Answers       12-2.</vt:lpstr>
      <vt:lpstr>References </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2016-02-12T19:16:22Z</dcterms:created>
  <dcterms:modified xsi:type="dcterms:W3CDTF">2016-03-19T04:08:48Z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TC034313719991</vt:lpwstr>
  </property>
</Properties>
</file>