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30"/>
  </p:notesMasterIdLst>
  <p:handoutMasterIdLst>
    <p:handoutMasterId r:id="rId31"/>
  </p:handoutMasterIdLst>
  <p:sldIdLst>
    <p:sldId id="279" r:id="rId3"/>
    <p:sldId id="287" r:id="rId4"/>
    <p:sldId id="291" r:id="rId5"/>
    <p:sldId id="315" r:id="rId6"/>
    <p:sldId id="317" r:id="rId7"/>
    <p:sldId id="293" r:id="rId8"/>
    <p:sldId id="312" r:id="rId9"/>
    <p:sldId id="313" r:id="rId10"/>
    <p:sldId id="316" r:id="rId11"/>
    <p:sldId id="294" r:id="rId12"/>
    <p:sldId id="314" r:id="rId13"/>
    <p:sldId id="295" r:id="rId14"/>
    <p:sldId id="292" r:id="rId15"/>
    <p:sldId id="297" r:id="rId16"/>
    <p:sldId id="296" r:id="rId17"/>
    <p:sldId id="299" r:id="rId18"/>
    <p:sldId id="301" r:id="rId19"/>
    <p:sldId id="306" r:id="rId20"/>
    <p:sldId id="307" r:id="rId21"/>
    <p:sldId id="308" r:id="rId22"/>
    <p:sldId id="309" r:id="rId23"/>
    <p:sldId id="310" r:id="rId24"/>
    <p:sldId id="302" r:id="rId25"/>
    <p:sldId id="303" r:id="rId26"/>
    <p:sldId id="304" r:id="rId27"/>
    <p:sldId id="305" r:id="rId28"/>
    <p:sldId id="311" r:id="rId2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6" pos="383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p:scale>
          <a:sx n="81" d="100"/>
          <a:sy n="81" d="100"/>
        </p:scale>
        <p:origin x="-246" y="210"/>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954C6E1-AF92-4FB7-A013-0B520EBC30AE}" type="datetimeFigureOut">
              <a:rPr lang="en-US"/>
              <a:t>8/28/2017</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52D9BF-D574-4807-B36C-9E2A025BE826}" type="slidenum">
              <a:rPr/>
              <a:t>‹#›</a:t>
            </a:fld>
            <a:endParaRPr/>
          </a:p>
        </p:txBody>
      </p:sp>
    </p:spTree>
    <p:extLst>
      <p:ext uri="{BB962C8B-B14F-4D97-AF65-F5344CB8AC3E}">
        <p14:creationId xmlns:p14="http://schemas.microsoft.com/office/powerpoint/2010/main" val="2306792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C10850-0874-4A61-99B4-D613C5E8D9EA}" type="datetimeFigureOut">
              <a:rPr lang="en-US"/>
              <a:t>8/28/2017</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11EC53-F507-411E-9ADC-FBCFECE09D3D}" type="slidenum">
              <a:rPr/>
              <a:t>‹#›</a:t>
            </a:fld>
            <a:endParaRPr/>
          </a:p>
        </p:txBody>
      </p:sp>
    </p:spTree>
    <p:extLst>
      <p:ext uri="{BB962C8B-B14F-4D97-AF65-F5344CB8AC3E}">
        <p14:creationId xmlns:p14="http://schemas.microsoft.com/office/powerpoint/2010/main" val="758182631"/>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Isosceles Triangle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3" name="Subtitle 2"/>
          <p:cNvSpPr>
            <a:spLocks noGrp="1"/>
          </p:cNvSpPr>
          <p:nvPr>
            <p:ph type="subTitle" idx="1"/>
          </p:nvPr>
        </p:nvSpPr>
        <p:spPr>
          <a:xfrm>
            <a:off x="1218883" y="4140200"/>
            <a:ext cx="9751060" cy="1016000"/>
          </a:xfrm>
        </p:spPr>
        <p:txBody>
          <a:bodyPr>
            <a:normAutofit/>
          </a:bodyPr>
          <a:lstStyle>
            <a:lvl1pPr marL="0" indent="0" algn="ctr">
              <a:spcBef>
                <a:spcPts val="0"/>
              </a:spcBef>
              <a:buNone/>
              <a:defRPr sz="2800">
                <a:solidFill>
                  <a:schemeClr val="tx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62" name="Rectangle 61"/>
          <p:cNvSpPr/>
          <p:nvPr/>
        </p:nvSpPr>
        <p:spPr bwMode="hidden">
          <a:xfrm>
            <a:off x="0" y="1905001"/>
            <a:ext cx="12188825" cy="214825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lnSpc>
                <a:spcPct val="90000"/>
              </a:lnSpc>
            </a:pPr>
            <a:endParaRPr sz="3200">
              <a:solidFill>
                <a:schemeClr val="tx2"/>
              </a:solidFill>
            </a:endParaRPr>
          </a:p>
        </p:txBody>
      </p:sp>
      <p:sp>
        <p:nvSpPr>
          <p:cNvPr id="2" name="Title 1"/>
          <p:cNvSpPr>
            <a:spLocks noGrp="1"/>
          </p:cNvSpPr>
          <p:nvPr>
            <p:ph type="ctrTitle"/>
          </p:nvPr>
        </p:nvSpPr>
        <p:spPr>
          <a:xfrm>
            <a:off x="1218883" y="1905002"/>
            <a:ext cx="9751060" cy="2147926"/>
          </a:xfrm>
        </p:spPr>
        <p:txBody>
          <a:bodyPr anchor="ctr">
            <a:normAutofit/>
          </a:bodyPr>
          <a:lstStyle>
            <a:lvl1pPr algn="ctr">
              <a:defRPr sz="4400" cap="all" normalizeH="0" baseline="0"/>
            </a:lvl1pPr>
          </a:lstStyle>
          <a:p>
            <a:r>
              <a:rPr lang="en-US"/>
              <a:t>Click to edit Master title style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3B9B9059-F1D6-41D0-95CF-D21CAA096B3A}" type="datetimeFigureOut">
              <a:rPr lang="en-US"/>
              <a:t>8/28/2017</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1" name="Isosceles Triangle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1218883" y="1524000"/>
            <a:ext cx="9751060" cy="1992597"/>
          </a:xfrm>
        </p:spPr>
        <p:txBody>
          <a:bodyPr anchor="b" anchorCtr="0">
            <a:noAutofit/>
          </a:bodyPr>
          <a:lstStyle>
            <a:lvl1pPr algn="ctr">
              <a:defRPr sz="4400" b="0" cap="all" baseline="0"/>
            </a:lvl1pPr>
          </a:lstStyle>
          <a:p>
            <a:r>
              <a:rPr lang="en-US"/>
              <a:t>Click to edit Master title style</a:t>
            </a:r>
            <a:endParaRPr/>
          </a:p>
        </p:txBody>
      </p:sp>
      <p:sp>
        <p:nvSpPr>
          <p:cNvPr id="3" name="Text Placeholder 2"/>
          <p:cNvSpPr>
            <a:spLocks noGrp="1"/>
          </p:cNvSpPr>
          <p:nvPr>
            <p:ph type="body" idx="1"/>
          </p:nvPr>
        </p:nvSpPr>
        <p:spPr>
          <a:xfrm>
            <a:off x="1218883" y="3632200"/>
            <a:ext cx="9751060" cy="1016000"/>
          </a:xfrm>
        </p:spPr>
        <p:txBody>
          <a:bodyPr anchor="t" anchorCtr="0">
            <a:noAutofit/>
          </a:bodyPr>
          <a:lstStyle>
            <a:lvl1pPr marL="0" indent="0" algn="ctr">
              <a:spcBef>
                <a:spcPts val="0"/>
              </a:spcBef>
              <a:buNone/>
              <a:defRPr sz="2800">
                <a:solidFill>
                  <a:schemeClr val="tx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B9059-F1D6-41D0-95CF-D21CAA096B3A}" type="datetimeFigureOut">
              <a:rPr lang="en-US"/>
              <a:t>8/28/2017</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914162" y="1803401"/>
            <a:ext cx="4977104" cy="4470400"/>
          </a:xfrm>
        </p:spPr>
        <p:txBody>
          <a:bodyPr>
            <a:normAutofit/>
          </a:bodyPr>
          <a:lstStyle>
            <a:lvl1pPr>
              <a:defRPr sz="2400"/>
            </a:lvl1pPr>
            <a:lvl2pPr>
              <a:defRPr sz="2000"/>
            </a:lvl2pPr>
            <a:lvl3pPr>
              <a:defRPr sz="1800"/>
            </a:lvl3pPr>
            <a:lvl4pPr>
              <a:defRPr sz="1600"/>
            </a:lvl4pPr>
            <a:lvl5pPr>
              <a:defRPr sz="1400"/>
            </a:lvl5pPr>
            <a:lvl6pPr>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97559" y="1803401"/>
            <a:ext cx="4977104" cy="4470400"/>
          </a:xfrm>
        </p:spPr>
        <p:txBody>
          <a:bodyPr>
            <a:normAutofit/>
          </a:bodyPr>
          <a:lstStyle>
            <a:lvl1pPr>
              <a:defRPr sz="2400"/>
            </a:lvl1pPr>
            <a:lvl2pPr>
              <a:defRPr sz="2000"/>
            </a:lvl2pPr>
            <a:lvl3pPr>
              <a:defRPr sz="1800"/>
            </a:lvl3pPr>
            <a:lvl4pPr>
              <a:defRPr sz="1600"/>
            </a:lvl4pPr>
            <a:lvl5pPr>
              <a:defRPr sz="1400"/>
            </a:lvl5pPr>
            <a:lvl6pPr marL="2669581">
              <a:defRPr sz="1400" baseline="0"/>
            </a:lvl6pPr>
            <a:lvl7pPr marL="2669581">
              <a:defRPr sz="1400" baseline="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3B9B9059-F1D6-41D0-95CF-D21CAA096B3A}" type="datetimeFigureOut">
              <a:rPr lang="en-US"/>
              <a:t>8/28/2017</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914162" y="1803400"/>
            <a:ext cx="4977104"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914162" y="2717800"/>
            <a:ext cx="4977104"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97559" y="1803400"/>
            <a:ext cx="4977104"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297559" y="2717800"/>
            <a:ext cx="4977104"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3B9B9059-F1D6-41D0-95CF-D21CAA096B3A}" type="datetimeFigureOut">
              <a:rPr lang="en-US"/>
              <a:t>8/28/2017</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3B9B9059-F1D6-41D0-95CF-D21CAA096B3A}" type="datetimeFigureOut">
              <a:rPr lang="en-US"/>
              <a:t>8/28/2017</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0" name="Rectangle 19"/>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7821163" y="482600"/>
            <a:ext cx="3961368" cy="1422400"/>
          </a:xfrm>
        </p:spPr>
        <p:txBody>
          <a:bodyPr anchor="b">
            <a:noAutofit/>
          </a:bodyPr>
          <a:lstStyle>
            <a:lvl1pPr algn="l">
              <a:defRPr sz="3200" b="0"/>
            </a:lvl1pPr>
          </a:lstStyle>
          <a:p>
            <a:r>
              <a:rPr lang="en-US"/>
              <a:t>Click to edit Master title style</a:t>
            </a:r>
            <a:endParaRPr/>
          </a:p>
        </p:txBody>
      </p:sp>
      <p:sp>
        <p:nvSpPr>
          <p:cNvPr id="3" name="Content Placeholder 2"/>
          <p:cNvSpPr>
            <a:spLocks noGrp="1"/>
          </p:cNvSpPr>
          <p:nvPr>
            <p:ph idx="1"/>
          </p:nvPr>
        </p:nvSpPr>
        <p:spPr bwMode="white">
          <a:xfrm>
            <a:off x="507868" y="482600"/>
            <a:ext cx="6602280" cy="5842001"/>
          </a:xfrm>
        </p:spPr>
        <p:txBody>
          <a:bodyPr>
            <a:norm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821163" y="2108200"/>
            <a:ext cx="3961368" cy="4267200"/>
          </a:xfrm>
        </p:spPr>
        <p:txBody>
          <a:bodyPr anchor="t" anchorCtr="0">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Isosceles Triangle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a:xfrm>
            <a:off x="0" y="-1115"/>
            <a:ext cx="6093594"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6399133" y="1905000"/>
            <a:ext cx="5180251" cy="1727200"/>
          </a:xfrm>
        </p:spPr>
        <p:txBody>
          <a:bodyPr anchor="b" anchorCtr="0">
            <a:normAutofit/>
          </a:bodyPr>
          <a:lstStyle>
            <a:lvl1pPr algn="l">
              <a:defRPr sz="3200" b="0"/>
            </a:lvl1pPr>
          </a:lstStyle>
          <a:p>
            <a:r>
              <a:rPr lang="en-US"/>
              <a:t>Click to edit Master title style</a:t>
            </a:r>
            <a:endParaRPr/>
          </a:p>
        </p:txBody>
      </p:sp>
      <p:sp>
        <p:nvSpPr>
          <p:cNvPr id="3" name="Picture Placeholder 2"/>
          <p:cNvSpPr>
            <a:spLocks noGrp="1"/>
          </p:cNvSpPr>
          <p:nvPr>
            <p:ph type="pic" idx="1"/>
          </p:nvPr>
        </p:nvSpPr>
        <p:spPr>
          <a:xfrm>
            <a:off x="507869" y="482601"/>
            <a:ext cx="5077859" cy="5862706"/>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6399133" y="3733800"/>
            <a:ext cx="5180251" cy="172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lternate Picture with Caption">
    <p:spTree>
      <p:nvGrpSpPr>
        <p:cNvPr id="1" name=""/>
        <p:cNvGrpSpPr/>
        <p:nvPr/>
      </p:nvGrpSpPr>
      <p:grpSpPr>
        <a:xfrm>
          <a:off x="0" y="0"/>
          <a:ext cx="0" cy="0"/>
          <a:chOff x="0" y="0"/>
          <a:chExt cx="0" cy="0"/>
        </a:xfrm>
      </p:grpSpPr>
      <p:sp>
        <p:nvSpPr>
          <p:cNvPr id="9" name="Rectangle 8"/>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7821163" y="482600"/>
            <a:ext cx="3961368" cy="1422400"/>
          </a:xfrm>
        </p:spPr>
        <p:txBody>
          <a:bodyPr anchor="b" anchorCtr="0">
            <a:normAutofit/>
          </a:bodyPr>
          <a:lstStyle>
            <a:lvl1pPr algn="l">
              <a:defRPr sz="3200" b="0"/>
            </a:lvl1pPr>
          </a:lstStyle>
          <a:p>
            <a:r>
              <a:rPr lang="en-US"/>
              <a:t>Click to edit Master title style</a:t>
            </a:r>
            <a:endParaRPr/>
          </a:p>
        </p:txBody>
      </p:sp>
      <p:sp>
        <p:nvSpPr>
          <p:cNvPr id="3" name="Picture Placeholder 2"/>
          <p:cNvSpPr>
            <a:spLocks noGrp="1"/>
          </p:cNvSpPr>
          <p:nvPr>
            <p:ph type="pic" idx="1"/>
          </p:nvPr>
        </p:nvSpPr>
        <p:spPr>
          <a:xfrm>
            <a:off x="507868" y="482600"/>
            <a:ext cx="6602281" cy="5842001"/>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7821163" y="2108200"/>
            <a:ext cx="3961368" cy="426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extLst>
      <p:ext uri="{BB962C8B-B14F-4D97-AF65-F5344CB8AC3E}">
        <p14:creationId xmlns:p14="http://schemas.microsoft.com/office/powerpoint/2010/main" val="207630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669581">
              <a:defRPr baseline="0"/>
            </a:lvl6pPr>
            <a:lvl7pPr marL="2669581">
              <a:defRPr baseline="0"/>
            </a:lvl7pPr>
            <a:lvl8pPr marL="2669581">
              <a:defRPr baseline="0"/>
            </a:lvl8pPr>
            <a:lvl9pPr marL="2669581">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3B9B9059-F1D6-41D0-95CF-D21CAA096B3A}" type="datetimeFigureOut">
              <a:rPr lang="en-US"/>
              <a:t>8/28/2017</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40043" y="482599"/>
            <a:ext cx="1843982" cy="5791201"/>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914162" y="482599"/>
            <a:ext cx="9040045" cy="5791201"/>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3B9B9059-F1D6-41D0-95CF-D21CAA096B3A}" type="datetimeFigureOut">
              <a:rPr lang="en-US"/>
              <a:t>8/28/2017</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162" y="482600"/>
            <a:ext cx="10360501" cy="1219200"/>
          </a:xfrm>
          <a:prstGeom prst="rect">
            <a:avLst/>
          </a:prstGeom>
          <a:effectLst/>
        </p:spPr>
        <p:txBody>
          <a:bodyPr vert="horz" lIns="121899" tIns="60949" rIns="121899" bIns="60949" rtlCol="0" anchor="b" anchorCtr="0">
            <a:normAutofit/>
          </a:bodyPr>
          <a:lstStyle/>
          <a:p>
            <a:r>
              <a:rPr lang="en-US"/>
              <a:t>Click to edit Master title style</a:t>
            </a:r>
            <a:endParaRPr/>
          </a:p>
        </p:txBody>
      </p:sp>
      <p:sp>
        <p:nvSpPr>
          <p:cNvPr id="3" name="Text Placeholder 2"/>
          <p:cNvSpPr>
            <a:spLocks noGrp="1"/>
          </p:cNvSpPr>
          <p:nvPr>
            <p:ph type="body" idx="1"/>
          </p:nvPr>
        </p:nvSpPr>
        <p:spPr>
          <a:xfrm>
            <a:off x="914162" y="1803401"/>
            <a:ext cx="10360501"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735324" y="6375400"/>
            <a:ext cx="1422030" cy="195072"/>
          </a:xfrm>
          <a:prstGeom prst="rect">
            <a:avLst/>
          </a:prstGeom>
        </p:spPr>
        <p:txBody>
          <a:bodyPr vert="horz" lIns="121899" tIns="60949" rIns="121899" bIns="60949" rtlCol="0" anchor="ctr"/>
          <a:lstStyle>
            <a:lvl1pPr algn="r">
              <a:defRPr sz="1100">
                <a:solidFill>
                  <a:schemeClr val="tx1"/>
                </a:solidFill>
              </a:defRPr>
            </a:lvl1pPr>
          </a:lstStyle>
          <a:p>
            <a:fld id="{3B9B9059-F1D6-41D0-95CF-D21CAA096B3A}" type="datetimeFigureOut">
              <a:rPr lang="en-US"/>
              <a:pPr/>
              <a:t>8/28/2017</a:t>
            </a:fld>
            <a:endParaRPr/>
          </a:p>
        </p:txBody>
      </p:sp>
      <p:sp>
        <p:nvSpPr>
          <p:cNvPr id="5" name="Footer Placeholder 4"/>
          <p:cNvSpPr>
            <a:spLocks noGrp="1"/>
          </p:cNvSpPr>
          <p:nvPr>
            <p:ph type="ftr" sz="quarter" idx="3"/>
          </p:nvPr>
        </p:nvSpPr>
        <p:spPr>
          <a:xfrm>
            <a:off x="914162" y="6375400"/>
            <a:ext cx="7414869" cy="195072"/>
          </a:xfrm>
          <a:prstGeom prst="rect">
            <a:avLst/>
          </a:prstGeom>
        </p:spPr>
        <p:txBody>
          <a:bodyPr vert="horz" lIns="121899" tIns="60949" rIns="121899" bIns="60949" rtlCol="0" anchor="ctr"/>
          <a:lstStyle>
            <a:lvl1pPr algn="l">
              <a:defRPr sz="1100">
                <a:solidFill>
                  <a:schemeClr val="tx1"/>
                </a:solidFill>
              </a:defRPr>
            </a:lvl1pPr>
          </a:lstStyle>
          <a:p>
            <a:endParaRPr/>
          </a:p>
        </p:txBody>
      </p:sp>
      <p:sp>
        <p:nvSpPr>
          <p:cNvPr id="6" name="Slide Number Placeholder 5"/>
          <p:cNvSpPr>
            <a:spLocks noGrp="1"/>
          </p:cNvSpPr>
          <p:nvPr>
            <p:ph type="sldNum" sz="quarter" idx="4"/>
          </p:nvPr>
        </p:nvSpPr>
        <p:spPr>
          <a:xfrm>
            <a:off x="10441760" y="6375400"/>
            <a:ext cx="832903" cy="195072"/>
          </a:xfrm>
          <a:prstGeom prst="rect">
            <a:avLst/>
          </a:prstGeom>
        </p:spPr>
        <p:txBody>
          <a:bodyPr vert="horz" lIns="121899" tIns="60949" rIns="121899" bIns="60949" rtlCol="0" anchor="ctr"/>
          <a:lstStyle>
            <a:lvl1pPr algn="r">
              <a:defRPr sz="1100">
                <a:solidFill>
                  <a:schemeClr val="tx1"/>
                </a:solidFill>
              </a:defRPr>
            </a:lvl1pPr>
          </a:lstStyle>
          <a:p>
            <a:fld id="{E5FD5434-F838-4DD4-A17B-1CB1A1850DF4}" type="slidenum">
              <a:rPr/>
              <a:pPr/>
              <a:t>‹#›</a:t>
            </a:fld>
            <a:endParaRPr/>
          </a:p>
        </p:txBody>
      </p:sp>
    </p:spTree>
  </p:cSld>
  <p:clrMap bg1="dk1" tx1="lt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82" r:id="rId10"/>
    <p:sldLayoutId id="2147483678" r:id="rId11"/>
    <p:sldLayoutId id="214748367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80000"/>
        </a:lnSpc>
        <a:spcBef>
          <a:spcPct val="0"/>
        </a:spcBef>
        <a:buNone/>
        <a:defRPr sz="3600" kern="1200" cap="all" baseline="0">
          <a:solidFill>
            <a:schemeClr val="tx1"/>
          </a:solidFill>
          <a:effectLst/>
          <a:latin typeface="+mj-lt"/>
          <a:ea typeface="+mj-ea"/>
          <a:cs typeface="+mj-cs"/>
        </a:defRPr>
      </a:lvl1pPr>
    </p:titleStyle>
    <p:bodyStyle>
      <a:lvl1pPr marL="274320" indent="-274320" algn="l" defTabSz="1218987" rtl="0" eaLnBrk="1" latinLnBrk="0" hangingPunct="1">
        <a:lnSpc>
          <a:spcPct val="90000"/>
        </a:lnSpc>
        <a:spcBef>
          <a:spcPts val="1600"/>
        </a:spcBef>
        <a:buClr>
          <a:schemeClr val="tx2"/>
        </a:buClr>
        <a:buSzPct val="90000"/>
        <a:buFont typeface="Arial" pitchFamily="34" charset="0"/>
        <a:buChar char="•"/>
        <a:defRPr sz="2800" kern="1200">
          <a:solidFill>
            <a:schemeClr val="tx1"/>
          </a:solidFill>
          <a:latin typeface="+mn-lt"/>
          <a:ea typeface="+mn-ea"/>
          <a:cs typeface="+mn-cs"/>
        </a:defRPr>
      </a:lvl1pPr>
      <a:lvl2pPr marL="548640" indent="-274320" algn="l" defTabSz="1218987" rtl="0" eaLnBrk="1" latinLnBrk="0" hangingPunct="1">
        <a:lnSpc>
          <a:spcPct val="90000"/>
        </a:lnSpc>
        <a:spcBef>
          <a:spcPts val="800"/>
        </a:spcBef>
        <a:buClr>
          <a:schemeClr val="tx2"/>
        </a:buClr>
        <a:buSzPct val="90000"/>
        <a:buFont typeface="Cambria" pitchFamily="18" charset="0"/>
        <a:buChar char="–"/>
        <a:defRPr sz="2400" kern="1200">
          <a:solidFill>
            <a:schemeClr val="tx1"/>
          </a:solidFill>
          <a:latin typeface="+mn-lt"/>
          <a:ea typeface="+mn-ea"/>
          <a:cs typeface="+mn-cs"/>
        </a:defRPr>
      </a:lvl2pPr>
      <a:lvl3pPr marL="822960" indent="-274320" algn="l" defTabSz="1218987" rtl="0" eaLnBrk="1" latinLnBrk="0" hangingPunct="1">
        <a:lnSpc>
          <a:spcPct val="90000"/>
        </a:lnSpc>
        <a:spcBef>
          <a:spcPts val="800"/>
        </a:spcBef>
        <a:buClr>
          <a:schemeClr val="tx2"/>
        </a:buClr>
        <a:buFont typeface="Arial" pitchFamily="34" charset="0"/>
        <a:buChar char="•"/>
        <a:defRPr sz="2000" kern="1200">
          <a:solidFill>
            <a:schemeClr val="tx1"/>
          </a:solidFill>
          <a:latin typeface="+mn-lt"/>
          <a:ea typeface="+mn-ea"/>
          <a:cs typeface="+mn-cs"/>
        </a:defRPr>
      </a:lvl3pPr>
      <a:lvl4pPr marL="1097280" indent="-274320" algn="l" defTabSz="1218987" rtl="0" eaLnBrk="1" latinLnBrk="0" hangingPunct="1">
        <a:lnSpc>
          <a:spcPct val="90000"/>
        </a:lnSpc>
        <a:spcBef>
          <a:spcPts val="800"/>
        </a:spcBef>
        <a:buClr>
          <a:schemeClr val="tx2"/>
        </a:buClr>
        <a:buSzPct val="100000"/>
        <a:buFont typeface="Cambria" pitchFamily="18" charset="0"/>
        <a:buChar char="–"/>
        <a:defRPr sz="1800" kern="1200">
          <a:solidFill>
            <a:schemeClr val="tx1"/>
          </a:solidFill>
          <a:latin typeface="+mn-lt"/>
          <a:ea typeface="+mn-ea"/>
          <a:cs typeface="+mn-cs"/>
        </a:defRPr>
      </a:lvl4pPr>
      <a:lvl5pPr marL="137160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5pPr>
      <a:lvl6pPr marL="1645920" indent="-274320" algn="l" defTabSz="1218987" rtl="0" eaLnBrk="1" latinLnBrk="0" hangingPunct="1">
        <a:lnSpc>
          <a:spcPct val="90000"/>
        </a:lnSpc>
        <a:spcBef>
          <a:spcPts val="800"/>
        </a:spcBef>
        <a:buClr>
          <a:schemeClr val="tx2"/>
        </a:buClr>
        <a:buSzPct val="100000"/>
        <a:buFont typeface="Cambria" pitchFamily="18" charset="0"/>
        <a:buChar char="–"/>
        <a:defRPr sz="1600" kern="1200">
          <a:solidFill>
            <a:schemeClr val="tx1"/>
          </a:solidFill>
          <a:latin typeface="+mn-lt"/>
          <a:ea typeface="+mn-ea"/>
          <a:cs typeface="+mn-cs"/>
        </a:defRPr>
      </a:lvl6pPr>
      <a:lvl7pPr marL="192024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7pPr>
      <a:lvl8pPr marL="2194560" indent="-274320" algn="l" defTabSz="1218987" rtl="0" eaLnBrk="1" latinLnBrk="0" hangingPunct="1">
        <a:lnSpc>
          <a:spcPct val="90000"/>
        </a:lnSpc>
        <a:spcBef>
          <a:spcPts val="800"/>
        </a:spcBef>
        <a:buClr>
          <a:schemeClr val="tx2"/>
        </a:buClr>
        <a:buSzPct val="100000"/>
        <a:buFont typeface="Cambria" pitchFamily="18" charset="0"/>
        <a:buChar char="–"/>
        <a:defRPr sz="1600" kern="1200">
          <a:solidFill>
            <a:schemeClr val="tx1"/>
          </a:solidFill>
          <a:latin typeface="+mn-lt"/>
          <a:ea typeface="+mn-ea"/>
          <a:cs typeface="+mn-cs"/>
        </a:defRPr>
      </a:lvl8pPr>
      <a:lvl9pPr marL="246888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www.samuelchukwuemeka.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D-cFo_fhmS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livescience.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livescience.com/14010-infant-food-breast-fed-formula-health-consequence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218883" y="4140200"/>
            <a:ext cx="9751060" cy="2032000"/>
          </a:xfrm>
        </p:spPr>
        <p:txBody>
          <a:bodyPr>
            <a:normAutofit/>
          </a:bodyPr>
          <a:lstStyle/>
          <a:p>
            <a:pPr>
              <a:lnSpc>
                <a:spcPct val="150000"/>
              </a:lnSpc>
            </a:pPr>
            <a:r>
              <a:rPr lang="en-US" sz="4000" dirty="0"/>
              <a:t>Samuel Chukwuemeka   </a:t>
            </a:r>
            <a:r>
              <a:rPr lang="en-US" sz="2100" dirty="0"/>
              <a:t>B.Eng., A.A.T, M.Ed., M.S</a:t>
            </a:r>
          </a:p>
          <a:p>
            <a:pPr>
              <a:lnSpc>
                <a:spcPct val="150000"/>
              </a:lnSpc>
            </a:pPr>
            <a:r>
              <a:rPr lang="en-US" dirty="0">
                <a:hlinkClick r:id="rId2"/>
              </a:rPr>
              <a:t>www.samuelchukwuemeka.com</a:t>
            </a:r>
            <a:r>
              <a:rPr lang="en-US" dirty="0"/>
              <a:t> </a:t>
            </a:r>
          </a:p>
        </p:txBody>
      </p:sp>
      <p:sp>
        <p:nvSpPr>
          <p:cNvPr id="3" name="Title 2"/>
          <p:cNvSpPr>
            <a:spLocks noGrp="1"/>
          </p:cNvSpPr>
          <p:nvPr>
            <p:ph type="ctrTitle"/>
          </p:nvPr>
        </p:nvSpPr>
        <p:spPr/>
        <p:txBody>
          <a:bodyPr/>
          <a:lstStyle/>
          <a:p>
            <a:r>
              <a:rPr lang="en-US" dirty="0"/>
              <a:t>DATA collection – part 1</a:t>
            </a:r>
          </a:p>
        </p:txBody>
      </p:sp>
    </p:spTree>
    <p:extLst>
      <p:ext uri="{BB962C8B-B14F-4D97-AF65-F5344CB8AC3E}">
        <p14:creationId xmlns:p14="http://schemas.microsoft.com/office/powerpoint/2010/main" val="108287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O</a:t>
            </a:r>
            <a:r>
              <a:rPr lang="en-US" cap="none" dirty="0"/>
              <a:t>bjectives and</a:t>
            </a:r>
            <a:r>
              <a:rPr lang="en-US" dirty="0"/>
              <a:t> </a:t>
            </a:r>
            <a:r>
              <a:rPr lang="en-US" cap="none" dirty="0"/>
              <a:t>Pre-requisites</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a:latin typeface="Bell MT" panose="02020503060305020303" pitchFamily="18" charset="0"/>
              </a:rPr>
              <a:t>Students will:</a:t>
            </a:r>
          </a:p>
          <a:p>
            <a:pPr>
              <a:lnSpc>
                <a:spcPct val="100000"/>
              </a:lnSpc>
            </a:pPr>
            <a:r>
              <a:rPr lang="en-US" sz="2500" dirty="0">
                <a:latin typeface="Bell MT" panose="02020503060305020303" pitchFamily="18" charset="0"/>
              </a:rPr>
              <a:t>Differentiate between the two methods used for collecting data.</a:t>
            </a:r>
          </a:p>
          <a:p>
            <a:pPr>
              <a:lnSpc>
                <a:spcPct val="100000"/>
              </a:lnSpc>
            </a:pPr>
            <a:r>
              <a:rPr lang="en-US" sz="2500" dirty="0">
                <a:latin typeface="Bell MT" panose="02020503060305020303" pitchFamily="18" charset="0"/>
              </a:rPr>
              <a:t>Explain the various types of observational studies.</a:t>
            </a:r>
          </a:p>
          <a:p>
            <a:pPr>
              <a:lnSpc>
                <a:spcPct val="100000"/>
              </a:lnSpc>
            </a:pPr>
            <a:r>
              <a:rPr lang="en-US" sz="2500" dirty="0">
                <a:latin typeface="Bell MT" panose="02020503060305020303" pitchFamily="18" charset="0"/>
              </a:rPr>
              <a:t>Obtain a simple random sample.</a:t>
            </a:r>
          </a:p>
          <a:p>
            <a:pPr>
              <a:lnSpc>
                <a:spcPct val="100000"/>
              </a:lnSpc>
            </a:pPr>
            <a:r>
              <a:rPr lang="en-US" sz="2500" dirty="0">
                <a:latin typeface="Bell MT" panose="02020503060305020303" pitchFamily="18" charset="0"/>
              </a:rPr>
              <a:t>Obtain a stratified sample.</a:t>
            </a:r>
          </a:p>
          <a:p>
            <a:pPr>
              <a:lnSpc>
                <a:spcPct val="100000"/>
              </a:lnSpc>
            </a:pPr>
            <a:r>
              <a:rPr lang="en-US" sz="2500" dirty="0">
                <a:latin typeface="Bell MT" panose="02020503060305020303" pitchFamily="18" charset="0"/>
              </a:rPr>
              <a:t>Obtain a systematic sample.</a:t>
            </a:r>
          </a:p>
          <a:p>
            <a:pPr>
              <a:lnSpc>
                <a:spcPct val="100000"/>
              </a:lnSpc>
            </a:pPr>
            <a:r>
              <a:rPr lang="en-US" sz="2500" dirty="0">
                <a:latin typeface="Bell MT" panose="02020503060305020303" pitchFamily="18" charset="0"/>
              </a:rPr>
              <a:t>Obtain a cluster sample.</a:t>
            </a:r>
          </a:p>
          <a:p>
            <a:pPr>
              <a:lnSpc>
                <a:spcPct val="100000"/>
              </a:lnSpc>
            </a:pPr>
            <a:r>
              <a:rPr lang="en-US" sz="2500" dirty="0">
                <a:latin typeface="Bell MT" panose="02020503060305020303" pitchFamily="18" charset="0"/>
              </a:rPr>
              <a:t>Explain the sources of bias in sampling.</a:t>
            </a:r>
          </a:p>
          <a:p>
            <a:pPr>
              <a:lnSpc>
                <a:spcPct val="100000"/>
              </a:lnSpc>
            </a:pPr>
            <a:r>
              <a:rPr lang="en-US" sz="2500" dirty="0">
                <a:latin typeface="Bell MT" panose="02020503060305020303" pitchFamily="18" charset="0"/>
                <a:hlinkClick r:id="rId2"/>
              </a:rPr>
              <a:t>Introductory Statistics – Part 1</a:t>
            </a:r>
            <a:endParaRPr lang="en-US" sz="2500" dirty="0">
              <a:latin typeface="Bell MT" panose="02020503060305020303" pitchFamily="18" charset="0"/>
            </a:endParaRPr>
          </a:p>
        </p:txBody>
      </p:sp>
    </p:spTree>
    <p:extLst>
      <p:ext uri="{BB962C8B-B14F-4D97-AF65-F5344CB8AC3E}">
        <p14:creationId xmlns:p14="http://schemas.microsoft.com/office/powerpoint/2010/main" val="1795219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fontScale="90000"/>
          </a:bodyPr>
          <a:lstStyle/>
          <a:p>
            <a:r>
              <a:rPr lang="en-US" dirty="0" smtClean="0"/>
              <a:t>Association versus causation</a:t>
            </a:r>
            <a:r>
              <a:rPr lang="en-US" cap="none" dirty="0"/>
              <a:t>					</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smtClean="0">
                <a:latin typeface="Bell MT" panose="02020503060305020303" pitchFamily="18" charset="0"/>
              </a:rPr>
              <a:t>Name some things/phenomenon </a:t>
            </a:r>
            <a:r>
              <a:rPr lang="en-US" sz="2500" u="sng" dirty="0" smtClean="0">
                <a:latin typeface="Bell MT" panose="02020503060305020303" pitchFamily="18" charset="0"/>
              </a:rPr>
              <a:t>associated</a:t>
            </a:r>
            <a:r>
              <a:rPr lang="en-US" sz="2500" dirty="0" smtClean="0">
                <a:latin typeface="Bell MT" panose="02020503060305020303" pitchFamily="18" charset="0"/>
              </a:rPr>
              <a:t> with old age.</a:t>
            </a:r>
          </a:p>
          <a:p>
            <a:pPr>
              <a:lnSpc>
                <a:spcPct val="100000"/>
              </a:lnSpc>
            </a:pPr>
            <a:r>
              <a:rPr lang="en-US" sz="2500" dirty="0" smtClean="0">
                <a:latin typeface="Bell MT" panose="02020503060305020303" pitchFamily="18" charset="0"/>
              </a:rPr>
              <a:t>Name some things/habits that </a:t>
            </a:r>
            <a:r>
              <a:rPr lang="en-US" sz="2500" u="sng" dirty="0" smtClean="0">
                <a:latin typeface="Bell MT" panose="02020503060305020303" pitchFamily="18" charset="0"/>
              </a:rPr>
              <a:t>causes</a:t>
            </a:r>
            <a:r>
              <a:rPr lang="en-US" sz="2500" dirty="0" smtClean="0">
                <a:latin typeface="Bell MT" panose="02020503060305020303" pitchFamily="18" charset="0"/>
              </a:rPr>
              <a:t> cancer.</a:t>
            </a:r>
            <a:r>
              <a:rPr lang="en-US" sz="2500" dirty="0" smtClean="0">
                <a:latin typeface="Bell MT" panose="02020503060305020303" pitchFamily="18" charset="0"/>
              </a:rPr>
              <a:t> </a:t>
            </a:r>
          </a:p>
          <a:p>
            <a:pPr>
              <a:lnSpc>
                <a:spcPct val="100000"/>
              </a:lnSpc>
            </a:pPr>
            <a:r>
              <a:rPr lang="en-US" sz="2500" dirty="0" smtClean="0">
                <a:latin typeface="Bell MT" panose="02020503060305020303" pitchFamily="18" charset="0"/>
              </a:rPr>
              <a:t>What is the main difference?</a:t>
            </a:r>
          </a:p>
          <a:p>
            <a:pPr>
              <a:lnSpc>
                <a:spcPct val="100000"/>
              </a:lnSpc>
            </a:pPr>
            <a:r>
              <a:rPr lang="en-US" sz="2500" dirty="0" smtClean="0">
                <a:latin typeface="Bell MT" panose="02020503060305020303" pitchFamily="18" charset="0"/>
              </a:rPr>
              <a:t>What are some other differences?</a:t>
            </a:r>
          </a:p>
          <a:p>
            <a:pPr>
              <a:lnSpc>
                <a:spcPct val="100000"/>
              </a:lnSpc>
            </a:pPr>
            <a:endParaRPr lang="en-US" sz="2500" dirty="0" smtClean="0">
              <a:latin typeface="Bell MT" panose="02020503060305020303" pitchFamily="18" charset="0"/>
            </a:endParaRPr>
          </a:p>
        </p:txBody>
      </p:sp>
    </p:spTree>
    <p:extLst>
      <p:ext uri="{BB962C8B-B14F-4D97-AF65-F5344CB8AC3E}">
        <p14:creationId xmlns:p14="http://schemas.microsoft.com/office/powerpoint/2010/main" val="1922864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1</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a:latin typeface="Bell MT" panose="02020503060305020303" pitchFamily="18" charset="0"/>
              </a:rPr>
              <a:t>There are basically two methods of collecting data namely:</a:t>
            </a:r>
          </a:p>
          <a:p>
            <a:pPr>
              <a:lnSpc>
                <a:spcPct val="100000"/>
              </a:lnSpc>
            </a:pPr>
            <a:r>
              <a:rPr lang="en-US" sz="2500" u="sng" dirty="0">
                <a:latin typeface="Bell MT" panose="02020503060305020303" pitchFamily="18" charset="0"/>
              </a:rPr>
              <a:t>Observational Study</a:t>
            </a:r>
            <a:r>
              <a:rPr lang="en-US" sz="2500" dirty="0">
                <a:latin typeface="Bell MT" panose="02020503060305020303" pitchFamily="18" charset="0"/>
              </a:rPr>
              <a:t>: measures the value of the response </a:t>
            </a:r>
            <a:r>
              <a:rPr lang="en-US" sz="2500" dirty="0" smtClean="0">
                <a:latin typeface="Bell MT" panose="02020503060305020303" pitchFamily="18" charset="0"/>
              </a:rPr>
              <a:t>variable without </a:t>
            </a:r>
            <a:r>
              <a:rPr lang="en-US" sz="2500" dirty="0">
                <a:latin typeface="Bell MT" panose="02020503060305020303" pitchFamily="18" charset="0"/>
              </a:rPr>
              <a:t>attempting to influence the value of either the response or explanatory variables. We observe and measure specific characteristics of subjects without attempting to modify the subjects.</a:t>
            </a:r>
          </a:p>
          <a:p>
            <a:pPr>
              <a:lnSpc>
                <a:spcPct val="100000"/>
              </a:lnSpc>
            </a:pPr>
            <a:r>
              <a:rPr lang="en-US" sz="2500" u="sng" dirty="0">
                <a:latin typeface="Bell MT" panose="02020503060305020303" pitchFamily="18" charset="0"/>
              </a:rPr>
              <a:t>Experiments or Designed Experiments</a:t>
            </a:r>
            <a:r>
              <a:rPr lang="en-US" sz="2500" dirty="0">
                <a:latin typeface="Bell MT" panose="02020503060305020303" pitchFamily="18" charset="0"/>
              </a:rPr>
              <a:t>: is when we assign individuals to a certain group or experimental units, intentionally change the value of the explanatory variable, and then record the value of the response variable for each group. </a:t>
            </a:r>
            <a:endParaRPr lang="en-US" sz="2500" dirty="0" smtClean="0">
              <a:latin typeface="Bell MT" panose="02020503060305020303" pitchFamily="18" charset="0"/>
            </a:endParaRPr>
          </a:p>
          <a:p>
            <a:pPr>
              <a:lnSpc>
                <a:spcPct val="100000"/>
              </a:lnSpc>
            </a:pPr>
            <a:endParaRPr lang="en-US" sz="2500" dirty="0" smtClean="0">
              <a:latin typeface="Bell MT" panose="02020503060305020303" pitchFamily="18" charset="0"/>
            </a:endParaRPr>
          </a:p>
          <a:p>
            <a:pPr>
              <a:lnSpc>
                <a:spcPct val="100000"/>
              </a:lnSpc>
            </a:pPr>
            <a:r>
              <a:rPr lang="en-US" sz="2500" dirty="0" smtClean="0">
                <a:latin typeface="Bell MT" panose="02020503060305020303" pitchFamily="18" charset="0"/>
              </a:rPr>
              <a:t>The response variable is also known as the outcome variable.</a:t>
            </a:r>
          </a:p>
          <a:p>
            <a:pPr>
              <a:lnSpc>
                <a:spcPct val="100000"/>
              </a:lnSpc>
            </a:pPr>
            <a:r>
              <a:rPr lang="en-US" sz="2500" dirty="0" smtClean="0">
                <a:latin typeface="Bell MT" panose="02020503060305020303" pitchFamily="18" charset="0"/>
              </a:rPr>
              <a:t>The explanatory variable in this case, can be referred to as the treatment variable.</a:t>
            </a:r>
            <a:endParaRPr lang="en-US" sz="2500" dirty="0">
              <a:latin typeface="Bell MT" panose="02020503060305020303" pitchFamily="18" charset="0"/>
            </a:endParaRPr>
          </a:p>
        </p:txBody>
      </p:sp>
    </p:spTree>
    <p:extLst>
      <p:ext uri="{BB962C8B-B14F-4D97-AF65-F5344CB8AC3E}">
        <p14:creationId xmlns:p14="http://schemas.microsoft.com/office/powerpoint/2010/main" val="339697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smtClean="0"/>
              <a:t>Controlled experiments</a:t>
            </a:r>
            <a:r>
              <a:rPr lang="en-US" cap="none" dirty="0"/>
              <a:t>				1</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smtClean="0">
                <a:latin typeface="Bell MT" panose="02020503060305020303" pitchFamily="18" charset="0"/>
              </a:rPr>
              <a:t>The following characteristics should be noted:</a:t>
            </a:r>
          </a:p>
          <a:p>
            <a:pPr>
              <a:lnSpc>
                <a:spcPct val="100000"/>
              </a:lnSpc>
            </a:pPr>
            <a:endParaRPr lang="en-US" sz="2500" dirty="0" smtClean="0">
              <a:latin typeface="Bell MT" panose="02020503060305020303" pitchFamily="18" charset="0"/>
            </a:endParaRPr>
          </a:p>
          <a:p>
            <a:pPr>
              <a:lnSpc>
                <a:spcPct val="100000"/>
              </a:lnSpc>
            </a:pPr>
            <a:r>
              <a:rPr lang="en-US" sz="2500" dirty="0" smtClean="0">
                <a:latin typeface="Bell MT" panose="02020503060305020303" pitchFamily="18" charset="0"/>
              </a:rPr>
              <a:t>Large sample size: the study should include the full range of variation among the population and allow for small differences to be noticed.</a:t>
            </a:r>
          </a:p>
          <a:p>
            <a:pPr>
              <a:lnSpc>
                <a:spcPct val="100000"/>
              </a:lnSpc>
            </a:pPr>
            <a:r>
              <a:rPr lang="en-US" sz="2500" dirty="0" smtClean="0">
                <a:latin typeface="Bell MT" panose="02020503060305020303" pitchFamily="18" charset="0"/>
              </a:rPr>
              <a:t>Controlled and randomized: random assignment of subjects to treatment or control groups (comparison groups) to minimize bias.</a:t>
            </a:r>
          </a:p>
          <a:p>
            <a:pPr>
              <a:lnSpc>
                <a:spcPct val="100000"/>
              </a:lnSpc>
            </a:pPr>
            <a:r>
              <a:rPr lang="en-US" sz="2500" dirty="0" smtClean="0">
                <a:latin typeface="Bell MT" panose="02020503060305020303" pitchFamily="18" charset="0"/>
              </a:rPr>
              <a:t>Double-blind: neither subjects nor researchers know who is in which group.</a:t>
            </a:r>
          </a:p>
          <a:p>
            <a:pPr>
              <a:lnSpc>
                <a:spcPct val="100000"/>
              </a:lnSpc>
            </a:pPr>
            <a:r>
              <a:rPr lang="en-US" sz="2500" dirty="0" smtClean="0">
                <a:latin typeface="Bell MT" panose="02020503060305020303" pitchFamily="18" charset="0"/>
              </a:rPr>
              <a:t>Placebo: controls for </a:t>
            </a:r>
            <a:r>
              <a:rPr lang="en-US" sz="2500" smtClean="0">
                <a:latin typeface="Bell MT" panose="02020503060305020303" pitchFamily="18" charset="0"/>
              </a:rPr>
              <a:t>possible differences </a:t>
            </a:r>
            <a:r>
              <a:rPr lang="en-US" sz="2500" dirty="0" smtClean="0">
                <a:latin typeface="Bell MT" panose="02020503060305020303" pitchFamily="18" charset="0"/>
              </a:rPr>
              <a:t>between groups that occur simply because some subjects are more likely than others to expect their treatment to be effective.</a:t>
            </a:r>
          </a:p>
        </p:txBody>
      </p:sp>
    </p:spTree>
    <p:extLst>
      <p:ext uri="{BB962C8B-B14F-4D97-AF65-F5344CB8AC3E}">
        <p14:creationId xmlns:p14="http://schemas.microsoft.com/office/powerpoint/2010/main" val="1912955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animEffect transition="in" filter="fade">
                                      <p:cBhvr>
                                        <p:cTn id="35" dur="1000"/>
                                        <p:tgtEl>
                                          <p:spTgt spid="14">
                                            <p:txEl>
                                              <p:pRg st="5" end="5"/>
                                            </p:txEl>
                                          </p:spTgt>
                                        </p:tgtEl>
                                      </p:cBhvr>
                                    </p:animEffect>
                                    <p:anim calcmode="lin" valueType="num">
                                      <p:cBhvr>
                                        <p:cTn id="36"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2</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u="sng" dirty="0">
                <a:latin typeface="Bell MT" panose="02020503060305020303" pitchFamily="18" charset="0"/>
              </a:rPr>
              <a:t>Breast milk versus Formula</a:t>
            </a:r>
            <a:r>
              <a:rPr lang="en-US" sz="2500" dirty="0">
                <a:latin typeface="Bell MT" panose="02020503060305020303" pitchFamily="18" charset="0"/>
              </a:rPr>
              <a:t>: The study involved 234 infants who were divided into three groups. One group was exclusively breast-fed for the first four months of life. Infants in the other two groups were randomly assigned to receive either a low-protein formula or a high-protein formula. When the infants were 15 days old, the levels of the hormone, insulin in their blood was measured. (Article from </a:t>
            </a:r>
            <a:r>
              <a:rPr lang="en-US" sz="2500" dirty="0">
                <a:latin typeface="Bell MT" panose="02020503060305020303" pitchFamily="18" charset="0"/>
                <a:hlinkClick r:id="rId2"/>
              </a:rPr>
              <a:t>www.livescience.com</a:t>
            </a:r>
            <a:r>
              <a:rPr lang="en-US" sz="2500" dirty="0">
                <a:latin typeface="Bell MT" panose="02020503060305020303" pitchFamily="18" charset="0"/>
              </a:rPr>
              <a:t>). </a:t>
            </a:r>
            <a:endParaRPr lang="en-US" sz="2500" dirty="0" smtClean="0">
              <a:latin typeface="Bell MT" panose="02020503060305020303" pitchFamily="18" charset="0"/>
            </a:endParaRPr>
          </a:p>
          <a:p>
            <a:pPr>
              <a:lnSpc>
                <a:spcPct val="100000"/>
              </a:lnSpc>
            </a:pPr>
            <a:r>
              <a:rPr lang="en-US" sz="2500" dirty="0" smtClean="0">
                <a:solidFill>
                  <a:srgbClr val="FFFF00"/>
                </a:solidFill>
                <a:latin typeface="Bell MT" panose="02020503060305020303" pitchFamily="18" charset="0"/>
              </a:rPr>
              <a:t>The </a:t>
            </a:r>
            <a:r>
              <a:rPr lang="en-US" sz="2500" dirty="0">
                <a:solidFill>
                  <a:srgbClr val="FFFF00"/>
                </a:solidFill>
                <a:latin typeface="Bell MT" panose="02020503060305020303" pitchFamily="18" charset="0"/>
              </a:rPr>
              <a:t>study is a </a:t>
            </a:r>
            <a:r>
              <a:rPr lang="en-US" sz="2500" u="sng" dirty="0" smtClean="0">
                <a:solidFill>
                  <a:srgbClr val="FFFF00"/>
                </a:solidFill>
                <a:latin typeface="Bell MT" panose="02020503060305020303" pitchFamily="18" charset="0"/>
              </a:rPr>
              <a:t>controlled </a:t>
            </a:r>
            <a:r>
              <a:rPr lang="en-US" sz="2500" u="sng" dirty="0">
                <a:solidFill>
                  <a:srgbClr val="FFFF00"/>
                </a:solidFill>
                <a:latin typeface="Bell MT" panose="02020503060305020303" pitchFamily="18" charset="0"/>
              </a:rPr>
              <a:t>experiment</a:t>
            </a:r>
            <a:r>
              <a:rPr lang="en-US" sz="2500" dirty="0">
                <a:solidFill>
                  <a:srgbClr val="FFFF00"/>
                </a:solidFill>
                <a:latin typeface="Bell MT" panose="02020503060305020303" pitchFamily="18" charset="0"/>
              </a:rPr>
              <a:t> because the researchers </a:t>
            </a:r>
            <a:r>
              <a:rPr lang="en-US" sz="2500" dirty="0" smtClean="0">
                <a:solidFill>
                  <a:srgbClr val="FFFF00"/>
                </a:solidFill>
                <a:latin typeface="Bell MT" panose="02020503060305020303" pitchFamily="18" charset="0"/>
              </a:rPr>
              <a:t>controlled </a:t>
            </a:r>
            <a:r>
              <a:rPr lang="en-US" sz="2500" dirty="0">
                <a:solidFill>
                  <a:srgbClr val="FFFF00"/>
                </a:solidFill>
                <a:latin typeface="Bell MT" panose="02020503060305020303" pitchFamily="18" charset="0"/>
              </a:rPr>
              <a:t>one variable to determine the effect on the response variable. </a:t>
            </a:r>
            <a:r>
              <a:rPr lang="en-US" sz="2500" dirty="0" smtClean="0">
                <a:solidFill>
                  <a:srgbClr val="FFFF00"/>
                </a:solidFill>
                <a:latin typeface="Bell MT" panose="02020503060305020303" pitchFamily="18" charset="0"/>
              </a:rPr>
              <a:t>There was at least a treatment group (exclusive breastfeeding) and a control group (given formula).</a:t>
            </a:r>
            <a:endParaRPr lang="en-US" sz="2500" dirty="0">
              <a:latin typeface="Bell MT" panose="02020503060305020303" pitchFamily="18" charset="0"/>
            </a:endParaRPr>
          </a:p>
          <a:p>
            <a:pPr lvl="0">
              <a:lnSpc>
                <a:spcPct val="100000"/>
              </a:lnSpc>
              <a:buClr>
                <a:srgbClr val="BCB49E"/>
              </a:buClr>
            </a:pPr>
            <a:r>
              <a:rPr lang="en-US" sz="2500" dirty="0">
                <a:solidFill>
                  <a:prstClr val="white"/>
                </a:solidFill>
                <a:latin typeface="Bell MT" panose="02020503060305020303" pitchFamily="18" charset="0"/>
              </a:rPr>
              <a:t>A student watched people with a cooler of soft drinks to see whether teenagers were less likely than adults to choose diet sodas over the regular sodas. </a:t>
            </a:r>
          </a:p>
          <a:p>
            <a:pPr lvl="0">
              <a:lnSpc>
                <a:spcPct val="100000"/>
              </a:lnSpc>
              <a:buClr>
                <a:srgbClr val="BCB49E"/>
              </a:buClr>
            </a:pPr>
            <a:r>
              <a:rPr lang="en-US" sz="2500" dirty="0">
                <a:solidFill>
                  <a:srgbClr val="FFFF00"/>
                </a:solidFill>
                <a:latin typeface="Bell MT" panose="02020503060305020303" pitchFamily="18" charset="0"/>
              </a:rPr>
              <a:t>This is an </a:t>
            </a:r>
            <a:r>
              <a:rPr lang="en-US" sz="2500" u="sng" dirty="0">
                <a:solidFill>
                  <a:srgbClr val="FFFF00"/>
                </a:solidFill>
                <a:latin typeface="Bell MT" panose="02020503060305020303" pitchFamily="18" charset="0"/>
              </a:rPr>
              <a:t>observational study</a:t>
            </a:r>
            <a:r>
              <a:rPr lang="en-US" sz="2500" dirty="0">
                <a:solidFill>
                  <a:srgbClr val="FFFF00"/>
                </a:solidFill>
                <a:latin typeface="Bell MT" panose="02020503060305020303" pitchFamily="18" charset="0"/>
              </a:rPr>
              <a:t> because the subjects (the people) were not given treatments. The subjects were not modified</a:t>
            </a:r>
            <a:r>
              <a:rPr lang="en-US" sz="2500" dirty="0">
                <a:solidFill>
                  <a:prstClr val="white"/>
                </a:solidFill>
                <a:latin typeface="Bell MT" panose="02020503060305020303" pitchFamily="18" charset="0"/>
              </a:rPr>
              <a:t>. </a:t>
            </a:r>
          </a:p>
          <a:p>
            <a:pPr>
              <a:lnSpc>
                <a:spcPct val="100000"/>
              </a:lnSpc>
            </a:pPr>
            <a:endParaRPr lang="en-US" sz="2500" dirty="0">
              <a:latin typeface="Bell MT" panose="02020503060305020303" pitchFamily="18" charset="0"/>
            </a:endParaRPr>
          </a:p>
        </p:txBody>
      </p:sp>
    </p:spTree>
    <p:extLst>
      <p:ext uri="{BB962C8B-B14F-4D97-AF65-F5344CB8AC3E}">
        <p14:creationId xmlns:p14="http://schemas.microsoft.com/office/powerpoint/2010/main" val="2142561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a:t>
            </a:r>
            <a:r>
              <a:rPr lang="en-US" cap="none" dirty="0"/>
              <a:t>3</a:t>
            </a:r>
            <a:endParaRPr lang="en-US" cap="none" dirty="0"/>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smtClean="0">
                <a:latin typeface="Bell MT" panose="02020503060305020303" pitchFamily="18" charset="0"/>
              </a:rPr>
              <a:t>Records of patients who have had broken ankles were examined to see whether those who had physical therapy achieved more ankle mobility than those who did not. </a:t>
            </a:r>
            <a:endParaRPr lang="en-US" sz="2500" dirty="0">
              <a:latin typeface="Bell MT" panose="02020503060305020303" pitchFamily="18" charset="0"/>
            </a:endParaRPr>
          </a:p>
          <a:p>
            <a:pPr>
              <a:lnSpc>
                <a:spcPct val="100000"/>
              </a:lnSpc>
            </a:pPr>
            <a:r>
              <a:rPr lang="en-US" sz="2500" dirty="0">
                <a:solidFill>
                  <a:srgbClr val="FFFF00"/>
                </a:solidFill>
                <a:latin typeface="Bell MT" panose="02020503060305020303" pitchFamily="18" charset="0"/>
              </a:rPr>
              <a:t>This is an </a:t>
            </a:r>
            <a:r>
              <a:rPr lang="en-US" sz="2500" u="sng" dirty="0">
                <a:solidFill>
                  <a:srgbClr val="FFFF00"/>
                </a:solidFill>
                <a:latin typeface="Bell MT" panose="02020503060305020303" pitchFamily="18" charset="0"/>
              </a:rPr>
              <a:t>observational study</a:t>
            </a:r>
            <a:r>
              <a:rPr lang="en-US" sz="2500" dirty="0">
                <a:solidFill>
                  <a:srgbClr val="FFFF00"/>
                </a:solidFill>
                <a:latin typeface="Bell MT" panose="02020503060305020303" pitchFamily="18" charset="0"/>
              </a:rPr>
              <a:t> because the subjects (the </a:t>
            </a:r>
            <a:r>
              <a:rPr lang="en-US" sz="2500" dirty="0" smtClean="0">
                <a:solidFill>
                  <a:srgbClr val="FFFF00"/>
                </a:solidFill>
                <a:latin typeface="Bell MT" panose="02020503060305020303" pitchFamily="18" charset="0"/>
              </a:rPr>
              <a:t>patients) </a:t>
            </a:r>
            <a:r>
              <a:rPr lang="en-US" sz="2500" dirty="0">
                <a:solidFill>
                  <a:srgbClr val="FFFF00"/>
                </a:solidFill>
                <a:latin typeface="Bell MT" panose="02020503060305020303" pitchFamily="18" charset="0"/>
              </a:rPr>
              <a:t>were not given treatments. </a:t>
            </a:r>
            <a:r>
              <a:rPr lang="en-US" sz="2500" dirty="0" smtClean="0">
                <a:solidFill>
                  <a:srgbClr val="FFFF00"/>
                </a:solidFill>
                <a:latin typeface="Bell MT" panose="02020503060305020303" pitchFamily="18" charset="0"/>
              </a:rPr>
              <a:t>They were just examined. The researchers did not assign subjects to the control or treatment group beforehand, they did not satisfy a key feature of controlled experiments</a:t>
            </a:r>
            <a:r>
              <a:rPr lang="en-US" sz="2500" dirty="0" smtClean="0">
                <a:latin typeface="Bell MT" panose="02020503060305020303" pitchFamily="18" charset="0"/>
              </a:rPr>
              <a:t>. </a:t>
            </a:r>
            <a:endParaRPr lang="en-US" sz="2500" dirty="0">
              <a:latin typeface="Bell MT" panose="02020503060305020303" pitchFamily="18" charset="0"/>
            </a:endParaRPr>
          </a:p>
          <a:p>
            <a:pPr>
              <a:lnSpc>
                <a:spcPct val="100000"/>
              </a:lnSpc>
            </a:pPr>
            <a:r>
              <a:rPr lang="en-US" sz="2500" dirty="0" smtClean="0">
                <a:latin typeface="Bell MT" panose="02020503060305020303" pitchFamily="18" charset="0"/>
              </a:rPr>
              <a:t>A researcher was interested in the effect of exercise on memory. She randomly assigned half of a group of students to run a mile and the other half to sit and relax during that period. Each student was then  asked to memorize a series of random 9-digit numbers. She compared the numbers of digits remembered for the two groups.</a:t>
            </a:r>
            <a:endParaRPr lang="en-US" sz="2500" dirty="0">
              <a:latin typeface="Bell MT" panose="02020503060305020303" pitchFamily="18" charset="0"/>
            </a:endParaRPr>
          </a:p>
          <a:p>
            <a:pPr>
              <a:lnSpc>
                <a:spcPct val="100000"/>
              </a:lnSpc>
            </a:pPr>
            <a:r>
              <a:rPr lang="en-US" sz="2500" dirty="0" smtClean="0">
                <a:solidFill>
                  <a:srgbClr val="FFFF00"/>
                </a:solidFill>
                <a:latin typeface="Bell MT" panose="02020503060305020303" pitchFamily="18" charset="0"/>
              </a:rPr>
              <a:t>This is a </a:t>
            </a:r>
            <a:r>
              <a:rPr lang="en-US" sz="2500" u="sng" dirty="0" smtClean="0">
                <a:solidFill>
                  <a:srgbClr val="FFFF00"/>
                </a:solidFill>
                <a:latin typeface="Bell MT" panose="02020503060305020303" pitchFamily="18" charset="0"/>
              </a:rPr>
              <a:t>controlled experimen</a:t>
            </a:r>
            <a:r>
              <a:rPr lang="en-US" sz="2500" dirty="0" smtClean="0">
                <a:solidFill>
                  <a:srgbClr val="FFFF00"/>
                </a:solidFill>
                <a:latin typeface="Bell MT" panose="02020503060305020303" pitchFamily="18" charset="0"/>
              </a:rPr>
              <a:t>t because she separated her students into at least two groups – the treatment group (the runners) and the control group (the sitters).</a:t>
            </a:r>
            <a:r>
              <a:rPr lang="en-US" sz="2500" dirty="0" smtClean="0">
                <a:latin typeface="Bell MT" panose="02020503060305020303" pitchFamily="18" charset="0"/>
              </a:rPr>
              <a:t> </a:t>
            </a:r>
            <a:endParaRPr lang="en-US" sz="2500" dirty="0">
              <a:latin typeface="Bell MT" panose="02020503060305020303" pitchFamily="18" charset="0"/>
            </a:endParaRPr>
          </a:p>
          <a:p>
            <a:pPr>
              <a:lnSpc>
                <a:spcPct val="100000"/>
              </a:lnSpc>
            </a:pPr>
            <a:endParaRPr lang="en-US" sz="2500" dirty="0">
              <a:latin typeface="Bell MT" panose="02020503060305020303" pitchFamily="18" charset="0"/>
            </a:endParaRPr>
          </a:p>
        </p:txBody>
      </p:sp>
    </p:spTree>
    <p:extLst>
      <p:ext uri="{BB962C8B-B14F-4D97-AF65-F5344CB8AC3E}">
        <p14:creationId xmlns:p14="http://schemas.microsoft.com/office/powerpoint/2010/main" val="1008610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a:t>
            </a:r>
            <a:r>
              <a:rPr lang="en-US" cap="none" dirty="0" smtClean="0"/>
              <a:t>4</a:t>
            </a:r>
            <a:endParaRPr lang="en-US" cap="none" dirty="0"/>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smtClean="0">
                <a:latin typeface="Bell MT" panose="02020503060305020303" pitchFamily="18" charset="0"/>
              </a:rPr>
              <a:t>A group of teenagers were randomly divided into two groups. One group watched violent video games for an hour. The other group watched non-violent video games for an hour. The teenagers were then observed to see how many violent actions they take in the next two hours, and the two groups are compared. </a:t>
            </a:r>
          </a:p>
          <a:p>
            <a:pPr>
              <a:lnSpc>
                <a:spcPct val="100000"/>
              </a:lnSpc>
            </a:pPr>
            <a:r>
              <a:rPr lang="en-US" sz="2500" dirty="0" smtClean="0">
                <a:solidFill>
                  <a:srgbClr val="FFFF00"/>
                </a:solidFill>
                <a:latin typeface="Bell MT" panose="02020503060305020303" pitchFamily="18" charset="0"/>
              </a:rPr>
              <a:t>This is a </a:t>
            </a:r>
            <a:r>
              <a:rPr lang="en-US" sz="2500" u="sng" dirty="0" smtClean="0">
                <a:solidFill>
                  <a:srgbClr val="FFFF00"/>
                </a:solidFill>
                <a:latin typeface="Bell MT" panose="02020503060305020303" pitchFamily="18" charset="0"/>
              </a:rPr>
              <a:t>controlled</a:t>
            </a:r>
            <a:r>
              <a:rPr lang="en-US" sz="2500" u="sng" dirty="0" smtClean="0">
                <a:solidFill>
                  <a:srgbClr val="FFFF00"/>
                </a:solidFill>
                <a:latin typeface="Bell MT" panose="02020503060305020303" pitchFamily="18" charset="0"/>
              </a:rPr>
              <a:t> experiment</a:t>
            </a:r>
            <a:r>
              <a:rPr lang="en-US" sz="2500" dirty="0" smtClean="0">
                <a:solidFill>
                  <a:srgbClr val="FFFF00"/>
                </a:solidFill>
                <a:latin typeface="Bell MT" panose="02020503060305020303" pitchFamily="18" charset="0"/>
              </a:rPr>
              <a:t> because the subjects (the people) were subjected to treatment group (watching the violent video games), and the control group (watching the non-violent video games). </a:t>
            </a:r>
            <a:r>
              <a:rPr lang="en-US" sz="2500" dirty="0" smtClean="0">
                <a:latin typeface="Bell MT" panose="02020503060305020303" pitchFamily="18" charset="0"/>
              </a:rPr>
              <a:t> </a:t>
            </a:r>
          </a:p>
          <a:p>
            <a:pPr lvl="0">
              <a:lnSpc>
                <a:spcPct val="100000"/>
              </a:lnSpc>
              <a:buClr>
                <a:srgbClr val="BCB49E"/>
              </a:buClr>
            </a:pPr>
            <a:r>
              <a:rPr lang="en-US" sz="2500" dirty="0" smtClean="0">
                <a:solidFill>
                  <a:prstClr val="white"/>
                </a:solidFill>
                <a:latin typeface="Bell MT" panose="02020503060305020303" pitchFamily="18" charset="0"/>
              </a:rPr>
              <a:t>A researcher was interested in the effects of exercise on academic performance on students. He attended the physical education class, and noted students who were exercising, and those who did not. He then compared their grades. </a:t>
            </a:r>
            <a:endParaRPr lang="en-US" sz="2500" dirty="0">
              <a:solidFill>
                <a:prstClr val="white"/>
              </a:solidFill>
              <a:latin typeface="Bell MT" panose="02020503060305020303" pitchFamily="18" charset="0"/>
            </a:endParaRPr>
          </a:p>
          <a:p>
            <a:pPr lvl="0">
              <a:lnSpc>
                <a:spcPct val="100000"/>
              </a:lnSpc>
              <a:buClr>
                <a:srgbClr val="BCB49E"/>
              </a:buClr>
            </a:pPr>
            <a:r>
              <a:rPr lang="en-US" sz="2500" dirty="0">
                <a:solidFill>
                  <a:srgbClr val="FFFF00"/>
                </a:solidFill>
                <a:latin typeface="Bell MT" panose="02020503060305020303" pitchFamily="18" charset="0"/>
              </a:rPr>
              <a:t>This is an </a:t>
            </a:r>
            <a:r>
              <a:rPr lang="en-US" sz="2500" u="sng" dirty="0">
                <a:solidFill>
                  <a:srgbClr val="FFFF00"/>
                </a:solidFill>
                <a:latin typeface="Bell MT" panose="02020503060305020303" pitchFamily="18" charset="0"/>
              </a:rPr>
              <a:t>observational study</a:t>
            </a:r>
            <a:r>
              <a:rPr lang="en-US" sz="2500" dirty="0">
                <a:solidFill>
                  <a:srgbClr val="FFFF00"/>
                </a:solidFill>
                <a:latin typeface="Bell MT" panose="02020503060305020303" pitchFamily="18" charset="0"/>
              </a:rPr>
              <a:t> because the subjects (the people) were </a:t>
            </a:r>
            <a:r>
              <a:rPr lang="en-US" sz="2500" dirty="0" smtClean="0">
                <a:solidFill>
                  <a:srgbClr val="FFFF00"/>
                </a:solidFill>
                <a:latin typeface="Bell MT" panose="02020503060305020303" pitchFamily="18" charset="0"/>
              </a:rPr>
              <a:t>in the treatment group (exercise) or control group (no exercise) by their own voluntary decisions.</a:t>
            </a:r>
            <a:endParaRPr lang="en-US" sz="2500" dirty="0">
              <a:solidFill>
                <a:prstClr val="white"/>
              </a:solidFill>
              <a:latin typeface="Bell MT" panose="02020503060305020303" pitchFamily="18" charset="0"/>
            </a:endParaRPr>
          </a:p>
          <a:p>
            <a:pPr marL="0" indent="0">
              <a:lnSpc>
                <a:spcPct val="100000"/>
              </a:lnSpc>
              <a:buNone/>
            </a:pPr>
            <a:endParaRPr lang="en-US" sz="2500" dirty="0">
              <a:latin typeface="Bell MT" panose="02020503060305020303" pitchFamily="18" charset="0"/>
            </a:endParaRPr>
          </a:p>
        </p:txBody>
      </p:sp>
    </p:spTree>
    <p:extLst>
      <p:ext uri="{BB962C8B-B14F-4D97-AF65-F5344CB8AC3E}">
        <p14:creationId xmlns:p14="http://schemas.microsoft.com/office/powerpoint/2010/main" val="195056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Compare and contrast</a:t>
            </a:r>
            <a:endParaRPr lang="en-US" dirty="0"/>
          </a:p>
        </p:txBody>
      </p:sp>
      <p:sp>
        <p:nvSpPr>
          <p:cNvPr id="3" name="Text Placeholder 2"/>
          <p:cNvSpPr>
            <a:spLocks noGrp="1"/>
          </p:cNvSpPr>
          <p:nvPr>
            <p:ph type="body" idx="1"/>
          </p:nvPr>
        </p:nvSpPr>
        <p:spPr/>
        <p:txBody>
          <a:bodyPr/>
          <a:lstStyle/>
          <a:p>
            <a:r>
              <a:rPr lang="en-US" dirty="0" smtClean="0"/>
              <a:t>Observational Study	</a:t>
            </a:r>
            <a:endParaRPr lang="en-US" dirty="0"/>
          </a:p>
        </p:txBody>
      </p:sp>
      <p:sp>
        <p:nvSpPr>
          <p:cNvPr id="4" name="Content Placeholder 3"/>
          <p:cNvSpPr>
            <a:spLocks noGrp="1"/>
          </p:cNvSpPr>
          <p:nvPr>
            <p:ph sz="half" idx="2"/>
          </p:nvPr>
        </p:nvSpPr>
        <p:spPr/>
        <p:txBody>
          <a:bodyPr/>
          <a:lstStyle/>
          <a:p>
            <a:r>
              <a:rPr lang="en-US" dirty="0" smtClean="0"/>
              <a:t>Subjects may or may not be divided into treatment groups and control groups.</a:t>
            </a:r>
            <a:r>
              <a:rPr lang="en-US" dirty="0"/>
              <a:t> </a:t>
            </a:r>
            <a:r>
              <a:rPr lang="en-US" dirty="0" smtClean="0"/>
              <a:t>If the subjects are in groups, it is of their own decisions, or by someone other than the researcher.</a:t>
            </a:r>
          </a:p>
          <a:p>
            <a:r>
              <a:rPr lang="en-US" u="sng" dirty="0">
                <a:solidFill>
                  <a:prstClr val="white"/>
                </a:solidFill>
                <a:latin typeface="Bell MT" panose="02020503060305020303" pitchFamily="18" charset="0"/>
              </a:rPr>
              <a:t>allows us to claim association </a:t>
            </a:r>
            <a:r>
              <a:rPr lang="en-US" dirty="0">
                <a:solidFill>
                  <a:prstClr val="white"/>
                </a:solidFill>
                <a:latin typeface="Bell MT" panose="02020503060305020303" pitchFamily="18" charset="0"/>
              </a:rPr>
              <a:t>between an explanatory variable and a response variable</a:t>
            </a:r>
            <a:endParaRPr lang="en-US" dirty="0" smtClean="0"/>
          </a:p>
          <a:p>
            <a:endParaRPr lang="en-US" dirty="0" smtClean="0"/>
          </a:p>
        </p:txBody>
      </p:sp>
      <p:sp>
        <p:nvSpPr>
          <p:cNvPr id="5" name="Text Placeholder 4"/>
          <p:cNvSpPr>
            <a:spLocks noGrp="1"/>
          </p:cNvSpPr>
          <p:nvPr>
            <p:ph type="body" sz="quarter" idx="3"/>
          </p:nvPr>
        </p:nvSpPr>
        <p:spPr/>
        <p:txBody>
          <a:bodyPr/>
          <a:lstStyle/>
          <a:p>
            <a:r>
              <a:rPr lang="en-US" dirty="0" smtClean="0"/>
              <a:t>Controlled Experiment</a:t>
            </a:r>
            <a:endParaRPr lang="en-US" dirty="0"/>
          </a:p>
        </p:txBody>
      </p:sp>
      <p:sp>
        <p:nvSpPr>
          <p:cNvPr id="6" name="Content Placeholder 5"/>
          <p:cNvSpPr>
            <a:spLocks noGrp="1"/>
          </p:cNvSpPr>
          <p:nvPr>
            <p:ph sz="quarter" idx="4"/>
          </p:nvPr>
        </p:nvSpPr>
        <p:spPr/>
        <p:txBody>
          <a:bodyPr/>
          <a:lstStyle/>
          <a:p>
            <a:r>
              <a:rPr lang="en-US" dirty="0" smtClean="0"/>
              <a:t>Subjects are divided into treatment groups (the groups you modify) and control groups (the groups not modified)  by the researcher.</a:t>
            </a:r>
          </a:p>
          <a:p>
            <a:r>
              <a:rPr lang="en-US" u="sng" dirty="0">
                <a:solidFill>
                  <a:prstClr val="white"/>
                </a:solidFill>
                <a:latin typeface="Bell MT" panose="02020503060305020303" pitchFamily="18" charset="0"/>
              </a:rPr>
              <a:t>allows us to claim causation </a:t>
            </a:r>
            <a:r>
              <a:rPr lang="en-US" dirty="0">
                <a:solidFill>
                  <a:prstClr val="white"/>
                </a:solidFill>
                <a:latin typeface="Bell MT" panose="02020503060305020303" pitchFamily="18" charset="0"/>
              </a:rPr>
              <a:t>between an explanatory variable and a response variable.</a:t>
            </a:r>
            <a:endParaRPr lang="en-US" dirty="0"/>
          </a:p>
        </p:txBody>
      </p:sp>
    </p:spTree>
    <p:extLst>
      <p:ext uri="{BB962C8B-B14F-4D97-AF65-F5344CB8AC3E}">
        <p14:creationId xmlns:p14="http://schemas.microsoft.com/office/powerpoint/2010/main" val="94021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a:t>
            </a:r>
            <a:r>
              <a:rPr lang="en-US" cap="none" dirty="0" smtClean="0"/>
              <a:t>5</a:t>
            </a:r>
            <a:endParaRPr lang="en-US" cap="none" dirty="0"/>
          </a:p>
        </p:txBody>
      </p:sp>
      <p:sp>
        <p:nvSpPr>
          <p:cNvPr id="14" name="Content Placeholder 13"/>
          <p:cNvSpPr>
            <a:spLocks noGrp="1"/>
          </p:cNvSpPr>
          <p:nvPr>
            <p:ph idx="1"/>
          </p:nvPr>
        </p:nvSpPr>
        <p:spPr>
          <a:xfrm>
            <a:off x="0" y="1219200"/>
            <a:ext cx="12188825" cy="5638800"/>
          </a:xfrm>
        </p:spPr>
        <p:txBody>
          <a:bodyPr>
            <a:normAutofit/>
          </a:bodyPr>
          <a:lstStyle/>
          <a:p>
            <a:pPr lvl="0">
              <a:lnSpc>
                <a:spcPct val="100000"/>
              </a:lnSpc>
              <a:buClr>
                <a:srgbClr val="BCB49E"/>
              </a:buClr>
            </a:pPr>
            <a:r>
              <a:rPr lang="en-US" sz="2500" dirty="0">
                <a:solidFill>
                  <a:prstClr val="white"/>
                </a:solidFill>
                <a:latin typeface="Bell MT" panose="02020503060305020303" pitchFamily="18" charset="0"/>
              </a:rPr>
              <a:t>Which is better – Observational Study or Designed Experiment?</a:t>
            </a:r>
          </a:p>
          <a:p>
            <a:pPr lvl="0">
              <a:lnSpc>
                <a:spcPct val="100000"/>
              </a:lnSpc>
              <a:buClr>
                <a:srgbClr val="BCB49E"/>
              </a:buClr>
            </a:pPr>
            <a:r>
              <a:rPr lang="en-US" sz="2500" dirty="0">
                <a:solidFill>
                  <a:prstClr val="white"/>
                </a:solidFill>
                <a:latin typeface="Bell MT" panose="02020503060305020303" pitchFamily="18" charset="0"/>
              </a:rPr>
              <a:t>Some Nigerians claim that intelligence is inherited, and not acquired. I have been involved in several debates where the issue is whether intelligence was purely from nature; or nurture; or both. What is your opinion?</a:t>
            </a:r>
          </a:p>
          <a:p>
            <a:pPr>
              <a:lnSpc>
                <a:spcPct val="100000"/>
              </a:lnSpc>
            </a:pPr>
            <a:r>
              <a:rPr lang="en-US" sz="2500" dirty="0">
                <a:latin typeface="Bell MT" panose="02020503060305020303" pitchFamily="18" charset="0"/>
              </a:rPr>
              <a:t>While there have been some scientific studies that support the statement that intelligence is genetically inherited, let us consider this two cases.</a:t>
            </a:r>
          </a:p>
          <a:p>
            <a:pPr>
              <a:lnSpc>
                <a:spcPct val="100000"/>
              </a:lnSpc>
            </a:pPr>
            <a:r>
              <a:rPr lang="en-US" sz="2500" u="sng" dirty="0">
                <a:latin typeface="Bell MT" panose="02020503060305020303" pitchFamily="18" charset="0"/>
              </a:rPr>
              <a:t>1</a:t>
            </a:r>
            <a:r>
              <a:rPr lang="en-US" sz="2500" u="sng" baseline="30000" dirty="0">
                <a:latin typeface="Bell MT" panose="02020503060305020303" pitchFamily="18" charset="0"/>
              </a:rPr>
              <a:t>st</a:t>
            </a:r>
            <a:r>
              <a:rPr lang="en-US" sz="2500" u="sng" dirty="0">
                <a:latin typeface="Bell MT" panose="02020503060305020303" pitchFamily="18" charset="0"/>
              </a:rPr>
              <a:t> case</a:t>
            </a:r>
            <a:r>
              <a:rPr lang="en-US" sz="2500" dirty="0">
                <a:latin typeface="Bell MT" panose="02020503060305020303" pitchFamily="18" charset="0"/>
              </a:rPr>
              <a:t>: The father is intelligent. The mother is intelligent. They were educated and wealthy. But, they were on alcohol and drugs. They have a son. Something unusual occurred. The child was taken from them, and raised in a poor environment in Nigeria. The child was not breast-fed by the mother,  did not attend school early, and was malnourished. The child has a learning disability.</a:t>
            </a:r>
          </a:p>
          <a:p>
            <a:pPr marL="0" indent="0">
              <a:lnSpc>
                <a:spcPct val="100000"/>
              </a:lnSpc>
              <a:buNone/>
            </a:pPr>
            <a:endParaRPr lang="en-US" sz="2500" dirty="0">
              <a:latin typeface="Bell MT" panose="02020503060305020303" pitchFamily="18" charset="0"/>
            </a:endParaRPr>
          </a:p>
        </p:txBody>
      </p:sp>
    </p:spTree>
    <p:extLst>
      <p:ext uri="{BB962C8B-B14F-4D97-AF65-F5344CB8AC3E}">
        <p14:creationId xmlns:p14="http://schemas.microsoft.com/office/powerpoint/2010/main" val="29228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a:t>
            </a:r>
            <a:r>
              <a:rPr lang="en-US" cap="none" dirty="0" smtClean="0"/>
              <a:t>6</a:t>
            </a:r>
            <a:endParaRPr lang="en-US" cap="none" dirty="0"/>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u="sng" dirty="0" smtClean="0">
                <a:latin typeface="Bell MT" panose="02020503060305020303" pitchFamily="18" charset="0"/>
              </a:rPr>
              <a:t>2</a:t>
            </a:r>
            <a:r>
              <a:rPr lang="en-US" sz="2500" u="sng" baseline="30000" dirty="0" smtClean="0">
                <a:latin typeface="Bell MT" panose="02020503060305020303" pitchFamily="18" charset="0"/>
              </a:rPr>
              <a:t>nd</a:t>
            </a:r>
            <a:r>
              <a:rPr lang="en-US" sz="2500" u="sng" dirty="0" smtClean="0">
                <a:latin typeface="Bell MT" panose="02020503060305020303" pitchFamily="18" charset="0"/>
              </a:rPr>
              <a:t> </a:t>
            </a:r>
            <a:r>
              <a:rPr lang="en-US" sz="2500" u="sng" dirty="0">
                <a:latin typeface="Bell MT" panose="02020503060305020303" pitchFamily="18" charset="0"/>
              </a:rPr>
              <a:t>case</a:t>
            </a:r>
            <a:r>
              <a:rPr lang="en-US" sz="2500" dirty="0">
                <a:latin typeface="Bell MT" panose="02020503060305020303" pitchFamily="18" charset="0"/>
              </a:rPr>
              <a:t>: A Nigerian child was born by poor uneducated and not-so-smart parents. However, the son was breast-fed by the mother. The parents though poor, ate natural foods. They fed their child well. They worked very hard just to ensure their child was educated. They taught their child several life skills including music, swimming, and farming among others. In addition, they participated fully in their child’s education. The child made all A’s in school</a:t>
            </a:r>
            <a:r>
              <a:rPr lang="en-US" sz="2500" dirty="0" smtClean="0">
                <a:latin typeface="Bell MT" panose="02020503060305020303" pitchFamily="18" charset="0"/>
              </a:rPr>
              <a:t>.</a:t>
            </a:r>
          </a:p>
          <a:p>
            <a:pPr>
              <a:lnSpc>
                <a:spcPct val="100000"/>
              </a:lnSpc>
            </a:pPr>
            <a:endParaRPr lang="en-US" sz="2500" dirty="0" smtClean="0">
              <a:latin typeface="Bell MT" panose="02020503060305020303" pitchFamily="18" charset="0"/>
            </a:endParaRPr>
          </a:p>
          <a:p>
            <a:pPr>
              <a:lnSpc>
                <a:spcPct val="100000"/>
              </a:lnSpc>
            </a:pPr>
            <a:r>
              <a:rPr lang="en-US" sz="2500" dirty="0">
                <a:latin typeface="Bell MT" panose="02020503060305020303" pitchFamily="18" charset="0"/>
              </a:rPr>
              <a:t>Would you classify this scenario as an observational study or a designed experiment? This could be seen as a designed experiment. Come to think of it – breast-feeding your child and fully participating in your child’s education makes a lot of difference!</a:t>
            </a:r>
          </a:p>
          <a:p>
            <a:pPr>
              <a:lnSpc>
                <a:spcPct val="100000"/>
              </a:lnSpc>
            </a:pPr>
            <a:endParaRPr lang="en-US" sz="2500" dirty="0">
              <a:latin typeface="Bell MT" panose="02020503060305020303" pitchFamily="18" charset="0"/>
            </a:endParaRPr>
          </a:p>
        </p:txBody>
      </p:sp>
    </p:spTree>
    <p:extLst>
      <p:ext uri="{BB962C8B-B14F-4D97-AF65-F5344CB8AC3E}">
        <p14:creationId xmlns:p14="http://schemas.microsoft.com/office/powerpoint/2010/main" val="133879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a:t>
            </a:r>
            <a:r>
              <a:rPr lang="en-US" cap="none" dirty="0" smtClean="0"/>
              <a:t>7</a:t>
            </a:r>
            <a:endParaRPr lang="en-US" cap="none" dirty="0"/>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smtClean="0">
                <a:latin typeface="Bell MT" panose="02020503060305020303" pitchFamily="18" charset="0"/>
              </a:rPr>
              <a:t>Imagine the scenario of an observational study in this case – Interview five families who happen to be intelligent. Their children were intelligent as well. Do the same for five unintelligent families and get the same results. Then, you go ahead and conclude that intelligence is inherited, or purely by nature without performing any experiments! </a:t>
            </a:r>
          </a:p>
          <a:p>
            <a:pPr>
              <a:lnSpc>
                <a:spcPct val="100000"/>
              </a:lnSpc>
            </a:pPr>
            <a:r>
              <a:rPr lang="en-US" sz="2500" dirty="0" smtClean="0">
                <a:latin typeface="Bell MT" panose="02020503060305020303" pitchFamily="18" charset="0"/>
              </a:rPr>
              <a:t>This is known as </a:t>
            </a:r>
            <a:r>
              <a:rPr lang="en-US" sz="2500" u="sng" dirty="0" smtClean="0">
                <a:latin typeface="Bell MT" panose="02020503060305020303" pitchFamily="18" charset="0"/>
              </a:rPr>
              <a:t>Confounding</a:t>
            </a:r>
            <a:r>
              <a:rPr lang="en-US" sz="2500" dirty="0" smtClean="0">
                <a:latin typeface="Bell MT" panose="02020503060305020303" pitchFamily="18" charset="0"/>
              </a:rPr>
              <a:t>. Confounding is a major problem with observational studies. </a:t>
            </a:r>
          </a:p>
          <a:p>
            <a:pPr>
              <a:lnSpc>
                <a:spcPct val="100000"/>
              </a:lnSpc>
            </a:pPr>
            <a:endParaRPr lang="en-US" sz="2500" dirty="0">
              <a:latin typeface="Bell MT" panose="02020503060305020303" pitchFamily="18" charset="0"/>
            </a:endParaRPr>
          </a:p>
          <a:p>
            <a:pPr>
              <a:lnSpc>
                <a:spcPct val="100000"/>
              </a:lnSpc>
            </a:pPr>
            <a:r>
              <a:rPr lang="en-US" sz="2500" dirty="0">
                <a:latin typeface="Bell MT" panose="02020503060305020303" pitchFamily="18" charset="0"/>
              </a:rPr>
              <a:t>How do you feel making conclusions just by interviewing without trying to see if there are underlying factors which affect the results?</a:t>
            </a:r>
          </a:p>
          <a:p>
            <a:pPr>
              <a:lnSpc>
                <a:spcPct val="100000"/>
              </a:lnSpc>
            </a:pPr>
            <a:endParaRPr lang="en-US" sz="2500" dirty="0"/>
          </a:p>
        </p:txBody>
      </p:sp>
    </p:spTree>
    <p:extLst>
      <p:ext uri="{BB962C8B-B14F-4D97-AF65-F5344CB8AC3E}">
        <p14:creationId xmlns:p14="http://schemas.microsoft.com/office/powerpoint/2010/main" val="1838976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5</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a:latin typeface="Bell MT" panose="02020503060305020303" pitchFamily="18" charset="0"/>
              </a:rPr>
              <a:t>So, if you observe both scenarios – a designed experiment and an observational study, which of them do you observe the several factors that affects the IQ of the child? If we just did the observational study, we miss these factors. But, when we do the experiment, we ask why. That leads us to account for these factors. These factors are known as lurking variables. Most times, the cause of confounding is a lurking variable.</a:t>
            </a:r>
          </a:p>
          <a:p>
            <a:pPr>
              <a:lnSpc>
                <a:spcPct val="100000"/>
              </a:lnSpc>
            </a:pPr>
            <a:r>
              <a:rPr lang="en-US" sz="2500" u="sng" dirty="0">
                <a:latin typeface="Bell MT" panose="02020503060305020303" pitchFamily="18" charset="0"/>
              </a:rPr>
              <a:t>Confounding</a:t>
            </a:r>
            <a:r>
              <a:rPr lang="en-US" sz="2500" dirty="0">
                <a:latin typeface="Bell MT" panose="02020503060305020303" pitchFamily="18" charset="0"/>
              </a:rPr>
              <a:t> in a study occurs when the effects of two or more explanatory variables are not separated. Therefore, any relation that may exist between an explanatory variable and the response variable may be due to some other variable or variables not accounted for in the study.</a:t>
            </a:r>
          </a:p>
          <a:p>
            <a:pPr>
              <a:lnSpc>
                <a:spcPct val="100000"/>
              </a:lnSpc>
            </a:pPr>
            <a:r>
              <a:rPr lang="en-US" sz="2500" dirty="0">
                <a:latin typeface="Bell MT" panose="02020503060305020303" pitchFamily="18" charset="0"/>
              </a:rPr>
              <a:t>A </a:t>
            </a:r>
            <a:r>
              <a:rPr lang="en-US" sz="2500" u="sng" dirty="0">
                <a:latin typeface="Bell MT" panose="02020503060305020303" pitchFamily="18" charset="0"/>
              </a:rPr>
              <a:t>lurking variable</a:t>
            </a:r>
            <a:r>
              <a:rPr lang="en-US" sz="2500" dirty="0">
                <a:latin typeface="Bell MT" panose="02020503060305020303" pitchFamily="18" charset="0"/>
              </a:rPr>
              <a:t> is an explanatory variable that was not considered in a study, but affects the value of the response variable in the study. Lurking variables are typically related to explanatory variables in the study.</a:t>
            </a:r>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1835177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D</a:t>
            </a:r>
            <a:r>
              <a:rPr lang="en-US" cap="none" dirty="0"/>
              <a:t>ata Collection Methods					6</a:t>
            </a:r>
          </a:p>
        </p:txBody>
      </p:sp>
      <p:sp>
        <p:nvSpPr>
          <p:cNvPr id="14" name="Content Placeholder 13"/>
          <p:cNvSpPr>
            <a:spLocks noGrp="1"/>
          </p:cNvSpPr>
          <p:nvPr>
            <p:ph idx="1"/>
          </p:nvPr>
        </p:nvSpPr>
        <p:spPr>
          <a:xfrm>
            <a:off x="0" y="1219200"/>
            <a:ext cx="12188825" cy="5638800"/>
          </a:xfrm>
        </p:spPr>
        <p:txBody>
          <a:bodyPr>
            <a:normAutofit/>
          </a:bodyPr>
          <a:lstStyle/>
          <a:p>
            <a:pPr lvl="0">
              <a:lnSpc>
                <a:spcPct val="100000"/>
              </a:lnSpc>
              <a:buClr>
                <a:srgbClr val="BCB49E"/>
              </a:buClr>
            </a:pPr>
            <a:r>
              <a:rPr lang="en-US" sz="2500" dirty="0" smtClean="0">
                <a:solidFill>
                  <a:prstClr val="white"/>
                </a:solidFill>
                <a:latin typeface="Bell MT" panose="02020503060305020303" pitchFamily="18" charset="0"/>
              </a:rPr>
              <a:t>There </a:t>
            </a:r>
            <a:r>
              <a:rPr lang="en-US" sz="2500" dirty="0">
                <a:solidFill>
                  <a:prstClr val="white"/>
                </a:solidFill>
                <a:latin typeface="Bell MT" panose="02020503060305020303" pitchFamily="18" charset="0"/>
              </a:rPr>
              <a:t>are three categories of observational studies namely:</a:t>
            </a:r>
          </a:p>
          <a:p>
            <a:pPr lvl="0">
              <a:lnSpc>
                <a:spcPct val="100000"/>
              </a:lnSpc>
              <a:buClr>
                <a:srgbClr val="BCB49E"/>
              </a:buClr>
            </a:pPr>
            <a:r>
              <a:rPr lang="en-US" sz="2500" u="sng" dirty="0">
                <a:solidFill>
                  <a:prstClr val="white"/>
                </a:solidFill>
                <a:latin typeface="Bell MT" panose="02020503060305020303" pitchFamily="18" charset="0"/>
              </a:rPr>
              <a:t>Cross-sectional Studies</a:t>
            </a:r>
            <a:r>
              <a:rPr lang="en-US" sz="2500" dirty="0">
                <a:solidFill>
                  <a:prstClr val="white"/>
                </a:solidFill>
                <a:latin typeface="Bell MT" panose="02020503060305020303" pitchFamily="18" charset="0"/>
              </a:rPr>
              <a:t>: These are observational studies that collect data about individuals at a specific period in time or over a very short time period.</a:t>
            </a:r>
          </a:p>
          <a:p>
            <a:pPr lvl="0">
              <a:lnSpc>
                <a:spcPct val="100000"/>
              </a:lnSpc>
              <a:buClr>
                <a:srgbClr val="BCB49E"/>
              </a:buClr>
            </a:pPr>
            <a:r>
              <a:rPr lang="en-US" sz="2500" u="sng" dirty="0">
                <a:solidFill>
                  <a:prstClr val="white"/>
                </a:solidFill>
                <a:latin typeface="Bell MT" panose="02020503060305020303" pitchFamily="18" charset="0"/>
              </a:rPr>
              <a:t>Case-control or Retrospective Studies</a:t>
            </a:r>
            <a:r>
              <a:rPr lang="en-US" sz="2500" dirty="0">
                <a:solidFill>
                  <a:prstClr val="white"/>
                </a:solidFill>
                <a:latin typeface="Bell MT" panose="02020503060305020303" pitchFamily="18" charset="0"/>
              </a:rPr>
              <a:t>: These are observational studies that collect data about individuals from past time periods. </a:t>
            </a:r>
            <a:endParaRPr lang="en-US" sz="2500" dirty="0" smtClean="0">
              <a:solidFill>
                <a:prstClr val="white"/>
              </a:solidFill>
              <a:latin typeface="Bell MT" panose="02020503060305020303" pitchFamily="18" charset="0"/>
            </a:endParaRPr>
          </a:p>
          <a:p>
            <a:pPr lvl="0">
              <a:lnSpc>
                <a:spcPct val="100000"/>
              </a:lnSpc>
              <a:buClr>
                <a:srgbClr val="BCB49E"/>
              </a:buClr>
            </a:pPr>
            <a:r>
              <a:rPr lang="en-US" sz="2500" u="sng" dirty="0">
                <a:solidFill>
                  <a:prstClr val="white"/>
                </a:solidFill>
                <a:latin typeface="Bell MT" panose="02020503060305020303" pitchFamily="18" charset="0"/>
              </a:rPr>
              <a:t>Cohort or Prospective or Longitudinal Studies</a:t>
            </a:r>
            <a:r>
              <a:rPr lang="en-US" sz="2500" dirty="0">
                <a:solidFill>
                  <a:prstClr val="white"/>
                </a:solidFill>
                <a:latin typeface="Bell MT" panose="02020503060305020303" pitchFamily="18" charset="0"/>
              </a:rPr>
              <a:t>: These are observational studies that collect data about a group of individuals otherwise known as cohorts over a long period of time. </a:t>
            </a:r>
          </a:p>
          <a:p>
            <a:pPr lvl="0">
              <a:lnSpc>
                <a:spcPct val="100000"/>
              </a:lnSpc>
              <a:buClr>
                <a:srgbClr val="BCB49E"/>
              </a:buClr>
            </a:pPr>
            <a:r>
              <a:rPr lang="en-US" sz="2500" dirty="0">
                <a:solidFill>
                  <a:prstClr val="white"/>
                </a:solidFill>
                <a:latin typeface="Bell MT" panose="02020503060305020303" pitchFamily="18" charset="0"/>
              </a:rPr>
              <a:t>A researcher plans to obtain data by interviewing the relatives of victims of the Malaysia Airlines Flight 370 (MH 370) to study the psychological breakdown on the loss of loved ones. </a:t>
            </a:r>
            <a:r>
              <a:rPr lang="en-US" sz="2500" dirty="0">
                <a:solidFill>
                  <a:srgbClr val="FFFF00"/>
                </a:solidFill>
                <a:latin typeface="Bell MT" panose="02020503060305020303" pitchFamily="18" charset="0"/>
              </a:rPr>
              <a:t>This is a cross-sectional study because data is being collected regarding an event that occurred during a specific period of time</a:t>
            </a:r>
            <a:r>
              <a:rPr lang="en-US" sz="2500" dirty="0">
                <a:solidFill>
                  <a:prstClr val="white"/>
                </a:solidFill>
                <a:latin typeface="Bell MT" panose="02020503060305020303" pitchFamily="18" charset="0"/>
              </a:rPr>
              <a:t>.</a:t>
            </a:r>
          </a:p>
          <a:p>
            <a:pPr lvl="0">
              <a:lnSpc>
                <a:spcPct val="100000"/>
              </a:lnSpc>
              <a:buClr>
                <a:srgbClr val="BCB49E"/>
              </a:buClr>
            </a:pPr>
            <a:endParaRPr lang="en-US" sz="2500" dirty="0">
              <a:solidFill>
                <a:prstClr val="white"/>
              </a:solidFill>
              <a:latin typeface="Bell MT" panose="02020503060305020303" pitchFamily="18" charset="0"/>
            </a:endParaRPr>
          </a:p>
        </p:txBody>
      </p:sp>
    </p:spTree>
    <p:extLst>
      <p:ext uri="{BB962C8B-B14F-4D97-AF65-F5344CB8AC3E}">
        <p14:creationId xmlns:p14="http://schemas.microsoft.com/office/powerpoint/2010/main" val="3482201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lstStyle/>
          <a:p>
            <a:r>
              <a:rPr lang="en-US" dirty="0"/>
              <a:t>O</a:t>
            </a:r>
            <a:r>
              <a:rPr lang="en-US" cap="none" dirty="0"/>
              <a:t>bservational</a:t>
            </a:r>
            <a:r>
              <a:rPr lang="en-US" dirty="0"/>
              <a:t> s</a:t>
            </a:r>
            <a:r>
              <a:rPr lang="en-US" cap="none" dirty="0"/>
              <a:t>tudies					1</a:t>
            </a:r>
          </a:p>
        </p:txBody>
      </p:sp>
      <p:sp>
        <p:nvSpPr>
          <p:cNvPr id="14" name="Content Placeholder 13"/>
          <p:cNvSpPr>
            <a:spLocks noGrp="1"/>
          </p:cNvSpPr>
          <p:nvPr>
            <p:ph idx="1"/>
          </p:nvPr>
        </p:nvSpPr>
        <p:spPr>
          <a:xfrm>
            <a:off x="0" y="1219200"/>
            <a:ext cx="12188825" cy="5638800"/>
          </a:xfrm>
        </p:spPr>
        <p:txBody>
          <a:bodyPr>
            <a:normAutofit/>
          </a:bodyPr>
          <a:lstStyle/>
          <a:p>
            <a:pPr lvl="0">
              <a:lnSpc>
                <a:spcPct val="100000"/>
              </a:lnSpc>
              <a:buClr>
                <a:srgbClr val="BCB49E"/>
              </a:buClr>
            </a:pPr>
            <a:r>
              <a:rPr lang="en-US" sz="2500" dirty="0" smtClean="0">
                <a:solidFill>
                  <a:prstClr val="white"/>
                </a:solidFill>
                <a:latin typeface="Bell MT" panose="02020503060305020303" pitchFamily="18" charset="0"/>
              </a:rPr>
              <a:t>A </a:t>
            </a:r>
            <a:r>
              <a:rPr lang="en-US" sz="2500" dirty="0">
                <a:solidFill>
                  <a:prstClr val="white"/>
                </a:solidFill>
                <a:latin typeface="Bell MT" panose="02020503060305020303" pitchFamily="18" charset="0"/>
              </a:rPr>
              <a:t>researcher plans to obtain data by interviewing the relatives of the black teenagers and black men killed by white police officers. He will interview the relatives, as well as the black non-relatives of those victims over the next 10 years to determine how closeness to a tragic event might affect recovery time. </a:t>
            </a:r>
            <a:r>
              <a:rPr lang="en-US" sz="2500" dirty="0">
                <a:solidFill>
                  <a:srgbClr val="FFFF00"/>
                </a:solidFill>
                <a:latin typeface="Bell MT" panose="02020503060305020303" pitchFamily="18" charset="0"/>
              </a:rPr>
              <a:t>This is a cohort study because data is being collected about two different cohorts (related cohorts and unrelated cohorts) regarding a tragic event over a long period of time</a:t>
            </a:r>
            <a:r>
              <a:rPr lang="en-US" sz="2500" dirty="0" smtClean="0">
                <a:solidFill>
                  <a:prstClr val="white"/>
                </a:solidFill>
                <a:latin typeface="Bell MT" panose="02020503060305020303" pitchFamily="18" charset="0"/>
              </a:rPr>
              <a:t>.</a:t>
            </a:r>
          </a:p>
          <a:p>
            <a:pPr lvl="0">
              <a:lnSpc>
                <a:spcPct val="100000"/>
              </a:lnSpc>
              <a:buClr>
                <a:srgbClr val="BCB49E"/>
              </a:buClr>
            </a:pPr>
            <a:endParaRPr lang="en-US" sz="2500" dirty="0" smtClean="0">
              <a:solidFill>
                <a:prstClr val="white"/>
              </a:solidFill>
              <a:latin typeface="Bell MT" panose="02020503060305020303" pitchFamily="18" charset="0"/>
            </a:endParaRPr>
          </a:p>
          <a:p>
            <a:pPr>
              <a:lnSpc>
                <a:spcPct val="100000"/>
              </a:lnSpc>
              <a:buClr>
                <a:srgbClr val="BCB49E"/>
              </a:buClr>
            </a:pPr>
            <a:r>
              <a:rPr lang="en-US" sz="2500" dirty="0">
                <a:solidFill>
                  <a:prstClr val="white"/>
                </a:solidFill>
                <a:latin typeface="Bell MT" panose="02020503060305020303" pitchFamily="18" charset="0"/>
              </a:rPr>
              <a:t>The Justice Department plans to obtain data on police interrogations and practices by investigating the Cleveland Division of Police over the past 5 years. This is a case-control study because data is being collected about individuals from past periods of time.</a:t>
            </a:r>
          </a:p>
          <a:p>
            <a:pPr lvl="0">
              <a:lnSpc>
                <a:spcPct val="100000"/>
              </a:lnSpc>
              <a:buClr>
                <a:srgbClr val="BCB49E"/>
              </a:buClr>
            </a:pPr>
            <a:endParaRPr lang="en-US" sz="2500" dirty="0">
              <a:solidFill>
                <a:prstClr val="white"/>
              </a:solidFill>
              <a:latin typeface="Bell MT" panose="02020503060305020303" pitchFamily="18" charset="0"/>
            </a:endParaRPr>
          </a:p>
        </p:txBody>
      </p:sp>
    </p:spTree>
    <p:extLst>
      <p:ext uri="{BB962C8B-B14F-4D97-AF65-F5344CB8AC3E}">
        <p14:creationId xmlns:p14="http://schemas.microsoft.com/office/powerpoint/2010/main" val="84952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1</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dirty="0">
                <a:latin typeface="Bell MT" panose="02020503060305020303" pitchFamily="18" charset="0"/>
              </a:rPr>
              <a:t>It is usually cumbersome and/or impossible to survey the entire population. </a:t>
            </a:r>
          </a:p>
          <a:p>
            <a:pPr>
              <a:lnSpc>
                <a:spcPct val="100000"/>
              </a:lnSpc>
            </a:pPr>
            <a:r>
              <a:rPr lang="en-US" sz="2500" dirty="0">
                <a:latin typeface="Bell MT" panose="02020503060305020303" pitchFamily="18" charset="0"/>
              </a:rPr>
              <a:t>Therefore, it is necessary to survey a sample from the population.</a:t>
            </a:r>
          </a:p>
          <a:p>
            <a:pPr>
              <a:lnSpc>
                <a:spcPct val="100000"/>
              </a:lnSpc>
            </a:pPr>
            <a:r>
              <a:rPr lang="en-US" sz="2500" dirty="0">
                <a:latin typeface="Bell MT" panose="02020503060305020303" pitchFamily="18" charset="0"/>
              </a:rPr>
              <a:t>This should be a random sample, which should be a representative of the population.</a:t>
            </a:r>
          </a:p>
          <a:p>
            <a:pPr>
              <a:lnSpc>
                <a:spcPct val="100000"/>
              </a:lnSpc>
            </a:pPr>
            <a:r>
              <a:rPr lang="en-US" sz="2500" dirty="0">
                <a:latin typeface="Bell MT" panose="02020503060305020303" pitchFamily="18" charset="0"/>
              </a:rPr>
              <a:t>The characteristics of the individuals in the sample must represent the characteristics of the individuals in the population.</a:t>
            </a:r>
          </a:p>
          <a:p>
            <a:pPr>
              <a:lnSpc>
                <a:spcPct val="100000"/>
              </a:lnSpc>
            </a:pPr>
            <a:r>
              <a:rPr lang="en-US" sz="2500" dirty="0">
                <a:latin typeface="Bell MT" panose="02020503060305020303" pitchFamily="18" charset="0"/>
              </a:rPr>
              <a:t>This is necessary for the results of the survey to be </a:t>
            </a:r>
            <a:r>
              <a:rPr lang="en-US" sz="2500" u="sng" dirty="0">
                <a:latin typeface="Bell MT" panose="02020503060305020303" pitchFamily="18" charset="0"/>
              </a:rPr>
              <a:t>reliable</a:t>
            </a:r>
            <a:r>
              <a:rPr lang="en-US" sz="2500" dirty="0">
                <a:latin typeface="Bell MT" panose="02020503060305020303" pitchFamily="18" charset="0"/>
              </a:rPr>
              <a:t>.</a:t>
            </a:r>
          </a:p>
          <a:p>
            <a:pPr>
              <a:lnSpc>
                <a:spcPct val="100000"/>
              </a:lnSpc>
            </a:pPr>
            <a:r>
              <a:rPr lang="en-US" sz="2500" dirty="0">
                <a:latin typeface="Bell MT" panose="02020503060305020303" pitchFamily="18" charset="0"/>
              </a:rPr>
              <a:t>For example: if you want to run a Presidential poll, and you do so at a Democratic event rally; your results are bound to be </a:t>
            </a:r>
            <a:r>
              <a:rPr lang="en-US" sz="2500" u="sng" dirty="0">
                <a:latin typeface="Bell MT" panose="02020503060305020303" pitchFamily="18" charset="0"/>
              </a:rPr>
              <a:t>misleading</a:t>
            </a:r>
            <a:r>
              <a:rPr lang="en-US" sz="2500" dirty="0">
                <a:latin typeface="Bell MT" panose="02020503060305020303" pitchFamily="18" charset="0"/>
              </a:rPr>
              <a:t>. This is because your audience will primarily be Democrats. Your audience at that event does not represent the population of the United States. You should survey an appropriate size of the random samples of individuals from all the states.</a:t>
            </a:r>
          </a:p>
          <a:p>
            <a:pPr>
              <a:lnSpc>
                <a:spcPct val="100000"/>
              </a:lnSpc>
            </a:pPr>
            <a:endParaRPr lang="en-US" sz="2500" dirty="0"/>
          </a:p>
        </p:txBody>
      </p:sp>
    </p:spTree>
    <p:extLst>
      <p:ext uri="{BB962C8B-B14F-4D97-AF65-F5344CB8AC3E}">
        <p14:creationId xmlns:p14="http://schemas.microsoft.com/office/powerpoint/2010/main" val="1262354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2</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u="sng" dirty="0">
                <a:latin typeface="Bell MT" panose="02020503060305020303" pitchFamily="18" charset="0"/>
              </a:rPr>
              <a:t>Random Sampling</a:t>
            </a:r>
            <a:r>
              <a:rPr lang="en-US" sz="2500" dirty="0">
                <a:latin typeface="Bell MT" panose="02020503060305020303" pitchFamily="18" charset="0"/>
              </a:rPr>
              <a:t> is the process of using chance to select individuals from a population to be included in the sample. Each individual in the population has an equal chance of being selected.</a:t>
            </a:r>
          </a:p>
          <a:p>
            <a:pPr>
              <a:lnSpc>
                <a:spcPct val="100000"/>
              </a:lnSpc>
            </a:pPr>
            <a:r>
              <a:rPr lang="en-US" sz="2500" dirty="0">
                <a:latin typeface="Bell MT" panose="02020503060305020303" pitchFamily="18" charset="0"/>
              </a:rPr>
              <a:t>Randomization is used when subjects are assigned to different groups through a process of random selection.</a:t>
            </a:r>
          </a:p>
          <a:p>
            <a:pPr>
              <a:lnSpc>
                <a:spcPct val="100000"/>
              </a:lnSpc>
            </a:pPr>
            <a:r>
              <a:rPr lang="en-US" sz="2500" dirty="0">
                <a:latin typeface="Bell MT" panose="02020503060305020303" pitchFamily="18" charset="0"/>
              </a:rPr>
              <a:t>There are four basic sampling techniques:</a:t>
            </a:r>
          </a:p>
          <a:p>
            <a:pPr>
              <a:lnSpc>
                <a:spcPct val="100000"/>
              </a:lnSpc>
            </a:pPr>
            <a:r>
              <a:rPr lang="en-US" sz="2500" u="sng" dirty="0">
                <a:latin typeface="Bell MT" panose="02020503060305020303" pitchFamily="18" charset="0"/>
              </a:rPr>
              <a:t>Simple Random Sampling</a:t>
            </a:r>
            <a:r>
              <a:rPr lang="en-US" sz="2500" dirty="0">
                <a:latin typeface="Bell MT" panose="02020503060305020303" pitchFamily="18" charset="0"/>
              </a:rPr>
              <a:t> is a sampling technique in which a sample of size </a:t>
            </a:r>
            <a:r>
              <a:rPr lang="en-US" sz="2500" i="1" dirty="0">
                <a:latin typeface="Bell MT" panose="02020503060305020303" pitchFamily="18" charset="0"/>
              </a:rPr>
              <a:t>n</a:t>
            </a:r>
            <a:r>
              <a:rPr lang="en-US" sz="2500" dirty="0">
                <a:latin typeface="Bell MT" panose="02020503060305020303" pitchFamily="18" charset="0"/>
              </a:rPr>
              <a:t> is selected from a population </a:t>
            </a:r>
            <a:r>
              <a:rPr lang="en-US" sz="2500" i="1" dirty="0">
                <a:latin typeface="Bell MT" panose="02020503060305020303" pitchFamily="18" charset="0"/>
              </a:rPr>
              <a:t>N</a:t>
            </a:r>
            <a:r>
              <a:rPr lang="en-US" sz="2500" dirty="0">
                <a:latin typeface="Bell MT" panose="02020503060305020303" pitchFamily="18" charset="0"/>
              </a:rPr>
              <a:t> in such a way that every possible sample of size </a:t>
            </a:r>
            <a:r>
              <a:rPr lang="en-US" sz="2500" i="1" dirty="0">
                <a:latin typeface="Bell MT" panose="02020503060305020303" pitchFamily="18" charset="0"/>
              </a:rPr>
              <a:t>n</a:t>
            </a:r>
            <a:r>
              <a:rPr lang="en-US" sz="2500" dirty="0">
                <a:latin typeface="Bell MT" panose="02020503060305020303" pitchFamily="18" charset="0"/>
              </a:rPr>
              <a:t> has an equally likely chance of being selected. Let us discuss this in detail.</a:t>
            </a:r>
          </a:p>
          <a:p>
            <a:pPr>
              <a:lnSpc>
                <a:spcPct val="100000"/>
              </a:lnSpc>
            </a:pPr>
            <a:r>
              <a:rPr lang="en-US" sz="2500" dirty="0">
                <a:latin typeface="Bell MT" panose="02020503060305020303" pitchFamily="18" charset="0"/>
              </a:rPr>
              <a:t>A simple random sample is the sample of size n, drawn from a population N in such a way that every possible sample of size n has an equal likely chance of being selected.</a:t>
            </a:r>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273769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3</a:t>
            </a:r>
          </a:p>
        </p:txBody>
      </p:sp>
      <p:sp>
        <p:nvSpPr>
          <p:cNvPr id="14" name="Content Placeholder 13"/>
          <p:cNvSpPr>
            <a:spLocks noGrp="1"/>
          </p:cNvSpPr>
          <p:nvPr>
            <p:ph idx="1"/>
          </p:nvPr>
        </p:nvSpPr>
        <p:spPr>
          <a:xfrm>
            <a:off x="0" y="1219200"/>
            <a:ext cx="12188825" cy="5638800"/>
          </a:xfrm>
        </p:spPr>
        <p:txBody>
          <a:bodyPr>
            <a:normAutofit lnSpcReduction="10000"/>
          </a:bodyPr>
          <a:lstStyle/>
          <a:p>
            <a:pPr>
              <a:lnSpc>
                <a:spcPct val="100000"/>
              </a:lnSpc>
            </a:pPr>
            <a:r>
              <a:rPr lang="en-US" sz="2400" dirty="0">
                <a:latin typeface="Bell MT" panose="02020503060305020303" pitchFamily="18" charset="0"/>
              </a:rPr>
              <a:t>Students at JSU were asked to pick three songs from a list of nine free songs available for download. The songs are labeled Song 1, Song 2, Song 3, Song 4, Song 5, Song 6, Song 7, Song 8, and Song 9. What ways can they pick these songs in order to produce a simple random sample?</a:t>
            </a:r>
          </a:p>
          <a:p>
            <a:pPr>
              <a:lnSpc>
                <a:spcPct val="100000"/>
              </a:lnSpc>
            </a:pPr>
            <a:r>
              <a:rPr lang="en-US" sz="2400" u="sng" dirty="0">
                <a:latin typeface="Bell MT" panose="02020503060305020303" pitchFamily="18" charset="0"/>
              </a:rPr>
              <a:t>1</a:t>
            </a:r>
            <a:r>
              <a:rPr lang="en-US" sz="2400" u="sng" baseline="30000" dirty="0">
                <a:latin typeface="Bell MT" panose="02020503060305020303" pitchFamily="18" charset="0"/>
              </a:rPr>
              <a:t>st</a:t>
            </a:r>
            <a:r>
              <a:rPr lang="en-US" sz="2400" u="sng" dirty="0">
                <a:latin typeface="Bell MT" panose="02020503060305020303" pitchFamily="18" charset="0"/>
              </a:rPr>
              <a:t> way</a:t>
            </a:r>
            <a:r>
              <a:rPr lang="en-US" sz="2400" dirty="0">
                <a:latin typeface="Bell MT" panose="02020503060305020303" pitchFamily="18" charset="0"/>
              </a:rPr>
              <a:t>: </a:t>
            </a:r>
            <a:r>
              <a:rPr lang="en-US" sz="2400" dirty="0">
                <a:solidFill>
                  <a:srgbClr val="FFFF00"/>
                </a:solidFill>
                <a:latin typeface="Bell MT" panose="02020503060305020303" pitchFamily="18" charset="0"/>
              </a:rPr>
              <a:t>List each song on a separate piece of paper, place them all in a hat, and pick three</a:t>
            </a:r>
            <a:r>
              <a:rPr lang="en-US" sz="2400" dirty="0">
                <a:latin typeface="Bell MT" panose="02020503060305020303" pitchFamily="18" charset="0"/>
              </a:rPr>
              <a:t>.</a:t>
            </a:r>
          </a:p>
          <a:p>
            <a:pPr>
              <a:lnSpc>
                <a:spcPct val="100000"/>
              </a:lnSpc>
            </a:pPr>
            <a:r>
              <a:rPr lang="en-US" sz="2400" u="sng" dirty="0">
                <a:latin typeface="Bell MT" panose="02020503060305020303" pitchFamily="18" charset="0"/>
              </a:rPr>
              <a:t>2</a:t>
            </a:r>
            <a:r>
              <a:rPr lang="en-US" sz="2400" u="sng" baseline="30000" dirty="0">
                <a:latin typeface="Bell MT" panose="02020503060305020303" pitchFamily="18" charset="0"/>
              </a:rPr>
              <a:t>nd</a:t>
            </a:r>
            <a:r>
              <a:rPr lang="en-US" sz="2400" u="sng" dirty="0">
                <a:latin typeface="Bell MT" panose="02020503060305020303" pitchFamily="18" charset="0"/>
              </a:rPr>
              <a:t> way</a:t>
            </a:r>
            <a:r>
              <a:rPr lang="en-US" sz="2400" dirty="0">
                <a:latin typeface="Bell MT" panose="02020503060305020303" pitchFamily="18" charset="0"/>
              </a:rPr>
              <a:t>: </a:t>
            </a:r>
            <a:r>
              <a:rPr lang="en-US" sz="2400" dirty="0">
                <a:solidFill>
                  <a:srgbClr val="FFFF00"/>
                </a:solidFill>
                <a:latin typeface="Bell MT" panose="02020503060305020303" pitchFamily="18" charset="0"/>
              </a:rPr>
              <a:t>Use a Table of Random Numbers to produce three different one-digit numbers corresponding to the songs selected</a:t>
            </a:r>
            <a:r>
              <a:rPr lang="en-US" sz="2400" dirty="0">
                <a:latin typeface="Bell MT" panose="02020503060305020303" pitchFamily="18" charset="0"/>
              </a:rPr>
              <a:t>. </a:t>
            </a:r>
          </a:p>
          <a:p>
            <a:pPr>
              <a:lnSpc>
                <a:spcPct val="100000"/>
              </a:lnSpc>
            </a:pPr>
            <a:r>
              <a:rPr lang="en-US" sz="2400" dirty="0">
                <a:latin typeface="Bell MT" panose="02020503060305020303" pitchFamily="18" charset="0"/>
              </a:rPr>
              <a:t>Let us do an example of the 2</a:t>
            </a:r>
            <a:r>
              <a:rPr lang="en-US" sz="2400" baseline="30000" dirty="0">
                <a:latin typeface="Bell MT" panose="02020503060305020303" pitchFamily="18" charset="0"/>
              </a:rPr>
              <a:t>nd</a:t>
            </a:r>
            <a:r>
              <a:rPr lang="en-US" sz="2400" dirty="0">
                <a:latin typeface="Bell MT" panose="02020503060305020303" pitchFamily="18" charset="0"/>
              </a:rPr>
              <a:t> way. Use a portion of the Table of Random Numbers written as </a:t>
            </a:r>
            <a:r>
              <a:rPr lang="en-US" sz="2400" b="1" dirty="0">
                <a:latin typeface="Bell MT" panose="02020503060305020303" pitchFamily="18" charset="0"/>
              </a:rPr>
              <a:t>51111</a:t>
            </a:r>
            <a:r>
              <a:rPr lang="en-US" sz="2400" dirty="0">
                <a:latin typeface="Bell MT" panose="02020503060305020303" pitchFamily="18" charset="0"/>
              </a:rPr>
              <a:t>     </a:t>
            </a:r>
            <a:r>
              <a:rPr lang="en-US" sz="2400" b="1" dirty="0">
                <a:latin typeface="Bell MT" panose="02020503060305020303" pitchFamily="18" charset="0"/>
              </a:rPr>
              <a:t>60678</a:t>
            </a:r>
            <a:r>
              <a:rPr lang="en-US" sz="2400" dirty="0">
                <a:latin typeface="Bell MT" panose="02020503060305020303" pitchFamily="18" charset="0"/>
              </a:rPr>
              <a:t>     </a:t>
            </a:r>
            <a:r>
              <a:rPr lang="en-US" sz="2400" b="1" dirty="0">
                <a:latin typeface="Bell MT" panose="02020503060305020303" pitchFamily="18" charset="0"/>
              </a:rPr>
              <a:t>09822</a:t>
            </a:r>
            <a:r>
              <a:rPr lang="en-US" sz="2400" dirty="0">
                <a:latin typeface="Bell MT" panose="02020503060305020303" pitchFamily="18" charset="0"/>
              </a:rPr>
              <a:t>. Beginning from the left and taking the first three numbers between 1 and 9, what three songs would be selected from the numbered list?</a:t>
            </a:r>
          </a:p>
          <a:p>
            <a:pPr>
              <a:lnSpc>
                <a:spcPct val="100000"/>
              </a:lnSpc>
            </a:pPr>
            <a:r>
              <a:rPr lang="en-US" sz="2400" dirty="0">
                <a:latin typeface="Bell MT" panose="02020503060305020303" pitchFamily="18" charset="0"/>
              </a:rPr>
              <a:t>Beginning from the first digit of the first number on the left; </a:t>
            </a:r>
            <a:r>
              <a:rPr lang="en-US" sz="2400" dirty="0">
                <a:solidFill>
                  <a:srgbClr val="FFFF00"/>
                </a:solidFill>
                <a:latin typeface="Bell MT" panose="02020503060305020303" pitchFamily="18" charset="0"/>
              </a:rPr>
              <a:t>Song 5 is selected first; Song 1 is selected second</a:t>
            </a:r>
            <a:r>
              <a:rPr lang="en-US" sz="2400" dirty="0">
                <a:latin typeface="Bell MT" panose="02020503060305020303" pitchFamily="18" charset="0"/>
              </a:rPr>
              <a:t>; the third also lands on Song 1, but this is a no-replacement condition. Song 1 cannot be selected twice. We move to the next number. </a:t>
            </a:r>
            <a:r>
              <a:rPr lang="en-US" sz="2400" dirty="0">
                <a:solidFill>
                  <a:srgbClr val="FFFF00"/>
                </a:solidFill>
                <a:latin typeface="Bell MT" panose="02020503060305020303" pitchFamily="18" charset="0"/>
              </a:rPr>
              <a:t>Song 6 is selected third</a:t>
            </a:r>
            <a:r>
              <a:rPr lang="en-US" sz="2400" dirty="0">
                <a:latin typeface="Bell MT" panose="02020503060305020303" pitchFamily="18" charset="0"/>
              </a:rPr>
              <a:t>. The three songs are: </a:t>
            </a:r>
            <a:r>
              <a:rPr lang="en-US" sz="2400" dirty="0">
                <a:solidFill>
                  <a:srgbClr val="FFFF00"/>
                </a:solidFill>
                <a:latin typeface="Bell MT" panose="02020503060305020303" pitchFamily="18" charset="0"/>
              </a:rPr>
              <a:t>Song 5, Song 1, and Song 6</a:t>
            </a:r>
            <a:r>
              <a:rPr lang="en-US" sz="2400" dirty="0">
                <a:latin typeface="Bell MT" panose="02020503060305020303" pitchFamily="18" charset="0"/>
              </a:rPr>
              <a:t>. </a:t>
            </a:r>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1085082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4</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u="sng" dirty="0">
                <a:latin typeface="Bell MT" panose="02020503060305020303" pitchFamily="18" charset="0"/>
              </a:rPr>
              <a:t>3</a:t>
            </a:r>
            <a:r>
              <a:rPr lang="en-US" sz="2500" u="sng" baseline="30000" dirty="0">
                <a:latin typeface="Bell MT" panose="02020503060305020303" pitchFamily="18" charset="0"/>
              </a:rPr>
              <a:t>rd</a:t>
            </a:r>
            <a:r>
              <a:rPr lang="en-US" sz="2500" u="sng" dirty="0">
                <a:latin typeface="Bell MT" panose="02020503060305020303" pitchFamily="18" charset="0"/>
              </a:rPr>
              <a:t> way</a:t>
            </a:r>
            <a:r>
              <a:rPr lang="en-US" sz="2500" dirty="0">
                <a:latin typeface="Bell MT" panose="02020503060305020303" pitchFamily="18" charset="0"/>
              </a:rPr>
              <a:t>: </a:t>
            </a:r>
            <a:r>
              <a:rPr lang="en-US" sz="2500" dirty="0">
                <a:solidFill>
                  <a:srgbClr val="FFFF00"/>
                </a:solidFill>
                <a:latin typeface="Bell MT" panose="02020503060305020303" pitchFamily="18" charset="0"/>
              </a:rPr>
              <a:t>Use Technology to produce random numbers from which three different one digit numbers corresponding to the songs are selected</a:t>
            </a:r>
            <a:r>
              <a:rPr lang="en-US" sz="2500" dirty="0">
                <a:latin typeface="Bell MT" panose="02020503060305020303" pitchFamily="18" charset="0"/>
              </a:rPr>
              <a:t>. </a:t>
            </a:r>
          </a:p>
          <a:p>
            <a:pPr>
              <a:lnSpc>
                <a:spcPct val="100000"/>
              </a:lnSpc>
            </a:pPr>
            <a:endParaRPr lang="en-US" sz="2400" dirty="0">
              <a:latin typeface="Bell MT" panose="02020503060305020303" pitchFamily="18" charset="0"/>
            </a:endParaRPr>
          </a:p>
          <a:p>
            <a:pPr>
              <a:lnSpc>
                <a:spcPct val="100000"/>
              </a:lnSpc>
            </a:pPr>
            <a:r>
              <a:rPr lang="en-US" sz="2500" u="sng" dirty="0">
                <a:latin typeface="Bell MT" panose="02020503060305020303" pitchFamily="18" charset="0"/>
              </a:rPr>
              <a:t>Show students how to obtain random numbers using</a:t>
            </a:r>
            <a:r>
              <a:rPr lang="en-US" sz="2500" dirty="0">
                <a:latin typeface="Bell MT" panose="02020503060305020303" pitchFamily="18" charset="0"/>
              </a:rPr>
              <a:t>:</a:t>
            </a:r>
          </a:p>
          <a:p>
            <a:pPr>
              <a:lnSpc>
                <a:spcPct val="100000"/>
              </a:lnSpc>
            </a:pPr>
            <a:r>
              <a:rPr lang="en-US" sz="2500" dirty="0">
                <a:latin typeface="Bell MT" panose="02020503060305020303" pitchFamily="18" charset="0"/>
              </a:rPr>
              <a:t>Microsoft Excel</a:t>
            </a:r>
          </a:p>
          <a:p>
            <a:pPr>
              <a:lnSpc>
                <a:spcPct val="100000"/>
              </a:lnSpc>
            </a:pPr>
            <a:r>
              <a:rPr lang="en-US" sz="2500" dirty="0">
                <a:latin typeface="Bell MT" panose="02020503060305020303" pitchFamily="18" charset="0"/>
              </a:rPr>
              <a:t>Pearson </a:t>
            </a:r>
            <a:r>
              <a:rPr lang="en-US" sz="2500" dirty="0" err="1">
                <a:latin typeface="Bell MT" panose="02020503060305020303" pitchFamily="18" charset="0"/>
              </a:rPr>
              <a:t>Statcrunch</a:t>
            </a:r>
            <a:endParaRPr lang="en-US" sz="2500" dirty="0">
              <a:latin typeface="Bell MT" panose="02020503060305020303" pitchFamily="18" charset="0"/>
            </a:endParaRPr>
          </a:p>
          <a:p>
            <a:pPr>
              <a:lnSpc>
                <a:spcPct val="100000"/>
              </a:lnSpc>
            </a:pPr>
            <a:r>
              <a:rPr lang="en-US" sz="2500" dirty="0">
                <a:latin typeface="Bell MT" panose="02020503060305020303" pitchFamily="18" charset="0"/>
              </a:rPr>
              <a:t>TI-84</a:t>
            </a:r>
          </a:p>
          <a:p>
            <a:pPr>
              <a:lnSpc>
                <a:spcPct val="100000"/>
              </a:lnSpc>
            </a:pPr>
            <a:r>
              <a:rPr lang="en-US" sz="2500" dirty="0">
                <a:latin typeface="Bell MT" panose="02020503060305020303" pitchFamily="18" charset="0"/>
              </a:rPr>
              <a:t>Any other statistical software being used at the time (IBM SPSS, Minitab, and Google Spreadsheets, among others)</a:t>
            </a:r>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389000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5</a:t>
            </a:r>
          </a:p>
        </p:txBody>
      </p:sp>
      <p:sp>
        <p:nvSpPr>
          <p:cNvPr id="14" name="Content Placeholder 13"/>
          <p:cNvSpPr>
            <a:spLocks noGrp="1"/>
          </p:cNvSpPr>
          <p:nvPr>
            <p:ph idx="1"/>
          </p:nvPr>
        </p:nvSpPr>
        <p:spPr>
          <a:xfrm>
            <a:off x="0" y="1219200"/>
            <a:ext cx="12188825" cy="5638800"/>
          </a:xfrm>
        </p:spPr>
        <p:txBody>
          <a:bodyPr>
            <a:normAutofit/>
          </a:bodyPr>
          <a:lstStyle/>
          <a:p>
            <a:pPr lvl="0">
              <a:lnSpc>
                <a:spcPct val="100000"/>
              </a:lnSpc>
              <a:buClr>
                <a:srgbClr val="404040"/>
              </a:buClr>
            </a:pPr>
            <a:r>
              <a:rPr lang="en-US" sz="2500" dirty="0">
                <a:latin typeface="Bell MT" panose="02020503060305020303" pitchFamily="18" charset="0"/>
              </a:rPr>
              <a:t>The manager of </a:t>
            </a:r>
            <a:r>
              <a:rPr lang="en-US" sz="2500" dirty="0" err="1">
                <a:latin typeface="Bell MT" panose="02020503060305020303" pitchFamily="18" charset="0"/>
              </a:rPr>
              <a:t>Samdom</a:t>
            </a:r>
            <a:r>
              <a:rPr lang="en-US" sz="2500" dirty="0">
                <a:latin typeface="Bell MT" panose="02020503060305020303" pitchFamily="18" charset="0"/>
              </a:rPr>
              <a:t> Apartments has a list of the names of 438 residents living in the east wing of the main apartment and intends to conduct an opinion survey of resident services. What ways can this be done in order to obtain a simple random sample of 5 residents? Obtain this sample. </a:t>
            </a:r>
          </a:p>
          <a:p>
            <a:pPr lvl="0">
              <a:lnSpc>
                <a:spcPct val="100000"/>
              </a:lnSpc>
              <a:buClr>
                <a:srgbClr val="404040"/>
              </a:buClr>
            </a:pPr>
            <a:r>
              <a:rPr lang="en-US" sz="2500" u="sng" dirty="0">
                <a:latin typeface="Bell MT" panose="02020503060305020303" pitchFamily="18" charset="0"/>
              </a:rPr>
              <a:t>1</a:t>
            </a:r>
            <a:r>
              <a:rPr lang="en-US" sz="2500" u="sng" baseline="30000" dirty="0">
                <a:latin typeface="Bell MT" panose="02020503060305020303" pitchFamily="18" charset="0"/>
              </a:rPr>
              <a:t>st</a:t>
            </a:r>
            <a:r>
              <a:rPr lang="en-US" sz="2500" u="sng" dirty="0">
                <a:latin typeface="Bell MT" panose="02020503060305020303" pitchFamily="18" charset="0"/>
              </a:rPr>
              <a:t> way</a:t>
            </a:r>
            <a:r>
              <a:rPr lang="en-US" sz="2500" dirty="0">
                <a:latin typeface="Bell MT" panose="02020503060305020303" pitchFamily="18" charset="0"/>
              </a:rPr>
              <a:t>: </a:t>
            </a:r>
            <a:r>
              <a:rPr lang="en-US" sz="2500" dirty="0">
                <a:solidFill>
                  <a:srgbClr val="FFFF00"/>
                </a:solidFill>
                <a:latin typeface="Bell MT" panose="02020503060305020303" pitchFamily="18" charset="0"/>
              </a:rPr>
              <a:t>List each name on a separate piece of paper, place them all in a hat, and pick five</a:t>
            </a:r>
            <a:r>
              <a:rPr lang="en-US" sz="2500" dirty="0">
                <a:latin typeface="Bell MT" panose="02020503060305020303" pitchFamily="18" charset="0"/>
              </a:rPr>
              <a:t>.</a:t>
            </a:r>
          </a:p>
          <a:p>
            <a:pPr lvl="0">
              <a:lnSpc>
                <a:spcPct val="100000"/>
              </a:lnSpc>
              <a:buClr>
                <a:srgbClr val="404040"/>
              </a:buClr>
            </a:pPr>
            <a:r>
              <a:rPr lang="en-US" sz="2500" u="sng" dirty="0">
                <a:latin typeface="Bell MT" panose="02020503060305020303" pitchFamily="18" charset="0"/>
              </a:rPr>
              <a:t>2</a:t>
            </a:r>
            <a:r>
              <a:rPr lang="en-US" sz="2500" u="sng" baseline="30000" dirty="0">
                <a:latin typeface="Bell MT" panose="02020503060305020303" pitchFamily="18" charset="0"/>
              </a:rPr>
              <a:t>nd</a:t>
            </a:r>
            <a:r>
              <a:rPr lang="en-US" sz="2500" u="sng" dirty="0">
                <a:latin typeface="Bell MT" panose="02020503060305020303" pitchFamily="18" charset="0"/>
              </a:rPr>
              <a:t> way</a:t>
            </a:r>
            <a:r>
              <a:rPr lang="en-US" sz="2500" dirty="0">
                <a:latin typeface="Bell MT" panose="02020503060305020303" pitchFamily="18" charset="0"/>
              </a:rPr>
              <a:t>: </a:t>
            </a:r>
            <a:r>
              <a:rPr lang="en-US" sz="2500" dirty="0">
                <a:solidFill>
                  <a:srgbClr val="FFFF00"/>
                </a:solidFill>
                <a:latin typeface="Bell MT" panose="02020503060305020303" pitchFamily="18" charset="0"/>
              </a:rPr>
              <a:t>Number the names from 1 to 438 and use a Table of Random Numbers to produce five different three-digit numbers corresponding to the names selected</a:t>
            </a:r>
            <a:r>
              <a:rPr lang="en-US" sz="2500" dirty="0">
                <a:latin typeface="Bell MT" panose="02020503060305020303" pitchFamily="18" charset="0"/>
              </a:rPr>
              <a:t>.</a:t>
            </a:r>
            <a:r>
              <a:rPr lang="en-US" sz="2500" dirty="0">
                <a:solidFill>
                  <a:srgbClr val="404040"/>
                </a:solidFill>
                <a:latin typeface="Bell MT" panose="02020503060305020303" pitchFamily="18" charset="0"/>
              </a:rPr>
              <a:t> </a:t>
            </a:r>
          </a:p>
          <a:p>
            <a:pPr lvl="0">
              <a:lnSpc>
                <a:spcPct val="100000"/>
              </a:lnSpc>
              <a:buClr>
                <a:srgbClr val="404040"/>
              </a:buClr>
            </a:pPr>
            <a:endParaRPr lang="en-US" sz="2500" dirty="0">
              <a:solidFill>
                <a:srgbClr val="404040"/>
              </a:solidFill>
              <a:latin typeface="Bell MT" panose="02020503060305020303" pitchFamily="18" charset="0"/>
            </a:endParaRPr>
          </a:p>
          <a:p>
            <a:pPr lvl="0">
              <a:lnSpc>
                <a:spcPct val="100000"/>
              </a:lnSpc>
              <a:buClr>
                <a:srgbClr val="404040"/>
              </a:buClr>
            </a:pPr>
            <a:r>
              <a:rPr lang="en-US" sz="2500" dirty="0">
                <a:latin typeface="Bell MT" panose="02020503060305020303" pitchFamily="18" charset="0"/>
              </a:rPr>
              <a:t>Use the portion of the Table of Random Numbers in the next slide.</a:t>
            </a:r>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180680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6</a:t>
            </a:r>
          </a:p>
        </p:txBody>
      </p:sp>
      <p:sp>
        <p:nvSpPr>
          <p:cNvPr id="14" name="Content Placeholder 13"/>
          <p:cNvSpPr>
            <a:spLocks noGrp="1"/>
          </p:cNvSpPr>
          <p:nvPr>
            <p:ph idx="1"/>
          </p:nvPr>
        </p:nvSpPr>
        <p:spPr>
          <a:xfrm>
            <a:off x="0" y="1219200"/>
            <a:ext cx="12188825" cy="5638800"/>
          </a:xfrm>
        </p:spPr>
        <p:txBody>
          <a:bodyPr>
            <a:normAutofit lnSpcReduction="10000"/>
          </a:bodyPr>
          <a:lstStyle/>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r>
              <a:rPr lang="en-US" sz="2500" dirty="0">
                <a:latin typeface="Bell MT" panose="02020503060305020303" pitchFamily="18" charset="0"/>
              </a:rPr>
              <a:t>We begin with the first column of the first row and work down each column. </a:t>
            </a:r>
          </a:p>
          <a:p>
            <a:pPr>
              <a:lnSpc>
                <a:spcPct val="100000"/>
              </a:lnSpc>
            </a:pPr>
            <a:r>
              <a:rPr lang="en-US" sz="2500" dirty="0">
                <a:latin typeface="Bell MT" panose="02020503060305020303" pitchFamily="18" charset="0"/>
              </a:rPr>
              <a:t>The numbers are: 796 = No. It is greater than 438</a:t>
            </a:r>
            <a:endParaRPr lang="en-US" sz="2500" dirty="0"/>
          </a:p>
          <a:p>
            <a:pPr>
              <a:lnSpc>
                <a:spcPct val="100000"/>
              </a:lnSpc>
            </a:pPr>
            <a:endParaRPr lang="en-US" sz="2500" dirty="0"/>
          </a:p>
        </p:txBody>
      </p:sp>
      <p:pic>
        <p:nvPicPr>
          <p:cNvPr id="4" name="Picture 3"/>
          <p:cNvPicPr>
            <a:picLocks noChangeAspect="1"/>
          </p:cNvPicPr>
          <p:nvPr/>
        </p:nvPicPr>
        <p:blipFill>
          <a:blip r:embed="rId2"/>
          <a:stretch>
            <a:fillRect/>
          </a:stretch>
        </p:blipFill>
        <p:spPr>
          <a:xfrm>
            <a:off x="235648" y="1328746"/>
            <a:ext cx="11717528" cy="4200508"/>
          </a:xfrm>
          <a:prstGeom prst="rect">
            <a:avLst/>
          </a:prstGeom>
        </p:spPr>
      </p:pic>
    </p:spTree>
    <p:extLst>
      <p:ext uri="{BB962C8B-B14F-4D97-AF65-F5344CB8AC3E}">
        <p14:creationId xmlns:p14="http://schemas.microsoft.com/office/powerpoint/2010/main" val="4241645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7</a:t>
            </a:r>
          </a:p>
        </p:txBody>
      </p:sp>
      <p:sp>
        <p:nvSpPr>
          <p:cNvPr id="14" name="Content Placeholder 13"/>
          <p:cNvSpPr>
            <a:spLocks noGrp="1"/>
          </p:cNvSpPr>
          <p:nvPr>
            <p:ph idx="1"/>
          </p:nvPr>
        </p:nvSpPr>
        <p:spPr>
          <a:xfrm>
            <a:off x="0" y="1219200"/>
            <a:ext cx="12188825" cy="5638800"/>
          </a:xfrm>
        </p:spPr>
        <p:txBody>
          <a:bodyPr>
            <a:normAutofit lnSpcReduction="10000"/>
          </a:bodyPr>
          <a:lstStyle/>
          <a:p>
            <a:pPr>
              <a:lnSpc>
                <a:spcPct val="100000"/>
              </a:lnSpc>
            </a:pPr>
            <a:r>
              <a:rPr lang="en-US" sz="2400" dirty="0">
                <a:latin typeface="Bell MT" panose="02020503060305020303" pitchFamily="18" charset="0"/>
              </a:rPr>
              <a:t>We begin with the first column of the first row and work down each column. Remember: it is the first three-digit because 438 is a three-digit number.</a:t>
            </a:r>
          </a:p>
          <a:p>
            <a:pPr>
              <a:lnSpc>
                <a:spcPct val="100000"/>
              </a:lnSpc>
            </a:pPr>
            <a:r>
              <a:rPr lang="en-US" sz="2400" dirty="0">
                <a:latin typeface="Bell MT" panose="02020503060305020303" pitchFamily="18" charset="0"/>
              </a:rPr>
              <a:t>The numbers are: 796 = No. It is greater than 438</a:t>
            </a:r>
          </a:p>
          <a:p>
            <a:pPr>
              <a:lnSpc>
                <a:spcPct val="100000"/>
              </a:lnSpc>
            </a:pPr>
            <a:r>
              <a:rPr lang="en-US" sz="2400" dirty="0">
                <a:latin typeface="Bell MT" panose="02020503060305020303" pitchFamily="18" charset="0"/>
              </a:rPr>
              <a:t>319 = Yes. </a:t>
            </a:r>
          </a:p>
          <a:p>
            <a:pPr>
              <a:lnSpc>
                <a:spcPct val="100000"/>
              </a:lnSpc>
            </a:pPr>
            <a:r>
              <a:rPr lang="en-US" sz="2400" dirty="0">
                <a:latin typeface="Bell MT" panose="02020503060305020303" pitchFamily="18" charset="0"/>
              </a:rPr>
              <a:t>648 = No. 648 &gt; 438.</a:t>
            </a:r>
          </a:p>
          <a:p>
            <a:pPr>
              <a:lnSpc>
                <a:spcPct val="100000"/>
              </a:lnSpc>
            </a:pPr>
            <a:r>
              <a:rPr lang="en-US" sz="2400" dirty="0">
                <a:latin typeface="Bell MT" panose="02020503060305020303" pitchFamily="18" charset="0"/>
              </a:rPr>
              <a:t>992 = No. 992 &gt; 438.</a:t>
            </a:r>
          </a:p>
          <a:p>
            <a:pPr>
              <a:lnSpc>
                <a:spcPct val="100000"/>
              </a:lnSpc>
            </a:pPr>
            <a:r>
              <a:rPr lang="en-US" sz="2400" dirty="0">
                <a:latin typeface="Bell MT" panose="02020503060305020303" pitchFamily="18" charset="0"/>
              </a:rPr>
              <a:t>421 = Yes.</a:t>
            </a:r>
          </a:p>
          <a:p>
            <a:pPr>
              <a:lnSpc>
                <a:spcPct val="100000"/>
              </a:lnSpc>
            </a:pPr>
            <a:r>
              <a:rPr lang="en-US" sz="2400" dirty="0">
                <a:latin typeface="Bell MT" panose="02020503060305020303" pitchFamily="18" charset="0"/>
              </a:rPr>
              <a:t>291 = Yes.</a:t>
            </a:r>
          </a:p>
          <a:p>
            <a:pPr>
              <a:lnSpc>
                <a:spcPct val="100000"/>
              </a:lnSpc>
            </a:pPr>
            <a:r>
              <a:rPr lang="en-US" sz="2400" dirty="0">
                <a:latin typeface="Bell MT" panose="02020503060305020303" pitchFamily="18" charset="0"/>
              </a:rPr>
              <a:t>269 = Yes.</a:t>
            </a:r>
          </a:p>
          <a:p>
            <a:pPr>
              <a:lnSpc>
                <a:spcPct val="100000"/>
              </a:lnSpc>
            </a:pPr>
            <a:r>
              <a:rPr lang="en-US" sz="2400" dirty="0">
                <a:latin typeface="Bell MT" panose="02020503060305020303" pitchFamily="18" charset="0"/>
              </a:rPr>
              <a:t>429 = Yes.</a:t>
            </a:r>
          </a:p>
          <a:p>
            <a:pPr>
              <a:lnSpc>
                <a:spcPct val="100000"/>
              </a:lnSpc>
            </a:pPr>
            <a:r>
              <a:rPr lang="en-US" sz="2400" dirty="0">
                <a:solidFill>
                  <a:srgbClr val="FFFF00"/>
                </a:solidFill>
                <a:latin typeface="Bell MT" panose="02020503060305020303" pitchFamily="18" charset="0"/>
              </a:rPr>
              <a:t>The numbers corresponding to the residents chosen = 319, 421, 291, 269, 429</a:t>
            </a:r>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1453038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8</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u="sng" dirty="0">
                <a:latin typeface="Bell MT" panose="02020503060305020303" pitchFamily="18" charset="0"/>
              </a:rPr>
              <a:t>Stratified Sampling</a:t>
            </a:r>
            <a:r>
              <a:rPr lang="en-US" sz="2500" dirty="0">
                <a:latin typeface="Bell MT" panose="02020503060305020303" pitchFamily="18" charset="0"/>
              </a:rPr>
              <a:t> is a sampling technique in which the stratified sample is obtained by: separating the population into </a:t>
            </a:r>
            <a:r>
              <a:rPr lang="en-US" sz="2500" dirty="0" err="1">
                <a:latin typeface="Bell MT" panose="02020503060305020303" pitchFamily="18" charset="0"/>
              </a:rPr>
              <a:t>nonoverlapping</a:t>
            </a:r>
            <a:r>
              <a:rPr lang="en-US" sz="2500" dirty="0">
                <a:latin typeface="Bell MT" panose="02020503060305020303" pitchFamily="18" charset="0"/>
              </a:rPr>
              <a:t> groups otherwise known as </a:t>
            </a:r>
            <a:r>
              <a:rPr lang="en-US" sz="2500" u="sng" dirty="0">
                <a:latin typeface="Bell MT" panose="02020503060305020303" pitchFamily="18" charset="0"/>
              </a:rPr>
              <a:t>strata</a:t>
            </a:r>
            <a:r>
              <a:rPr lang="en-US" sz="2500" dirty="0">
                <a:latin typeface="Bell MT" panose="02020503060305020303" pitchFamily="18" charset="0"/>
              </a:rPr>
              <a:t>; and then obtaining a simple random sample from each stratum. The individuals within each stratum should be homogenous – have similar characteristics such as gender, class, and race among others.</a:t>
            </a:r>
          </a:p>
          <a:p>
            <a:pPr>
              <a:lnSpc>
                <a:spcPct val="100000"/>
              </a:lnSpc>
            </a:pPr>
            <a:endParaRPr lang="en-US" sz="2500" dirty="0">
              <a:latin typeface="Bell MT" panose="02020503060305020303" pitchFamily="18" charset="0"/>
            </a:endParaRPr>
          </a:p>
          <a:p>
            <a:pPr>
              <a:lnSpc>
                <a:spcPct val="100000"/>
              </a:lnSpc>
            </a:pPr>
            <a:r>
              <a:rPr lang="en-US" sz="2500" dirty="0">
                <a:latin typeface="Bell MT" panose="02020503060305020303" pitchFamily="18" charset="0"/>
              </a:rPr>
              <a:t>Mr. C wants to know the average number of days that math students at JSU were absent during a semester. He visited each math class on a certain day they meet, and randomly selects 7 students from each class.</a:t>
            </a:r>
          </a:p>
          <a:p>
            <a:pPr>
              <a:lnSpc>
                <a:spcPct val="100000"/>
              </a:lnSpc>
            </a:pPr>
            <a:r>
              <a:rPr lang="en-US" sz="2500" dirty="0">
                <a:latin typeface="Bell MT" panose="02020503060305020303" pitchFamily="18" charset="0"/>
              </a:rPr>
              <a:t>Reuters poll conducted an election opinion poll of 25,000 prospective voters for the Presidential election. They sorted out female responses to observe the candidates’ rankings with women.</a:t>
            </a:r>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2550422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9</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u="sng" dirty="0">
                <a:latin typeface="Bell MT" panose="02020503060305020303" pitchFamily="18" charset="0"/>
              </a:rPr>
              <a:t>Cluster Sampling</a:t>
            </a:r>
            <a:r>
              <a:rPr lang="en-US" sz="2500" dirty="0">
                <a:latin typeface="Bell MT" panose="02020503060305020303" pitchFamily="18" charset="0"/>
              </a:rPr>
              <a:t> is a sampling technique in which the cluster sample is obtained by: dividing the population into sections otherwise known as </a:t>
            </a:r>
            <a:r>
              <a:rPr lang="en-US" sz="2500" u="sng" dirty="0">
                <a:latin typeface="Bell MT" panose="02020503060305020303" pitchFamily="18" charset="0"/>
              </a:rPr>
              <a:t>clusters</a:t>
            </a:r>
            <a:r>
              <a:rPr lang="en-US" sz="2500" dirty="0">
                <a:latin typeface="Bell MT" panose="02020503060305020303" pitchFamily="18" charset="0"/>
              </a:rPr>
              <a:t>; randomly selecting some of those clusters; and then selecting all the individuals from those selected clusters.</a:t>
            </a:r>
          </a:p>
          <a:p>
            <a:pPr>
              <a:lnSpc>
                <a:spcPct val="100000"/>
              </a:lnSpc>
            </a:pPr>
            <a:r>
              <a:rPr lang="en-US" sz="2500" dirty="0">
                <a:latin typeface="Bell MT" panose="02020503060305020303" pitchFamily="18" charset="0"/>
              </a:rPr>
              <a:t>Mr. C is teaching a large class. He wants to know whether his students do their </a:t>
            </a:r>
            <a:r>
              <a:rPr lang="en-US" sz="2500" dirty="0" err="1">
                <a:latin typeface="Bell MT" panose="02020503060305020303" pitchFamily="18" charset="0"/>
              </a:rPr>
              <a:t>WebAssign</a:t>
            </a:r>
            <a:r>
              <a:rPr lang="en-US" sz="2500" dirty="0">
                <a:latin typeface="Bell MT" panose="02020503060305020303" pitchFamily="18" charset="0"/>
              </a:rPr>
              <a:t> homework assignments </a:t>
            </a:r>
            <a:r>
              <a:rPr lang="en-US" sz="2500" dirty="0">
                <a:latin typeface="Bell MT" panose="02020503060305020303" pitchFamily="18" charset="0"/>
                <a:sym typeface="Wingdings" panose="05000000000000000000" pitchFamily="2" charset="2"/>
              </a:rPr>
              <a:t> He randomly selects 3 rows out of the 7 rows of students in his class and asked all the students in those rows to show him the solutions of a certain homework assignment.</a:t>
            </a:r>
            <a:endParaRPr lang="en-US" sz="2500" dirty="0">
              <a:latin typeface="Bell MT" panose="02020503060305020303" pitchFamily="18" charset="0"/>
            </a:endParaRPr>
          </a:p>
          <a:p>
            <a:pPr>
              <a:lnSpc>
                <a:spcPct val="100000"/>
              </a:lnSpc>
            </a:pPr>
            <a:endParaRPr lang="en-US" sz="2500" dirty="0">
              <a:latin typeface="Bell MT" panose="02020503060305020303" pitchFamily="18" charset="0"/>
            </a:endParaRPr>
          </a:p>
          <a:p>
            <a:pPr>
              <a:lnSpc>
                <a:spcPct val="100000"/>
              </a:lnSpc>
            </a:pPr>
            <a:r>
              <a:rPr lang="en-US" sz="2500" dirty="0">
                <a:latin typeface="Bell MT" panose="02020503060305020303" pitchFamily="18" charset="0"/>
              </a:rPr>
              <a:t>In a bid to improve its customer service, the management at a retail store randomly selects 50 stores during a certain week. All customers present at those stores during that week are interviewed. </a:t>
            </a:r>
          </a:p>
          <a:p>
            <a:pPr>
              <a:lnSpc>
                <a:spcPct val="100000"/>
              </a:lnSpc>
            </a:pPr>
            <a:endParaRPr lang="en-US" sz="2500" dirty="0"/>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83146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10</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u="sng" dirty="0">
                <a:latin typeface="Bell MT" panose="02020503060305020303" pitchFamily="18" charset="0"/>
              </a:rPr>
              <a:t>Systematic Sampling</a:t>
            </a:r>
            <a:r>
              <a:rPr lang="en-US" sz="2500" dirty="0">
                <a:latin typeface="Bell MT" panose="02020503060305020303" pitchFamily="18" charset="0"/>
              </a:rPr>
              <a:t> is a sampling technique in which the systematic sample is obtained by selecting every </a:t>
            </a:r>
            <a:r>
              <a:rPr lang="en-US" sz="2500" i="1" dirty="0">
                <a:latin typeface="Bell MT" panose="02020503060305020303" pitchFamily="18" charset="0"/>
              </a:rPr>
              <a:t>kth</a:t>
            </a:r>
            <a:r>
              <a:rPr lang="en-US" sz="2500" dirty="0">
                <a:latin typeface="Bell MT" panose="02020503060305020303" pitchFamily="18" charset="0"/>
              </a:rPr>
              <a:t> individual from the population. Begin from a starting point, then select every </a:t>
            </a:r>
            <a:r>
              <a:rPr lang="en-US" sz="2500" i="1" dirty="0">
                <a:latin typeface="Bell MT" panose="02020503060305020303" pitchFamily="18" charset="0"/>
              </a:rPr>
              <a:t>kth</a:t>
            </a:r>
            <a:r>
              <a:rPr lang="en-US" sz="2500" dirty="0">
                <a:latin typeface="Bell MT" panose="02020503060305020303" pitchFamily="18" charset="0"/>
              </a:rPr>
              <a:t> individual. That starting point or individual corresponds to a random number between 1 and </a:t>
            </a:r>
            <a:r>
              <a:rPr lang="en-US" sz="2500" i="1" dirty="0">
                <a:latin typeface="Bell MT" panose="02020503060305020303" pitchFamily="18" charset="0"/>
              </a:rPr>
              <a:t>k.</a:t>
            </a:r>
          </a:p>
          <a:p>
            <a:pPr>
              <a:lnSpc>
                <a:spcPct val="100000"/>
              </a:lnSpc>
            </a:pPr>
            <a:r>
              <a:rPr lang="en-US" sz="2500" dirty="0" err="1">
                <a:latin typeface="Bell MT" panose="02020503060305020303" pitchFamily="18" charset="0"/>
              </a:rPr>
              <a:t>BeGood</a:t>
            </a:r>
            <a:r>
              <a:rPr lang="en-US" sz="2500" dirty="0">
                <a:latin typeface="Bell MT" panose="02020503060305020303" pitchFamily="18" charset="0"/>
              </a:rPr>
              <a:t> Computers produces laptops. To estimate the percentage of defects in a certain batch, the quality control manager starts from the 3</a:t>
            </a:r>
            <a:r>
              <a:rPr lang="en-US" sz="2500" baseline="30000" dirty="0">
                <a:latin typeface="Bell MT" panose="02020503060305020303" pitchFamily="18" charset="0"/>
              </a:rPr>
              <a:t>rd</a:t>
            </a:r>
            <a:r>
              <a:rPr lang="en-US" sz="2500" dirty="0">
                <a:latin typeface="Bell MT" panose="02020503060305020303" pitchFamily="18" charset="0"/>
              </a:rPr>
              <a:t> laptop, and selects every 12</a:t>
            </a:r>
            <a:r>
              <a:rPr lang="en-US" sz="2500" baseline="30000" dirty="0">
                <a:latin typeface="Bell MT" panose="02020503060305020303" pitchFamily="18" charset="0"/>
              </a:rPr>
              <a:t>th</a:t>
            </a:r>
            <a:r>
              <a:rPr lang="en-US" sz="2500" dirty="0">
                <a:latin typeface="Bell MT" panose="02020503060305020303" pitchFamily="18" charset="0"/>
              </a:rPr>
              <a:t> laptop that comes off the assembly line. </a:t>
            </a:r>
          </a:p>
          <a:p>
            <a:pPr>
              <a:lnSpc>
                <a:spcPct val="100000"/>
              </a:lnSpc>
            </a:pPr>
            <a:r>
              <a:rPr lang="en-US" sz="2500" dirty="0">
                <a:latin typeface="Bell MT" panose="02020503060305020303" pitchFamily="18" charset="0"/>
              </a:rPr>
              <a:t>The people greeter at a certain Walmart store asks every outgoing 7</a:t>
            </a:r>
            <a:r>
              <a:rPr lang="en-US" sz="2500" baseline="30000" dirty="0">
                <a:latin typeface="Bell MT" panose="02020503060305020303" pitchFamily="18" charset="0"/>
              </a:rPr>
              <a:t>th</a:t>
            </a:r>
            <a:r>
              <a:rPr lang="en-US" sz="2500" dirty="0">
                <a:latin typeface="Bell MT" panose="02020503060305020303" pitchFamily="18" charset="0"/>
              </a:rPr>
              <a:t> customer his/her shopping experience.</a:t>
            </a:r>
          </a:p>
          <a:p>
            <a:pPr>
              <a:lnSpc>
                <a:spcPct val="100000"/>
              </a:lnSpc>
            </a:pPr>
            <a:r>
              <a:rPr lang="en-US" sz="2500" dirty="0">
                <a:latin typeface="Bell MT" panose="02020503060305020303" pitchFamily="18" charset="0"/>
              </a:rPr>
              <a:t>A telemarketer calls every 52</a:t>
            </a:r>
            <a:r>
              <a:rPr lang="en-US" sz="2500" baseline="30000" dirty="0">
                <a:latin typeface="Bell MT" panose="02020503060305020303" pitchFamily="18" charset="0"/>
              </a:rPr>
              <a:t>nd</a:t>
            </a:r>
            <a:r>
              <a:rPr lang="en-US" sz="2500" dirty="0">
                <a:latin typeface="Bell MT" panose="02020503060305020303" pitchFamily="18" charset="0"/>
              </a:rPr>
              <a:t> person in a phone book directory that has over 100,000 phone number listings of the residents of a city.</a:t>
            </a:r>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779237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S</a:t>
            </a:r>
            <a:r>
              <a:rPr lang="en-US" cap="none" dirty="0"/>
              <a:t>ampling</a:t>
            </a:r>
            <a:r>
              <a:rPr lang="en-US" dirty="0"/>
              <a:t> </a:t>
            </a:r>
            <a:r>
              <a:rPr lang="en-US" cap="none" dirty="0"/>
              <a:t>and</a:t>
            </a:r>
            <a:r>
              <a:rPr lang="en-US" dirty="0"/>
              <a:t> s</a:t>
            </a:r>
            <a:r>
              <a:rPr lang="en-US" cap="none" dirty="0"/>
              <a:t>ampling</a:t>
            </a:r>
            <a:r>
              <a:rPr lang="en-US" dirty="0"/>
              <a:t> t</a:t>
            </a:r>
            <a:r>
              <a:rPr lang="en-US" cap="none" dirty="0"/>
              <a:t>echniques			11</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500" u="sng" dirty="0">
                <a:latin typeface="Bell MT" panose="02020503060305020303" pitchFamily="18" charset="0"/>
              </a:rPr>
              <a:t>Convenience Sampling</a:t>
            </a:r>
            <a:r>
              <a:rPr lang="en-US" sz="2500" dirty="0">
                <a:latin typeface="Bell MT" panose="02020503060305020303" pitchFamily="18" charset="0"/>
              </a:rPr>
              <a:t> is a sampling technique in which the individuals in the convenience sample otherwise known as </a:t>
            </a:r>
            <a:r>
              <a:rPr lang="en-US" sz="2500" u="sng" dirty="0">
                <a:latin typeface="Bell MT" panose="02020503060305020303" pitchFamily="18" charset="0"/>
              </a:rPr>
              <a:t>voluntary response sample</a:t>
            </a:r>
            <a:r>
              <a:rPr lang="en-US" sz="2500" dirty="0">
                <a:latin typeface="Bell MT" panose="02020503060305020303" pitchFamily="18" charset="0"/>
              </a:rPr>
              <a:t> are easily obtained, rather than randomness. The individuals in the sample voluntarily decide to participate in the survey.</a:t>
            </a:r>
          </a:p>
          <a:p>
            <a:pPr>
              <a:lnSpc>
                <a:spcPct val="100000"/>
              </a:lnSpc>
            </a:pPr>
            <a:r>
              <a:rPr lang="en-US" sz="2500" dirty="0">
                <a:latin typeface="Bell MT" panose="02020503060305020303" pitchFamily="18" charset="0"/>
              </a:rPr>
              <a:t>Nigeria’s Got Talent asks its viewers to  </a:t>
            </a:r>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1062411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0" y="0"/>
            <a:ext cx="12188825" cy="990600"/>
          </a:xfrm>
        </p:spPr>
        <p:txBody>
          <a:bodyPr>
            <a:normAutofit/>
          </a:bodyPr>
          <a:lstStyle/>
          <a:p>
            <a:r>
              <a:rPr lang="en-US" dirty="0"/>
              <a:t>References/referenced websites</a:t>
            </a:r>
            <a:r>
              <a:rPr lang="en-US" cap="none" dirty="0"/>
              <a:t>		1</a:t>
            </a:r>
          </a:p>
        </p:txBody>
      </p:sp>
      <p:sp>
        <p:nvSpPr>
          <p:cNvPr id="14" name="Content Placeholder 13"/>
          <p:cNvSpPr>
            <a:spLocks noGrp="1"/>
          </p:cNvSpPr>
          <p:nvPr>
            <p:ph idx="1"/>
          </p:nvPr>
        </p:nvSpPr>
        <p:spPr>
          <a:xfrm>
            <a:off x="0" y="1219200"/>
            <a:ext cx="12188825" cy="5638800"/>
          </a:xfrm>
        </p:spPr>
        <p:txBody>
          <a:bodyPr>
            <a:normAutofit/>
          </a:bodyPr>
          <a:lstStyle/>
          <a:p>
            <a:pPr>
              <a:lnSpc>
                <a:spcPct val="100000"/>
              </a:lnSpc>
            </a:pPr>
            <a:r>
              <a:rPr lang="en-US" sz="2400" dirty="0">
                <a:latin typeface="Bell MT" panose="02020503060305020303" pitchFamily="18" charset="0"/>
              </a:rPr>
              <a:t>Sullivan, M., &amp; Barnett, R. (2013). </a:t>
            </a:r>
            <a:r>
              <a:rPr lang="en-US" sz="2400" i="1" dirty="0">
                <a:latin typeface="Bell MT" panose="02020503060305020303" pitchFamily="18" charset="0"/>
              </a:rPr>
              <a:t>Statistics: Informed decisions using data with an introduction to mathematics of finance</a:t>
            </a:r>
            <a:r>
              <a:rPr lang="en-US" sz="2400" dirty="0">
                <a:latin typeface="Bell MT" panose="02020503060305020303" pitchFamily="18" charset="0"/>
              </a:rPr>
              <a:t> (2nd custom ed.). Boston: Pearson Learning Solutions. </a:t>
            </a:r>
            <a:endParaRPr lang="en-US" sz="2400" dirty="0" smtClean="0">
              <a:latin typeface="Bell MT" panose="02020503060305020303" pitchFamily="18" charset="0"/>
            </a:endParaRPr>
          </a:p>
          <a:p>
            <a:pPr>
              <a:lnSpc>
                <a:spcPct val="100000"/>
              </a:lnSpc>
            </a:pPr>
            <a:endParaRPr lang="en-US" sz="2400" dirty="0" smtClean="0">
              <a:latin typeface="Bell MT" panose="02020503060305020303" pitchFamily="18" charset="0"/>
            </a:endParaRPr>
          </a:p>
          <a:p>
            <a:pPr>
              <a:lnSpc>
                <a:spcPct val="100000"/>
              </a:lnSpc>
            </a:pPr>
            <a:r>
              <a:rPr lang="en-US" sz="2400" dirty="0" smtClean="0">
                <a:latin typeface="Bell MT" panose="02020503060305020303" pitchFamily="18" charset="0"/>
              </a:rPr>
              <a:t>Gould, R, &amp; Ryan, C. </a:t>
            </a:r>
            <a:r>
              <a:rPr lang="en-US" sz="2400" dirty="0">
                <a:latin typeface="Bell MT" panose="02020503060305020303" pitchFamily="18" charset="0"/>
              </a:rPr>
              <a:t>(</a:t>
            </a:r>
            <a:r>
              <a:rPr lang="en-US" sz="2400" dirty="0" smtClean="0">
                <a:latin typeface="Bell MT" panose="02020503060305020303" pitchFamily="18" charset="0"/>
              </a:rPr>
              <a:t>2016). </a:t>
            </a:r>
            <a:r>
              <a:rPr lang="en-US" sz="2400" i="1" dirty="0">
                <a:latin typeface="Bell MT" panose="02020503060305020303" pitchFamily="18" charset="0"/>
              </a:rPr>
              <a:t>I</a:t>
            </a:r>
            <a:r>
              <a:rPr lang="en-US" sz="2400" i="1" dirty="0" smtClean="0">
                <a:latin typeface="Bell MT" panose="02020503060305020303" pitchFamily="18" charset="0"/>
              </a:rPr>
              <a:t>ntroductory Statistics</a:t>
            </a:r>
            <a:r>
              <a:rPr lang="en-US" sz="2400" i="1" dirty="0">
                <a:latin typeface="Bell MT" panose="02020503060305020303" pitchFamily="18" charset="0"/>
              </a:rPr>
              <a:t>: </a:t>
            </a:r>
            <a:r>
              <a:rPr lang="en-US" sz="2400" i="1" dirty="0" smtClean="0">
                <a:latin typeface="Bell MT" panose="02020503060305020303" pitchFamily="18" charset="0"/>
              </a:rPr>
              <a:t>Exploring the world through data</a:t>
            </a:r>
            <a:r>
              <a:rPr lang="en-US" sz="2400" dirty="0" smtClean="0">
                <a:latin typeface="Bell MT" panose="02020503060305020303" pitchFamily="18" charset="0"/>
              </a:rPr>
              <a:t> </a:t>
            </a:r>
            <a:r>
              <a:rPr lang="en-US" sz="2400" dirty="0">
                <a:latin typeface="Bell MT" panose="02020503060305020303" pitchFamily="18" charset="0"/>
              </a:rPr>
              <a:t>(2nd </a:t>
            </a:r>
            <a:r>
              <a:rPr lang="en-US" sz="2400" dirty="0" smtClean="0">
                <a:latin typeface="Bell MT" panose="02020503060305020303" pitchFamily="18" charset="0"/>
              </a:rPr>
              <a:t>ed</a:t>
            </a:r>
            <a:r>
              <a:rPr lang="en-US" sz="2400" dirty="0">
                <a:latin typeface="Bell MT" panose="02020503060305020303" pitchFamily="18" charset="0"/>
              </a:rPr>
              <a:t>.). Boston: </a:t>
            </a:r>
            <a:r>
              <a:rPr lang="en-US" sz="2400" dirty="0" smtClean="0">
                <a:latin typeface="Bell MT" panose="02020503060305020303" pitchFamily="18" charset="0"/>
              </a:rPr>
              <a:t>Pearson. </a:t>
            </a:r>
          </a:p>
          <a:p>
            <a:pPr>
              <a:lnSpc>
                <a:spcPct val="100000"/>
              </a:lnSpc>
            </a:pPr>
            <a:endParaRPr lang="en-US" sz="2400" dirty="0">
              <a:latin typeface="Bell MT" panose="02020503060305020303" pitchFamily="18" charset="0"/>
            </a:endParaRPr>
          </a:p>
          <a:p>
            <a:pPr>
              <a:lnSpc>
                <a:spcPct val="100000"/>
              </a:lnSpc>
            </a:pPr>
            <a:r>
              <a:rPr lang="en-US" sz="2400" dirty="0">
                <a:latin typeface="Bell MT" panose="02020503060305020303" pitchFamily="18" charset="0"/>
                <a:hlinkClick r:id="rId2"/>
              </a:rPr>
              <a:t>http://www.livescience.com/14010-infant-food-breast-fed-formula-health-consequences.html</a:t>
            </a:r>
            <a:endParaRPr lang="en-US" sz="2400" dirty="0">
              <a:latin typeface="Bell MT" panose="02020503060305020303" pitchFamily="18" charset="0"/>
            </a:endParaRPr>
          </a:p>
          <a:p>
            <a:pPr>
              <a:lnSpc>
                <a:spcPct val="100000"/>
              </a:lnSpc>
            </a:pPr>
            <a:endParaRPr lang="en-US" sz="2500" dirty="0"/>
          </a:p>
          <a:p>
            <a:pPr>
              <a:lnSpc>
                <a:spcPct val="100000"/>
              </a:lnSpc>
            </a:pPr>
            <a:endParaRPr lang="en-US" sz="2500" dirty="0"/>
          </a:p>
          <a:p>
            <a:pPr>
              <a:lnSpc>
                <a:spcPct val="100000"/>
              </a:lnSpc>
            </a:pPr>
            <a:endParaRPr lang="en-US" sz="2500" dirty="0"/>
          </a:p>
        </p:txBody>
      </p:sp>
    </p:spTree>
    <p:extLst>
      <p:ext uri="{BB962C8B-B14F-4D97-AF65-F5344CB8AC3E}">
        <p14:creationId xmlns:p14="http://schemas.microsoft.com/office/powerpoint/2010/main" val="2175537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Red Radial 16x9">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800"/>
        </a:defPPr>
      </a:lstStyle>
    </a:txDef>
  </a:objectDefaults>
  <a:extraClrSchemeLst/>
</a:theme>
</file>

<file path=ppt/theme/theme2.xml><?xml version="1.0" encoding="utf-8"?>
<a:theme xmlns:a="http://schemas.openxmlformats.org/drawingml/2006/main" name="Office Theme">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0A765CE0-A8A0-42E0-82D2-3F870DB4D5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Red radial lines presentation (widescreen)</Template>
  <TotalTime>0</TotalTime>
  <Words>3163</Words>
  <Application>Microsoft Office PowerPoint</Application>
  <PresentationFormat>Custom</PresentationFormat>
  <Paragraphs>171</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Red Radial 16x9</vt:lpstr>
      <vt:lpstr>DATA collection – part 1</vt:lpstr>
      <vt:lpstr>Objectives and Pre-requisites</vt:lpstr>
      <vt:lpstr>Association versus causation     </vt:lpstr>
      <vt:lpstr>Data Collection Methods     1</vt:lpstr>
      <vt:lpstr>Controlled experiments    1</vt:lpstr>
      <vt:lpstr>Data Collection Methods     2</vt:lpstr>
      <vt:lpstr>Data Collection Methods     3</vt:lpstr>
      <vt:lpstr>Data Collection Methods     4</vt:lpstr>
      <vt:lpstr>Compare and contrast</vt:lpstr>
      <vt:lpstr>Data Collection Methods     5</vt:lpstr>
      <vt:lpstr>Data Collection Methods     6</vt:lpstr>
      <vt:lpstr>Data Collection Methods     7</vt:lpstr>
      <vt:lpstr>Data Collection Methods     5</vt:lpstr>
      <vt:lpstr>Data Collection Methods     6</vt:lpstr>
      <vt:lpstr>Observational studies     1</vt:lpstr>
      <vt:lpstr>Sampling and sampling techniques   1</vt:lpstr>
      <vt:lpstr>Sampling and sampling techniques   2</vt:lpstr>
      <vt:lpstr>Sampling and sampling techniques   3</vt:lpstr>
      <vt:lpstr>Sampling and sampling techniques   4</vt:lpstr>
      <vt:lpstr>Sampling and sampling techniques   5</vt:lpstr>
      <vt:lpstr>Sampling and sampling techniques   6</vt:lpstr>
      <vt:lpstr>Sampling and sampling techniques   7</vt:lpstr>
      <vt:lpstr>Sampling and sampling techniques   8</vt:lpstr>
      <vt:lpstr>Sampling and sampling techniques   9</vt:lpstr>
      <vt:lpstr>Sampling and sampling techniques   10</vt:lpstr>
      <vt:lpstr>Sampling and sampling techniques   11</vt:lpstr>
      <vt:lpstr>References/referenced websites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2015-08-20T20:44:38Z</dcterms:created>
  <dcterms:modified xsi:type="dcterms:W3CDTF">2017-08-28T23:58:01Z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TC028048959991</vt:lpwstr>
  </property>
</Properties>
</file>