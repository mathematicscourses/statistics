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2"/>
  </p:notesMasterIdLst>
  <p:sldIdLst>
    <p:sldId id="256" r:id="rId2"/>
    <p:sldId id="258" r:id="rId3"/>
    <p:sldId id="264" r:id="rId4"/>
    <p:sldId id="273" r:id="rId5"/>
    <p:sldId id="275" r:id="rId6"/>
    <p:sldId id="274" r:id="rId7"/>
    <p:sldId id="276" r:id="rId8"/>
    <p:sldId id="277" r:id="rId9"/>
    <p:sldId id="278" r:id="rId10"/>
    <p:sldId id="280"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0" d="100"/>
          <a:sy n="110" d="100"/>
        </p:scale>
        <p:origin x="1644" y="10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DACB75E-2509-48AF-930D-52E246CADD26}" type="datetimeFigureOut">
              <a:rPr lang="en-US" smtClean="0"/>
              <a:pPr/>
              <a:t>3/31/2015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217BCA-1BAF-44CE-AA8E-48396B80FBC9}" type="slidenum">
              <a:rPr lang="en-US" smtClean="0"/>
              <a:pPr/>
              <a:t>‹#›</a:t>
            </a:fld>
            <a:endParaRPr lang="en-US"/>
          </a:p>
        </p:txBody>
      </p:sp>
    </p:spTree>
    <p:extLst>
      <p:ext uri="{BB962C8B-B14F-4D97-AF65-F5344CB8AC3E}">
        <p14:creationId xmlns:p14="http://schemas.microsoft.com/office/powerpoint/2010/main" val="2104561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www.samuelchukwuemeka.com</a:t>
            </a:r>
            <a:endParaRPr lang="en-US" dirty="0"/>
          </a:p>
        </p:txBody>
      </p:sp>
      <p:sp>
        <p:nvSpPr>
          <p:cNvPr id="4" name="Slide Number Placeholder 3"/>
          <p:cNvSpPr>
            <a:spLocks noGrp="1"/>
          </p:cNvSpPr>
          <p:nvPr>
            <p:ph type="sldNum" sz="quarter" idx="10"/>
          </p:nvPr>
        </p:nvSpPr>
        <p:spPr/>
        <p:txBody>
          <a:bodyPr/>
          <a:lstStyle/>
          <a:p>
            <a:fld id="{64217BCA-1BAF-44CE-AA8E-48396B80FBC9}" type="slidenum">
              <a:rPr lang="en-US" smtClean="0"/>
              <a:pPr/>
              <a:t>1</a:t>
            </a:fld>
            <a:endParaRPr lang="en-US"/>
          </a:p>
        </p:txBody>
      </p:sp>
    </p:spTree>
    <p:extLst>
      <p:ext uri="{BB962C8B-B14F-4D97-AF65-F5344CB8AC3E}">
        <p14:creationId xmlns:p14="http://schemas.microsoft.com/office/powerpoint/2010/main" val="152030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www.samuelchukwuemeka.com</a:t>
            </a:r>
          </a:p>
          <a:p>
            <a:endParaRPr lang="en-US" dirty="0"/>
          </a:p>
        </p:txBody>
      </p:sp>
      <p:sp>
        <p:nvSpPr>
          <p:cNvPr id="4" name="Slide Number Placeholder 3"/>
          <p:cNvSpPr>
            <a:spLocks noGrp="1"/>
          </p:cNvSpPr>
          <p:nvPr>
            <p:ph type="sldNum" sz="quarter" idx="10"/>
          </p:nvPr>
        </p:nvSpPr>
        <p:spPr/>
        <p:txBody>
          <a:bodyPr/>
          <a:lstStyle/>
          <a:p>
            <a:fld id="{64217BCA-1BAF-44CE-AA8E-48396B80FBC9}" type="slidenum">
              <a:rPr lang="en-US" smtClean="0"/>
              <a:pPr/>
              <a:t>2</a:t>
            </a:fld>
            <a:endParaRPr lang="en-US"/>
          </a:p>
        </p:txBody>
      </p:sp>
    </p:spTree>
    <p:extLst>
      <p:ext uri="{BB962C8B-B14F-4D97-AF65-F5344CB8AC3E}">
        <p14:creationId xmlns:p14="http://schemas.microsoft.com/office/powerpoint/2010/main" val="10041877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www.samuelchukwuemeka.com</a:t>
            </a:r>
          </a:p>
          <a:p>
            <a:endParaRPr lang="en-US" dirty="0"/>
          </a:p>
        </p:txBody>
      </p:sp>
      <p:sp>
        <p:nvSpPr>
          <p:cNvPr id="4" name="Slide Number Placeholder 3"/>
          <p:cNvSpPr>
            <a:spLocks noGrp="1"/>
          </p:cNvSpPr>
          <p:nvPr>
            <p:ph type="sldNum" sz="quarter" idx="10"/>
          </p:nvPr>
        </p:nvSpPr>
        <p:spPr/>
        <p:txBody>
          <a:bodyPr/>
          <a:lstStyle/>
          <a:p>
            <a:fld id="{64217BCA-1BAF-44CE-AA8E-48396B80FBC9}" type="slidenum">
              <a:rPr lang="en-US" smtClean="0"/>
              <a:pPr/>
              <a:t>3</a:t>
            </a:fld>
            <a:endParaRPr lang="en-US"/>
          </a:p>
        </p:txBody>
      </p:sp>
    </p:spTree>
    <p:extLst>
      <p:ext uri="{BB962C8B-B14F-4D97-AF65-F5344CB8AC3E}">
        <p14:creationId xmlns:p14="http://schemas.microsoft.com/office/powerpoint/2010/main" val="10041877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www.samuelchukwuemeka.com</a:t>
            </a:r>
          </a:p>
          <a:p>
            <a:endParaRPr lang="en-US" dirty="0"/>
          </a:p>
        </p:txBody>
      </p:sp>
      <p:sp>
        <p:nvSpPr>
          <p:cNvPr id="4" name="Slide Number Placeholder 3"/>
          <p:cNvSpPr>
            <a:spLocks noGrp="1"/>
          </p:cNvSpPr>
          <p:nvPr>
            <p:ph type="sldNum" sz="quarter" idx="10"/>
          </p:nvPr>
        </p:nvSpPr>
        <p:spPr/>
        <p:txBody>
          <a:bodyPr/>
          <a:lstStyle/>
          <a:p>
            <a:fld id="{64217BCA-1BAF-44CE-AA8E-48396B80FBC9}" type="slidenum">
              <a:rPr lang="en-US" smtClean="0"/>
              <a:pPr/>
              <a:t>4</a:t>
            </a:fld>
            <a:endParaRPr lang="en-US"/>
          </a:p>
        </p:txBody>
      </p:sp>
    </p:spTree>
    <p:extLst>
      <p:ext uri="{BB962C8B-B14F-4D97-AF65-F5344CB8AC3E}">
        <p14:creationId xmlns:p14="http://schemas.microsoft.com/office/powerpoint/2010/main" val="5097010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www.samuelchukwuemeka.com</a:t>
            </a:r>
          </a:p>
          <a:p>
            <a:endParaRPr lang="en-US" dirty="0"/>
          </a:p>
        </p:txBody>
      </p:sp>
      <p:sp>
        <p:nvSpPr>
          <p:cNvPr id="4" name="Slide Number Placeholder 3"/>
          <p:cNvSpPr>
            <a:spLocks noGrp="1"/>
          </p:cNvSpPr>
          <p:nvPr>
            <p:ph type="sldNum" sz="quarter" idx="10"/>
          </p:nvPr>
        </p:nvSpPr>
        <p:spPr/>
        <p:txBody>
          <a:bodyPr/>
          <a:lstStyle/>
          <a:p>
            <a:fld id="{64217BCA-1BAF-44CE-AA8E-48396B80FBC9}" type="slidenum">
              <a:rPr lang="en-US" smtClean="0"/>
              <a:pPr/>
              <a:t>5</a:t>
            </a:fld>
            <a:endParaRPr lang="en-US"/>
          </a:p>
        </p:txBody>
      </p:sp>
    </p:spTree>
    <p:extLst>
      <p:ext uri="{BB962C8B-B14F-4D97-AF65-F5344CB8AC3E}">
        <p14:creationId xmlns:p14="http://schemas.microsoft.com/office/powerpoint/2010/main" val="7807437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www.samuelchukwuemeka.com</a:t>
            </a:r>
          </a:p>
          <a:p>
            <a:endParaRPr lang="en-US" dirty="0"/>
          </a:p>
        </p:txBody>
      </p:sp>
      <p:sp>
        <p:nvSpPr>
          <p:cNvPr id="4" name="Slide Number Placeholder 3"/>
          <p:cNvSpPr>
            <a:spLocks noGrp="1"/>
          </p:cNvSpPr>
          <p:nvPr>
            <p:ph type="sldNum" sz="quarter" idx="10"/>
          </p:nvPr>
        </p:nvSpPr>
        <p:spPr/>
        <p:txBody>
          <a:bodyPr/>
          <a:lstStyle/>
          <a:p>
            <a:fld id="{64217BCA-1BAF-44CE-AA8E-48396B80FBC9}" type="slidenum">
              <a:rPr lang="en-US" smtClean="0"/>
              <a:pPr/>
              <a:t>6</a:t>
            </a:fld>
            <a:endParaRPr lang="en-US"/>
          </a:p>
        </p:txBody>
      </p:sp>
    </p:spTree>
    <p:extLst>
      <p:ext uri="{BB962C8B-B14F-4D97-AF65-F5344CB8AC3E}">
        <p14:creationId xmlns:p14="http://schemas.microsoft.com/office/powerpoint/2010/main" val="34452700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www.samuelchukwuemeka.com</a:t>
            </a:r>
          </a:p>
          <a:p>
            <a:endParaRPr lang="en-US" dirty="0"/>
          </a:p>
        </p:txBody>
      </p:sp>
      <p:sp>
        <p:nvSpPr>
          <p:cNvPr id="4" name="Slide Number Placeholder 3"/>
          <p:cNvSpPr>
            <a:spLocks noGrp="1"/>
          </p:cNvSpPr>
          <p:nvPr>
            <p:ph type="sldNum" sz="quarter" idx="10"/>
          </p:nvPr>
        </p:nvSpPr>
        <p:spPr/>
        <p:txBody>
          <a:bodyPr/>
          <a:lstStyle/>
          <a:p>
            <a:fld id="{64217BCA-1BAF-44CE-AA8E-48396B80FBC9}" type="slidenum">
              <a:rPr lang="en-US" smtClean="0"/>
              <a:pPr/>
              <a:t>7</a:t>
            </a:fld>
            <a:endParaRPr lang="en-US"/>
          </a:p>
        </p:txBody>
      </p:sp>
    </p:spTree>
    <p:extLst>
      <p:ext uri="{BB962C8B-B14F-4D97-AF65-F5344CB8AC3E}">
        <p14:creationId xmlns:p14="http://schemas.microsoft.com/office/powerpoint/2010/main" val="7136696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www.samuelchukwuemeka.com</a:t>
            </a:r>
          </a:p>
          <a:p>
            <a:endParaRPr lang="en-US" dirty="0"/>
          </a:p>
        </p:txBody>
      </p:sp>
      <p:sp>
        <p:nvSpPr>
          <p:cNvPr id="4" name="Slide Number Placeholder 3"/>
          <p:cNvSpPr>
            <a:spLocks noGrp="1"/>
          </p:cNvSpPr>
          <p:nvPr>
            <p:ph type="sldNum" sz="quarter" idx="10"/>
          </p:nvPr>
        </p:nvSpPr>
        <p:spPr/>
        <p:txBody>
          <a:bodyPr/>
          <a:lstStyle/>
          <a:p>
            <a:fld id="{64217BCA-1BAF-44CE-AA8E-48396B80FBC9}" type="slidenum">
              <a:rPr lang="en-US" smtClean="0"/>
              <a:pPr/>
              <a:t>8</a:t>
            </a:fld>
            <a:endParaRPr lang="en-US"/>
          </a:p>
        </p:txBody>
      </p:sp>
    </p:spTree>
    <p:extLst>
      <p:ext uri="{BB962C8B-B14F-4D97-AF65-F5344CB8AC3E}">
        <p14:creationId xmlns:p14="http://schemas.microsoft.com/office/powerpoint/2010/main" val="10711089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www.samuelchukwuemeka.com</a:t>
            </a:r>
          </a:p>
          <a:p>
            <a:endParaRPr lang="en-US" dirty="0"/>
          </a:p>
        </p:txBody>
      </p:sp>
      <p:sp>
        <p:nvSpPr>
          <p:cNvPr id="4" name="Slide Number Placeholder 3"/>
          <p:cNvSpPr>
            <a:spLocks noGrp="1"/>
          </p:cNvSpPr>
          <p:nvPr>
            <p:ph type="sldNum" sz="quarter" idx="10"/>
          </p:nvPr>
        </p:nvSpPr>
        <p:spPr/>
        <p:txBody>
          <a:bodyPr/>
          <a:lstStyle/>
          <a:p>
            <a:fld id="{64217BCA-1BAF-44CE-AA8E-48396B80FBC9}" type="slidenum">
              <a:rPr lang="en-US" smtClean="0"/>
              <a:pPr/>
              <a:t>9</a:t>
            </a:fld>
            <a:endParaRPr lang="en-US"/>
          </a:p>
        </p:txBody>
      </p:sp>
    </p:spTree>
    <p:extLst>
      <p:ext uri="{BB962C8B-B14F-4D97-AF65-F5344CB8AC3E}">
        <p14:creationId xmlns:p14="http://schemas.microsoft.com/office/powerpoint/2010/main" val="13144150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www.samuelchukwuemeka.com</a:t>
            </a:r>
          </a:p>
          <a:p>
            <a:endParaRPr lang="en-US" dirty="0"/>
          </a:p>
        </p:txBody>
      </p:sp>
      <p:sp>
        <p:nvSpPr>
          <p:cNvPr id="4" name="Slide Number Placeholder 3"/>
          <p:cNvSpPr>
            <a:spLocks noGrp="1"/>
          </p:cNvSpPr>
          <p:nvPr>
            <p:ph type="sldNum" sz="quarter" idx="10"/>
          </p:nvPr>
        </p:nvSpPr>
        <p:spPr/>
        <p:txBody>
          <a:bodyPr/>
          <a:lstStyle/>
          <a:p>
            <a:fld id="{64217BCA-1BAF-44CE-AA8E-48396B80FBC9}" type="slidenum">
              <a:rPr lang="en-US" smtClean="0"/>
              <a:pPr/>
              <a:t>10</a:t>
            </a:fld>
            <a:endParaRPr lang="en-US"/>
          </a:p>
        </p:txBody>
      </p:sp>
    </p:spTree>
    <p:extLst>
      <p:ext uri="{BB962C8B-B14F-4D97-AF65-F5344CB8AC3E}">
        <p14:creationId xmlns:p14="http://schemas.microsoft.com/office/powerpoint/2010/main" val="4445379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7010400" y="152399"/>
            <a:ext cx="1981200" cy="65562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400" y="153923"/>
            <a:ext cx="6705600" cy="6553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7010400" y="2052960"/>
            <a:ext cx="1981200" cy="1828800"/>
          </a:xfrm>
        </p:spPr>
        <p:txBody>
          <a:bodyPr anchor="ctr">
            <a:normAutofit/>
          </a:bodyPr>
          <a:lstStyle>
            <a:lvl1pPr marL="0" indent="0" algn="l">
              <a:buNone/>
              <a:defRPr sz="19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0" name="Date Placeholder 9"/>
          <p:cNvSpPr>
            <a:spLocks noGrp="1"/>
          </p:cNvSpPr>
          <p:nvPr>
            <p:ph type="dt" sz="half" idx="10"/>
          </p:nvPr>
        </p:nvSpPr>
        <p:spPr/>
        <p:txBody>
          <a:bodyPr/>
          <a:lstStyle>
            <a:lvl1pPr>
              <a:defRPr>
                <a:solidFill>
                  <a:schemeClr val="bg2"/>
                </a:solidFill>
              </a:defRPr>
            </a:lvl1pPr>
          </a:lstStyle>
          <a:p>
            <a:fld id="{649C5019-0554-4059-9BB2-4289BB4861DC}" type="datetimeFigureOut">
              <a:rPr lang="en-US" smtClean="0"/>
              <a:pPr/>
              <a:t>3/31/2015</a:t>
            </a:fld>
            <a:endParaRPr lang="en-US"/>
          </a:p>
        </p:txBody>
      </p:sp>
      <p:sp>
        <p:nvSpPr>
          <p:cNvPr id="11" name="Slide Number Placeholder 10"/>
          <p:cNvSpPr>
            <a:spLocks noGrp="1"/>
          </p:cNvSpPr>
          <p:nvPr>
            <p:ph type="sldNum" sz="quarter" idx="11"/>
          </p:nvPr>
        </p:nvSpPr>
        <p:spPr/>
        <p:txBody>
          <a:bodyPr/>
          <a:lstStyle>
            <a:lvl1pPr>
              <a:defRPr>
                <a:solidFill>
                  <a:srgbClr val="FFFFFF"/>
                </a:solidFill>
              </a:defRPr>
            </a:lvl1pPr>
          </a:lstStyle>
          <a:p>
            <a:fld id="{765A42F8-7256-46D7-BAC2-B88BBC84BEDE}" type="slidenum">
              <a:rPr lang="en-US" smtClean="0"/>
              <a:pPr/>
              <a:t>‹#›</a:t>
            </a:fld>
            <a:endParaRPr lang="en-US"/>
          </a:p>
        </p:txBody>
      </p:sp>
      <p:sp>
        <p:nvSpPr>
          <p:cNvPr id="12" name="Footer Placeholder 11"/>
          <p:cNvSpPr>
            <a:spLocks noGrp="1"/>
          </p:cNvSpPr>
          <p:nvPr>
            <p:ph type="ftr" sz="quarter" idx="12"/>
          </p:nvPr>
        </p:nvSpPr>
        <p:spPr/>
        <p:txBody>
          <a:bodyPr/>
          <a:lstStyle>
            <a:lvl1pPr>
              <a:defRPr>
                <a:solidFill>
                  <a:schemeClr val="bg2"/>
                </a:solidFill>
              </a:defRPr>
            </a:lvl1pPr>
          </a:lstStyle>
          <a:p>
            <a:endParaRPr lang="en-US"/>
          </a:p>
        </p:txBody>
      </p:sp>
      <p:sp>
        <p:nvSpPr>
          <p:cNvPr id="13" name="Title 12"/>
          <p:cNvSpPr>
            <a:spLocks noGrp="1"/>
          </p:cNvSpPr>
          <p:nvPr>
            <p:ph type="title"/>
          </p:nvPr>
        </p:nvSpPr>
        <p:spPr>
          <a:xfrm>
            <a:off x="457200" y="2052960"/>
            <a:ext cx="6324600" cy="1828800"/>
          </a:xfrm>
        </p:spPr>
        <p:txBody>
          <a:bodyPr/>
          <a:lstStyle>
            <a:lvl1pPr algn="r">
              <a:defRPr sz="4200" spc="150" baseline="0"/>
            </a:lvl1pPr>
          </a:lstStyle>
          <a:p>
            <a:r>
              <a:rPr lang="en-US" smtClean="0"/>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49C5019-0554-4059-9BB2-4289BB4861DC}" type="datetimeFigureOut">
              <a:rPr lang="en-US" smtClean="0"/>
              <a:pPr/>
              <a:t>3/31/2015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5A42F8-7256-46D7-BAC2-B88BBC84BEDE}" type="slidenum">
              <a:rPr lang="en-US" smtClean="0"/>
              <a:pPr/>
              <a:t>‹#›</a:t>
            </a:fld>
            <a:endParaRPr lang="en-US"/>
          </a:p>
        </p:txBody>
      </p:sp>
      <p:sp>
        <p:nvSpPr>
          <p:cNvPr id="7" name="Title 6"/>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7010400" y="152399"/>
            <a:ext cx="1981200" cy="6556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400" y="153923"/>
            <a:ext cx="6705600" cy="6553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7162799" y="2892277"/>
            <a:ext cx="1600201" cy="1645920"/>
          </a:xfrm>
        </p:spPr>
        <p:txBody>
          <a:bodyPr anchor="ctr"/>
          <a:lstStyle>
            <a:lvl1pPr marL="0" indent="0">
              <a:buNone/>
              <a:defRPr sz="2000">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9" name="Date Placeholder 8"/>
          <p:cNvSpPr>
            <a:spLocks noGrp="1"/>
          </p:cNvSpPr>
          <p:nvPr>
            <p:ph type="dt" sz="half" idx="10"/>
          </p:nvPr>
        </p:nvSpPr>
        <p:spPr/>
        <p:txBody>
          <a:bodyPr/>
          <a:lstStyle>
            <a:lvl1pPr>
              <a:defRPr>
                <a:solidFill>
                  <a:srgbClr val="FFFFFF"/>
                </a:solidFill>
              </a:defRPr>
            </a:lvl1pPr>
          </a:lstStyle>
          <a:p>
            <a:fld id="{649C5019-0554-4059-9BB2-4289BB4861DC}" type="datetimeFigureOut">
              <a:rPr lang="en-US" smtClean="0"/>
              <a:pPr/>
              <a:t>3/31/2015</a:t>
            </a:fld>
            <a:endParaRPr lang="en-US"/>
          </a:p>
        </p:txBody>
      </p:sp>
      <p:sp>
        <p:nvSpPr>
          <p:cNvPr id="10" name="Slide Number Placeholder 9"/>
          <p:cNvSpPr>
            <a:spLocks noGrp="1"/>
          </p:cNvSpPr>
          <p:nvPr>
            <p:ph type="sldNum" sz="quarter" idx="11"/>
          </p:nvPr>
        </p:nvSpPr>
        <p:spPr/>
        <p:txBody>
          <a:bodyPr/>
          <a:lstStyle>
            <a:lvl1pPr>
              <a:defRPr>
                <a:solidFill>
                  <a:schemeClr val="bg2"/>
                </a:solidFill>
              </a:defRPr>
            </a:lvl1pPr>
          </a:lstStyle>
          <a:p>
            <a:fld id="{765A42F8-7256-46D7-BAC2-B88BBC84BEDE}" type="slidenum">
              <a:rPr lang="en-US" smtClean="0"/>
              <a:pPr/>
              <a:t>‹#›</a:t>
            </a:fld>
            <a:endParaRPr lang="en-US"/>
          </a:p>
        </p:txBody>
      </p:sp>
      <p:sp>
        <p:nvSpPr>
          <p:cNvPr id="11" name="Footer Placeholder 10"/>
          <p:cNvSpPr>
            <a:spLocks noGrp="1"/>
          </p:cNvSpPr>
          <p:nvPr>
            <p:ph type="ftr" sz="quarter" idx="12"/>
          </p:nvPr>
        </p:nvSpPr>
        <p:spPr/>
        <p:txBody>
          <a:bodyPr/>
          <a:lstStyle>
            <a:lvl1pPr>
              <a:defRPr>
                <a:solidFill>
                  <a:srgbClr val="FFFFFF"/>
                </a:solidFill>
              </a:defRPr>
            </a:lvl1pPr>
          </a:lstStyle>
          <a:p>
            <a:endParaRPr lang="en-US"/>
          </a:p>
        </p:txBody>
      </p:sp>
      <p:sp>
        <p:nvSpPr>
          <p:cNvPr id="12" name="Title 11"/>
          <p:cNvSpPr>
            <a:spLocks noGrp="1"/>
          </p:cNvSpPr>
          <p:nvPr>
            <p:ph type="title"/>
          </p:nvPr>
        </p:nvSpPr>
        <p:spPr>
          <a:xfrm>
            <a:off x="381000" y="2892277"/>
            <a:ext cx="6324600" cy="1645920"/>
          </a:xfrm>
        </p:spPr>
        <p:txBody>
          <a:bodyPr/>
          <a:lstStyle>
            <a:lvl1pPr algn="r">
              <a:defRPr sz="4200" spc="150" baseline="0"/>
            </a:lvl1pPr>
          </a:lstStyle>
          <a:p>
            <a:r>
              <a:rPr lang="en-US" smtClean="0"/>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719072"/>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719072"/>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49C5019-0554-4059-9BB2-4289BB4861DC}" type="datetimeFigureOut">
              <a:rPr lang="en-US" smtClean="0"/>
              <a:pPr/>
              <a:t>3/31/2015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5A42F8-7256-46D7-BAC2-B88BBC84BEDE}" type="slidenum">
              <a:rPr lang="en-US" smtClean="0"/>
              <a:pPr/>
              <a:t>‹#›</a:t>
            </a:fld>
            <a:endParaRPr lang="en-US"/>
          </a:p>
        </p:txBody>
      </p:sp>
      <p:sp>
        <p:nvSpPr>
          <p:cNvPr id="8" name="Title 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722438"/>
            <a:ext cx="4040188" cy="639762"/>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438399"/>
            <a:ext cx="4040188" cy="3687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722438"/>
            <a:ext cx="4041775" cy="639762"/>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438399"/>
            <a:ext cx="4041775" cy="3687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49C5019-0554-4059-9BB2-4289BB4861DC}" type="datetimeFigureOut">
              <a:rPr lang="en-US" smtClean="0"/>
              <a:pPr/>
              <a:t>3/31/2015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65A42F8-7256-46D7-BAC2-B88BBC84BEDE}" type="slidenum">
              <a:rPr lang="en-US" smtClean="0"/>
              <a:pPr/>
              <a:t>‹#›</a:t>
            </a:fld>
            <a:endParaRPr lang="en-US"/>
          </a:p>
        </p:txBody>
      </p:sp>
      <p:sp>
        <p:nvSpPr>
          <p:cNvPr id="10" name="Title 9"/>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49C5019-0554-4059-9BB2-4289BB4861DC}" type="datetimeFigureOut">
              <a:rPr lang="en-US" smtClean="0"/>
              <a:pPr/>
              <a:t>3/31/2015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65A42F8-7256-46D7-BAC2-B88BBC84BEDE}" type="slidenum">
              <a:rPr lang="en-US" smtClean="0"/>
              <a:pPr/>
              <a:t>‹#›</a:t>
            </a:fld>
            <a:endParaRPr lang="en-US"/>
          </a:p>
        </p:txBody>
      </p:sp>
      <p:sp>
        <p:nvSpPr>
          <p:cNvPr id="6" name="Title 5"/>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52400" y="150919"/>
            <a:ext cx="8831802" cy="6556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p:cNvSpPr>
            <a:spLocks noGrp="1"/>
          </p:cNvSpPr>
          <p:nvPr>
            <p:ph type="dt" sz="half" idx="10"/>
          </p:nvPr>
        </p:nvSpPr>
        <p:spPr/>
        <p:txBody>
          <a:bodyPr/>
          <a:lstStyle/>
          <a:p>
            <a:fld id="{649C5019-0554-4059-9BB2-4289BB4861DC}" type="datetimeFigureOut">
              <a:rPr lang="en-US" smtClean="0"/>
              <a:pPr/>
              <a:t>3/31/2015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65A42F8-7256-46D7-BAC2-B88BBC84BED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2"/>
      </p:bgRef>
    </p:bg>
    <p:spTree>
      <p:nvGrpSpPr>
        <p:cNvPr id="1" name=""/>
        <p:cNvGrpSpPr/>
        <p:nvPr/>
      </p:nvGrpSpPr>
      <p:grpSpPr>
        <a:xfrm>
          <a:off x="0" y="0"/>
          <a:ext cx="0" cy="0"/>
          <a:chOff x="0" y="0"/>
          <a:chExt cx="0" cy="0"/>
        </a:xfrm>
      </p:grpSpPr>
      <p:sp>
        <p:nvSpPr>
          <p:cNvPr id="10" name="Rectangle 9"/>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010400" y="150876"/>
            <a:ext cx="1981200" cy="65562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p:cNvSpPr/>
          <p:nvPr/>
        </p:nvSpPr>
        <p:spPr>
          <a:xfrm>
            <a:off x="152400" y="152400"/>
            <a:ext cx="6705600" cy="6553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09600" y="304800"/>
            <a:ext cx="58674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7159752" y="2130552"/>
            <a:ext cx="1673352" cy="2816352"/>
          </a:xfrm>
        </p:spPr>
        <p:txBody>
          <a:bodyPr tIns="0"/>
          <a:lstStyle>
            <a:lvl1pPr marL="0" indent="0">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49C5019-0554-4059-9BB2-4289BB4861DC}" type="datetimeFigureOut">
              <a:rPr lang="en-US" smtClean="0"/>
              <a:pPr/>
              <a:t>3/31/2015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ln>
            <a:noFill/>
          </a:ln>
        </p:spPr>
        <p:txBody>
          <a:bodyPr/>
          <a:lstStyle>
            <a:lvl1pPr>
              <a:defRPr>
                <a:solidFill>
                  <a:srgbClr val="FFFFFF"/>
                </a:solidFill>
              </a:defRPr>
            </a:lvl1pPr>
          </a:lstStyle>
          <a:p>
            <a:fld id="{765A42F8-7256-46D7-BAC2-B88BBC84BEDE}" type="slidenum">
              <a:rPr lang="en-US" smtClean="0"/>
              <a:pPr/>
              <a:t>‹#›</a:t>
            </a:fld>
            <a:endParaRPr lang="en-US"/>
          </a:p>
        </p:txBody>
      </p:sp>
      <p:sp>
        <p:nvSpPr>
          <p:cNvPr id="11" name="Title 10"/>
          <p:cNvSpPr>
            <a:spLocks noGrp="1"/>
          </p:cNvSpPr>
          <p:nvPr>
            <p:ph type="title"/>
          </p:nvPr>
        </p:nvSpPr>
        <p:spPr>
          <a:xfrm>
            <a:off x="7159752" y="457200"/>
            <a:ext cx="1675660" cy="1673352"/>
          </a:xfrm>
        </p:spPr>
        <p:txBody>
          <a:bodyPr anchor="b"/>
          <a:lstStyle>
            <a:lvl1pPr algn="l">
              <a:defRPr sz="2000" spc="150" baseline="0"/>
            </a:lvl1pPr>
          </a:lstStyle>
          <a:p>
            <a:r>
              <a:rPr lang="en-US" smtClean="0"/>
              <a:t>Click to edit Master title style</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p:cNvSpPr/>
          <p:nvPr/>
        </p:nvSpPr>
        <p:spPr>
          <a:xfrm>
            <a:off x="7010400" y="150876"/>
            <a:ext cx="1981200" cy="65562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152400" y="152400"/>
            <a:ext cx="6705600" cy="6553200"/>
          </a:xfrm>
        </p:spPr>
        <p:txBody>
          <a:bodyPr anchor="ct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7162800" y="2133600"/>
            <a:ext cx="1676400" cy="2971800"/>
          </a:xfrm>
        </p:spPr>
        <p:txBody>
          <a:bodyPr tIns="0"/>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49C5019-0554-4059-9BB2-4289BB4861DC}" type="datetimeFigureOut">
              <a:rPr lang="en-US" smtClean="0"/>
              <a:pPr/>
              <a:t>3/31/2015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5A42F8-7256-46D7-BAC2-B88BBC84BEDE}" type="slidenum">
              <a:rPr lang="en-US" smtClean="0"/>
              <a:pPr/>
              <a:t>‹#›</a:t>
            </a:fld>
            <a:endParaRPr lang="en-US"/>
          </a:p>
        </p:txBody>
      </p:sp>
      <p:sp>
        <p:nvSpPr>
          <p:cNvPr id="10" name="Title 9"/>
          <p:cNvSpPr>
            <a:spLocks noGrp="1"/>
          </p:cNvSpPr>
          <p:nvPr>
            <p:ph type="title"/>
          </p:nvPr>
        </p:nvSpPr>
        <p:spPr>
          <a:xfrm>
            <a:off x="7162800" y="460248"/>
            <a:ext cx="1676400" cy="1673352"/>
          </a:xfrm>
        </p:spPr>
        <p:txBody>
          <a:bodyPr anchor="b"/>
          <a:lstStyle>
            <a:lvl1pPr algn="l">
              <a:defRPr sz="2000" spc="150" baseline="0">
                <a:solidFill>
                  <a:schemeClr val="tx2"/>
                </a:solidFill>
              </a:defRPr>
            </a:lvl1pPr>
          </a:lstStyle>
          <a:p>
            <a:r>
              <a:rPr lang="en-US" smtClean="0"/>
              <a:t>Click to edit Master title style</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49C5019-0554-4059-9BB2-4289BB4861DC}" type="datetimeFigureOut">
              <a:rPr lang="en-US" smtClean="0"/>
              <a:pPr/>
              <a:t>3/31/2015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5A42F8-7256-46D7-BAC2-B88BBC84BED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52400" y="147319"/>
            <a:ext cx="6705600" cy="6556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010400" y="147319"/>
            <a:ext cx="1956046" cy="6556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7162800" y="274638"/>
            <a:ext cx="1676400" cy="585152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49C5019-0554-4059-9BB2-4289BB4861DC}" type="datetimeFigureOut">
              <a:rPr lang="en-US" smtClean="0"/>
              <a:pPr/>
              <a:t>3/31/2015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bg2"/>
                </a:solidFill>
              </a:defRPr>
            </a:lvl1pPr>
          </a:lstStyle>
          <a:p>
            <a:fld id="{765A42F8-7256-46D7-BAC2-B88BBC84BED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152400" y="1634971"/>
            <a:ext cx="8831802" cy="504547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399" y="152400"/>
            <a:ext cx="8814047" cy="13464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381000" y="355847"/>
            <a:ext cx="8381260" cy="105439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380999" y="1719071"/>
            <a:ext cx="8407893" cy="440740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370888" y="6356350"/>
            <a:ext cx="2133600" cy="274320"/>
          </a:xfrm>
          <a:prstGeom prst="rect">
            <a:avLst/>
          </a:prstGeom>
        </p:spPr>
        <p:txBody>
          <a:bodyPr vert="horz" lIns="91440" tIns="45720" rIns="91440" bIns="45720" rtlCol="0" anchor="ctr"/>
          <a:lstStyle>
            <a:lvl1pPr algn="l">
              <a:defRPr sz="1100">
                <a:solidFill>
                  <a:schemeClr val="tx2"/>
                </a:solidFill>
              </a:defRPr>
            </a:lvl1pPr>
          </a:lstStyle>
          <a:p>
            <a:fld id="{649C5019-0554-4059-9BB2-4289BB4861DC}" type="datetimeFigureOut">
              <a:rPr lang="en-US" smtClean="0"/>
              <a:pPr/>
              <a:t>3/31/2015</a:t>
            </a:fld>
            <a:endParaRPr lang="en-US"/>
          </a:p>
        </p:txBody>
      </p:sp>
      <p:sp>
        <p:nvSpPr>
          <p:cNvPr id="5" name="Footer Placeholder 4"/>
          <p:cNvSpPr>
            <a:spLocks noGrp="1"/>
          </p:cNvSpPr>
          <p:nvPr>
            <p:ph type="ftr" sz="quarter" idx="3"/>
          </p:nvPr>
        </p:nvSpPr>
        <p:spPr>
          <a:xfrm>
            <a:off x="3048000" y="6356350"/>
            <a:ext cx="3352800" cy="274320"/>
          </a:xfrm>
          <a:prstGeom prst="rect">
            <a:avLst/>
          </a:prstGeom>
        </p:spPr>
        <p:txBody>
          <a:bodyPr vert="horz" lIns="91440" tIns="45720" rIns="91440" bIns="45720" rtlCol="0" anchor="ctr"/>
          <a:lstStyle>
            <a:lvl1pPr algn="ctr">
              <a:defRPr sz="1100">
                <a:solidFill>
                  <a:schemeClr val="tx2"/>
                </a:solidFill>
              </a:defRPr>
            </a:lvl1pPr>
          </a:lstStyle>
          <a:p>
            <a:endParaRPr lang="en-US"/>
          </a:p>
        </p:txBody>
      </p:sp>
      <p:sp>
        <p:nvSpPr>
          <p:cNvPr id="6" name="Slide Number Placeholder 5"/>
          <p:cNvSpPr>
            <a:spLocks noGrp="1"/>
          </p:cNvSpPr>
          <p:nvPr>
            <p:ph type="sldNum" sz="quarter" idx="4"/>
          </p:nvPr>
        </p:nvSpPr>
        <p:spPr>
          <a:xfrm>
            <a:off x="8234680" y="6355080"/>
            <a:ext cx="582966" cy="274320"/>
          </a:xfrm>
          <a:prstGeom prst="rect">
            <a:avLst/>
          </a:prstGeom>
          <a:ln w="19050">
            <a:noFill/>
          </a:ln>
        </p:spPr>
        <p:txBody>
          <a:bodyPr vert="horz" lIns="91440" tIns="45720" rIns="91440" bIns="45720" rtlCol="0" anchor="ctr"/>
          <a:lstStyle>
            <a:lvl1pPr algn="ctr">
              <a:defRPr sz="1100">
                <a:solidFill>
                  <a:schemeClr val="tx2"/>
                </a:solidFill>
              </a:defRPr>
            </a:lvl1pPr>
          </a:lstStyle>
          <a:p>
            <a:fld id="{765A42F8-7256-46D7-BAC2-B88BBC84BED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spcBef>
          <a:spcPct val="0"/>
        </a:spcBef>
        <a:buNone/>
        <a:defRPr sz="3200" kern="1200" cap="all" spc="200" baseline="0">
          <a:ln>
            <a:noFill/>
          </a:ln>
          <a:solidFill>
            <a:schemeClr val="bg1"/>
          </a:solidFill>
          <a:effectLst/>
          <a:latin typeface="+mj-lt"/>
          <a:ea typeface="+mj-ea"/>
          <a:cs typeface="+mj-cs"/>
        </a:defRPr>
      </a:lvl1pPr>
    </p:titleStyle>
    <p:bodyStyle>
      <a:lvl1pPr marL="274320" indent="-228600" algn="l" defTabSz="914400" rtl="0" eaLnBrk="1" latinLnBrk="0" hangingPunct="1">
        <a:spcBef>
          <a:spcPct val="20000"/>
        </a:spcBef>
        <a:buClr>
          <a:schemeClr val="accent1"/>
        </a:buClr>
        <a:buFont typeface="Wingdings 2" pitchFamily="18" charset="2"/>
        <a:buChar char=""/>
        <a:defRPr sz="2000" kern="1200" spc="150" baseline="0">
          <a:solidFill>
            <a:schemeClr val="tx2"/>
          </a:solidFill>
          <a:latin typeface="+mn-lt"/>
          <a:ea typeface="+mn-ea"/>
          <a:cs typeface="+mn-cs"/>
        </a:defRPr>
      </a:lvl1pPr>
      <a:lvl2pPr marL="548640" indent="-182880" algn="l" defTabSz="914400" rtl="0" eaLnBrk="1" latinLnBrk="0" hangingPunct="1">
        <a:spcBef>
          <a:spcPct val="20000"/>
        </a:spcBef>
        <a:buClr>
          <a:schemeClr val="accent2"/>
        </a:buClr>
        <a:buFont typeface="Wingdings" pitchFamily="2" charset="2"/>
        <a:buChar char="§"/>
        <a:defRPr sz="1800" kern="1200" spc="100" baseline="0">
          <a:solidFill>
            <a:schemeClr val="tx2"/>
          </a:solidFill>
          <a:latin typeface="+mn-lt"/>
          <a:ea typeface="+mn-ea"/>
          <a:cs typeface="+mn-cs"/>
        </a:defRPr>
      </a:lvl2pPr>
      <a:lvl3pPr marL="822960" indent="-182880" algn="l" defTabSz="914400" rtl="0" eaLnBrk="1" latinLnBrk="0" hangingPunct="1">
        <a:spcBef>
          <a:spcPct val="20000"/>
        </a:spcBef>
        <a:buClr>
          <a:schemeClr val="accent3"/>
        </a:buClr>
        <a:buFont typeface="Wingdings" pitchFamily="2" charset="2"/>
        <a:buChar char="§"/>
        <a:defRPr sz="1600" kern="1200" spc="100" baseline="0">
          <a:solidFill>
            <a:schemeClr val="tx2"/>
          </a:solidFill>
          <a:latin typeface="+mn-lt"/>
          <a:ea typeface="+mn-ea"/>
          <a:cs typeface="+mn-cs"/>
        </a:defRPr>
      </a:lvl3pPr>
      <a:lvl4pPr marL="1097280" indent="-182880" algn="l" defTabSz="914400" rtl="0" eaLnBrk="1" latinLnBrk="0" hangingPunct="1">
        <a:spcBef>
          <a:spcPct val="20000"/>
        </a:spcBef>
        <a:buClr>
          <a:schemeClr val="accent4"/>
        </a:buClr>
        <a:buFont typeface="Wingdings" pitchFamily="2" charset="2"/>
        <a:buChar char="§"/>
        <a:defRPr sz="1400" kern="1200">
          <a:solidFill>
            <a:schemeClr val="tx2"/>
          </a:solidFill>
          <a:latin typeface="+mn-lt"/>
          <a:ea typeface="+mn-ea"/>
          <a:cs typeface="+mn-cs"/>
        </a:defRPr>
      </a:lvl4pPr>
      <a:lvl5pPr marL="1280160" indent="-182880" algn="l" defTabSz="914400" rtl="0" eaLnBrk="1" latinLnBrk="0" hangingPunct="1">
        <a:spcBef>
          <a:spcPct val="20000"/>
        </a:spcBef>
        <a:buClr>
          <a:schemeClr val="accent6"/>
        </a:buClr>
        <a:buFont typeface="Wingdings" pitchFamily="2" charset="2"/>
        <a:buChar char="§"/>
        <a:defRPr sz="1300" kern="1200" spc="100" baseline="0">
          <a:solidFill>
            <a:schemeClr val="tx2"/>
          </a:solidFill>
          <a:latin typeface="+mn-lt"/>
          <a:ea typeface="+mn-ea"/>
          <a:cs typeface="+mn-cs"/>
        </a:defRPr>
      </a:lvl5pPr>
      <a:lvl6pPr marL="1554480" indent="-182880" algn="l" defTabSz="914400" rtl="0" eaLnBrk="1" latinLnBrk="0" hangingPunct="1">
        <a:spcBef>
          <a:spcPct val="20000"/>
        </a:spcBef>
        <a:buClr>
          <a:schemeClr val="accent1"/>
        </a:buClr>
        <a:buFont typeface="Wingdings" pitchFamily="2" charset="2"/>
        <a:buChar char="§"/>
        <a:defRPr sz="1200" kern="1200">
          <a:solidFill>
            <a:schemeClr val="tx2"/>
          </a:solidFill>
          <a:latin typeface="+mn-lt"/>
          <a:ea typeface="+mn-ea"/>
          <a:cs typeface="+mn-cs"/>
        </a:defRPr>
      </a:lvl6pPr>
      <a:lvl7pPr marL="1828800" indent="-182880" algn="l" defTabSz="914400" rtl="0" eaLnBrk="1" latinLnBrk="0" hangingPunct="1">
        <a:spcBef>
          <a:spcPct val="20000"/>
        </a:spcBef>
        <a:buClr>
          <a:schemeClr val="accent2"/>
        </a:buClr>
        <a:buFont typeface="Wingdings" pitchFamily="2" charset="2"/>
        <a:buChar char="§"/>
        <a:defRPr sz="1200" kern="1200">
          <a:solidFill>
            <a:schemeClr val="tx2"/>
          </a:solidFill>
          <a:latin typeface="+mn-lt"/>
          <a:ea typeface="+mn-ea"/>
          <a:cs typeface="+mn-cs"/>
        </a:defRPr>
      </a:lvl7pPr>
      <a:lvl8pPr marL="2103120" indent="-182880" algn="l" defTabSz="914400" rtl="0" eaLnBrk="1" latinLnBrk="0" hangingPunct="1">
        <a:spcBef>
          <a:spcPct val="20000"/>
        </a:spcBef>
        <a:buClr>
          <a:schemeClr val="accent3"/>
        </a:buClr>
        <a:buFont typeface="Wingdings" pitchFamily="2" charset="2"/>
        <a:buChar char="§"/>
        <a:defRPr sz="1200" kern="1200">
          <a:solidFill>
            <a:schemeClr val="tx2"/>
          </a:solidFill>
          <a:latin typeface="+mn-lt"/>
          <a:ea typeface="+mn-ea"/>
          <a:cs typeface="+mn-cs"/>
        </a:defRPr>
      </a:lvl8pPr>
      <a:lvl9pPr marL="2377440" indent="-182880" algn="l" defTabSz="914400" rtl="0" eaLnBrk="1" latinLnBrk="0" hangingPunct="1">
        <a:spcBef>
          <a:spcPct val="20000"/>
        </a:spcBef>
        <a:buClr>
          <a:schemeClr val="accent5"/>
        </a:buClr>
        <a:buFont typeface="Wingdings" pitchFamily="2" charset="2"/>
        <a:buChar char="§"/>
        <a:defRPr sz="12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samuelchukwuemeka.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81000" y="3429000"/>
            <a:ext cx="6248400" cy="2133600"/>
          </a:xfrm>
        </p:spPr>
        <p:txBody>
          <a:bodyPr>
            <a:noAutofit/>
          </a:bodyPr>
          <a:lstStyle/>
          <a:p>
            <a:pPr algn="ctr"/>
            <a:r>
              <a:rPr lang="en-US" sz="3200" dirty="0" smtClean="0"/>
              <a:t>By</a:t>
            </a:r>
          </a:p>
          <a:p>
            <a:pPr algn="ctr"/>
            <a:r>
              <a:rPr lang="en-US" sz="3200" b="1" dirty="0" smtClean="0">
                <a:solidFill>
                  <a:srgbClr val="00B050"/>
                </a:solidFill>
              </a:rPr>
              <a:t>Samuel </a:t>
            </a:r>
            <a:r>
              <a:rPr lang="en-US" sz="3200" b="1" dirty="0" err="1" smtClean="0">
                <a:solidFill>
                  <a:srgbClr val="00B050"/>
                </a:solidFill>
              </a:rPr>
              <a:t>Chukwuemeka</a:t>
            </a:r>
            <a:endParaRPr lang="en-US" sz="3200" b="1" dirty="0" smtClean="0">
              <a:solidFill>
                <a:srgbClr val="00B050"/>
              </a:solidFill>
            </a:endParaRPr>
          </a:p>
          <a:p>
            <a:pPr algn="ctr"/>
            <a:r>
              <a:rPr lang="en-US" sz="3200" b="1" dirty="0" smtClean="0">
                <a:solidFill>
                  <a:srgbClr val="00B050"/>
                </a:solidFill>
              </a:rPr>
              <a:t>(</a:t>
            </a:r>
            <a:r>
              <a:rPr lang="en-US" sz="3200" b="1" dirty="0" err="1" smtClean="0">
                <a:solidFill>
                  <a:srgbClr val="00B050"/>
                </a:solidFill>
              </a:rPr>
              <a:t>Samdom</a:t>
            </a:r>
            <a:r>
              <a:rPr lang="en-US" sz="3200" b="1" dirty="0" smtClean="0">
                <a:solidFill>
                  <a:srgbClr val="00B050"/>
                </a:solidFill>
              </a:rPr>
              <a:t> For Peace)</a:t>
            </a:r>
          </a:p>
          <a:p>
            <a:pPr algn="ctr"/>
            <a:r>
              <a:rPr lang="en-US" sz="3000" dirty="0" smtClean="0">
                <a:hlinkClick r:id="rId3"/>
              </a:rPr>
              <a:t>www.samuelchukwuemeka.com</a:t>
            </a:r>
            <a:endParaRPr lang="en-US" sz="3000" dirty="0"/>
          </a:p>
        </p:txBody>
      </p:sp>
      <p:sp>
        <p:nvSpPr>
          <p:cNvPr id="2" name="Title 1"/>
          <p:cNvSpPr>
            <a:spLocks noGrp="1"/>
          </p:cNvSpPr>
          <p:nvPr>
            <p:ph type="title"/>
          </p:nvPr>
        </p:nvSpPr>
        <p:spPr>
          <a:xfrm>
            <a:off x="457200" y="533400"/>
            <a:ext cx="6324600" cy="2438400"/>
          </a:xfrm>
        </p:spPr>
        <p:txBody>
          <a:bodyPr/>
          <a:lstStyle/>
          <a:p>
            <a:pPr algn="ctr"/>
            <a:r>
              <a:rPr lang="en-US" sz="3200" dirty="0" smtClean="0"/>
              <a:t>RANDOM SAMPLING: </a:t>
            </a:r>
            <a:br>
              <a:rPr lang="en-US" sz="3200" dirty="0" smtClean="0"/>
            </a:br>
            <a:r>
              <a:rPr lang="en-US" sz="3200" dirty="0" smtClean="0"/>
              <a:t>SIMPLE RANDOM SAMPLING</a:t>
            </a:r>
            <a:endParaRPr lang="en-US" sz="3200" dirty="0"/>
          </a:p>
        </p:txBody>
      </p:sp>
      <p:pic>
        <p:nvPicPr>
          <p:cNvPr id="1026" name="Picture 2" descr="G:\Samdom_Pics\chukwuemeka_samuel_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9000" y="457200"/>
            <a:ext cx="1524000" cy="144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335947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25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1000"/>
                                        <p:tgtEl>
                                          <p:spTgt spid="1026"/>
                                        </p:tgtEl>
                                      </p:cBhvr>
                                    </p:animEffect>
                                    <p:anim calcmode="lin" valueType="num">
                                      <p:cBhvr>
                                        <p:cTn id="8" dur="1000" fill="hold"/>
                                        <p:tgtEl>
                                          <p:spTgt spid="1026"/>
                                        </p:tgtEl>
                                        <p:attrNameLst>
                                          <p:attrName>ppt_x</p:attrName>
                                        </p:attrNameLst>
                                      </p:cBhvr>
                                      <p:tavLst>
                                        <p:tav tm="0">
                                          <p:val>
                                            <p:strVal val="#ppt_x"/>
                                          </p:val>
                                        </p:tav>
                                        <p:tav tm="100000">
                                          <p:val>
                                            <p:strVal val="#ppt_x"/>
                                          </p:val>
                                        </p:tav>
                                      </p:tavLst>
                                    </p:anim>
                                    <p:anim calcmode="lin" valueType="num">
                                      <p:cBhvr>
                                        <p:cTn id="9" dur="900" decel="100000" fill="hold"/>
                                        <p:tgtEl>
                                          <p:spTgt spid="1026"/>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1026"/>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1000"/>
                                        <p:tgtEl>
                                          <p:spTgt spid="2"/>
                                        </p:tgtEl>
                                      </p:cBhvr>
                                    </p:animEffect>
                                    <p:anim calcmode="lin" valueType="num">
                                      <p:cBhvr>
                                        <p:cTn id="16" dur="1000" fill="hold"/>
                                        <p:tgtEl>
                                          <p:spTgt spid="2"/>
                                        </p:tgtEl>
                                        <p:attrNameLst>
                                          <p:attrName>ppt_x</p:attrName>
                                        </p:attrNameLst>
                                      </p:cBhvr>
                                      <p:tavLst>
                                        <p:tav tm="0">
                                          <p:val>
                                            <p:strVal val="#ppt_x"/>
                                          </p:val>
                                        </p:tav>
                                        <p:tav tm="100000">
                                          <p:val>
                                            <p:strVal val="#ppt_x"/>
                                          </p:val>
                                        </p:tav>
                                      </p:tavLst>
                                    </p:anim>
                                    <p:anim calcmode="lin" valueType="num">
                                      <p:cBhvr>
                                        <p:cTn id="17"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 calcmode="lin" valueType="num">
                                      <p:cBhvr additive="base">
                                        <p:cTn id="2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3" presetClass="entr" presetSubtype="0" fill="hold" nodeType="clickEffect">
                                  <p:stCondLst>
                                    <p:cond delay="0"/>
                                  </p:stCondLst>
                                  <p:childTnLst>
                                    <p:set>
                                      <p:cBhvr>
                                        <p:cTn id="27" dur="1" fill="hold">
                                          <p:stCondLst>
                                            <p:cond delay="0"/>
                                          </p:stCondLst>
                                        </p:cTn>
                                        <p:tgtEl>
                                          <p:spTgt spid="3">
                                            <p:txEl>
                                              <p:pRg st="1" end="1"/>
                                            </p:txEl>
                                          </p:spTgt>
                                        </p:tgtEl>
                                        <p:attrNameLst>
                                          <p:attrName>style.visibility</p:attrName>
                                        </p:attrNameLst>
                                      </p:cBhvr>
                                      <p:to>
                                        <p:strVal val="visible"/>
                                      </p:to>
                                    </p:set>
                                    <p:animEffect transition="in" filter="fade">
                                      <p:cBhvr>
                                        <p:cTn id="28" dur="100"/>
                                        <p:tgtEl>
                                          <p:spTgt spid="3">
                                            <p:txEl>
                                              <p:pRg st="1" end="1"/>
                                            </p:txEl>
                                          </p:spTgt>
                                        </p:tgtEl>
                                      </p:cBhvr>
                                    </p:animEffect>
                                    <p:anim calcmode="lin" valueType="num">
                                      <p:cBhvr>
                                        <p:cTn id="29" dur="4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30" dur="400" fill="hold"/>
                                        <p:tgtEl>
                                          <p:spTgt spid="3">
                                            <p:txEl>
                                              <p:pRg st="1" end="1"/>
                                            </p:txEl>
                                          </p:spTgt>
                                        </p:tgtEl>
                                        <p:attrNameLst>
                                          <p:attrName>ppt_y</p:attrName>
                                        </p:attrNameLst>
                                      </p:cBhvr>
                                      <p:tavLst>
                                        <p:tav tm="0">
                                          <p:val>
                                            <p:strVal val="#ppt_y+0.31"/>
                                          </p:val>
                                        </p:tav>
                                        <p:tav tm="100000">
                                          <p:val>
                                            <p:strVal val="#ppt_y+0.31"/>
                                          </p:val>
                                        </p:tav>
                                      </p:tavLst>
                                    </p:anim>
                                    <p:anim calcmode="lin" valueType="num">
                                      <p:cBhvr>
                                        <p:cTn id="31" dur="600" decel="50000" fill="hold">
                                          <p:stCondLst>
                                            <p:cond delay="400"/>
                                          </p:stCondLst>
                                        </p:cTn>
                                        <p:tgtEl>
                                          <p:spTgt spid="3">
                                            <p:txEl>
                                              <p:pRg st="1" end="1"/>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32" dur="600" decel="50000" fill="hold">
                                          <p:stCondLst>
                                            <p:cond delay="400"/>
                                          </p:stCondLst>
                                        </p:cTn>
                                        <p:tgtEl>
                                          <p:spTgt spid="3">
                                            <p:txEl>
                                              <p:pRg st="1" end="1"/>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6" presetClass="entr" presetSubtype="0" fill="hold" nodeType="click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animEffect transition="in" filter="wipe(down)">
                                      <p:cBhvr>
                                        <p:cTn id="37" dur="580">
                                          <p:stCondLst>
                                            <p:cond delay="0"/>
                                          </p:stCondLst>
                                        </p:cTn>
                                        <p:tgtEl>
                                          <p:spTgt spid="3">
                                            <p:txEl>
                                              <p:pRg st="2" end="2"/>
                                            </p:txEl>
                                          </p:spTgt>
                                        </p:tgtEl>
                                      </p:cBhvr>
                                    </p:animEffect>
                                    <p:anim calcmode="lin" valueType="num">
                                      <p:cBhvr>
                                        <p:cTn id="38"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39"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0"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41"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42"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43" dur="26">
                                          <p:stCondLst>
                                            <p:cond delay="650"/>
                                          </p:stCondLst>
                                        </p:cTn>
                                        <p:tgtEl>
                                          <p:spTgt spid="3">
                                            <p:txEl>
                                              <p:pRg st="2" end="2"/>
                                            </p:txEl>
                                          </p:spTgt>
                                        </p:tgtEl>
                                      </p:cBhvr>
                                      <p:to x="100000" y="60000"/>
                                    </p:animScale>
                                    <p:animScale>
                                      <p:cBhvr>
                                        <p:cTn id="44" dur="166" decel="50000">
                                          <p:stCondLst>
                                            <p:cond delay="676"/>
                                          </p:stCondLst>
                                        </p:cTn>
                                        <p:tgtEl>
                                          <p:spTgt spid="3">
                                            <p:txEl>
                                              <p:pRg st="2" end="2"/>
                                            </p:txEl>
                                          </p:spTgt>
                                        </p:tgtEl>
                                      </p:cBhvr>
                                      <p:to x="100000" y="100000"/>
                                    </p:animScale>
                                    <p:animScale>
                                      <p:cBhvr>
                                        <p:cTn id="45" dur="26">
                                          <p:stCondLst>
                                            <p:cond delay="1312"/>
                                          </p:stCondLst>
                                        </p:cTn>
                                        <p:tgtEl>
                                          <p:spTgt spid="3">
                                            <p:txEl>
                                              <p:pRg st="2" end="2"/>
                                            </p:txEl>
                                          </p:spTgt>
                                        </p:tgtEl>
                                      </p:cBhvr>
                                      <p:to x="100000" y="80000"/>
                                    </p:animScale>
                                    <p:animScale>
                                      <p:cBhvr>
                                        <p:cTn id="46" dur="166" decel="50000">
                                          <p:stCondLst>
                                            <p:cond delay="1338"/>
                                          </p:stCondLst>
                                        </p:cTn>
                                        <p:tgtEl>
                                          <p:spTgt spid="3">
                                            <p:txEl>
                                              <p:pRg st="2" end="2"/>
                                            </p:txEl>
                                          </p:spTgt>
                                        </p:tgtEl>
                                      </p:cBhvr>
                                      <p:to x="100000" y="100000"/>
                                    </p:animScale>
                                    <p:animScale>
                                      <p:cBhvr>
                                        <p:cTn id="47" dur="26">
                                          <p:stCondLst>
                                            <p:cond delay="1642"/>
                                          </p:stCondLst>
                                        </p:cTn>
                                        <p:tgtEl>
                                          <p:spTgt spid="3">
                                            <p:txEl>
                                              <p:pRg st="2" end="2"/>
                                            </p:txEl>
                                          </p:spTgt>
                                        </p:tgtEl>
                                      </p:cBhvr>
                                      <p:to x="100000" y="90000"/>
                                    </p:animScale>
                                    <p:animScale>
                                      <p:cBhvr>
                                        <p:cTn id="48" dur="166" decel="50000">
                                          <p:stCondLst>
                                            <p:cond delay="1668"/>
                                          </p:stCondLst>
                                        </p:cTn>
                                        <p:tgtEl>
                                          <p:spTgt spid="3">
                                            <p:txEl>
                                              <p:pRg st="2" end="2"/>
                                            </p:txEl>
                                          </p:spTgt>
                                        </p:tgtEl>
                                      </p:cBhvr>
                                      <p:to x="100000" y="100000"/>
                                    </p:animScale>
                                    <p:animScale>
                                      <p:cBhvr>
                                        <p:cTn id="49" dur="26">
                                          <p:stCondLst>
                                            <p:cond delay="1808"/>
                                          </p:stCondLst>
                                        </p:cTn>
                                        <p:tgtEl>
                                          <p:spTgt spid="3">
                                            <p:txEl>
                                              <p:pRg st="2" end="2"/>
                                            </p:txEl>
                                          </p:spTgt>
                                        </p:tgtEl>
                                      </p:cBhvr>
                                      <p:to x="100000" y="95000"/>
                                    </p:animScale>
                                    <p:animScale>
                                      <p:cBhvr>
                                        <p:cTn id="50" dur="166" decel="50000">
                                          <p:stCondLst>
                                            <p:cond delay="1834"/>
                                          </p:stCondLst>
                                        </p:cTn>
                                        <p:tgtEl>
                                          <p:spTgt spid="3">
                                            <p:txEl>
                                              <p:pRg st="2" end="2"/>
                                            </p:txEl>
                                          </p:spTgt>
                                        </p:tgtEl>
                                      </p:cBhvr>
                                      <p:to x="100000" y="100000"/>
                                    </p:animScale>
                                  </p:childTnLst>
                                </p:cTn>
                              </p:par>
                            </p:childTnLst>
                          </p:cTn>
                        </p:par>
                      </p:childTnLst>
                    </p:cTn>
                  </p:par>
                  <p:par>
                    <p:cTn id="51" fill="hold">
                      <p:stCondLst>
                        <p:cond delay="indefinite"/>
                      </p:stCondLst>
                      <p:childTnLst>
                        <p:par>
                          <p:cTn id="52" fill="hold">
                            <p:stCondLst>
                              <p:cond delay="0"/>
                            </p:stCondLst>
                            <p:childTnLst>
                              <p:par>
                                <p:cTn id="53" presetID="45" presetClass="entr" presetSubtype="0" fill="hold" nodeType="clickEffect">
                                  <p:stCondLst>
                                    <p:cond delay="0"/>
                                  </p:stCondLst>
                                  <p:childTnLst>
                                    <p:set>
                                      <p:cBhvr>
                                        <p:cTn id="54" dur="1" fill="hold">
                                          <p:stCondLst>
                                            <p:cond delay="0"/>
                                          </p:stCondLst>
                                        </p:cTn>
                                        <p:tgtEl>
                                          <p:spTgt spid="3">
                                            <p:txEl>
                                              <p:pRg st="3" end="3"/>
                                            </p:txEl>
                                          </p:spTgt>
                                        </p:tgtEl>
                                        <p:attrNameLst>
                                          <p:attrName>style.visibility</p:attrName>
                                        </p:attrNameLst>
                                      </p:cBhvr>
                                      <p:to>
                                        <p:strVal val="visible"/>
                                      </p:to>
                                    </p:set>
                                    <p:animEffect transition="in" filter="fade">
                                      <p:cBhvr>
                                        <p:cTn id="55" dur="2000"/>
                                        <p:tgtEl>
                                          <p:spTgt spid="3">
                                            <p:txEl>
                                              <p:pRg st="3" end="3"/>
                                            </p:txEl>
                                          </p:spTgt>
                                        </p:tgtEl>
                                      </p:cBhvr>
                                    </p:animEffect>
                                    <p:anim calcmode="lin" valueType="num">
                                      <p:cBhvr>
                                        <p:cTn id="56" dur="2000" fill="hold"/>
                                        <p:tgtEl>
                                          <p:spTgt spid="3">
                                            <p:txEl>
                                              <p:pRg st="3" end="3"/>
                                            </p:txEl>
                                          </p:spTgt>
                                        </p:tgtEl>
                                        <p:attrNameLst>
                                          <p:attrName>ppt_w</p:attrName>
                                        </p:attrNameLst>
                                      </p:cBhvr>
                                      <p:tavLst>
                                        <p:tav tm="0" fmla="#ppt_w*sin(2.5*pi*$)">
                                          <p:val>
                                            <p:fltVal val="0"/>
                                          </p:val>
                                        </p:tav>
                                        <p:tav tm="100000">
                                          <p:val>
                                            <p:fltVal val="1"/>
                                          </p:val>
                                        </p:tav>
                                      </p:tavLst>
                                    </p:anim>
                                    <p:anim calcmode="lin" valueType="num">
                                      <p:cBhvr>
                                        <p:cTn id="57" dur="2000" fill="hold"/>
                                        <p:tgtEl>
                                          <p:spTgt spid="3">
                                            <p:txEl>
                                              <p:pRg st="3" end="3"/>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0"/>
            <a:ext cx="8229600" cy="4953000"/>
          </a:xfrm>
        </p:spPr>
        <p:txBody>
          <a:bodyPr>
            <a:normAutofit lnSpcReduction="10000"/>
          </a:bodyPr>
          <a:lstStyle/>
          <a:p>
            <a:endParaRPr lang="en-US" sz="2800" b="1" u="sng" dirty="0" smtClean="0">
              <a:latin typeface="Times New Roman" pitchFamily="18" charset="0"/>
              <a:cs typeface="Times New Roman" pitchFamily="18" charset="0"/>
            </a:endParaRPr>
          </a:p>
          <a:p>
            <a:pPr>
              <a:buFont typeface="Wingdings" pitchFamily="2" charset="2"/>
              <a:buChar char="v"/>
            </a:pPr>
            <a:r>
              <a:rPr lang="en-US" sz="2800" dirty="0" smtClean="0">
                <a:latin typeface="Times New Roman" pitchFamily="18" charset="0"/>
                <a:cs typeface="Times New Roman" pitchFamily="18" charset="0"/>
              </a:rPr>
              <a:t>We shall:</a:t>
            </a:r>
          </a:p>
          <a:p>
            <a:pPr marL="45720" indent="0">
              <a:buNone/>
            </a:pPr>
            <a:endParaRPr lang="en-US" sz="2800" dirty="0" smtClean="0">
              <a:latin typeface="Times New Roman" pitchFamily="18" charset="0"/>
              <a:cs typeface="Times New Roman" pitchFamily="18" charset="0"/>
            </a:endParaRPr>
          </a:p>
          <a:p>
            <a:pPr>
              <a:buFont typeface="Wingdings" pitchFamily="2" charset="2"/>
              <a:buChar char="q"/>
            </a:pPr>
            <a:r>
              <a:rPr lang="en-US" sz="2800" dirty="0" smtClean="0">
                <a:latin typeface="Times New Roman" pitchFamily="18" charset="0"/>
                <a:cs typeface="Times New Roman" pitchFamily="18" charset="0"/>
              </a:rPr>
              <a:t>Give an overview of </a:t>
            </a:r>
            <a:r>
              <a:rPr lang="en-US" sz="2800" b="1" dirty="0" smtClean="0">
                <a:solidFill>
                  <a:srgbClr val="002060"/>
                </a:solidFill>
                <a:latin typeface="Times New Roman" pitchFamily="18" charset="0"/>
                <a:cs typeface="Times New Roman" pitchFamily="18" charset="0"/>
              </a:rPr>
              <a:t>Random Sampling</a:t>
            </a:r>
          </a:p>
          <a:p>
            <a:pPr>
              <a:buNone/>
            </a:pPr>
            <a:endParaRPr lang="en-US" sz="2800" dirty="0" smtClean="0">
              <a:latin typeface="Times New Roman" pitchFamily="18" charset="0"/>
              <a:cs typeface="Times New Roman" pitchFamily="18" charset="0"/>
            </a:endParaRPr>
          </a:p>
          <a:p>
            <a:pPr>
              <a:buFont typeface="Wingdings" pitchFamily="2" charset="2"/>
              <a:buChar char="q"/>
            </a:pPr>
            <a:r>
              <a:rPr lang="en-US" sz="2800" dirty="0" smtClean="0">
                <a:latin typeface="Times New Roman" pitchFamily="18" charset="0"/>
                <a:cs typeface="Times New Roman" pitchFamily="18" charset="0"/>
              </a:rPr>
              <a:t>Discuss </a:t>
            </a:r>
            <a:r>
              <a:rPr lang="en-US" sz="2800" b="1" dirty="0" smtClean="0">
                <a:solidFill>
                  <a:srgbClr val="009900"/>
                </a:solidFill>
                <a:latin typeface="Times New Roman" pitchFamily="18" charset="0"/>
                <a:cs typeface="Times New Roman" pitchFamily="18" charset="0"/>
              </a:rPr>
              <a:t>Simple Random Sampling</a:t>
            </a:r>
          </a:p>
          <a:p>
            <a:pPr marL="45720" indent="0">
              <a:buNone/>
            </a:pPr>
            <a:endParaRPr lang="en-US" sz="2800" dirty="0" smtClean="0">
              <a:latin typeface="Times New Roman" pitchFamily="18" charset="0"/>
              <a:cs typeface="Times New Roman" pitchFamily="18" charset="0"/>
            </a:endParaRPr>
          </a:p>
          <a:p>
            <a:pPr>
              <a:buFont typeface="Wingdings" pitchFamily="2" charset="2"/>
              <a:buChar char="q"/>
            </a:pPr>
            <a:r>
              <a:rPr lang="en-US" sz="2800" dirty="0" smtClean="0">
                <a:latin typeface="Times New Roman" pitchFamily="18" charset="0"/>
                <a:cs typeface="Times New Roman" pitchFamily="18" charset="0"/>
              </a:rPr>
              <a:t>Solve some applications involving </a:t>
            </a:r>
            <a:r>
              <a:rPr lang="en-US" sz="2800" b="1" dirty="0" smtClean="0">
                <a:solidFill>
                  <a:srgbClr val="009900"/>
                </a:solidFill>
                <a:latin typeface="Times New Roman" pitchFamily="18" charset="0"/>
                <a:cs typeface="Times New Roman" pitchFamily="18" charset="0"/>
              </a:rPr>
              <a:t>simple random sampling</a:t>
            </a:r>
          </a:p>
          <a:p>
            <a:pPr marL="45720" indent="0">
              <a:buNone/>
            </a:pPr>
            <a:r>
              <a:rPr lang="en-US" sz="2800" dirty="0" smtClean="0">
                <a:latin typeface="Times New Roman" pitchFamily="18" charset="0"/>
                <a:cs typeface="Times New Roman" pitchFamily="18" charset="0"/>
              </a:rPr>
              <a:t> </a:t>
            </a:r>
          </a:p>
          <a:p>
            <a:endParaRPr lang="en-US" sz="2000" dirty="0" smtClean="0">
              <a:latin typeface="Times New Roman" pitchFamily="18" charset="0"/>
              <a:cs typeface="Times New Roman" pitchFamily="18" charset="0"/>
            </a:endParaRPr>
          </a:p>
          <a:p>
            <a:endParaRPr lang="en-US" sz="2000" dirty="0" smtClean="0">
              <a:latin typeface="Times New Roman" pitchFamily="18" charset="0"/>
              <a:cs typeface="Times New Roman" pitchFamily="18" charset="0"/>
            </a:endParaRPr>
          </a:p>
          <a:p>
            <a:pPr marL="457200" lvl="1" indent="0">
              <a:buNone/>
            </a:pPr>
            <a:endParaRPr lang="en-US" sz="2000" dirty="0" smtClean="0">
              <a:latin typeface="Times New Roman" pitchFamily="18" charset="0"/>
              <a:cs typeface="Times New Roman" pitchFamily="18" charset="0"/>
            </a:endParaRPr>
          </a:p>
        </p:txBody>
      </p:sp>
      <p:sp>
        <p:nvSpPr>
          <p:cNvPr id="2" name="Title 1"/>
          <p:cNvSpPr>
            <a:spLocks noGrp="1"/>
          </p:cNvSpPr>
          <p:nvPr>
            <p:ph type="title"/>
          </p:nvPr>
        </p:nvSpPr>
        <p:spPr/>
        <p:txBody>
          <a:bodyPr/>
          <a:lstStyle/>
          <a:p>
            <a:r>
              <a:rPr lang="en-US" dirty="0" smtClean="0"/>
              <a:t>OBJECTIVES</a:t>
            </a:r>
            <a:endParaRPr lang="en-US" dirty="0"/>
          </a:p>
        </p:txBody>
      </p:sp>
    </p:spTree>
    <p:extLst>
      <p:ext uri="{BB962C8B-B14F-4D97-AF65-F5344CB8AC3E}">
        <p14:creationId xmlns:p14="http://schemas.microsoft.com/office/powerpoint/2010/main" val="3129379255"/>
      </p:ext>
    </p:extLst>
  </p:cSld>
  <p:clrMapOvr>
    <a:masterClrMapping/>
  </p:clrMapOvr>
  <p:transition spd="slow">
    <p:spli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0"/>
            <a:ext cx="8229600" cy="5105400"/>
          </a:xfrm>
        </p:spPr>
        <p:txBody>
          <a:bodyPr>
            <a:normAutofit lnSpcReduction="10000"/>
          </a:bodyPr>
          <a:lstStyle/>
          <a:p>
            <a:pPr>
              <a:buFont typeface="Wingdings" pitchFamily="2" charset="2"/>
              <a:buChar char="v"/>
            </a:pPr>
            <a:endParaRPr lang="en-US" sz="2400" dirty="0" smtClean="0">
              <a:latin typeface="Times New Roman" pitchFamily="18" charset="0"/>
              <a:cs typeface="Times New Roman" pitchFamily="18" charset="0"/>
            </a:endParaRPr>
          </a:p>
          <a:p>
            <a:pPr>
              <a:buFont typeface="Wingdings" pitchFamily="2" charset="2"/>
              <a:buChar char="q"/>
            </a:pPr>
            <a:r>
              <a:rPr lang="en-US" sz="2800" dirty="0" smtClean="0">
                <a:latin typeface="Times New Roman" pitchFamily="18" charset="0"/>
                <a:cs typeface="Times New Roman" pitchFamily="18" charset="0"/>
              </a:rPr>
              <a:t>Random Sampling is defined as a sampling method in which a sample is created by randomly selecting individuals from a population.</a:t>
            </a:r>
          </a:p>
          <a:p>
            <a:pPr marL="45720" indent="0">
              <a:buNone/>
            </a:pPr>
            <a:endParaRPr lang="en-US" sz="2800" dirty="0" smtClean="0">
              <a:latin typeface="Times New Roman" pitchFamily="18" charset="0"/>
              <a:cs typeface="Times New Roman" pitchFamily="18" charset="0"/>
            </a:endParaRPr>
          </a:p>
          <a:p>
            <a:pPr>
              <a:buFont typeface="Wingdings" pitchFamily="2" charset="2"/>
              <a:buChar char="q"/>
            </a:pPr>
            <a:r>
              <a:rPr lang="en-US" sz="2800" dirty="0" smtClean="0">
                <a:latin typeface="Times New Roman" pitchFamily="18" charset="0"/>
                <a:cs typeface="Times New Roman" pitchFamily="18" charset="0"/>
              </a:rPr>
              <a:t>Types of Random Sampling include</a:t>
            </a:r>
          </a:p>
          <a:p>
            <a:pPr>
              <a:buFont typeface="Wingdings" pitchFamily="2" charset="2"/>
              <a:buChar char="v"/>
            </a:pPr>
            <a:r>
              <a:rPr lang="en-US" sz="2800" b="1" dirty="0" smtClean="0">
                <a:solidFill>
                  <a:srgbClr val="009900"/>
                </a:solidFill>
                <a:latin typeface="Times New Roman" pitchFamily="18" charset="0"/>
                <a:cs typeface="Times New Roman" pitchFamily="18" charset="0"/>
              </a:rPr>
              <a:t>Simple Random Sampling</a:t>
            </a:r>
          </a:p>
          <a:p>
            <a:pPr>
              <a:buFont typeface="Wingdings" pitchFamily="2" charset="2"/>
              <a:buChar char="v"/>
            </a:pPr>
            <a:r>
              <a:rPr lang="en-US" sz="2800" dirty="0" smtClean="0">
                <a:latin typeface="Times New Roman" pitchFamily="18" charset="0"/>
                <a:cs typeface="Times New Roman" pitchFamily="18" charset="0"/>
              </a:rPr>
              <a:t>Systematic Sampling</a:t>
            </a:r>
          </a:p>
          <a:p>
            <a:pPr>
              <a:buFont typeface="Wingdings" pitchFamily="2" charset="2"/>
              <a:buChar char="v"/>
            </a:pPr>
            <a:r>
              <a:rPr lang="en-US" sz="2800" dirty="0" smtClean="0">
                <a:latin typeface="Times New Roman" pitchFamily="18" charset="0"/>
                <a:cs typeface="Times New Roman" pitchFamily="18" charset="0"/>
              </a:rPr>
              <a:t>Cluster Sampling</a:t>
            </a:r>
          </a:p>
          <a:p>
            <a:pPr>
              <a:buFont typeface="Wingdings" pitchFamily="2" charset="2"/>
              <a:buChar char="v"/>
            </a:pPr>
            <a:r>
              <a:rPr lang="en-US" sz="2800" dirty="0" smtClean="0">
                <a:latin typeface="Times New Roman" pitchFamily="18" charset="0"/>
                <a:cs typeface="Times New Roman" pitchFamily="18" charset="0"/>
              </a:rPr>
              <a:t>Stratified Sampling</a:t>
            </a:r>
          </a:p>
          <a:p>
            <a:pPr>
              <a:buFont typeface="Wingdings" pitchFamily="2" charset="2"/>
              <a:buChar char="v"/>
            </a:pPr>
            <a:endParaRPr lang="en-US" sz="2800" dirty="0">
              <a:latin typeface="Times New Roman" pitchFamily="18" charset="0"/>
              <a:cs typeface="Times New Roman" pitchFamily="18" charset="0"/>
            </a:endParaRPr>
          </a:p>
          <a:p>
            <a:pPr>
              <a:buFont typeface="Wingdings" pitchFamily="2" charset="2"/>
              <a:buChar char="v"/>
            </a:pPr>
            <a:endParaRPr lang="en-US" sz="2000" dirty="0" smtClean="0">
              <a:latin typeface="Times New Roman" pitchFamily="18" charset="0"/>
              <a:cs typeface="Times New Roman" pitchFamily="18" charset="0"/>
            </a:endParaRPr>
          </a:p>
          <a:p>
            <a:endParaRPr lang="en-US" sz="2000" dirty="0" smtClean="0">
              <a:latin typeface="Times New Roman" pitchFamily="18" charset="0"/>
              <a:cs typeface="Times New Roman" pitchFamily="18" charset="0"/>
            </a:endParaRPr>
          </a:p>
          <a:p>
            <a:pPr marL="457200" lvl="1" indent="0">
              <a:buNone/>
            </a:pPr>
            <a:endParaRPr lang="en-US" sz="2000" dirty="0" smtClean="0">
              <a:latin typeface="Times New Roman" pitchFamily="18" charset="0"/>
              <a:cs typeface="Times New Roman" pitchFamily="18" charset="0"/>
            </a:endParaRPr>
          </a:p>
        </p:txBody>
      </p:sp>
      <p:sp>
        <p:nvSpPr>
          <p:cNvPr id="2" name="Title 1"/>
          <p:cNvSpPr>
            <a:spLocks noGrp="1"/>
          </p:cNvSpPr>
          <p:nvPr>
            <p:ph type="title"/>
          </p:nvPr>
        </p:nvSpPr>
        <p:spPr/>
        <p:txBody>
          <a:bodyPr/>
          <a:lstStyle/>
          <a:p>
            <a:r>
              <a:rPr lang="en-US" dirty="0" smtClean="0"/>
              <a:t>RANDOM SAMPLING</a:t>
            </a:r>
            <a:endParaRPr lang="en-US" dirty="0"/>
          </a:p>
        </p:txBody>
      </p:sp>
    </p:spTree>
    <p:extLst>
      <p:ext uri="{BB962C8B-B14F-4D97-AF65-F5344CB8AC3E}">
        <p14:creationId xmlns:p14="http://schemas.microsoft.com/office/powerpoint/2010/main" val="51111477"/>
      </p:ext>
    </p:extLst>
  </p:cSld>
  <p:clrMapOvr>
    <a:masterClrMapping/>
  </p:clrMapOvr>
  <p:transition spd="slow">
    <p:spli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0999" y="838200"/>
            <a:ext cx="8407893" cy="6019800"/>
          </a:xfrm>
        </p:spPr>
        <p:txBody>
          <a:bodyPr>
            <a:normAutofit/>
          </a:bodyPr>
          <a:lstStyle/>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pPr>
              <a:buFont typeface="Wingdings" pitchFamily="2" charset="2"/>
              <a:buChar char="v"/>
            </a:pPr>
            <a:r>
              <a:rPr lang="en-US" sz="2200" dirty="0" smtClean="0">
                <a:latin typeface="Times New Roman" pitchFamily="18" charset="0"/>
                <a:cs typeface="Times New Roman" pitchFamily="18" charset="0"/>
              </a:rPr>
              <a:t>Simple Random Sampling is a type of random sampling in which </a:t>
            </a:r>
            <a:r>
              <a:rPr lang="en-US" sz="2200" dirty="0">
                <a:latin typeface="Times New Roman" pitchFamily="18" charset="0"/>
                <a:cs typeface="Times New Roman" pitchFamily="18" charset="0"/>
              </a:rPr>
              <a:t>every individual in that population has an equal probability of being selected</a:t>
            </a:r>
            <a:r>
              <a:rPr lang="en-US" sz="2200" dirty="0" smtClean="0">
                <a:latin typeface="Times New Roman" pitchFamily="18" charset="0"/>
                <a:cs typeface="Times New Roman" pitchFamily="18" charset="0"/>
              </a:rPr>
              <a:t>.</a:t>
            </a:r>
          </a:p>
          <a:p>
            <a:pPr>
              <a:buFont typeface="Wingdings" pitchFamily="2" charset="2"/>
              <a:buChar char="v"/>
            </a:pPr>
            <a:r>
              <a:rPr lang="en-US" sz="2200" dirty="0" smtClean="0">
                <a:latin typeface="Times New Roman" pitchFamily="18" charset="0"/>
                <a:cs typeface="Times New Roman" pitchFamily="18" charset="0"/>
              </a:rPr>
              <a:t>A simple random sample is a sample of size, n selected randomly from a population size, N in such a way that every sample of size, n has an equal probability of being selected.</a:t>
            </a:r>
          </a:p>
          <a:p>
            <a:pPr>
              <a:buFont typeface="Wingdings" pitchFamily="2" charset="2"/>
              <a:buChar char="v"/>
            </a:pPr>
            <a:r>
              <a:rPr lang="en-US" sz="2200" dirty="0" smtClean="0">
                <a:latin typeface="Times New Roman" pitchFamily="18" charset="0"/>
                <a:cs typeface="Times New Roman" pitchFamily="18" charset="0"/>
              </a:rPr>
              <a:t>Simple random sampling ensures that the characteristics of the individuals in the simple random sample is a representative of the characteristics of the individuals in the population.</a:t>
            </a:r>
          </a:p>
          <a:p>
            <a:pPr>
              <a:buFont typeface="Wingdings" pitchFamily="2" charset="2"/>
              <a:buChar char="v"/>
            </a:pPr>
            <a:r>
              <a:rPr lang="en-US" sz="2200" dirty="0" smtClean="0">
                <a:latin typeface="Times New Roman" pitchFamily="18" charset="0"/>
                <a:cs typeface="Times New Roman" pitchFamily="18" charset="0"/>
              </a:rPr>
              <a:t>So basically, we take random samples from the population, measure some characteristics of the individual samples, and use the information to infer the characteristics in the entire population.</a:t>
            </a:r>
            <a:endParaRPr lang="en-US" sz="2200" dirty="0">
              <a:latin typeface="Times New Roman" pitchFamily="18" charset="0"/>
              <a:cs typeface="Times New Roman" pitchFamily="18" charset="0"/>
            </a:endParaRPr>
          </a:p>
        </p:txBody>
      </p:sp>
      <p:sp>
        <p:nvSpPr>
          <p:cNvPr id="3" name="Title 2"/>
          <p:cNvSpPr>
            <a:spLocks noGrp="1"/>
          </p:cNvSpPr>
          <p:nvPr>
            <p:ph type="title"/>
          </p:nvPr>
        </p:nvSpPr>
        <p:spPr/>
        <p:txBody>
          <a:bodyPr/>
          <a:lstStyle/>
          <a:p>
            <a:r>
              <a:rPr lang="en-US" dirty="0" smtClean="0"/>
              <a:t>Simple random sampling</a:t>
            </a:r>
            <a:endParaRPr lang="en-US" dirty="0"/>
          </a:p>
        </p:txBody>
      </p:sp>
    </p:spTree>
    <p:extLst>
      <p:ext uri="{BB962C8B-B14F-4D97-AF65-F5344CB8AC3E}">
        <p14:creationId xmlns:p14="http://schemas.microsoft.com/office/powerpoint/2010/main" val="23683671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0999" y="1719070"/>
            <a:ext cx="8407893" cy="4834130"/>
          </a:xfrm>
        </p:spPr>
        <p:txBody>
          <a:bodyPr>
            <a:noAutofit/>
          </a:bodyPr>
          <a:lstStyle/>
          <a:p>
            <a:pPr>
              <a:buFont typeface="Wingdings" pitchFamily="2" charset="2"/>
              <a:buChar char="q"/>
            </a:pPr>
            <a:r>
              <a:rPr lang="en-US" sz="2400" dirty="0" smtClean="0">
                <a:latin typeface="Times New Roman" pitchFamily="18" charset="0"/>
                <a:cs typeface="Times New Roman" pitchFamily="18" charset="0"/>
              </a:rPr>
              <a:t>Before we use simple random sampling, we should:</a:t>
            </a:r>
          </a:p>
          <a:p>
            <a:endParaRPr lang="en-US" sz="2400" dirty="0">
              <a:latin typeface="Times New Roman" pitchFamily="18" charset="0"/>
              <a:cs typeface="Times New Roman" pitchFamily="18" charset="0"/>
            </a:endParaRPr>
          </a:p>
          <a:p>
            <a:pPr>
              <a:buFont typeface="Wingdings" pitchFamily="2" charset="2"/>
              <a:buChar char="v"/>
            </a:pPr>
            <a:r>
              <a:rPr lang="en-US" sz="2400" dirty="0" smtClean="0">
                <a:latin typeface="Times New Roman" pitchFamily="18" charset="0"/>
                <a:cs typeface="Times New Roman" pitchFamily="18" charset="0"/>
              </a:rPr>
              <a:t>List the entire individuals in the population. Such a list is called a </a:t>
            </a:r>
            <a:r>
              <a:rPr lang="en-US" sz="2400" b="1" dirty="0" smtClean="0">
                <a:solidFill>
                  <a:srgbClr val="009900"/>
                </a:solidFill>
                <a:latin typeface="Times New Roman" pitchFamily="18" charset="0"/>
                <a:cs typeface="Times New Roman" pitchFamily="18" charset="0"/>
              </a:rPr>
              <a:t>frame </a:t>
            </a:r>
            <a:r>
              <a:rPr lang="en-US" sz="2400" dirty="0" smtClean="0">
                <a:solidFill>
                  <a:schemeClr val="tx1"/>
                </a:solidFill>
                <a:latin typeface="Times New Roman" pitchFamily="18" charset="0"/>
                <a:cs typeface="Times New Roman" pitchFamily="18" charset="0"/>
              </a:rPr>
              <a:t>or</a:t>
            </a:r>
            <a:r>
              <a:rPr lang="en-US" sz="2400" b="1" dirty="0" smtClean="0">
                <a:solidFill>
                  <a:srgbClr val="009900"/>
                </a:solidFill>
                <a:latin typeface="Times New Roman" pitchFamily="18" charset="0"/>
                <a:cs typeface="Times New Roman" pitchFamily="18" charset="0"/>
              </a:rPr>
              <a:t> sampling frame.</a:t>
            </a:r>
          </a:p>
          <a:p>
            <a:pPr marL="45720" indent="0">
              <a:buNone/>
            </a:pPr>
            <a:endParaRPr lang="en-US" sz="2400" dirty="0">
              <a:latin typeface="Times New Roman" pitchFamily="18" charset="0"/>
              <a:cs typeface="Times New Roman" pitchFamily="18" charset="0"/>
            </a:endParaRPr>
          </a:p>
          <a:p>
            <a:pPr>
              <a:buFont typeface="Wingdings" pitchFamily="2" charset="2"/>
              <a:buChar char="v"/>
            </a:pPr>
            <a:r>
              <a:rPr lang="en-US" sz="2400" dirty="0" smtClean="0">
                <a:latin typeface="Times New Roman" pitchFamily="18" charset="0"/>
                <a:cs typeface="Times New Roman" pitchFamily="18" charset="0"/>
              </a:rPr>
              <a:t>Ensure that every individual in the population has an equal probability of being included in the sample</a:t>
            </a:r>
          </a:p>
          <a:p>
            <a:endParaRPr lang="en-US" sz="2400" dirty="0">
              <a:latin typeface="Times New Roman" pitchFamily="18" charset="0"/>
              <a:cs typeface="Times New Roman" pitchFamily="18" charset="0"/>
            </a:endParaRPr>
          </a:p>
          <a:p>
            <a:pPr>
              <a:buFont typeface="Wingdings" pitchFamily="2" charset="2"/>
              <a:buChar char="q"/>
            </a:pPr>
            <a:r>
              <a:rPr lang="en-US" sz="2400" dirty="0" smtClean="0">
                <a:latin typeface="Times New Roman" pitchFamily="18" charset="0"/>
                <a:cs typeface="Times New Roman" pitchFamily="18" charset="0"/>
              </a:rPr>
              <a:t>It is also recommended </a:t>
            </a:r>
            <a:r>
              <a:rPr lang="en-US" sz="2400" smtClean="0">
                <a:latin typeface="Times New Roman" pitchFamily="18" charset="0"/>
                <a:cs typeface="Times New Roman" pitchFamily="18" charset="0"/>
              </a:rPr>
              <a:t>that we </a:t>
            </a:r>
            <a:r>
              <a:rPr lang="en-US" sz="2400" dirty="0" smtClean="0">
                <a:latin typeface="Times New Roman" pitchFamily="18" charset="0"/>
                <a:cs typeface="Times New Roman" pitchFamily="18" charset="0"/>
              </a:rPr>
              <a:t>arrange the names in ascending order, and that we use the “without replacement” probability condition. This is done in order to minimize bias.</a:t>
            </a:r>
            <a:endParaRPr lang="en-US" sz="2400" dirty="0">
              <a:latin typeface="Times New Roman" pitchFamily="18" charset="0"/>
              <a:cs typeface="Times New Roman" pitchFamily="18" charset="0"/>
            </a:endParaRPr>
          </a:p>
        </p:txBody>
      </p:sp>
      <p:sp>
        <p:nvSpPr>
          <p:cNvPr id="3" name="Title 2"/>
          <p:cNvSpPr>
            <a:spLocks noGrp="1"/>
          </p:cNvSpPr>
          <p:nvPr>
            <p:ph type="title"/>
          </p:nvPr>
        </p:nvSpPr>
        <p:spPr/>
        <p:txBody>
          <a:bodyPr/>
          <a:lstStyle/>
          <a:p>
            <a:r>
              <a:rPr lang="en-US" dirty="0" smtClean="0"/>
              <a:t>CONDITIONS FOR SIMPLE RANDOM SAMPLING</a:t>
            </a:r>
            <a:endParaRPr lang="en-US" dirty="0"/>
          </a:p>
        </p:txBody>
      </p:sp>
    </p:spTree>
    <p:extLst>
      <p:ext uri="{BB962C8B-B14F-4D97-AF65-F5344CB8AC3E}">
        <p14:creationId xmlns:p14="http://schemas.microsoft.com/office/powerpoint/2010/main" val="382119935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buFont typeface="Wingdings" pitchFamily="2" charset="2"/>
              <a:buChar char="q"/>
            </a:pPr>
            <a:r>
              <a:rPr lang="en-US" sz="2800" dirty="0" smtClean="0">
                <a:latin typeface="Times New Roman" pitchFamily="18" charset="0"/>
                <a:cs typeface="Times New Roman" pitchFamily="18" charset="0"/>
              </a:rPr>
              <a:t>We can obtain simple random samples from a population by the following ways. You can:</a:t>
            </a:r>
          </a:p>
          <a:p>
            <a:endParaRPr lang="en-US" sz="2800" dirty="0">
              <a:latin typeface="Times New Roman" pitchFamily="18" charset="0"/>
              <a:cs typeface="Times New Roman" pitchFamily="18" charset="0"/>
            </a:endParaRPr>
          </a:p>
          <a:p>
            <a:pPr>
              <a:buFont typeface="Wingdings" pitchFamily="2" charset="2"/>
              <a:buChar char="v"/>
            </a:pPr>
            <a:r>
              <a:rPr lang="en-US" sz="2800" b="1" dirty="0" smtClean="0">
                <a:solidFill>
                  <a:srgbClr val="009900"/>
                </a:solidFill>
                <a:latin typeface="Times New Roman" pitchFamily="18" charset="0"/>
                <a:cs typeface="Times New Roman" pitchFamily="18" charset="0"/>
              </a:rPr>
              <a:t>List and Pick</a:t>
            </a:r>
          </a:p>
          <a:p>
            <a:pPr>
              <a:buFont typeface="Wingdings" pitchFamily="2" charset="2"/>
              <a:buChar char="v"/>
            </a:pPr>
            <a:endParaRPr lang="en-US" sz="2800" dirty="0">
              <a:latin typeface="Times New Roman" pitchFamily="18" charset="0"/>
              <a:cs typeface="Times New Roman" pitchFamily="18" charset="0"/>
            </a:endParaRPr>
          </a:p>
          <a:p>
            <a:pPr>
              <a:buFont typeface="Wingdings" pitchFamily="2" charset="2"/>
              <a:buChar char="v"/>
            </a:pPr>
            <a:r>
              <a:rPr lang="en-US" sz="2800" b="1" dirty="0" smtClean="0">
                <a:solidFill>
                  <a:srgbClr val="009900"/>
                </a:solidFill>
                <a:latin typeface="Times New Roman" pitchFamily="18" charset="0"/>
                <a:cs typeface="Times New Roman" pitchFamily="18" charset="0"/>
              </a:rPr>
              <a:t>Number and use a Table of Random Numbers</a:t>
            </a:r>
          </a:p>
          <a:p>
            <a:pPr>
              <a:buFont typeface="Wingdings" pitchFamily="2" charset="2"/>
              <a:buChar char="v"/>
            </a:pPr>
            <a:endParaRPr lang="en-US" sz="2800" dirty="0">
              <a:latin typeface="Times New Roman" pitchFamily="18" charset="0"/>
              <a:cs typeface="Times New Roman" pitchFamily="18" charset="0"/>
            </a:endParaRPr>
          </a:p>
          <a:p>
            <a:pPr>
              <a:buFont typeface="Wingdings" pitchFamily="2" charset="2"/>
              <a:buChar char="v"/>
            </a:pPr>
            <a:r>
              <a:rPr lang="en-US" sz="2800" b="1" dirty="0" smtClean="0">
                <a:solidFill>
                  <a:srgbClr val="009900"/>
                </a:solidFill>
                <a:latin typeface="Times New Roman" pitchFamily="18" charset="0"/>
                <a:cs typeface="Times New Roman" pitchFamily="18" charset="0"/>
              </a:rPr>
              <a:t>Use Technology</a:t>
            </a:r>
            <a:endParaRPr lang="en-US" sz="2800" b="1" dirty="0">
              <a:solidFill>
                <a:srgbClr val="009900"/>
              </a:solidFill>
              <a:latin typeface="Times New Roman" pitchFamily="18" charset="0"/>
              <a:cs typeface="Times New Roman" pitchFamily="18" charset="0"/>
            </a:endParaRPr>
          </a:p>
        </p:txBody>
      </p:sp>
      <p:sp>
        <p:nvSpPr>
          <p:cNvPr id="3" name="Title 2"/>
          <p:cNvSpPr>
            <a:spLocks noGrp="1"/>
          </p:cNvSpPr>
          <p:nvPr>
            <p:ph type="title"/>
          </p:nvPr>
        </p:nvSpPr>
        <p:spPr/>
        <p:txBody>
          <a:bodyPr/>
          <a:lstStyle/>
          <a:p>
            <a:r>
              <a:rPr lang="en-US" dirty="0" smtClean="0"/>
              <a:t>So, how do we obtain simple random samples</a:t>
            </a:r>
            <a:endParaRPr lang="en-US" dirty="0"/>
          </a:p>
        </p:txBody>
      </p:sp>
    </p:spTree>
    <p:extLst>
      <p:ext uri="{BB962C8B-B14F-4D97-AF65-F5344CB8AC3E}">
        <p14:creationId xmlns:p14="http://schemas.microsoft.com/office/powerpoint/2010/main" val="51334414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Font typeface="Wingdings" pitchFamily="2" charset="2"/>
              <a:buChar char="ü"/>
            </a:pPr>
            <a:r>
              <a:rPr lang="en-US" sz="2400" dirty="0" smtClean="0">
                <a:latin typeface="Times New Roman" pitchFamily="18" charset="0"/>
                <a:cs typeface="Times New Roman" pitchFamily="18" charset="0"/>
              </a:rPr>
              <a:t>Students at SNHU were asked to pick three songs from a list of nine free songs available for download. The songs are labeled song 1, song 2, song 3, song 4, song 5, song 6, song 7, song 8, and song 9. </a:t>
            </a:r>
          </a:p>
          <a:p>
            <a:pPr marL="45720" indent="0">
              <a:buNone/>
            </a:pPr>
            <a:endParaRPr lang="en-US" sz="2400" dirty="0" smtClean="0">
              <a:latin typeface="Times New Roman" pitchFamily="18" charset="0"/>
              <a:cs typeface="Times New Roman" pitchFamily="18" charset="0"/>
            </a:endParaRPr>
          </a:p>
          <a:p>
            <a:pPr>
              <a:buFont typeface="Wingdings" pitchFamily="2" charset="2"/>
              <a:buChar char="Ø"/>
            </a:pPr>
            <a:r>
              <a:rPr lang="en-US" sz="2400" dirty="0" smtClean="0">
                <a:latin typeface="Times New Roman" pitchFamily="18" charset="0"/>
                <a:cs typeface="Times New Roman" pitchFamily="18" charset="0"/>
              </a:rPr>
              <a:t>What ways can they pick these songs?</a:t>
            </a:r>
          </a:p>
          <a:p>
            <a:pPr>
              <a:buFont typeface="Wingdings" pitchFamily="2" charset="2"/>
              <a:buChar char="Ø"/>
            </a:pPr>
            <a:r>
              <a:rPr lang="en-US" sz="2400" dirty="0" smtClean="0">
                <a:latin typeface="Times New Roman" pitchFamily="18" charset="0"/>
                <a:cs typeface="Times New Roman" pitchFamily="18" charset="0"/>
              </a:rPr>
              <a:t>If they have to use a portion of the Table of Random Numbers written as   </a:t>
            </a:r>
            <a:r>
              <a:rPr lang="en-US" sz="2400" b="1" dirty="0" smtClean="0">
                <a:solidFill>
                  <a:srgbClr val="002060"/>
                </a:solidFill>
                <a:latin typeface="Times New Roman" pitchFamily="18" charset="0"/>
                <a:cs typeface="Times New Roman" pitchFamily="18" charset="0"/>
              </a:rPr>
              <a:t>51111</a:t>
            </a:r>
            <a:r>
              <a:rPr lang="en-US" sz="2400" dirty="0" smtClean="0">
                <a:latin typeface="Times New Roman" pitchFamily="18" charset="0"/>
                <a:cs typeface="Times New Roman" pitchFamily="18" charset="0"/>
              </a:rPr>
              <a:t>   </a:t>
            </a:r>
            <a:r>
              <a:rPr lang="en-US" sz="2400" b="1" dirty="0" smtClean="0">
                <a:solidFill>
                  <a:srgbClr val="002060"/>
                </a:solidFill>
                <a:latin typeface="Times New Roman" pitchFamily="18" charset="0"/>
                <a:cs typeface="Times New Roman" pitchFamily="18" charset="0"/>
              </a:rPr>
              <a:t>60678</a:t>
            </a:r>
            <a:r>
              <a:rPr lang="en-US" sz="2400" dirty="0" smtClean="0">
                <a:latin typeface="Times New Roman" pitchFamily="18" charset="0"/>
                <a:cs typeface="Times New Roman" pitchFamily="18" charset="0"/>
              </a:rPr>
              <a:t>   </a:t>
            </a:r>
            <a:r>
              <a:rPr lang="en-US" sz="2400" b="1" dirty="0" smtClean="0">
                <a:solidFill>
                  <a:srgbClr val="002060"/>
                </a:solidFill>
                <a:latin typeface="Times New Roman" pitchFamily="18" charset="0"/>
                <a:cs typeface="Times New Roman" pitchFamily="18" charset="0"/>
              </a:rPr>
              <a:t>09822</a:t>
            </a:r>
            <a:r>
              <a:rPr lang="en-US" sz="2400" dirty="0" smtClean="0">
                <a:latin typeface="Times New Roman" pitchFamily="18" charset="0"/>
                <a:cs typeface="Times New Roman" pitchFamily="18" charset="0"/>
              </a:rPr>
              <a:t>, and if they have to start on the left and take the first three numbers </a:t>
            </a:r>
            <a:r>
              <a:rPr lang="en-US" sz="2400" b="1" dirty="0" smtClean="0">
                <a:solidFill>
                  <a:srgbClr val="002060"/>
                </a:solidFill>
                <a:latin typeface="Times New Roman" pitchFamily="18" charset="0"/>
                <a:cs typeface="Times New Roman" pitchFamily="18" charset="0"/>
              </a:rPr>
              <a:t>between 1 and 9</a:t>
            </a:r>
            <a:r>
              <a:rPr lang="en-US" sz="2400" dirty="0" smtClean="0">
                <a:latin typeface="Times New Roman" pitchFamily="18" charset="0"/>
                <a:cs typeface="Times New Roman" pitchFamily="18" charset="0"/>
              </a:rPr>
              <a:t>, what three songs would be selected from the labeled list? </a:t>
            </a:r>
            <a:endParaRPr lang="en-US" sz="2400" dirty="0">
              <a:latin typeface="Times New Roman" pitchFamily="18" charset="0"/>
              <a:cs typeface="Times New Roman" pitchFamily="18" charset="0"/>
            </a:endParaRPr>
          </a:p>
        </p:txBody>
      </p:sp>
      <p:sp>
        <p:nvSpPr>
          <p:cNvPr id="3" name="Title 2"/>
          <p:cNvSpPr>
            <a:spLocks noGrp="1"/>
          </p:cNvSpPr>
          <p:nvPr>
            <p:ph type="title"/>
          </p:nvPr>
        </p:nvSpPr>
        <p:spPr/>
        <p:txBody>
          <a:bodyPr/>
          <a:lstStyle/>
          <a:p>
            <a:r>
              <a:rPr lang="en-US" dirty="0" smtClean="0"/>
              <a:t>Question 1</a:t>
            </a:r>
            <a:endParaRPr lang="en-US" dirty="0"/>
          </a:p>
        </p:txBody>
      </p:sp>
    </p:spTree>
    <p:extLst>
      <p:ext uri="{BB962C8B-B14F-4D97-AF65-F5344CB8AC3E}">
        <p14:creationId xmlns:p14="http://schemas.microsoft.com/office/powerpoint/2010/main" val="27322340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1600200"/>
            <a:ext cx="8407893" cy="5257800"/>
          </a:xfrm>
        </p:spPr>
        <p:txBody>
          <a:bodyPr>
            <a:normAutofit lnSpcReduction="10000"/>
          </a:bodyPr>
          <a:lstStyle/>
          <a:p>
            <a:pPr>
              <a:buFont typeface="Wingdings" pitchFamily="2" charset="2"/>
              <a:buChar char="ü"/>
            </a:pPr>
            <a:r>
              <a:rPr lang="en-US" sz="2400" dirty="0" smtClean="0">
                <a:latin typeface="Times New Roman" pitchFamily="18" charset="0"/>
                <a:cs typeface="Times New Roman" pitchFamily="18" charset="0"/>
              </a:rPr>
              <a:t>The manager of </a:t>
            </a:r>
            <a:r>
              <a:rPr lang="en-US" sz="2400" dirty="0" err="1" smtClean="0">
                <a:latin typeface="Times New Roman" pitchFamily="18" charset="0"/>
                <a:cs typeface="Times New Roman" pitchFamily="18" charset="0"/>
              </a:rPr>
              <a:t>Samdom</a:t>
            </a:r>
            <a:r>
              <a:rPr lang="en-US" sz="2400" dirty="0" smtClean="0">
                <a:latin typeface="Times New Roman" pitchFamily="18" charset="0"/>
                <a:cs typeface="Times New Roman" pitchFamily="18" charset="0"/>
              </a:rPr>
              <a:t> Apartments has a list of the names of the </a:t>
            </a:r>
            <a:r>
              <a:rPr lang="en-US" sz="2400" b="1" dirty="0" smtClean="0">
                <a:solidFill>
                  <a:srgbClr val="002060"/>
                </a:solidFill>
                <a:latin typeface="Times New Roman" pitchFamily="18" charset="0"/>
                <a:cs typeface="Times New Roman" pitchFamily="18" charset="0"/>
              </a:rPr>
              <a:t>550 residents</a:t>
            </a:r>
            <a:r>
              <a:rPr lang="en-US" sz="2400" dirty="0" smtClean="0">
                <a:latin typeface="Times New Roman" pitchFamily="18" charset="0"/>
                <a:cs typeface="Times New Roman" pitchFamily="18" charset="0"/>
              </a:rPr>
              <a:t> living in the east wing of one of the apartments. It intends to conduct an opinion survey of resident services and he wants a </a:t>
            </a:r>
            <a:r>
              <a:rPr lang="en-US" sz="2400" b="1" dirty="0" smtClean="0">
                <a:solidFill>
                  <a:srgbClr val="002060"/>
                </a:solidFill>
                <a:latin typeface="Times New Roman" pitchFamily="18" charset="0"/>
                <a:cs typeface="Times New Roman" pitchFamily="18" charset="0"/>
              </a:rPr>
              <a:t>sample of 7 residents.</a:t>
            </a:r>
          </a:p>
          <a:p>
            <a:pPr marL="45720" indent="0">
              <a:buNone/>
            </a:pPr>
            <a:endParaRPr lang="en-US" sz="2400" dirty="0" smtClean="0">
              <a:latin typeface="Times New Roman" pitchFamily="18" charset="0"/>
              <a:cs typeface="Times New Roman" pitchFamily="18" charset="0"/>
            </a:endParaRPr>
          </a:p>
          <a:p>
            <a:pPr>
              <a:buFont typeface="Wingdings" pitchFamily="2" charset="2"/>
              <a:buChar char="Ø"/>
            </a:pPr>
            <a:r>
              <a:rPr lang="en-US" sz="2400" dirty="0" smtClean="0">
                <a:latin typeface="Times New Roman" pitchFamily="18" charset="0"/>
                <a:cs typeface="Times New Roman" pitchFamily="18" charset="0"/>
              </a:rPr>
              <a:t>What ways can he select the residents?</a:t>
            </a:r>
          </a:p>
          <a:p>
            <a:pPr>
              <a:buFont typeface="Wingdings" pitchFamily="2" charset="2"/>
              <a:buChar char="Ø"/>
            </a:pPr>
            <a:r>
              <a:rPr lang="en-US" sz="2400" dirty="0" smtClean="0">
                <a:latin typeface="Times New Roman" pitchFamily="18" charset="0"/>
                <a:cs typeface="Times New Roman" pitchFamily="18" charset="0"/>
              </a:rPr>
              <a:t>Assuming he wants to use the Table of Random Numbers in the next slide. So, he closes his eyes and points his pencil to the </a:t>
            </a:r>
            <a:r>
              <a:rPr lang="en-US" sz="2400" b="1" dirty="0" smtClean="0">
                <a:solidFill>
                  <a:srgbClr val="002060"/>
                </a:solidFill>
                <a:latin typeface="Times New Roman" pitchFamily="18" charset="0"/>
                <a:cs typeface="Times New Roman" pitchFamily="18" charset="0"/>
              </a:rPr>
              <a:t>3</a:t>
            </a:r>
            <a:r>
              <a:rPr lang="en-US" sz="2400" b="1" baseline="30000" dirty="0" smtClean="0">
                <a:solidFill>
                  <a:srgbClr val="002060"/>
                </a:solidFill>
                <a:latin typeface="Times New Roman" pitchFamily="18" charset="0"/>
                <a:cs typeface="Times New Roman" pitchFamily="18" charset="0"/>
              </a:rPr>
              <a:t>rd</a:t>
            </a:r>
            <a:r>
              <a:rPr lang="en-US" sz="2400" b="1" dirty="0" smtClean="0">
                <a:solidFill>
                  <a:srgbClr val="002060"/>
                </a:solidFill>
                <a:latin typeface="Times New Roman" pitchFamily="18" charset="0"/>
                <a:cs typeface="Times New Roman" pitchFamily="18" charset="0"/>
              </a:rPr>
              <a:t> row</a:t>
            </a:r>
            <a:r>
              <a:rPr lang="en-US" sz="2400" dirty="0" smtClean="0">
                <a:latin typeface="Times New Roman" pitchFamily="18" charset="0"/>
                <a:cs typeface="Times New Roman" pitchFamily="18" charset="0"/>
              </a:rPr>
              <a:t> and </a:t>
            </a:r>
            <a:r>
              <a:rPr lang="en-US" sz="2400" b="1" dirty="0" smtClean="0">
                <a:solidFill>
                  <a:srgbClr val="002060"/>
                </a:solidFill>
                <a:latin typeface="Times New Roman" pitchFamily="18" charset="0"/>
                <a:cs typeface="Times New Roman" pitchFamily="18" charset="0"/>
              </a:rPr>
              <a:t>2</a:t>
            </a:r>
            <a:r>
              <a:rPr lang="en-US" sz="2400" b="1" baseline="30000" dirty="0" smtClean="0">
                <a:solidFill>
                  <a:srgbClr val="002060"/>
                </a:solidFill>
                <a:latin typeface="Times New Roman" pitchFamily="18" charset="0"/>
                <a:cs typeface="Times New Roman" pitchFamily="18" charset="0"/>
              </a:rPr>
              <a:t>nd</a:t>
            </a:r>
            <a:r>
              <a:rPr lang="en-US" sz="2400" b="1" dirty="0" smtClean="0">
                <a:solidFill>
                  <a:srgbClr val="002060"/>
                </a:solidFill>
                <a:latin typeface="Times New Roman" pitchFamily="18" charset="0"/>
                <a:cs typeface="Times New Roman" pitchFamily="18" charset="0"/>
              </a:rPr>
              <a:t> column</a:t>
            </a:r>
            <a:r>
              <a:rPr lang="en-US" sz="2400" dirty="0" smtClean="0">
                <a:latin typeface="Times New Roman" pitchFamily="18" charset="0"/>
                <a:cs typeface="Times New Roman" pitchFamily="18" charset="0"/>
              </a:rPr>
              <a:t>, and then keeps on downwards, what numbers would he pick?</a:t>
            </a:r>
          </a:p>
          <a:p>
            <a:pPr>
              <a:buFont typeface="Wingdings" pitchFamily="2" charset="2"/>
              <a:buChar char="Ø"/>
            </a:pPr>
            <a:r>
              <a:rPr lang="en-US" sz="2400" dirty="0" smtClean="0">
                <a:latin typeface="Times New Roman" pitchFamily="18" charset="0"/>
                <a:cs typeface="Times New Roman" pitchFamily="18" charset="0"/>
              </a:rPr>
              <a:t>The manager later decided to use technology. What will he do?</a:t>
            </a:r>
            <a:endParaRPr lang="en-US" sz="2400" dirty="0">
              <a:latin typeface="Times New Roman" pitchFamily="18" charset="0"/>
              <a:cs typeface="Times New Roman" pitchFamily="18" charset="0"/>
            </a:endParaRPr>
          </a:p>
        </p:txBody>
      </p:sp>
      <p:sp>
        <p:nvSpPr>
          <p:cNvPr id="3" name="Title 2"/>
          <p:cNvSpPr>
            <a:spLocks noGrp="1"/>
          </p:cNvSpPr>
          <p:nvPr>
            <p:ph type="title"/>
          </p:nvPr>
        </p:nvSpPr>
        <p:spPr/>
        <p:txBody>
          <a:bodyPr/>
          <a:lstStyle/>
          <a:p>
            <a:r>
              <a:rPr lang="en-US" dirty="0" smtClean="0"/>
              <a:t>Question 2</a:t>
            </a:r>
            <a:endParaRPr lang="en-US" dirty="0"/>
          </a:p>
        </p:txBody>
      </p:sp>
    </p:spTree>
    <p:extLst>
      <p:ext uri="{BB962C8B-B14F-4D97-AF65-F5344CB8AC3E}">
        <p14:creationId xmlns:p14="http://schemas.microsoft.com/office/powerpoint/2010/main" val="29575915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685800"/>
            <a:ext cx="8407893" cy="6477000"/>
          </a:xfrm>
        </p:spPr>
        <p:txBody>
          <a:bodyPr>
            <a:normAutofit fontScale="47500" lnSpcReduction="20000"/>
          </a:bodyPr>
          <a:lstStyle/>
          <a:p>
            <a:pPr marL="45720" indent="0">
              <a:buNone/>
            </a:pPr>
            <a:endParaRPr lang="en-US" sz="4000" b="1" dirty="0">
              <a:solidFill>
                <a:srgbClr val="FFFFFF"/>
              </a:solidFill>
              <a:latin typeface="Nueva-BoldExtended"/>
            </a:endParaRPr>
          </a:p>
          <a:p>
            <a:pPr marL="45720" indent="0">
              <a:buNone/>
            </a:pPr>
            <a:endParaRPr lang="en-US" sz="4000" b="1" dirty="0" smtClean="0">
              <a:solidFill>
                <a:srgbClr val="FFFFFF"/>
              </a:solidFill>
              <a:latin typeface="Nueva-BoldExtended"/>
            </a:endParaRPr>
          </a:p>
          <a:p>
            <a:pPr marL="45720" indent="0">
              <a:buNone/>
            </a:pPr>
            <a:endParaRPr lang="en-US" sz="2900" b="1" dirty="0">
              <a:solidFill>
                <a:srgbClr val="000000"/>
              </a:solidFill>
              <a:latin typeface="TimesTen-Bold"/>
            </a:endParaRPr>
          </a:p>
          <a:p>
            <a:pPr marL="45720" indent="0">
              <a:buNone/>
            </a:pPr>
            <a:endParaRPr lang="en-US" sz="2900" b="1" dirty="0">
              <a:solidFill>
                <a:srgbClr val="000000"/>
              </a:solidFill>
              <a:latin typeface="TimesTen-Bold"/>
            </a:endParaRPr>
          </a:p>
          <a:p>
            <a:r>
              <a:rPr lang="en-US" sz="2900" b="1" dirty="0" smtClean="0">
                <a:solidFill>
                  <a:srgbClr val="000000"/>
                </a:solidFill>
                <a:latin typeface="TimesTen-Bold"/>
              </a:rPr>
              <a:t>Row</a:t>
            </a:r>
          </a:p>
          <a:p>
            <a:r>
              <a:rPr lang="en-US" sz="2900" b="1" dirty="0" smtClean="0">
                <a:solidFill>
                  <a:srgbClr val="000000"/>
                </a:solidFill>
                <a:latin typeface="TimesTen-Bold"/>
              </a:rPr>
              <a:t>Number </a:t>
            </a:r>
            <a:r>
              <a:rPr lang="en-US" sz="2900" b="1" dirty="0">
                <a:solidFill>
                  <a:srgbClr val="000000"/>
                </a:solidFill>
                <a:latin typeface="TimesTen-Bold"/>
              </a:rPr>
              <a:t>01–05 06–10 11–15 16–20 21–25 26–30 31–35 36–40 41–45 46–50</a:t>
            </a:r>
          </a:p>
          <a:p>
            <a:r>
              <a:rPr lang="en-US" sz="2900" b="1" dirty="0">
                <a:solidFill>
                  <a:srgbClr val="000000"/>
                </a:solidFill>
                <a:latin typeface="TimesTen-Bold"/>
              </a:rPr>
              <a:t>01 </a:t>
            </a:r>
            <a:r>
              <a:rPr lang="en-US" sz="2900" b="1" dirty="0" smtClean="0">
                <a:solidFill>
                  <a:srgbClr val="000000"/>
                </a:solidFill>
                <a:latin typeface="TimesTen-Bold"/>
              </a:rPr>
              <a:t>        </a:t>
            </a:r>
            <a:r>
              <a:rPr lang="en-US" sz="2900" dirty="0" smtClean="0">
                <a:solidFill>
                  <a:srgbClr val="000000"/>
                </a:solidFill>
                <a:latin typeface="TimesTen-Roman"/>
              </a:rPr>
              <a:t>89392 </a:t>
            </a:r>
            <a:r>
              <a:rPr lang="en-US" sz="2900" dirty="0">
                <a:solidFill>
                  <a:srgbClr val="000000"/>
                </a:solidFill>
                <a:latin typeface="TimesTen-Roman"/>
              </a:rPr>
              <a:t>23212 74483 36590 25956 36544 68518 40805 09980 00467</a:t>
            </a:r>
          </a:p>
          <a:p>
            <a:r>
              <a:rPr lang="en-US" sz="2900" b="1" dirty="0" smtClean="0">
                <a:solidFill>
                  <a:srgbClr val="000000"/>
                </a:solidFill>
                <a:latin typeface="TimesTen-Bold"/>
              </a:rPr>
              <a:t>02         </a:t>
            </a:r>
            <a:r>
              <a:rPr lang="en-US" sz="2900" dirty="0" smtClean="0">
                <a:solidFill>
                  <a:srgbClr val="000000"/>
                </a:solidFill>
                <a:latin typeface="TimesTen-Roman"/>
              </a:rPr>
              <a:t>61458 </a:t>
            </a:r>
            <a:r>
              <a:rPr lang="en-US" sz="2900" dirty="0">
                <a:solidFill>
                  <a:srgbClr val="000000"/>
                </a:solidFill>
                <a:latin typeface="TimesTen-Roman"/>
              </a:rPr>
              <a:t>17639 96252 95649 73727 33912 72896 66218 52341 97141</a:t>
            </a:r>
          </a:p>
          <a:p>
            <a:r>
              <a:rPr lang="en-US" sz="2900" b="1" dirty="0">
                <a:solidFill>
                  <a:srgbClr val="000000"/>
                </a:solidFill>
                <a:latin typeface="TimesTen-Bold"/>
              </a:rPr>
              <a:t>03 </a:t>
            </a:r>
            <a:r>
              <a:rPr lang="en-US" sz="2900" b="1" dirty="0" smtClean="0">
                <a:solidFill>
                  <a:srgbClr val="000000"/>
                </a:solidFill>
                <a:latin typeface="TimesTen-Bold"/>
              </a:rPr>
              <a:t>        </a:t>
            </a:r>
            <a:r>
              <a:rPr lang="en-US" sz="2900" dirty="0" smtClean="0">
                <a:solidFill>
                  <a:srgbClr val="000000"/>
                </a:solidFill>
                <a:latin typeface="TimesTen-Roman"/>
              </a:rPr>
              <a:t>11452 </a:t>
            </a:r>
            <a:r>
              <a:rPr lang="en-US" sz="2900" dirty="0">
                <a:solidFill>
                  <a:srgbClr val="000000"/>
                </a:solidFill>
                <a:latin typeface="TimesTen-Roman"/>
              </a:rPr>
              <a:t>74197 81962 48443 90360 26480 73231 37740 26628 44690</a:t>
            </a:r>
          </a:p>
          <a:p>
            <a:r>
              <a:rPr lang="en-US" sz="2900" b="1" dirty="0">
                <a:solidFill>
                  <a:srgbClr val="000000"/>
                </a:solidFill>
                <a:latin typeface="TimesTen-Bold"/>
              </a:rPr>
              <a:t>04 </a:t>
            </a:r>
            <a:r>
              <a:rPr lang="en-US" sz="2900" b="1" dirty="0" smtClean="0">
                <a:solidFill>
                  <a:srgbClr val="000000"/>
                </a:solidFill>
                <a:latin typeface="TimesTen-Bold"/>
              </a:rPr>
              <a:t>        </a:t>
            </a:r>
            <a:r>
              <a:rPr lang="en-US" sz="2900" dirty="0" smtClean="0">
                <a:solidFill>
                  <a:srgbClr val="000000"/>
                </a:solidFill>
                <a:latin typeface="TimesTen-Roman"/>
              </a:rPr>
              <a:t>27575 </a:t>
            </a:r>
            <a:r>
              <a:rPr lang="en-US" sz="2900" dirty="0">
                <a:solidFill>
                  <a:srgbClr val="000000"/>
                </a:solidFill>
                <a:latin typeface="TimesTen-Roman"/>
              </a:rPr>
              <a:t>04429 31308 02241 01698 19191 18948 78871 36030 23980</a:t>
            </a:r>
          </a:p>
          <a:p>
            <a:r>
              <a:rPr lang="en-US" sz="2900" b="1" dirty="0">
                <a:solidFill>
                  <a:srgbClr val="000000"/>
                </a:solidFill>
                <a:latin typeface="TimesTen-Bold"/>
              </a:rPr>
              <a:t>05 </a:t>
            </a:r>
            <a:r>
              <a:rPr lang="en-US" sz="2900" b="1" dirty="0" smtClean="0">
                <a:solidFill>
                  <a:srgbClr val="000000"/>
                </a:solidFill>
                <a:latin typeface="TimesTen-Bold"/>
              </a:rPr>
              <a:t>        </a:t>
            </a:r>
            <a:r>
              <a:rPr lang="en-US" sz="2900" dirty="0" smtClean="0">
                <a:solidFill>
                  <a:srgbClr val="000000"/>
                </a:solidFill>
                <a:latin typeface="TimesTen-Roman"/>
              </a:rPr>
              <a:t>36829 </a:t>
            </a:r>
            <a:r>
              <a:rPr lang="en-US" sz="2900" dirty="0">
                <a:solidFill>
                  <a:srgbClr val="000000"/>
                </a:solidFill>
                <a:latin typeface="TimesTen-Roman"/>
              </a:rPr>
              <a:t>59109 88976 46845 28329 47460 88944 08264 00843 84592</a:t>
            </a:r>
          </a:p>
          <a:p>
            <a:r>
              <a:rPr lang="en-US" sz="2900" b="1" dirty="0">
                <a:solidFill>
                  <a:srgbClr val="000000"/>
                </a:solidFill>
                <a:latin typeface="TimesTen-Bold"/>
              </a:rPr>
              <a:t>06 </a:t>
            </a:r>
            <a:r>
              <a:rPr lang="en-US" sz="2900" b="1" dirty="0" smtClean="0">
                <a:solidFill>
                  <a:srgbClr val="000000"/>
                </a:solidFill>
                <a:latin typeface="TimesTen-Bold"/>
              </a:rPr>
              <a:t>        </a:t>
            </a:r>
            <a:r>
              <a:rPr lang="en-US" sz="2900" dirty="0" smtClean="0">
                <a:solidFill>
                  <a:srgbClr val="000000"/>
                </a:solidFill>
                <a:latin typeface="TimesTen-Roman"/>
              </a:rPr>
              <a:t>81902 </a:t>
            </a:r>
            <a:r>
              <a:rPr lang="en-US" sz="2900" dirty="0">
                <a:solidFill>
                  <a:srgbClr val="000000"/>
                </a:solidFill>
                <a:latin typeface="TimesTen-Roman"/>
              </a:rPr>
              <a:t>93458 42161 26099 09419 89073 82849 09160 61845 40906</a:t>
            </a:r>
          </a:p>
          <a:p>
            <a:r>
              <a:rPr lang="en-US" sz="2900" b="1" dirty="0">
                <a:solidFill>
                  <a:srgbClr val="000000"/>
                </a:solidFill>
                <a:latin typeface="TimesTen-Bold"/>
              </a:rPr>
              <a:t>07 </a:t>
            </a:r>
            <a:r>
              <a:rPr lang="en-US" sz="2900" b="1" dirty="0" smtClean="0">
                <a:solidFill>
                  <a:srgbClr val="000000"/>
                </a:solidFill>
                <a:latin typeface="TimesTen-Bold"/>
              </a:rPr>
              <a:t>        </a:t>
            </a:r>
            <a:r>
              <a:rPr lang="en-US" sz="2900" dirty="0" smtClean="0">
                <a:solidFill>
                  <a:srgbClr val="000000"/>
                </a:solidFill>
                <a:latin typeface="TimesTen-Roman"/>
              </a:rPr>
              <a:t>59761 </a:t>
            </a:r>
            <a:r>
              <a:rPr lang="en-US" sz="2900" dirty="0">
                <a:solidFill>
                  <a:srgbClr val="000000"/>
                </a:solidFill>
                <a:latin typeface="TimesTen-Roman"/>
              </a:rPr>
              <a:t>55212 33360 68751 86737 79743 85262 31887 37879 17525</a:t>
            </a:r>
          </a:p>
          <a:p>
            <a:r>
              <a:rPr lang="en-US" sz="2900" b="1" dirty="0" smtClean="0">
                <a:solidFill>
                  <a:srgbClr val="000000"/>
                </a:solidFill>
                <a:latin typeface="TimesTen-Bold"/>
              </a:rPr>
              <a:t>08         </a:t>
            </a:r>
            <a:r>
              <a:rPr lang="en-US" sz="2900" dirty="0" smtClean="0">
                <a:solidFill>
                  <a:srgbClr val="000000"/>
                </a:solidFill>
                <a:latin typeface="TimesTen-Roman"/>
              </a:rPr>
              <a:t>46827 </a:t>
            </a:r>
            <a:r>
              <a:rPr lang="en-US" sz="2900" dirty="0">
                <a:solidFill>
                  <a:srgbClr val="000000"/>
                </a:solidFill>
                <a:latin typeface="TimesTen-Roman"/>
              </a:rPr>
              <a:t>25906 64708 20307 78423 15910 86548 08763 47050 18513</a:t>
            </a:r>
          </a:p>
          <a:p>
            <a:r>
              <a:rPr lang="en-US" sz="2900" b="1" dirty="0">
                <a:solidFill>
                  <a:srgbClr val="000000"/>
                </a:solidFill>
                <a:latin typeface="TimesTen-Bold"/>
              </a:rPr>
              <a:t>09 </a:t>
            </a:r>
            <a:r>
              <a:rPr lang="en-US" sz="2900" b="1" dirty="0" smtClean="0">
                <a:solidFill>
                  <a:srgbClr val="000000"/>
                </a:solidFill>
                <a:latin typeface="TimesTen-Bold"/>
              </a:rPr>
              <a:t>        </a:t>
            </a:r>
            <a:r>
              <a:rPr lang="en-US" sz="2900" dirty="0" smtClean="0">
                <a:solidFill>
                  <a:srgbClr val="000000"/>
                </a:solidFill>
                <a:latin typeface="TimesTen-Roman"/>
              </a:rPr>
              <a:t>24040 </a:t>
            </a:r>
            <a:r>
              <a:rPr lang="en-US" sz="2900" dirty="0">
                <a:solidFill>
                  <a:srgbClr val="000000"/>
                </a:solidFill>
                <a:latin typeface="TimesTen-Roman"/>
              </a:rPr>
              <a:t>66449 32353 83668 13874 86741 81312 54185 78824 00718</a:t>
            </a:r>
          </a:p>
          <a:p>
            <a:r>
              <a:rPr lang="en-US" sz="2900" b="1" dirty="0">
                <a:solidFill>
                  <a:srgbClr val="000000"/>
                </a:solidFill>
                <a:latin typeface="TimesTen-Bold"/>
              </a:rPr>
              <a:t>10 </a:t>
            </a:r>
            <a:r>
              <a:rPr lang="en-US" sz="2900" b="1" dirty="0" smtClean="0">
                <a:solidFill>
                  <a:srgbClr val="000000"/>
                </a:solidFill>
                <a:latin typeface="TimesTen-Bold"/>
              </a:rPr>
              <a:t>        </a:t>
            </a:r>
            <a:r>
              <a:rPr lang="en-US" sz="2900" dirty="0" smtClean="0">
                <a:solidFill>
                  <a:srgbClr val="000000"/>
                </a:solidFill>
                <a:latin typeface="TimesTen-Roman"/>
              </a:rPr>
              <a:t>98144 </a:t>
            </a:r>
            <a:r>
              <a:rPr lang="en-US" sz="2900" dirty="0">
                <a:solidFill>
                  <a:srgbClr val="000000"/>
                </a:solidFill>
                <a:latin typeface="TimesTen-Roman"/>
              </a:rPr>
              <a:t>96372 50277 15571 82261 66628 31457 00377 63423 55141</a:t>
            </a:r>
          </a:p>
          <a:p>
            <a:r>
              <a:rPr lang="en-US" sz="2900" b="1" dirty="0">
                <a:solidFill>
                  <a:srgbClr val="000000"/>
                </a:solidFill>
                <a:latin typeface="TimesTen-Bold"/>
              </a:rPr>
              <a:t>11 </a:t>
            </a:r>
            <a:r>
              <a:rPr lang="en-US" sz="2900" b="1" dirty="0" smtClean="0">
                <a:solidFill>
                  <a:srgbClr val="000000"/>
                </a:solidFill>
                <a:latin typeface="TimesTen-Bold"/>
              </a:rPr>
              <a:t>        </a:t>
            </a:r>
            <a:r>
              <a:rPr lang="en-US" sz="2900" dirty="0" smtClean="0">
                <a:solidFill>
                  <a:srgbClr val="000000"/>
                </a:solidFill>
                <a:latin typeface="TimesTen-Roman"/>
              </a:rPr>
              <a:t>14228 </a:t>
            </a:r>
            <a:r>
              <a:rPr lang="en-US" sz="2900" dirty="0">
                <a:solidFill>
                  <a:srgbClr val="000000"/>
                </a:solidFill>
                <a:latin typeface="TimesTen-Roman"/>
              </a:rPr>
              <a:t>17930 30118 00438 49666 65189 62869 31304 17117 71489</a:t>
            </a:r>
          </a:p>
          <a:p>
            <a:r>
              <a:rPr lang="en-US" sz="2900" b="1" dirty="0">
                <a:solidFill>
                  <a:srgbClr val="000000"/>
                </a:solidFill>
                <a:latin typeface="TimesTen-Bold"/>
              </a:rPr>
              <a:t>12 </a:t>
            </a:r>
            <a:r>
              <a:rPr lang="en-US" sz="2900" b="1" dirty="0" smtClean="0">
                <a:solidFill>
                  <a:srgbClr val="000000"/>
                </a:solidFill>
                <a:latin typeface="TimesTen-Bold"/>
              </a:rPr>
              <a:t>        </a:t>
            </a:r>
            <a:r>
              <a:rPr lang="en-US" sz="2900" dirty="0" smtClean="0">
                <a:solidFill>
                  <a:srgbClr val="000000"/>
                </a:solidFill>
                <a:latin typeface="TimesTen-Roman"/>
              </a:rPr>
              <a:t>55366 </a:t>
            </a:r>
            <a:r>
              <a:rPr lang="en-US" sz="2900" dirty="0">
                <a:solidFill>
                  <a:srgbClr val="000000"/>
                </a:solidFill>
                <a:latin typeface="TimesTen-Roman"/>
              </a:rPr>
              <a:t>51057 90065 14791 62426 02957 85518 28822 30588 32798</a:t>
            </a:r>
          </a:p>
          <a:p>
            <a:r>
              <a:rPr lang="en-US" sz="2900" b="1" dirty="0" smtClean="0">
                <a:solidFill>
                  <a:srgbClr val="000000"/>
                </a:solidFill>
                <a:latin typeface="TimesTen-Bold"/>
              </a:rPr>
              <a:t>13         </a:t>
            </a:r>
            <a:r>
              <a:rPr lang="en-US" sz="2900" dirty="0" smtClean="0">
                <a:solidFill>
                  <a:srgbClr val="000000"/>
                </a:solidFill>
                <a:latin typeface="TimesTen-Roman"/>
              </a:rPr>
              <a:t>96101 </a:t>
            </a:r>
            <a:r>
              <a:rPr lang="en-US" sz="2900" dirty="0">
                <a:solidFill>
                  <a:srgbClr val="000000"/>
                </a:solidFill>
                <a:latin typeface="TimesTen-Roman"/>
              </a:rPr>
              <a:t>30646 35526 90389 73634 79304 96635 06626 94683 16696</a:t>
            </a:r>
          </a:p>
          <a:p>
            <a:r>
              <a:rPr lang="en-US" sz="2900" b="1" dirty="0">
                <a:solidFill>
                  <a:srgbClr val="000000"/>
                </a:solidFill>
                <a:latin typeface="TimesTen-Bold"/>
              </a:rPr>
              <a:t>14 </a:t>
            </a:r>
            <a:r>
              <a:rPr lang="en-US" sz="2900" b="1" dirty="0" smtClean="0">
                <a:solidFill>
                  <a:srgbClr val="000000"/>
                </a:solidFill>
                <a:latin typeface="TimesTen-Bold"/>
              </a:rPr>
              <a:t>        </a:t>
            </a:r>
            <a:r>
              <a:rPr lang="en-US" sz="2900" dirty="0" smtClean="0">
                <a:solidFill>
                  <a:srgbClr val="000000"/>
                </a:solidFill>
                <a:latin typeface="TimesTen-Roman"/>
              </a:rPr>
              <a:t>38152 </a:t>
            </a:r>
            <a:r>
              <a:rPr lang="en-US" sz="2900" dirty="0">
                <a:solidFill>
                  <a:srgbClr val="000000"/>
                </a:solidFill>
                <a:latin typeface="TimesTen-Roman"/>
              </a:rPr>
              <a:t>55474 30153 26525 83647 31988 82182 98377 33802 80471</a:t>
            </a:r>
          </a:p>
          <a:p>
            <a:r>
              <a:rPr lang="en-US" sz="2900" b="1" dirty="0">
                <a:solidFill>
                  <a:srgbClr val="000000"/>
                </a:solidFill>
                <a:latin typeface="TimesTen-Bold"/>
              </a:rPr>
              <a:t>15 </a:t>
            </a:r>
            <a:r>
              <a:rPr lang="en-US" sz="2900" b="1" dirty="0" smtClean="0">
                <a:solidFill>
                  <a:srgbClr val="000000"/>
                </a:solidFill>
                <a:latin typeface="TimesTen-Bold"/>
              </a:rPr>
              <a:t>        </a:t>
            </a:r>
            <a:r>
              <a:rPr lang="en-US" sz="2900" dirty="0" smtClean="0">
                <a:solidFill>
                  <a:srgbClr val="000000"/>
                </a:solidFill>
                <a:latin typeface="TimesTen-Roman"/>
              </a:rPr>
              <a:t>85007 </a:t>
            </a:r>
            <a:r>
              <a:rPr lang="en-US" sz="2900" dirty="0">
                <a:solidFill>
                  <a:srgbClr val="000000"/>
                </a:solidFill>
                <a:latin typeface="TimesTen-Roman"/>
              </a:rPr>
              <a:t>18416 24661 95581 45868 15662 28906 36392 07617 50248</a:t>
            </a:r>
          </a:p>
          <a:p>
            <a:r>
              <a:rPr lang="en-US" sz="2900" b="1" dirty="0" smtClean="0">
                <a:solidFill>
                  <a:srgbClr val="000000"/>
                </a:solidFill>
                <a:latin typeface="TimesTen-Bold"/>
              </a:rPr>
              <a:t>16         </a:t>
            </a:r>
            <a:r>
              <a:rPr lang="en-US" sz="2900" dirty="0" smtClean="0">
                <a:solidFill>
                  <a:srgbClr val="000000"/>
                </a:solidFill>
                <a:latin typeface="TimesTen-Roman"/>
              </a:rPr>
              <a:t>85544 </a:t>
            </a:r>
            <a:r>
              <a:rPr lang="en-US" sz="2900" dirty="0">
                <a:solidFill>
                  <a:srgbClr val="000000"/>
                </a:solidFill>
                <a:latin typeface="TimesTen-Roman"/>
              </a:rPr>
              <a:t>15890 80011 18160 33468 84106 40603 01315 74664 20553</a:t>
            </a:r>
          </a:p>
          <a:p>
            <a:r>
              <a:rPr lang="en-US" sz="2900" b="1" dirty="0">
                <a:solidFill>
                  <a:srgbClr val="000000"/>
                </a:solidFill>
                <a:latin typeface="TimesTen-Bold"/>
              </a:rPr>
              <a:t>17 </a:t>
            </a:r>
            <a:r>
              <a:rPr lang="en-US" sz="2900" b="1" dirty="0" smtClean="0">
                <a:solidFill>
                  <a:srgbClr val="000000"/>
                </a:solidFill>
                <a:latin typeface="TimesTen-Bold"/>
              </a:rPr>
              <a:t>        </a:t>
            </a:r>
            <a:r>
              <a:rPr lang="en-US" sz="2900" dirty="0" smtClean="0">
                <a:solidFill>
                  <a:srgbClr val="000000"/>
                </a:solidFill>
                <a:latin typeface="TimesTen-Roman"/>
              </a:rPr>
              <a:t>10446 </a:t>
            </a:r>
            <a:r>
              <a:rPr lang="en-US" sz="2900" dirty="0">
                <a:solidFill>
                  <a:srgbClr val="000000"/>
                </a:solidFill>
                <a:latin typeface="TimesTen-Roman"/>
              </a:rPr>
              <a:t>20699 98370 17684 16932 80449 92654 02084 19985 59321</a:t>
            </a:r>
          </a:p>
          <a:p>
            <a:r>
              <a:rPr lang="en-US" sz="2900" b="1" dirty="0">
                <a:solidFill>
                  <a:srgbClr val="000000"/>
                </a:solidFill>
                <a:latin typeface="TimesTen-Bold"/>
              </a:rPr>
              <a:t>18 </a:t>
            </a:r>
            <a:r>
              <a:rPr lang="en-US" sz="2900" b="1" dirty="0" smtClean="0">
                <a:solidFill>
                  <a:srgbClr val="000000"/>
                </a:solidFill>
                <a:latin typeface="TimesTen-Bold"/>
              </a:rPr>
              <a:t>        </a:t>
            </a:r>
            <a:r>
              <a:rPr lang="en-US" sz="2900" dirty="0" smtClean="0">
                <a:solidFill>
                  <a:srgbClr val="000000"/>
                </a:solidFill>
                <a:latin typeface="TimesTen-Roman"/>
              </a:rPr>
              <a:t>67237 </a:t>
            </a:r>
            <a:r>
              <a:rPr lang="en-US" sz="2900" dirty="0">
                <a:solidFill>
                  <a:srgbClr val="000000"/>
                </a:solidFill>
                <a:latin typeface="TimesTen-Roman"/>
              </a:rPr>
              <a:t>45509 17638 65115 29757 80705 82686 48565 72612 61760</a:t>
            </a:r>
          </a:p>
          <a:p>
            <a:r>
              <a:rPr lang="en-US" sz="2900" b="1" dirty="0">
                <a:solidFill>
                  <a:srgbClr val="000000"/>
                </a:solidFill>
                <a:latin typeface="TimesTen-Bold"/>
              </a:rPr>
              <a:t>19 </a:t>
            </a:r>
            <a:r>
              <a:rPr lang="en-US" sz="2900" b="1" dirty="0" smtClean="0">
                <a:solidFill>
                  <a:srgbClr val="000000"/>
                </a:solidFill>
                <a:latin typeface="TimesTen-Bold"/>
              </a:rPr>
              <a:t>        </a:t>
            </a:r>
            <a:r>
              <a:rPr lang="en-US" sz="2900" dirty="0" smtClean="0">
                <a:solidFill>
                  <a:srgbClr val="000000"/>
                </a:solidFill>
                <a:latin typeface="TimesTen-Roman"/>
              </a:rPr>
              <a:t>23026 </a:t>
            </a:r>
            <a:r>
              <a:rPr lang="en-US" sz="2900" dirty="0">
                <a:solidFill>
                  <a:srgbClr val="000000"/>
                </a:solidFill>
                <a:latin typeface="TimesTen-Roman"/>
              </a:rPr>
              <a:t>89817 05403 82209 30573 47501 00135 33955 50250 72592</a:t>
            </a:r>
          </a:p>
          <a:p>
            <a:r>
              <a:rPr lang="en-US" sz="2900" b="1" dirty="0">
                <a:solidFill>
                  <a:srgbClr val="000000"/>
                </a:solidFill>
                <a:latin typeface="TimesTen-Bold"/>
              </a:rPr>
              <a:t>20 </a:t>
            </a:r>
            <a:r>
              <a:rPr lang="en-US" sz="2900" b="1" dirty="0" smtClean="0">
                <a:solidFill>
                  <a:srgbClr val="000000"/>
                </a:solidFill>
                <a:latin typeface="TimesTen-Bold"/>
              </a:rPr>
              <a:t>        </a:t>
            </a:r>
            <a:r>
              <a:rPr lang="en-US" sz="2900" dirty="0" smtClean="0">
                <a:solidFill>
                  <a:srgbClr val="000000"/>
                </a:solidFill>
                <a:latin typeface="TimesTen-Roman"/>
              </a:rPr>
              <a:t>67411 </a:t>
            </a:r>
            <a:r>
              <a:rPr lang="en-US" sz="2900" dirty="0">
                <a:solidFill>
                  <a:srgbClr val="000000"/>
                </a:solidFill>
                <a:latin typeface="TimesTen-Roman"/>
              </a:rPr>
              <a:t>58542 18678 46491 13219 84084 27783 34508 55158 78742</a:t>
            </a:r>
            <a:endParaRPr lang="en-US" sz="2900" dirty="0"/>
          </a:p>
        </p:txBody>
      </p:sp>
      <p:sp>
        <p:nvSpPr>
          <p:cNvPr id="4" name="Title 3"/>
          <p:cNvSpPr>
            <a:spLocks noGrp="1"/>
          </p:cNvSpPr>
          <p:nvPr>
            <p:ph type="title"/>
          </p:nvPr>
        </p:nvSpPr>
        <p:spPr/>
        <p:txBody>
          <a:bodyPr/>
          <a:lstStyle/>
          <a:p>
            <a:r>
              <a:rPr lang="en-US" dirty="0" smtClean="0"/>
              <a:t>Table of random numbers</a:t>
            </a:r>
            <a:endParaRPr lang="en-US" dirty="0"/>
          </a:p>
        </p:txBody>
      </p:sp>
    </p:spTree>
    <p:extLst>
      <p:ext uri="{BB962C8B-B14F-4D97-AF65-F5344CB8AC3E}">
        <p14:creationId xmlns:p14="http://schemas.microsoft.com/office/powerpoint/2010/main" val="22955342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Font typeface="Wingdings" pitchFamily="2" charset="2"/>
              <a:buChar char="q"/>
            </a:pPr>
            <a:r>
              <a:rPr lang="en-US" sz="2400" dirty="0" smtClean="0">
                <a:latin typeface="Times New Roman" pitchFamily="18" charset="0"/>
                <a:cs typeface="Times New Roman" pitchFamily="18" charset="0"/>
              </a:rPr>
              <a:t>We can use these technologies to find sample random samples from a population. They are:</a:t>
            </a:r>
          </a:p>
          <a:p>
            <a:pPr>
              <a:buFont typeface="Wingdings" pitchFamily="2" charset="2"/>
              <a:buChar char="ü"/>
            </a:pPr>
            <a:endParaRPr lang="en-US" sz="2400" dirty="0" smtClean="0">
              <a:latin typeface="Times New Roman" pitchFamily="18" charset="0"/>
              <a:cs typeface="Times New Roman" pitchFamily="18" charset="0"/>
            </a:endParaRPr>
          </a:p>
          <a:p>
            <a:pPr>
              <a:buFont typeface="Wingdings" pitchFamily="2" charset="2"/>
              <a:buChar char="v"/>
            </a:pPr>
            <a:r>
              <a:rPr lang="en-US" sz="2400" dirty="0" smtClean="0">
                <a:latin typeface="Times New Roman" pitchFamily="18" charset="0"/>
                <a:cs typeface="Times New Roman" pitchFamily="18" charset="0"/>
              </a:rPr>
              <a:t>Microsoft Excel</a:t>
            </a:r>
          </a:p>
          <a:p>
            <a:pPr>
              <a:buFont typeface="Wingdings" pitchFamily="2" charset="2"/>
              <a:buChar char="v"/>
            </a:pPr>
            <a:r>
              <a:rPr lang="en-US" sz="2400" dirty="0" smtClean="0">
                <a:latin typeface="Times New Roman" pitchFamily="18" charset="0"/>
                <a:cs typeface="Times New Roman" pitchFamily="18" charset="0"/>
              </a:rPr>
              <a:t>TI-83/84 Plus</a:t>
            </a:r>
          </a:p>
          <a:p>
            <a:pPr>
              <a:buFont typeface="Wingdings" pitchFamily="2" charset="2"/>
              <a:buChar char="v"/>
            </a:pPr>
            <a:r>
              <a:rPr lang="en-US" sz="2400" dirty="0" smtClean="0">
                <a:latin typeface="Times New Roman" pitchFamily="18" charset="0"/>
                <a:cs typeface="Times New Roman" pitchFamily="18" charset="0"/>
              </a:rPr>
              <a:t>MINITAB </a:t>
            </a:r>
          </a:p>
          <a:p>
            <a:pPr>
              <a:buFont typeface="Wingdings" pitchFamily="2" charset="2"/>
              <a:buChar char="v"/>
            </a:pPr>
            <a:r>
              <a:rPr lang="en-US" sz="2400" dirty="0" smtClean="0">
                <a:latin typeface="Times New Roman" pitchFamily="18" charset="0"/>
                <a:cs typeface="Times New Roman" pitchFamily="18" charset="0"/>
              </a:rPr>
              <a:t>Pearson </a:t>
            </a:r>
            <a:r>
              <a:rPr lang="en-US" sz="2400" dirty="0" err="1" smtClean="0">
                <a:latin typeface="Times New Roman" pitchFamily="18" charset="0"/>
                <a:cs typeface="Times New Roman" pitchFamily="18" charset="0"/>
              </a:rPr>
              <a:t>Statcrunch</a:t>
            </a:r>
            <a:endParaRPr lang="en-US" sz="2400" dirty="0" smtClean="0">
              <a:latin typeface="Times New Roman" pitchFamily="18" charset="0"/>
              <a:cs typeface="Times New Roman" pitchFamily="18" charset="0"/>
            </a:endParaRPr>
          </a:p>
          <a:p>
            <a:pPr>
              <a:buFont typeface="Wingdings" pitchFamily="2" charset="2"/>
              <a:buChar char="v"/>
            </a:pPr>
            <a:r>
              <a:rPr lang="en-US" sz="2400" dirty="0" smtClean="0">
                <a:latin typeface="Times New Roman" pitchFamily="18" charset="0"/>
                <a:cs typeface="Times New Roman" pitchFamily="18" charset="0"/>
              </a:rPr>
              <a:t>IBM SPSS and much more.</a:t>
            </a:r>
          </a:p>
          <a:p>
            <a:pPr>
              <a:buFont typeface="Wingdings" pitchFamily="2" charset="2"/>
              <a:buChar char="v"/>
            </a:pPr>
            <a:endParaRPr lang="en-US" sz="2400" dirty="0" smtClean="0">
              <a:latin typeface="Times New Roman" pitchFamily="18" charset="0"/>
              <a:cs typeface="Times New Roman" pitchFamily="18" charset="0"/>
            </a:endParaRPr>
          </a:p>
          <a:p>
            <a:pPr>
              <a:buFont typeface="Wingdings" pitchFamily="2" charset="2"/>
              <a:buChar char="q"/>
            </a:pPr>
            <a:r>
              <a:rPr lang="en-US" sz="2400" dirty="0" smtClean="0">
                <a:latin typeface="Times New Roman" pitchFamily="18" charset="0"/>
                <a:cs typeface="Times New Roman" pitchFamily="18" charset="0"/>
              </a:rPr>
              <a:t>For this video, we shall use Microsoft Excel.</a:t>
            </a:r>
            <a:endParaRPr lang="en-US" sz="2400" dirty="0">
              <a:latin typeface="Times New Roman" pitchFamily="18" charset="0"/>
              <a:cs typeface="Times New Roman" pitchFamily="18" charset="0"/>
            </a:endParaRPr>
          </a:p>
        </p:txBody>
      </p:sp>
      <p:sp>
        <p:nvSpPr>
          <p:cNvPr id="3" name="Title 2"/>
          <p:cNvSpPr>
            <a:spLocks noGrp="1"/>
          </p:cNvSpPr>
          <p:nvPr>
            <p:ph type="title"/>
          </p:nvPr>
        </p:nvSpPr>
        <p:spPr/>
        <p:txBody>
          <a:bodyPr/>
          <a:lstStyle/>
          <a:p>
            <a:r>
              <a:rPr lang="en-US" dirty="0" smtClean="0"/>
              <a:t>Use of technology to determine simple random samples</a:t>
            </a:r>
            <a:endParaRPr lang="en-US" dirty="0"/>
          </a:p>
        </p:txBody>
      </p:sp>
    </p:spTree>
    <p:extLst>
      <p:ext uri="{BB962C8B-B14F-4D97-AF65-F5344CB8AC3E}">
        <p14:creationId xmlns:p14="http://schemas.microsoft.com/office/powerpoint/2010/main" val="243452309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Grid">
  <a:themeElements>
    <a:clrScheme name="Grid">
      <a:dk1>
        <a:sysClr val="windowText" lastClr="000000"/>
      </a:dk1>
      <a:lt1>
        <a:sysClr val="window" lastClr="FFFFFF"/>
      </a:lt1>
      <a:dk2>
        <a:srgbClr val="534949"/>
      </a:dk2>
      <a:lt2>
        <a:srgbClr val="CCD1B9"/>
      </a:lt2>
      <a:accent1>
        <a:srgbClr val="C66951"/>
      </a:accent1>
      <a:accent2>
        <a:srgbClr val="BF974D"/>
      </a:accent2>
      <a:accent3>
        <a:srgbClr val="928B70"/>
      </a:accent3>
      <a:accent4>
        <a:srgbClr val="87706B"/>
      </a:accent4>
      <a:accent5>
        <a:srgbClr val="94734E"/>
      </a:accent5>
      <a:accent6>
        <a:srgbClr val="6F777D"/>
      </a:accent6>
      <a:hlink>
        <a:srgbClr val="CC9900"/>
      </a:hlink>
      <a:folHlink>
        <a:srgbClr val="C0C0C0"/>
      </a:folHlink>
    </a:clrScheme>
    <a:fontScheme name="Grid">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Grid">
      <a:fillStyleLst>
        <a:solidFill>
          <a:schemeClr val="phClr"/>
        </a:solidFill>
        <a:solidFill>
          <a:schemeClr val="phClr">
            <a:tint val="50000"/>
          </a:schemeClr>
        </a:solidFill>
        <a:gradFill rotWithShape="1">
          <a:gsLst>
            <a:gs pos="0">
              <a:schemeClr val="phClr"/>
            </a:gs>
            <a:gs pos="90000">
              <a:schemeClr val="phClr">
                <a:shade val="100000"/>
              </a:schemeClr>
            </a:gs>
            <a:gs pos="100000">
              <a:schemeClr val="phClr">
                <a:shade val="85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effectStyle>
        <a:effectStyle>
          <a:effectLst>
            <a:outerShdw blurRad="31750" dist="25400" dir="5400000" rotWithShape="0">
              <a:srgbClr val="000000">
                <a:alpha val="50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30000"/>
              </a:schemeClr>
            </a:contourClr>
          </a:sp3d>
        </a:effectStyle>
      </a:effectStyleLst>
      <a:bgFillStyleLst>
        <a:solidFill>
          <a:schemeClr val="phClr"/>
        </a:solidFill>
        <a:solidFill>
          <a:schemeClr val="phClr">
            <a:tint val="90000"/>
            <a:shade val="93000"/>
            <a:satMod val="150000"/>
          </a:schemeClr>
        </a:solidFill>
        <a:blipFill rotWithShape="1">
          <a:blip xmlns:r="http://schemas.openxmlformats.org/officeDocument/2006/relationships" r:embed="rId1">
            <a:duotone>
              <a:schemeClr val="phClr">
                <a:tint val="95000"/>
              </a:schemeClr>
              <a:schemeClr val="phClr">
                <a:shade val="93000"/>
                <a:satMod val="11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Grid</Template>
  <TotalTime>1108</TotalTime>
  <Words>850</Words>
  <Application>Microsoft Office PowerPoint</Application>
  <PresentationFormat>On-screen Show (4:3)</PresentationFormat>
  <Paragraphs>118</Paragraphs>
  <Slides>10</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Calibri</vt:lpstr>
      <vt:lpstr>Franklin Gothic Medium</vt:lpstr>
      <vt:lpstr>Nueva-BoldExtended</vt:lpstr>
      <vt:lpstr>Times New Roman</vt:lpstr>
      <vt:lpstr>TimesTen-Bold</vt:lpstr>
      <vt:lpstr>TimesTen-Roman</vt:lpstr>
      <vt:lpstr>Wingdings</vt:lpstr>
      <vt:lpstr>Wingdings 2</vt:lpstr>
      <vt:lpstr>Grid</vt:lpstr>
      <vt:lpstr>RANDOM SAMPLING:  SIMPLE RANDOM SAMPLING</vt:lpstr>
      <vt:lpstr>OBJECTIVES</vt:lpstr>
      <vt:lpstr>RANDOM SAMPLING</vt:lpstr>
      <vt:lpstr>Simple random sampling</vt:lpstr>
      <vt:lpstr>CONDITIONS FOR SIMPLE RANDOM SAMPLING</vt:lpstr>
      <vt:lpstr>So, how do we obtain simple random samples</vt:lpstr>
      <vt:lpstr>Question 1</vt:lpstr>
      <vt:lpstr>Question 2</vt:lpstr>
      <vt:lpstr>Table of random numbers</vt:lpstr>
      <vt:lpstr>Use of technology to determine simple random samples</vt:lpstr>
    </vt:vector>
  </TitlesOfParts>
  <Company>Hewlett-Packard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Technology to Determine Descriptive Statistics</dc:title>
  <dc:creator>samdom4peace</dc:creator>
  <cp:lastModifiedBy>Samuel Chukwuemeka</cp:lastModifiedBy>
  <cp:revision>239</cp:revision>
  <dcterms:created xsi:type="dcterms:W3CDTF">2013-03-10T00:13:28Z</dcterms:created>
  <dcterms:modified xsi:type="dcterms:W3CDTF">2015-03-31T07:23:31Z</dcterms:modified>
</cp:coreProperties>
</file>