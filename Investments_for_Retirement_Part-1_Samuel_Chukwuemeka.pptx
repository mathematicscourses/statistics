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Lst>
  <p:notesMasterIdLst>
    <p:notesMasterId r:id="rId43"/>
  </p:notesMasterIdLst>
  <p:handoutMasterIdLst>
    <p:handoutMasterId r:id="rId44"/>
  </p:handoutMasterIdLst>
  <p:sldIdLst>
    <p:sldId id="265" r:id="rId3"/>
    <p:sldId id="273" r:id="rId4"/>
    <p:sldId id="283" r:id="rId5"/>
    <p:sldId id="282" r:id="rId6"/>
    <p:sldId id="284" r:id="rId7"/>
    <p:sldId id="286" r:id="rId8"/>
    <p:sldId id="287" r:id="rId9"/>
    <p:sldId id="285" r:id="rId10"/>
    <p:sldId id="281" r:id="rId11"/>
    <p:sldId id="292" r:id="rId12"/>
    <p:sldId id="291" r:id="rId13"/>
    <p:sldId id="290" r:id="rId14"/>
    <p:sldId id="289" r:id="rId15"/>
    <p:sldId id="288" r:id="rId16"/>
    <p:sldId id="298" r:id="rId17"/>
    <p:sldId id="296" r:id="rId18"/>
    <p:sldId id="295" r:id="rId19"/>
    <p:sldId id="301" r:id="rId20"/>
    <p:sldId id="302" r:id="rId21"/>
    <p:sldId id="307" r:id="rId22"/>
    <p:sldId id="308" r:id="rId23"/>
    <p:sldId id="294" r:id="rId24"/>
    <p:sldId id="303" r:id="rId25"/>
    <p:sldId id="304" r:id="rId26"/>
    <p:sldId id="300" r:id="rId27"/>
    <p:sldId id="309" r:id="rId28"/>
    <p:sldId id="310" r:id="rId29"/>
    <p:sldId id="306" r:id="rId30"/>
    <p:sldId id="311" r:id="rId31"/>
    <p:sldId id="312" r:id="rId32"/>
    <p:sldId id="313" r:id="rId33"/>
    <p:sldId id="314" r:id="rId34"/>
    <p:sldId id="315" r:id="rId35"/>
    <p:sldId id="316" r:id="rId36"/>
    <p:sldId id="317" r:id="rId37"/>
    <p:sldId id="318" r:id="rId38"/>
    <p:sldId id="319" r:id="rId39"/>
    <p:sldId id="297" r:id="rId40"/>
    <p:sldId id="323" r:id="rId41"/>
    <p:sldId id="321"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301B821-A1FF-4177-AEE7-76D212191A0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14" d="100"/>
          <a:sy n="114" d="100"/>
        </p:scale>
        <p:origin x="474" y="108"/>
      </p:cViewPr>
      <p:guideLst>
        <p:guide pos="3840"/>
        <p:guide orient="horz" pos="2160"/>
      </p:guideLst>
    </p:cSldViewPr>
  </p:slideViewPr>
  <p:notesTextViewPr>
    <p:cViewPr>
      <p:scale>
        <a:sx n="1" d="1"/>
        <a:sy n="1" d="1"/>
      </p:scale>
      <p:origin x="0" y="0"/>
    </p:cViewPr>
  </p:notesTextViewPr>
  <p:notesViewPr>
    <p:cSldViewPr snapToGrid="0">
      <p:cViewPr varScale="1">
        <p:scale>
          <a:sx n="63" d="100"/>
          <a:sy n="63" d="100"/>
        </p:scale>
        <p:origin x="1986"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4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0EA5F0D-C1DC-412F-A146-DDB3A74B588F}" type="datetimeFigureOut">
              <a:rPr lang="en-US"/>
              <a:t>9/26/2016</a:t>
            </a:fld>
            <a:endParaRPr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BAE14B8-3CC9-472D-9BC5-A84D80684DE2}" type="slidenum">
              <a:rPr/>
              <a:t>‹#›</a:t>
            </a:fld>
            <a:endParaRPr dirty="0"/>
          </a:p>
        </p:txBody>
      </p:sp>
    </p:spTree>
    <p:extLst>
      <p:ext uri="{BB962C8B-B14F-4D97-AF65-F5344CB8AC3E}">
        <p14:creationId xmlns:p14="http://schemas.microsoft.com/office/powerpoint/2010/main" val="2577827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CDE508-72C8-4AB5-AA9C-1584D31690E0}" type="datetimeFigureOut">
              <a:rPr lang="en-US"/>
              <a:t>9/26/2016</a:t>
            </a:fld>
            <a:endParaRPr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B667E1-E601-4AAF-B95C-B25720D70A60}" type="slidenum">
              <a:rPr/>
              <a:t>‹#›</a:t>
            </a:fld>
            <a:endParaRPr dirty="0"/>
          </a:p>
        </p:txBody>
      </p:sp>
    </p:spTree>
    <p:extLst>
      <p:ext uri="{BB962C8B-B14F-4D97-AF65-F5344CB8AC3E}">
        <p14:creationId xmlns:p14="http://schemas.microsoft.com/office/powerpoint/2010/main" val="711136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9" name="Picture 8" descr="Sun rising over grassy hills" title="Slide Design Pictur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1" y="0"/>
            <a:ext cx="12188699" cy="4799300"/>
          </a:xfrm>
          <a:prstGeom prst="rect">
            <a:avLst/>
          </a:prstGeom>
        </p:spPr>
      </p:pic>
      <p:sp>
        <p:nvSpPr>
          <p:cNvPr id="4" name="Rectangle 3"/>
          <p:cNvSpPr/>
          <p:nvPr/>
        </p:nvSpPr>
        <p:spPr bwMode="ltGray">
          <a:xfrm>
            <a:off x="-2" y="4754880"/>
            <a:ext cx="12192002" cy="210312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dirty="0">
              <a:ln>
                <a:noFill/>
              </a:ln>
              <a:solidFill>
                <a:prstClr val="white"/>
              </a:solidFill>
              <a:effectLst/>
              <a:uLnTx/>
              <a:uFillTx/>
              <a:latin typeface="Euphemia"/>
              <a:ea typeface="+mn-ea"/>
              <a:cs typeface="+mn-cs"/>
            </a:endParaRPr>
          </a:p>
        </p:txBody>
      </p:sp>
      <p:sp>
        <p:nvSpPr>
          <p:cNvPr id="6" name="Rectangle 5"/>
          <p:cNvSpPr/>
          <p:nvPr/>
        </p:nvSpPr>
        <p:spPr bwMode="white">
          <a:xfrm>
            <a:off x="-127" y="4724400"/>
            <a:ext cx="12188826" cy="76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 name="Title 1"/>
          <p:cNvSpPr>
            <a:spLocks noGrp="1"/>
          </p:cNvSpPr>
          <p:nvPr>
            <p:ph type="ctrTitle"/>
          </p:nvPr>
        </p:nvSpPr>
        <p:spPr>
          <a:xfrm>
            <a:off x="1523999" y="4800600"/>
            <a:ext cx="9144002" cy="1143000"/>
          </a:xfrm>
        </p:spPr>
        <p:txBody>
          <a:bodyPr anchor="b">
            <a:normAutofit/>
          </a:bodyPr>
          <a:lstStyle>
            <a:lvl1pPr algn="ctr">
              <a:defRPr sz="4800">
                <a:solidFill>
                  <a:schemeClr val="bg1"/>
                </a:solidFill>
              </a:defRPr>
            </a:lvl1pPr>
          </a:lstStyle>
          <a:p>
            <a:r>
              <a:rPr lang="en-US"/>
              <a:t>Click to edit Master title style</a:t>
            </a:r>
            <a:endParaRPr/>
          </a:p>
        </p:txBody>
      </p:sp>
      <p:sp>
        <p:nvSpPr>
          <p:cNvPr id="3" name="Subtitle 2"/>
          <p:cNvSpPr>
            <a:spLocks noGrp="1"/>
          </p:cNvSpPr>
          <p:nvPr>
            <p:ph type="subTitle" idx="1"/>
          </p:nvPr>
        </p:nvSpPr>
        <p:spPr>
          <a:xfrm>
            <a:off x="1522413" y="5943600"/>
            <a:ext cx="9144002" cy="762000"/>
          </a:xfrm>
        </p:spPr>
        <p:txBody>
          <a:bodyPr>
            <a:normAutofit/>
          </a:bodyPr>
          <a:lstStyle>
            <a:lvl1pPr marL="0" indent="0" algn="ctr">
              <a:spcBef>
                <a:spcPts val="0"/>
              </a:spcBef>
              <a:buNone/>
              <a:defRPr sz="2000" cap="none" baseline="0">
                <a:solidFill>
                  <a:schemeClr val="bg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a:p>
        </p:txBody>
      </p:sp>
    </p:spTree>
    <p:extLst>
      <p:ext uri="{BB962C8B-B14F-4D97-AF65-F5344CB8AC3E}">
        <p14:creationId xmlns:p14="http://schemas.microsoft.com/office/powerpoint/2010/main" val="3382882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9E583DDF-CA54-461A-A486-592D2374C532}" type="datetimeFigureOut">
              <a:rPr lang="en-US"/>
              <a:t>9/26/2016</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CA8D9AD5-F248-4919-864A-CFD76CC027D6}" type="slidenum">
              <a:rPr/>
              <a:t>‹#›</a:t>
            </a:fld>
            <a:endParaRPr dirty="0"/>
          </a:p>
        </p:txBody>
      </p:sp>
    </p:spTree>
    <p:extLst>
      <p:ext uri="{BB962C8B-B14F-4D97-AF65-F5344CB8AC3E}">
        <p14:creationId xmlns:p14="http://schemas.microsoft.com/office/powerpoint/2010/main" val="4159342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7" name="Rectangle 6"/>
          <p:cNvSpPr/>
          <p:nvPr/>
        </p:nvSpPr>
        <p:spPr bwMode="ltGray">
          <a:xfrm>
            <a:off x="0" y="0"/>
            <a:ext cx="12188826" cy="45720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R="0" lvl="0" indent="0" algn="ctr" fontAlgn="auto">
              <a:lnSpc>
                <a:spcPct val="100000"/>
              </a:lnSpc>
              <a:spcBef>
                <a:spcPts val="0"/>
              </a:spcBef>
              <a:spcAft>
                <a:spcPts val="0"/>
              </a:spcAft>
              <a:buClrTx/>
              <a:buSzTx/>
              <a:buFontTx/>
              <a:buNone/>
              <a:tabLst/>
            </a:pPr>
            <a:endParaRPr kumimoji="0" b="0" i="0" u="none" strike="noStrike" kern="0" cap="none" spc="0" normalizeH="0" baseline="0" dirty="0">
              <a:ln>
                <a:noFill/>
              </a:ln>
              <a:solidFill>
                <a:prstClr val="white"/>
              </a:solidFill>
              <a:effectLst/>
              <a:uLnTx/>
              <a:uFillTx/>
              <a:latin typeface="Euphemia"/>
            </a:endParaRPr>
          </a:p>
        </p:txBody>
      </p:sp>
      <p:sp>
        <p:nvSpPr>
          <p:cNvPr id="8" name="Rectangle 7"/>
          <p:cNvSpPr/>
          <p:nvPr/>
        </p:nvSpPr>
        <p:spPr bwMode="white">
          <a:xfrm>
            <a:off x="-1" y="411480"/>
            <a:ext cx="12188826" cy="457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 name="Title 1"/>
          <p:cNvSpPr>
            <a:spLocks noGrp="1"/>
          </p:cNvSpPr>
          <p:nvPr>
            <p:ph type="title"/>
          </p:nvPr>
        </p:nvSpPr>
        <p:spPr>
          <a:xfrm>
            <a:off x="1524000" y="1143000"/>
            <a:ext cx="9144000" cy="2667000"/>
          </a:xfrm>
        </p:spPr>
        <p:txBody>
          <a:bodyPr anchor="b">
            <a:normAutofit/>
          </a:bodyPr>
          <a:lstStyle>
            <a:lvl1pPr algn="ctr">
              <a:defRPr sz="5200" b="0"/>
            </a:lvl1pPr>
          </a:lstStyle>
          <a:p>
            <a:r>
              <a:rPr lang="en-US"/>
              <a:t>Click to edit Master title style</a:t>
            </a:r>
            <a:endParaRPr/>
          </a:p>
        </p:txBody>
      </p:sp>
      <p:sp>
        <p:nvSpPr>
          <p:cNvPr id="3" name="Text Placeholder 2"/>
          <p:cNvSpPr>
            <a:spLocks noGrp="1"/>
          </p:cNvSpPr>
          <p:nvPr>
            <p:ph type="body" idx="1"/>
          </p:nvPr>
        </p:nvSpPr>
        <p:spPr>
          <a:xfrm>
            <a:off x="1524000" y="3810000"/>
            <a:ext cx="9144000" cy="1143000"/>
          </a:xfrm>
        </p:spPr>
        <p:txBody>
          <a:bodyPr anchor="t">
            <a:normAutofit/>
          </a:bodyPr>
          <a:lstStyle>
            <a:lvl1pPr marL="0" indent="0" algn="ctr">
              <a:spcBef>
                <a:spcPts val="0"/>
              </a:spcBef>
              <a:buNone/>
              <a:defRPr sz="2400" cap="none"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583DDF-CA54-461A-A486-592D2374C532}" type="datetimeFigureOut">
              <a:rPr lang="en-US"/>
              <a:t>9/26/2016</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CA8D9AD5-F248-4919-864A-CFD76CC027D6}" type="slidenum">
              <a:rPr/>
              <a:t>‹#›</a:t>
            </a:fld>
            <a:endParaRPr dirty="0"/>
          </a:p>
        </p:txBody>
      </p:sp>
    </p:spTree>
    <p:extLst>
      <p:ext uri="{BB962C8B-B14F-4D97-AF65-F5344CB8AC3E}">
        <p14:creationId xmlns:p14="http://schemas.microsoft.com/office/powerpoint/2010/main" val="27158437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Alternate 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524000" y="1143000"/>
            <a:ext cx="9144000" cy="2667000"/>
          </a:xfrm>
        </p:spPr>
        <p:txBody>
          <a:bodyPr anchor="b">
            <a:normAutofit/>
          </a:bodyPr>
          <a:lstStyle>
            <a:lvl1pPr algn="ctr">
              <a:defRPr sz="5200" b="0">
                <a:solidFill>
                  <a:schemeClr val="tx1"/>
                </a:solidFill>
              </a:defRPr>
            </a:lvl1pPr>
          </a:lstStyle>
          <a:p>
            <a:r>
              <a:rPr lang="en-US"/>
              <a:t>Click to edit Master title style</a:t>
            </a:r>
            <a:endParaRPr/>
          </a:p>
        </p:txBody>
      </p:sp>
      <p:sp>
        <p:nvSpPr>
          <p:cNvPr id="3" name="Text Placeholder 2"/>
          <p:cNvSpPr>
            <a:spLocks noGrp="1"/>
          </p:cNvSpPr>
          <p:nvPr>
            <p:ph type="body" idx="1"/>
          </p:nvPr>
        </p:nvSpPr>
        <p:spPr>
          <a:xfrm>
            <a:off x="1522413" y="3810000"/>
            <a:ext cx="9144000" cy="1143000"/>
          </a:xfrm>
        </p:spPr>
        <p:txBody>
          <a:bodyPr anchor="t">
            <a:normAutofit/>
          </a:bodyPr>
          <a:lstStyle>
            <a:lvl1pPr marL="0" indent="0" algn="ctr">
              <a:spcBef>
                <a:spcPts val="0"/>
              </a:spcBef>
              <a:buNone/>
              <a:defRPr sz="2400" cap="none" baseline="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tx2"/>
                </a:solidFill>
              </a:defRPr>
            </a:lvl1pPr>
          </a:lstStyle>
          <a:p>
            <a:fld id="{9E583DDF-CA54-461A-A486-592D2374C532}" type="datetimeFigureOut">
              <a:rPr lang="en-US"/>
              <a:pPr/>
              <a:t>9/26/2016</a:t>
            </a:fld>
            <a:endParaRPr dirty="0"/>
          </a:p>
        </p:txBody>
      </p:sp>
      <p:sp>
        <p:nvSpPr>
          <p:cNvPr id="5" name="Footer Placeholder 4"/>
          <p:cNvSpPr>
            <a:spLocks noGrp="1"/>
          </p:cNvSpPr>
          <p:nvPr>
            <p:ph type="ftr" sz="quarter" idx="11"/>
          </p:nvPr>
        </p:nvSpPr>
        <p:spPr/>
        <p:txBody>
          <a:bodyPr/>
          <a:lstStyle>
            <a:lvl1pPr>
              <a:defRPr>
                <a:solidFill>
                  <a:schemeClr val="tx2"/>
                </a:solidFill>
              </a:defRPr>
            </a:lvl1pPr>
          </a:lstStyle>
          <a:p>
            <a:endParaRPr dirty="0"/>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CA8D9AD5-F248-4919-864A-CFD76CC027D6}" type="slidenum">
              <a:rPr/>
              <a:pPr/>
              <a:t>‹#›</a:t>
            </a:fld>
            <a:endParaRPr dirty="0"/>
          </a:p>
        </p:txBody>
      </p:sp>
    </p:spTree>
    <p:extLst>
      <p:ext uri="{BB962C8B-B14F-4D97-AF65-F5344CB8AC3E}">
        <p14:creationId xmlns:p14="http://schemas.microsoft.com/office/powerpoint/2010/main" val="28043280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341120" y="1901952"/>
            <a:ext cx="4572000" cy="4123944"/>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78880" y="1901952"/>
            <a:ext cx="4572000" cy="4123944"/>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9DD7D43D-6574-4C7B-808D-C6C12215A4D4}" type="datetimeFigureOut">
              <a:rPr lang="en-US"/>
              <a:t>9/26/2016</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A0ECE5F2-81AA-4605-B028-6FBA391056AF}" type="slidenum">
              <a:rPr/>
              <a:t>‹#›</a:t>
            </a:fld>
            <a:endParaRPr dirty="0"/>
          </a:p>
        </p:txBody>
      </p:sp>
    </p:spTree>
    <p:extLst>
      <p:ext uri="{BB962C8B-B14F-4D97-AF65-F5344CB8AC3E}">
        <p14:creationId xmlns:p14="http://schemas.microsoft.com/office/powerpoint/2010/main" val="3117078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341120" y="1837464"/>
            <a:ext cx="4572000" cy="766588"/>
          </a:xfrm>
        </p:spPr>
        <p:txBody>
          <a:bodyPr anchor="ctr">
            <a:normAutofit/>
          </a:bodyPr>
          <a:lstStyle>
            <a:lvl1pPr marL="0" indent="0">
              <a:spcBef>
                <a:spcPts val="0"/>
              </a:spcBef>
              <a:buNone/>
              <a:defRPr sz="22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41120" y="2740732"/>
            <a:ext cx="4572000" cy="3288847"/>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78880" y="1837464"/>
            <a:ext cx="4572000" cy="766588"/>
          </a:xfrm>
        </p:spPr>
        <p:txBody>
          <a:bodyPr anchor="ctr">
            <a:normAutofit/>
          </a:bodyPr>
          <a:lstStyle>
            <a:lvl1pPr marL="0" indent="0">
              <a:spcBef>
                <a:spcPts val="0"/>
              </a:spcBef>
              <a:buNone/>
              <a:defRPr sz="22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78880" y="2740732"/>
            <a:ext cx="4572000" cy="3288847"/>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9E583DDF-CA54-461A-A486-592D2374C532}" type="datetimeFigureOut">
              <a:rPr lang="en-US"/>
              <a:t>9/26/2016</a:t>
            </a:fld>
            <a:endParaRPr dirty="0"/>
          </a:p>
        </p:txBody>
      </p:sp>
      <p:sp>
        <p:nvSpPr>
          <p:cNvPr id="8" name="Footer Placeholder 7"/>
          <p:cNvSpPr>
            <a:spLocks noGrp="1"/>
          </p:cNvSpPr>
          <p:nvPr>
            <p:ph type="ftr" sz="quarter" idx="11"/>
          </p:nvPr>
        </p:nvSpPr>
        <p:spPr/>
        <p:txBody>
          <a:bodyPr/>
          <a:lstStyle/>
          <a:p>
            <a:endParaRPr dirty="0"/>
          </a:p>
        </p:txBody>
      </p:sp>
      <p:sp>
        <p:nvSpPr>
          <p:cNvPr id="9" name="Slide Number Placeholder 8"/>
          <p:cNvSpPr>
            <a:spLocks noGrp="1"/>
          </p:cNvSpPr>
          <p:nvPr>
            <p:ph type="sldNum" sz="quarter" idx="12"/>
          </p:nvPr>
        </p:nvSpPr>
        <p:spPr/>
        <p:txBody>
          <a:bodyPr/>
          <a:lstStyle/>
          <a:p>
            <a:fld id="{CA8D9AD5-F248-4919-864A-CFD76CC027D6}" type="slidenum">
              <a:rPr/>
              <a:t>‹#›</a:t>
            </a:fld>
            <a:endParaRPr dirty="0"/>
          </a:p>
        </p:txBody>
      </p:sp>
    </p:spTree>
    <p:extLst>
      <p:ext uri="{BB962C8B-B14F-4D97-AF65-F5344CB8AC3E}">
        <p14:creationId xmlns:p14="http://schemas.microsoft.com/office/powerpoint/2010/main" val="4057080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9E583DDF-CA54-461A-A486-592D2374C532}" type="datetimeFigureOut">
              <a:rPr lang="en-US"/>
              <a:t>9/26/2016</a:t>
            </a:fld>
            <a:endParaRPr dirty="0"/>
          </a:p>
        </p:txBody>
      </p:sp>
      <p:sp>
        <p:nvSpPr>
          <p:cNvPr id="4" name="Footer Placeholder 3"/>
          <p:cNvSpPr>
            <a:spLocks noGrp="1"/>
          </p:cNvSpPr>
          <p:nvPr>
            <p:ph type="ftr" sz="quarter" idx="11"/>
          </p:nvPr>
        </p:nvSpPr>
        <p:spPr/>
        <p:txBody>
          <a:bodyPr/>
          <a:lstStyle/>
          <a:p>
            <a:endParaRPr dirty="0"/>
          </a:p>
        </p:txBody>
      </p:sp>
      <p:sp>
        <p:nvSpPr>
          <p:cNvPr id="5" name="Slide Number Placeholder 4"/>
          <p:cNvSpPr>
            <a:spLocks noGrp="1"/>
          </p:cNvSpPr>
          <p:nvPr>
            <p:ph type="sldNum" sz="quarter" idx="12"/>
          </p:nvPr>
        </p:nvSpPr>
        <p:spPr/>
        <p:txBody>
          <a:bodyPr/>
          <a:lstStyle/>
          <a:p>
            <a:fld id="{CA8D9AD5-F248-4919-864A-CFD76CC027D6}" type="slidenum">
              <a:rPr/>
              <a:t>‹#›</a:t>
            </a:fld>
            <a:endParaRPr dirty="0"/>
          </a:p>
        </p:txBody>
      </p:sp>
    </p:spTree>
    <p:extLst>
      <p:ext uri="{BB962C8B-B14F-4D97-AF65-F5344CB8AC3E}">
        <p14:creationId xmlns:p14="http://schemas.microsoft.com/office/powerpoint/2010/main" val="842011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lstStyle>
          <a:p>
            <a:fld id="{9E583DDF-CA54-461A-A486-592D2374C532}" type="datetimeFigureOut">
              <a:rPr lang="en-US"/>
              <a:pPr/>
              <a:t>9/26/2016</a:t>
            </a:fld>
            <a:endParaRPr dirty="0"/>
          </a:p>
        </p:txBody>
      </p:sp>
      <p:sp>
        <p:nvSpPr>
          <p:cNvPr id="3" name="Footer Placeholder 2"/>
          <p:cNvSpPr>
            <a:spLocks noGrp="1"/>
          </p:cNvSpPr>
          <p:nvPr>
            <p:ph type="ftr" sz="quarter" idx="11"/>
          </p:nvPr>
        </p:nvSpPr>
        <p:spPr/>
        <p:txBody>
          <a:bodyPr/>
          <a:lstStyle>
            <a:lvl1pPr>
              <a:defRPr>
                <a:solidFill>
                  <a:schemeClr val="tx2"/>
                </a:solidFill>
              </a:defRPr>
            </a:lvl1pPr>
          </a:lstStyle>
          <a:p>
            <a:endParaRPr dirty="0"/>
          </a:p>
        </p:txBody>
      </p:sp>
      <p:sp>
        <p:nvSpPr>
          <p:cNvPr id="4" name="Slide Number Placeholder 3"/>
          <p:cNvSpPr>
            <a:spLocks noGrp="1"/>
          </p:cNvSpPr>
          <p:nvPr>
            <p:ph type="sldNum" sz="quarter" idx="12"/>
          </p:nvPr>
        </p:nvSpPr>
        <p:spPr/>
        <p:txBody>
          <a:bodyPr/>
          <a:lstStyle>
            <a:lvl1pPr>
              <a:defRPr>
                <a:solidFill>
                  <a:schemeClr val="tx2"/>
                </a:solidFill>
              </a:defRPr>
            </a:lvl1pPr>
          </a:lstStyle>
          <a:p>
            <a:fld id="{CA8D9AD5-F248-4919-864A-CFD76CC027D6}" type="slidenum">
              <a:rPr/>
              <a:pPr/>
              <a:t>‹#›</a:t>
            </a:fld>
            <a:endParaRPr dirty="0"/>
          </a:p>
        </p:txBody>
      </p:sp>
    </p:spTree>
    <p:extLst>
      <p:ext uri="{BB962C8B-B14F-4D97-AF65-F5344CB8AC3E}">
        <p14:creationId xmlns:p14="http://schemas.microsoft.com/office/powerpoint/2010/main" val="2559003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60412" y="2362200"/>
            <a:ext cx="3200400" cy="1990725"/>
          </a:xfrm>
        </p:spPr>
        <p:txBody>
          <a:bodyPr anchor="b">
            <a:normAutofit/>
          </a:bodyPr>
          <a:lstStyle>
            <a:lvl1pPr>
              <a:defRPr sz="3400" b="0"/>
            </a:lvl1pPr>
          </a:lstStyle>
          <a:p>
            <a:r>
              <a:rPr lang="en-US"/>
              <a:t>Click to edit Master title style</a:t>
            </a:r>
            <a:endParaRPr/>
          </a:p>
        </p:txBody>
      </p:sp>
      <p:sp>
        <p:nvSpPr>
          <p:cNvPr id="3" name="Content Placeholder 2"/>
          <p:cNvSpPr>
            <a:spLocks noGrp="1"/>
          </p:cNvSpPr>
          <p:nvPr>
            <p:ph idx="1"/>
          </p:nvPr>
        </p:nvSpPr>
        <p:spPr>
          <a:xfrm>
            <a:off x="4494212" y="685800"/>
            <a:ext cx="7239001" cy="54864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760412" y="4367308"/>
            <a:ext cx="3200400" cy="1622012"/>
          </a:xfrm>
        </p:spPr>
        <p:txBody>
          <a:bodyPr>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583DDF-CA54-461A-A486-592D2374C532}" type="datetimeFigureOut">
              <a:rPr lang="en-US"/>
              <a:t>9/26/2016</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CA8D9AD5-F248-4919-864A-CFD76CC027D6}" type="slidenum">
              <a:rPr/>
              <a:t>‹#›</a:t>
            </a:fld>
            <a:endParaRPr dirty="0"/>
          </a:p>
        </p:txBody>
      </p:sp>
    </p:spTree>
    <p:extLst>
      <p:ext uri="{BB962C8B-B14F-4D97-AF65-F5344CB8AC3E}">
        <p14:creationId xmlns:p14="http://schemas.microsoft.com/office/powerpoint/2010/main" val="1435946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Tx" preserve="1">
  <p:cSld name="Alternate Content with Caption">
    <p:spTree>
      <p:nvGrpSpPr>
        <p:cNvPr id="1" name=""/>
        <p:cNvGrpSpPr/>
        <p:nvPr/>
      </p:nvGrpSpPr>
      <p:grpSpPr>
        <a:xfrm>
          <a:off x="0" y="0"/>
          <a:ext cx="0" cy="0"/>
          <a:chOff x="0" y="0"/>
          <a:chExt cx="0" cy="0"/>
        </a:xfrm>
      </p:grpSpPr>
      <p:sp>
        <p:nvSpPr>
          <p:cNvPr id="8" name="Rectangle 7"/>
          <p:cNvSpPr/>
          <p:nvPr/>
        </p:nvSpPr>
        <p:spPr bwMode="ltGray">
          <a:xfrm>
            <a:off x="0" y="0"/>
            <a:ext cx="4873752" cy="685800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dirty="0">
              <a:ln>
                <a:noFill/>
              </a:ln>
              <a:solidFill>
                <a:prstClr val="white"/>
              </a:solidFill>
              <a:effectLst/>
              <a:uLnTx/>
              <a:uFillTx/>
              <a:latin typeface="Euphemia"/>
              <a:ea typeface="+mn-ea"/>
              <a:cs typeface="+mn-cs"/>
            </a:endParaRPr>
          </a:p>
        </p:txBody>
      </p:sp>
      <p:sp>
        <p:nvSpPr>
          <p:cNvPr id="2" name="Title 1"/>
          <p:cNvSpPr>
            <a:spLocks noGrp="1"/>
          </p:cNvSpPr>
          <p:nvPr>
            <p:ph type="title"/>
          </p:nvPr>
        </p:nvSpPr>
        <p:spPr>
          <a:xfrm>
            <a:off x="760412" y="2362200"/>
            <a:ext cx="3200400" cy="1990725"/>
          </a:xfrm>
        </p:spPr>
        <p:txBody>
          <a:bodyPr anchor="b">
            <a:normAutofit/>
          </a:bodyPr>
          <a:lstStyle>
            <a:lvl1pPr>
              <a:defRPr sz="3400" b="0">
                <a:solidFill>
                  <a:schemeClr val="bg1"/>
                </a:solidFill>
              </a:defRPr>
            </a:lvl1pPr>
          </a:lstStyle>
          <a:p>
            <a:r>
              <a:rPr lang="en-US"/>
              <a:t>Click to edit Master title style</a:t>
            </a:r>
            <a:endParaRPr/>
          </a:p>
        </p:txBody>
      </p:sp>
      <p:sp>
        <p:nvSpPr>
          <p:cNvPr id="3" name="Content Placeholder 2"/>
          <p:cNvSpPr>
            <a:spLocks noGrp="1"/>
          </p:cNvSpPr>
          <p:nvPr>
            <p:ph idx="1"/>
          </p:nvPr>
        </p:nvSpPr>
        <p:spPr>
          <a:xfrm>
            <a:off x="5362892" y="685800"/>
            <a:ext cx="6370320" cy="54864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760412" y="4367308"/>
            <a:ext cx="3200400" cy="1622012"/>
          </a:xfrm>
        </p:spPr>
        <p:txBody>
          <a:bodyPr>
            <a:normAutofit/>
          </a:bodyPr>
          <a:lstStyle>
            <a:lvl1pPr marL="0" indent="0">
              <a:spcBef>
                <a:spcPts val="1200"/>
              </a:spcBef>
              <a:buNone/>
              <a:defRPr sz="16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tx2"/>
                </a:solidFill>
              </a:defRPr>
            </a:lvl1pPr>
          </a:lstStyle>
          <a:p>
            <a:fld id="{9E583DDF-CA54-461A-A486-592D2374C532}" type="datetimeFigureOut">
              <a:rPr lang="en-US"/>
              <a:pPr/>
              <a:t>9/26/2016</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A8D9AD5-F248-4919-864A-CFD76CC027D6}" type="slidenum">
              <a:rPr/>
              <a:pPr/>
              <a:t>‹#›</a:t>
            </a:fld>
            <a:endParaRPr dirty="0"/>
          </a:p>
        </p:txBody>
      </p:sp>
    </p:spTree>
    <p:extLst>
      <p:ext uri="{BB962C8B-B14F-4D97-AF65-F5344CB8AC3E}">
        <p14:creationId xmlns:p14="http://schemas.microsoft.com/office/powerpoint/2010/main" val="376930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bwMode="ltGray">
          <a:xfrm>
            <a:off x="7315200" y="0"/>
            <a:ext cx="4873752" cy="685800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dirty="0">
              <a:ln>
                <a:noFill/>
              </a:ln>
              <a:solidFill>
                <a:prstClr val="white"/>
              </a:solidFill>
              <a:effectLst/>
              <a:uLnTx/>
              <a:uFillTx/>
              <a:latin typeface="Euphemia"/>
              <a:ea typeface="+mn-ea"/>
              <a:cs typeface="+mn-cs"/>
            </a:endParaRPr>
          </a:p>
        </p:txBody>
      </p:sp>
      <p:sp>
        <p:nvSpPr>
          <p:cNvPr id="2" name="Title 1"/>
          <p:cNvSpPr>
            <a:spLocks noGrp="1"/>
          </p:cNvSpPr>
          <p:nvPr>
            <p:ph type="title"/>
          </p:nvPr>
        </p:nvSpPr>
        <p:spPr>
          <a:xfrm>
            <a:off x="7923214" y="2362200"/>
            <a:ext cx="3200400" cy="1993392"/>
          </a:xfrm>
        </p:spPr>
        <p:txBody>
          <a:bodyPr anchor="b">
            <a:normAutofit/>
          </a:bodyPr>
          <a:lstStyle>
            <a:lvl1pPr>
              <a:defRPr sz="3400" b="0">
                <a:solidFill>
                  <a:schemeClr val="bg1"/>
                </a:solidFill>
              </a:defRPr>
            </a:lvl1pPr>
          </a:lstStyle>
          <a:p>
            <a:r>
              <a:rPr lang="en-US"/>
              <a:t>Click to edit Master title style</a:t>
            </a:r>
            <a:endParaRPr/>
          </a:p>
        </p:txBody>
      </p:sp>
      <p:sp>
        <p:nvSpPr>
          <p:cNvPr id="3" name="Picture Placeholder 2"/>
          <p:cNvSpPr>
            <a:spLocks noGrp="1"/>
          </p:cNvSpPr>
          <p:nvPr>
            <p:ph type="pic" idx="1"/>
          </p:nvPr>
        </p:nvSpPr>
        <p:spPr>
          <a:xfrm>
            <a:off x="0" y="0"/>
            <a:ext cx="7315200" cy="6858000"/>
          </a:xfrm>
          <a:solidFill>
            <a:schemeClr val="bg2">
              <a:lumMod val="90000"/>
            </a:schemeClr>
          </a:solidFill>
        </p:spPr>
        <p:txBody>
          <a:bodyPr/>
          <a:lstStyle>
            <a:lvl1pPr marL="0" indent="0" algn="ctr">
              <a:buNone/>
              <a:defRPr sz="320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a:xfrm>
            <a:off x="7923214" y="4355592"/>
            <a:ext cx="3200400" cy="1644614"/>
          </a:xfrm>
        </p:spPr>
        <p:txBody>
          <a:bodyPr>
            <a:normAutofit/>
          </a:bodyPr>
          <a:lstStyle>
            <a:lvl1pPr marL="0" indent="0">
              <a:spcBef>
                <a:spcPts val="1200"/>
              </a:spcBef>
              <a:buNone/>
              <a:defRPr sz="16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583DDF-CA54-461A-A486-592D2374C532}" type="datetimeFigureOut">
              <a:rPr lang="en-US"/>
              <a:t>9/26/2016</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CA8D9AD5-F248-4919-864A-CFD76CC027D6}" type="slidenum">
              <a:rPr/>
              <a:t>‹#›</a:t>
            </a:fld>
            <a:endParaRPr dirty="0"/>
          </a:p>
        </p:txBody>
      </p:sp>
    </p:spTree>
    <p:extLst>
      <p:ext uri="{BB962C8B-B14F-4D97-AF65-F5344CB8AC3E}">
        <p14:creationId xmlns:p14="http://schemas.microsoft.com/office/powerpoint/2010/main" val="1371734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9E583DDF-CA54-461A-A486-592D2374C532}" type="datetimeFigureOut">
              <a:rPr lang="en-US"/>
              <a:t>9/26/2016</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CA8D9AD5-F248-4919-864A-CFD76CC027D6}" type="slidenum">
              <a:rPr/>
              <a:t>‹#›</a:t>
            </a:fld>
            <a:endParaRPr dirty="0"/>
          </a:p>
        </p:txBody>
      </p:sp>
    </p:spTree>
    <p:extLst>
      <p:ext uri="{BB962C8B-B14F-4D97-AF65-F5344CB8AC3E}">
        <p14:creationId xmlns:p14="http://schemas.microsoft.com/office/powerpoint/2010/main" val="3338572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274638"/>
            <a:ext cx="2628900" cy="5897562"/>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838200" y="274638"/>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9E583DDF-CA54-461A-A486-592D2374C532}" type="datetimeFigureOut">
              <a:rPr lang="en-US"/>
              <a:t>9/26/2016</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CA8D9AD5-F248-4919-864A-CFD76CC027D6}" type="slidenum">
              <a:rPr/>
              <a:t>‹#›</a:t>
            </a:fld>
            <a:endParaRPr dirty="0"/>
          </a:p>
        </p:txBody>
      </p:sp>
    </p:spTree>
    <p:extLst>
      <p:ext uri="{BB962C8B-B14F-4D97-AF65-F5344CB8AC3E}">
        <p14:creationId xmlns:p14="http://schemas.microsoft.com/office/powerpoint/2010/main" val="2751558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bwMode="ltGray">
          <a:xfrm>
            <a:off x="1587" y="6583680"/>
            <a:ext cx="12188826" cy="27432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R="0" lvl="0" indent="0" algn="ctr" fontAlgn="auto">
              <a:lnSpc>
                <a:spcPct val="100000"/>
              </a:lnSpc>
              <a:spcBef>
                <a:spcPts val="0"/>
              </a:spcBef>
              <a:spcAft>
                <a:spcPts val="0"/>
              </a:spcAft>
              <a:buClrTx/>
              <a:buSzTx/>
              <a:buFontTx/>
              <a:buNone/>
              <a:tabLst/>
            </a:pPr>
            <a:endParaRPr kumimoji="0" b="0" i="0" u="none" strike="noStrike" kern="0" cap="none" spc="0" normalizeH="0" baseline="0" dirty="0">
              <a:ln>
                <a:noFill/>
              </a:ln>
              <a:solidFill>
                <a:prstClr val="white"/>
              </a:solidFill>
              <a:effectLst/>
              <a:uLnTx/>
              <a:uFillTx/>
              <a:latin typeface="Euphemia"/>
            </a:endParaRPr>
          </a:p>
        </p:txBody>
      </p:sp>
      <p:sp>
        <p:nvSpPr>
          <p:cNvPr id="8" name="Rectangle 7"/>
          <p:cNvSpPr/>
          <p:nvPr/>
        </p:nvSpPr>
        <p:spPr bwMode="white">
          <a:xfrm>
            <a:off x="1587" y="6583680"/>
            <a:ext cx="12188826" cy="457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 name="Title Placeholder 1"/>
          <p:cNvSpPr>
            <a:spLocks noGrp="1"/>
          </p:cNvSpPr>
          <p:nvPr>
            <p:ph type="title"/>
          </p:nvPr>
        </p:nvSpPr>
        <p:spPr>
          <a:xfrm>
            <a:off x="1341120" y="467360"/>
            <a:ext cx="9509760" cy="1233424"/>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341120" y="1901952"/>
            <a:ext cx="9509760" cy="41276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8875776" y="6601968"/>
            <a:ext cx="960120" cy="237744"/>
          </a:xfrm>
          <a:prstGeom prst="rect">
            <a:avLst/>
          </a:prstGeom>
        </p:spPr>
        <p:txBody>
          <a:bodyPr vert="horz" lIns="91440" tIns="45720" rIns="91440" bIns="45720" rtlCol="0" anchor="ctr"/>
          <a:lstStyle>
            <a:lvl1pPr algn="r">
              <a:defRPr sz="800">
                <a:solidFill>
                  <a:schemeClr val="bg2"/>
                </a:solidFill>
              </a:defRPr>
            </a:lvl1pPr>
          </a:lstStyle>
          <a:p>
            <a:fld id="{9E583DDF-CA54-461A-A486-592D2374C532}" type="datetimeFigureOut">
              <a:rPr lang="en-US"/>
              <a:pPr/>
              <a:t>9/26/2016</a:t>
            </a:fld>
            <a:endParaRPr dirty="0"/>
          </a:p>
        </p:txBody>
      </p:sp>
      <p:sp>
        <p:nvSpPr>
          <p:cNvPr id="5" name="Footer Placeholder 4"/>
          <p:cNvSpPr>
            <a:spLocks noGrp="1"/>
          </p:cNvSpPr>
          <p:nvPr>
            <p:ph type="ftr" sz="quarter" idx="3"/>
          </p:nvPr>
        </p:nvSpPr>
        <p:spPr>
          <a:xfrm>
            <a:off x="1341120" y="6601968"/>
            <a:ext cx="7159752" cy="237744"/>
          </a:xfrm>
          <a:prstGeom prst="rect">
            <a:avLst/>
          </a:prstGeom>
        </p:spPr>
        <p:txBody>
          <a:bodyPr vert="horz" lIns="91440" tIns="45720" rIns="91440" bIns="45720" rtlCol="0" anchor="ctr"/>
          <a:lstStyle>
            <a:lvl1pPr algn="l">
              <a:defRPr sz="800" cap="all" baseline="0">
                <a:solidFill>
                  <a:schemeClr val="bg2"/>
                </a:solidFill>
              </a:defRPr>
            </a:lvl1pPr>
          </a:lstStyle>
          <a:p>
            <a:endParaRPr dirty="0"/>
          </a:p>
        </p:txBody>
      </p:sp>
      <p:sp>
        <p:nvSpPr>
          <p:cNvPr id="6" name="Slide Number Placeholder 5"/>
          <p:cNvSpPr>
            <a:spLocks noGrp="1"/>
          </p:cNvSpPr>
          <p:nvPr>
            <p:ph type="sldNum" sz="quarter" idx="4"/>
          </p:nvPr>
        </p:nvSpPr>
        <p:spPr>
          <a:xfrm>
            <a:off x="10210800" y="6601968"/>
            <a:ext cx="640080" cy="237744"/>
          </a:xfrm>
          <a:prstGeom prst="rect">
            <a:avLst/>
          </a:prstGeom>
        </p:spPr>
        <p:txBody>
          <a:bodyPr vert="horz" lIns="91440" tIns="45720" rIns="91440" bIns="45720" rtlCol="0" anchor="ctr"/>
          <a:lstStyle>
            <a:lvl1pPr algn="r">
              <a:defRPr sz="800">
                <a:solidFill>
                  <a:schemeClr val="bg2"/>
                </a:solidFill>
              </a:defRPr>
            </a:lvl1pPr>
          </a:lstStyle>
          <a:p>
            <a:fld id="{CA8D9AD5-F248-4919-864A-CFD76CC027D6}" type="slidenum">
              <a:rPr/>
              <a:pPr/>
              <a:t>‹#›</a:t>
            </a:fld>
            <a:endParaRPr dirty="0"/>
          </a:p>
        </p:txBody>
      </p:sp>
    </p:spTree>
    <p:extLst>
      <p:ext uri="{BB962C8B-B14F-4D97-AF65-F5344CB8AC3E}">
        <p14:creationId xmlns:p14="http://schemas.microsoft.com/office/powerpoint/2010/main" val="25637609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2" r:id="rId4"/>
    <p:sldLayoutId id="2147483661" r:id="rId5"/>
    <p:sldLayoutId id="2147483653" r:id="rId6"/>
    <p:sldLayoutId id="2147483654" r:id="rId7"/>
    <p:sldLayoutId id="2147483655" r:id="rId8"/>
    <p:sldLayoutId id="2147483656" r:id="rId9"/>
    <p:sldLayoutId id="2147483663" r:id="rId10"/>
    <p:sldLayoutId id="2147483657" r:id="rId11"/>
    <p:sldLayoutId id="2147483658" r:id="rId12"/>
    <p:sldLayoutId id="2147483659"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marL="0" indent="0" algn="l" defTabSz="914400" rtl="0" eaLnBrk="1" latinLnBrk="0" hangingPunct="1">
        <a:lnSpc>
          <a:spcPct val="90000"/>
        </a:lnSpc>
        <a:spcBef>
          <a:spcPct val="0"/>
        </a:spcBef>
        <a:buFont typeface="Arial" pitchFamily="34" charset="0"/>
        <a:buNone/>
        <a:defRPr sz="3400" kern="1200">
          <a:solidFill>
            <a:schemeClr val="tx2">
              <a:lumMod val="75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tx2"/>
        </a:buClr>
        <a:buSzPct val="100000"/>
        <a:buFont typeface="Arial" pitchFamily="34" charset="0"/>
        <a:buChar char="▪"/>
        <a:defRPr sz="2000" kern="1200">
          <a:solidFill>
            <a:schemeClr val="tx2"/>
          </a:solidFill>
          <a:latin typeface="+mn-lt"/>
          <a:ea typeface="+mn-ea"/>
          <a:cs typeface="+mn-cs"/>
        </a:defRPr>
      </a:lvl1pPr>
      <a:lvl2pPr marL="594360" indent="-228600" algn="l" defTabSz="914400" rtl="0" eaLnBrk="1" latinLnBrk="0" hangingPunct="1">
        <a:lnSpc>
          <a:spcPct val="90000"/>
        </a:lnSpc>
        <a:spcBef>
          <a:spcPts val="1000"/>
        </a:spcBef>
        <a:buClr>
          <a:schemeClr val="tx2"/>
        </a:buClr>
        <a:buSzPct val="100000"/>
        <a:buFont typeface="Arial" pitchFamily="34" charset="0"/>
        <a:buChar char="▪"/>
        <a:defRPr sz="1800" kern="1200">
          <a:solidFill>
            <a:schemeClr val="tx2"/>
          </a:solidFill>
          <a:latin typeface="+mn-lt"/>
          <a:ea typeface="+mn-ea"/>
          <a:cs typeface="+mn-cs"/>
        </a:defRPr>
      </a:lvl2pPr>
      <a:lvl3pPr marL="914400" indent="-228600" algn="l" defTabSz="914400" rtl="0" eaLnBrk="1" latinLnBrk="0" hangingPunct="1">
        <a:lnSpc>
          <a:spcPct val="90000"/>
        </a:lnSpc>
        <a:spcBef>
          <a:spcPts val="800"/>
        </a:spcBef>
        <a:buClr>
          <a:schemeClr val="tx2"/>
        </a:buClr>
        <a:buSzPct val="100000"/>
        <a:buFont typeface="Arial" pitchFamily="34" charset="0"/>
        <a:buChar char="▪"/>
        <a:defRPr sz="1600" kern="1200">
          <a:solidFill>
            <a:schemeClr val="tx2"/>
          </a:solidFill>
          <a:latin typeface="+mn-lt"/>
          <a:ea typeface="+mn-ea"/>
          <a:cs typeface="+mn-cs"/>
        </a:defRPr>
      </a:lvl3pPr>
      <a:lvl4pPr marL="1234440" indent="-228600" algn="l" defTabSz="914400" rtl="0" eaLnBrk="1" latinLnBrk="0" hangingPunct="1">
        <a:lnSpc>
          <a:spcPct val="90000"/>
        </a:lnSpc>
        <a:spcBef>
          <a:spcPts val="800"/>
        </a:spcBef>
        <a:buClr>
          <a:schemeClr val="tx2"/>
        </a:buClr>
        <a:buSzPct val="100000"/>
        <a:buFont typeface="Arial" pitchFamily="34" charset="0"/>
        <a:buChar char="▪"/>
        <a:defRPr sz="1400" kern="1200">
          <a:solidFill>
            <a:schemeClr val="tx2"/>
          </a:solidFill>
          <a:latin typeface="+mn-lt"/>
          <a:ea typeface="+mn-ea"/>
          <a:cs typeface="+mn-cs"/>
        </a:defRPr>
      </a:lvl4pPr>
      <a:lvl5pPr marL="1554480" indent="-228600" algn="l" defTabSz="914400" rtl="0" eaLnBrk="1" latinLnBrk="0" hangingPunct="1">
        <a:lnSpc>
          <a:spcPct val="90000"/>
        </a:lnSpc>
        <a:spcBef>
          <a:spcPts val="800"/>
        </a:spcBef>
        <a:buClr>
          <a:schemeClr val="tx2"/>
        </a:buClr>
        <a:buSzPct val="100000"/>
        <a:buFont typeface="Arial" pitchFamily="34" charset="0"/>
        <a:buChar char="▪"/>
        <a:defRPr sz="1400" kern="1200">
          <a:solidFill>
            <a:schemeClr val="tx2"/>
          </a:solidFill>
          <a:latin typeface="+mn-lt"/>
          <a:ea typeface="+mn-ea"/>
          <a:cs typeface="+mn-cs"/>
        </a:defRPr>
      </a:lvl5pPr>
      <a:lvl6pPr marL="1874520" indent="-228600" algn="l" defTabSz="914400" rtl="0" eaLnBrk="1" latinLnBrk="0" hangingPunct="1">
        <a:lnSpc>
          <a:spcPct val="90000"/>
        </a:lnSpc>
        <a:spcBef>
          <a:spcPts val="800"/>
        </a:spcBef>
        <a:buSzPct val="100000"/>
        <a:buFont typeface="Arial" pitchFamily="34" charset="0"/>
        <a:buChar char="▪"/>
        <a:defRPr sz="1400" kern="1200">
          <a:solidFill>
            <a:schemeClr val="tx2"/>
          </a:solidFill>
          <a:latin typeface="+mn-lt"/>
          <a:ea typeface="+mn-ea"/>
          <a:cs typeface="+mn-cs"/>
        </a:defRPr>
      </a:lvl6pPr>
      <a:lvl7pPr marL="2194560" indent="-228600" algn="l" defTabSz="914400" rtl="0" eaLnBrk="1" latinLnBrk="0" hangingPunct="1">
        <a:lnSpc>
          <a:spcPct val="90000"/>
        </a:lnSpc>
        <a:spcBef>
          <a:spcPts val="800"/>
        </a:spcBef>
        <a:buSzPct val="100000"/>
        <a:buFont typeface="Arial" pitchFamily="34" charset="0"/>
        <a:buChar char="▪"/>
        <a:defRPr sz="1400" kern="1200" baseline="0">
          <a:solidFill>
            <a:schemeClr val="tx2"/>
          </a:solidFill>
          <a:latin typeface="+mn-lt"/>
          <a:ea typeface="+mn-ea"/>
          <a:cs typeface="+mn-cs"/>
        </a:defRPr>
      </a:lvl7pPr>
      <a:lvl8pPr marL="2514600" indent="-228600" algn="l" defTabSz="914400" rtl="0" eaLnBrk="1" latinLnBrk="0" hangingPunct="1">
        <a:lnSpc>
          <a:spcPct val="90000"/>
        </a:lnSpc>
        <a:spcBef>
          <a:spcPts val="800"/>
        </a:spcBef>
        <a:buSzPct val="100000"/>
        <a:buFont typeface="Arial" pitchFamily="34" charset="0"/>
        <a:buChar char="▪"/>
        <a:defRPr sz="1400" kern="1200" baseline="0">
          <a:solidFill>
            <a:schemeClr val="tx2"/>
          </a:solidFill>
          <a:latin typeface="+mn-lt"/>
          <a:ea typeface="+mn-ea"/>
          <a:cs typeface="+mn-cs"/>
        </a:defRPr>
      </a:lvl8pPr>
      <a:lvl9pPr marL="2834640" indent="-228600" algn="l" defTabSz="914400" rtl="0" eaLnBrk="1" latinLnBrk="0" hangingPunct="1">
        <a:lnSpc>
          <a:spcPct val="90000"/>
        </a:lnSpc>
        <a:spcBef>
          <a:spcPts val="800"/>
        </a:spcBef>
        <a:buSzPct val="100000"/>
        <a:buFont typeface="Arial" pitchFamily="34" charset="0"/>
        <a:buChar char="▪"/>
        <a:defRPr sz="1400" kern="1200" baseline="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amuelchukwuemeka.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youtube.com/playlist?list=PLjyyswMG9g9D4-hvqIt8PW76u0E9adRsR"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hyperlink" Target="http://www.sec.gov/divisions/marketreg/mrexchanges.shtml" TargetMode="External"/><Relationship Id="rId3" Type="http://schemas.openxmlformats.org/officeDocument/2006/relationships/hyperlink" Target="http://www.nasdaq.com/investing/glossary/" TargetMode="External"/><Relationship Id="rId7" Type="http://schemas.openxmlformats.org/officeDocument/2006/relationships/hyperlink" Target="http://finance.yahoo.com/" TargetMode="External"/><Relationship Id="rId2" Type="http://schemas.openxmlformats.org/officeDocument/2006/relationships/hyperlink" Target="http://www.finance-calculators.appspot.com/" TargetMode="External"/><Relationship Id="rId1" Type="http://schemas.openxmlformats.org/officeDocument/2006/relationships/slideLayout" Target="../slideLayouts/slideLayout2.xml"/><Relationship Id="rId6" Type="http://schemas.openxmlformats.org/officeDocument/2006/relationships/hyperlink" Target="http://www1.nyse.com/pdfs/NYSE_posterA_Mech.pdf" TargetMode="External"/><Relationship Id="rId5" Type="http://schemas.openxmlformats.org/officeDocument/2006/relationships/hyperlink" Target="http://www1.nyse.com/pdfs/glossary.pdf" TargetMode="External"/><Relationship Id="rId4" Type="http://schemas.openxmlformats.org/officeDocument/2006/relationships/hyperlink" Target="http://www.computershare.com/us/Pages/glossary.asp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3999" y="4800600"/>
            <a:ext cx="9144002" cy="763073"/>
          </a:xfrm>
        </p:spPr>
        <p:txBody>
          <a:bodyPr/>
          <a:lstStyle/>
          <a:p>
            <a:r>
              <a:rPr lang="en-US" dirty="0"/>
              <a:t>Investments for Retirement – Part 1</a:t>
            </a:r>
          </a:p>
        </p:txBody>
      </p:sp>
      <p:sp>
        <p:nvSpPr>
          <p:cNvPr id="4" name="Subtitle 3"/>
          <p:cNvSpPr>
            <a:spLocks noGrp="1"/>
          </p:cNvSpPr>
          <p:nvPr>
            <p:ph type="subTitle" idx="1"/>
          </p:nvPr>
        </p:nvSpPr>
        <p:spPr>
          <a:xfrm>
            <a:off x="1522413" y="5653825"/>
            <a:ext cx="9144002" cy="1051775"/>
          </a:xfrm>
        </p:spPr>
        <p:txBody>
          <a:bodyPr>
            <a:normAutofit fontScale="92500" lnSpcReduction="20000"/>
          </a:bodyPr>
          <a:lstStyle/>
          <a:p>
            <a:r>
              <a:rPr lang="en-US" sz="3900" dirty="0">
                <a:solidFill>
                  <a:srgbClr val="FFFF00"/>
                </a:solidFill>
                <a:latin typeface="Bell MT" panose="02020503060305020303" pitchFamily="18" charset="0"/>
              </a:rPr>
              <a:t>Samuel Chukwuemeka</a:t>
            </a:r>
            <a:r>
              <a:rPr lang="en-US" sz="3900" dirty="0">
                <a:latin typeface="Bell MT" panose="02020503060305020303" pitchFamily="18" charset="0"/>
              </a:rPr>
              <a:t> </a:t>
            </a:r>
            <a:r>
              <a:rPr lang="en-US" dirty="0"/>
              <a:t>  </a:t>
            </a:r>
            <a:r>
              <a:rPr lang="en-US" dirty="0">
                <a:latin typeface="Bell MT" panose="02020503060305020303" pitchFamily="18" charset="0"/>
              </a:rPr>
              <a:t>B.Eng., A.A.T, M.Ed., M.S</a:t>
            </a:r>
          </a:p>
          <a:p>
            <a:endParaRPr lang="en-US" dirty="0"/>
          </a:p>
          <a:p>
            <a:r>
              <a:rPr lang="en-US" sz="3200" dirty="0">
                <a:solidFill>
                  <a:srgbClr val="FFFF00"/>
                </a:solidFill>
                <a:latin typeface="Bell MT" panose="02020503060305020303" pitchFamily="18" charset="0"/>
                <a:hlinkClick r:id="rId2"/>
              </a:rPr>
              <a:t>www.samuelchukwuemeka.com</a:t>
            </a:r>
            <a:endParaRPr lang="en-US" sz="3200" dirty="0">
              <a:solidFill>
                <a:srgbClr val="FFFF00"/>
              </a:solidFill>
              <a:latin typeface="Bell MT" panose="02020503060305020303" pitchFamily="18"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92462" y="133619"/>
            <a:ext cx="6369676" cy="3886200"/>
          </a:xfrm>
          <a:prstGeom prst="rect">
            <a:avLst/>
          </a:prstGeom>
        </p:spPr>
      </p:pic>
    </p:spTree>
    <p:extLst>
      <p:ext uri="{BB962C8B-B14F-4D97-AF65-F5344CB8AC3E}">
        <p14:creationId xmlns:p14="http://schemas.microsoft.com/office/powerpoint/2010/main" val="2798809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Why Do We Need to Invest? </a:t>
            </a:r>
          </a:p>
        </p:txBody>
      </p:sp>
      <p:sp>
        <p:nvSpPr>
          <p:cNvPr id="14" name="Content Placeholder 13"/>
          <p:cNvSpPr>
            <a:spLocks noGrp="1"/>
          </p:cNvSpPr>
          <p:nvPr>
            <p:ph idx="1"/>
          </p:nvPr>
        </p:nvSpPr>
        <p:spPr>
          <a:xfrm>
            <a:off x="1341120" y="1390918"/>
            <a:ext cx="9509760" cy="4638661"/>
          </a:xfrm>
        </p:spPr>
        <p:txBody>
          <a:bodyPr/>
          <a:lstStyle/>
          <a:p>
            <a:r>
              <a:rPr lang="en-US" dirty="0"/>
              <a:t>Raise your hand if you still want to be working very hard by age 60!</a:t>
            </a:r>
          </a:p>
          <a:p>
            <a:r>
              <a:rPr lang="en-US" dirty="0"/>
              <a:t>At what age would you want to retire?</a:t>
            </a:r>
          </a:p>
          <a:p>
            <a:r>
              <a:rPr lang="en-US" dirty="0"/>
              <a:t>What do you think the average age of retirement should be?</a:t>
            </a:r>
          </a:p>
          <a:p>
            <a:r>
              <a:rPr lang="en-US" dirty="0"/>
              <a:t>Which country has the highest retirement age for men, women? What are the ages?</a:t>
            </a:r>
          </a:p>
          <a:p>
            <a:r>
              <a:rPr lang="en-US" dirty="0"/>
              <a:t>Which country has the least retirement age for men, women? What are the ages?</a:t>
            </a:r>
          </a:p>
          <a:p>
            <a:r>
              <a:rPr lang="en-US" dirty="0"/>
              <a:t>Are you really planning for retirement? Or is it not your worry now?</a:t>
            </a:r>
          </a:p>
          <a:p>
            <a:r>
              <a:rPr lang="en-US" dirty="0"/>
              <a:t>What are some of the ways you are planning for retirement besides relying on Social Security benefits (if you are U.S citizen)? Are you aware that Social Security benefits continues to be one of the topics of political debate?</a:t>
            </a:r>
          </a:p>
          <a:p>
            <a:r>
              <a:rPr lang="en-US" dirty="0"/>
              <a:t>Pre-requisite Videos: </a:t>
            </a:r>
            <a:r>
              <a:rPr lang="en-US" dirty="0">
                <a:hlinkClick r:id="rId2"/>
              </a:rPr>
              <a:t>Mathematics of Finance</a:t>
            </a:r>
            <a:endParaRPr lang="en-US" dirty="0"/>
          </a:p>
        </p:txBody>
      </p:sp>
    </p:spTree>
    <p:extLst>
      <p:ext uri="{BB962C8B-B14F-4D97-AF65-F5344CB8AC3E}">
        <p14:creationId xmlns:p14="http://schemas.microsoft.com/office/powerpoint/2010/main" val="1495955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1000"/>
                                        <p:tgtEl>
                                          <p:spTgt spid="14">
                                            <p:txEl>
                                              <p:pRg st="0" end="0"/>
                                            </p:txEl>
                                          </p:spTgt>
                                        </p:tgtEl>
                                      </p:cBhvr>
                                    </p:animEffect>
                                    <p:anim calcmode="lin" valueType="num">
                                      <p:cBhvr>
                                        <p:cTn id="8"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1" end="1"/>
                                            </p:txEl>
                                          </p:spTgt>
                                        </p:tgtEl>
                                        <p:attrNameLst>
                                          <p:attrName>style.visibility</p:attrName>
                                        </p:attrNameLst>
                                      </p:cBhvr>
                                      <p:to>
                                        <p:strVal val="visible"/>
                                      </p:to>
                                    </p:set>
                                    <p:animEffect transition="in" filter="fade">
                                      <p:cBhvr>
                                        <p:cTn id="14" dur="1000"/>
                                        <p:tgtEl>
                                          <p:spTgt spid="14">
                                            <p:txEl>
                                              <p:pRg st="1" end="1"/>
                                            </p:txEl>
                                          </p:spTgt>
                                        </p:tgtEl>
                                      </p:cBhvr>
                                    </p:animEffect>
                                    <p:anim calcmode="lin" valueType="num">
                                      <p:cBhvr>
                                        <p:cTn id="15"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2" end="2"/>
                                            </p:txEl>
                                          </p:spTgt>
                                        </p:tgtEl>
                                        <p:attrNameLst>
                                          <p:attrName>style.visibility</p:attrName>
                                        </p:attrNameLst>
                                      </p:cBhvr>
                                      <p:to>
                                        <p:strVal val="visible"/>
                                      </p:to>
                                    </p:set>
                                    <p:animEffect transition="in" filter="fade">
                                      <p:cBhvr>
                                        <p:cTn id="21" dur="1000"/>
                                        <p:tgtEl>
                                          <p:spTgt spid="14">
                                            <p:txEl>
                                              <p:pRg st="2" end="2"/>
                                            </p:txEl>
                                          </p:spTgt>
                                        </p:tgtEl>
                                      </p:cBhvr>
                                    </p:animEffect>
                                    <p:anim calcmode="lin" valueType="num">
                                      <p:cBhvr>
                                        <p:cTn id="22"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3" end="3"/>
                                            </p:txEl>
                                          </p:spTgt>
                                        </p:tgtEl>
                                        <p:attrNameLst>
                                          <p:attrName>style.visibility</p:attrName>
                                        </p:attrNameLst>
                                      </p:cBhvr>
                                      <p:to>
                                        <p:strVal val="visible"/>
                                      </p:to>
                                    </p:set>
                                    <p:animEffect transition="in" filter="fade">
                                      <p:cBhvr>
                                        <p:cTn id="28" dur="1000"/>
                                        <p:tgtEl>
                                          <p:spTgt spid="14">
                                            <p:txEl>
                                              <p:pRg st="3" end="3"/>
                                            </p:txEl>
                                          </p:spTgt>
                                        </p:tgtEl>
                                      </p:cBhvr>
                                    </p:animEffect>
                                    <p:anim calcmode="lin" valueType="num">
                                      <p:cBhvr>
                                        <p:cTn id="29"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4">
                                            <p:txEl>
                                              <p:pRg st="4" end="4"/>
                                            </p:txEl>
                                          </p:spTgt>
                                        </p:tgtEl>
                                        <p:attrNameLst>
                                          <p:attrName>style.visibility</p:attrName>
                                        </p:attrNameLst>
                                      </p:cBhvr>
                                      <p:to>
                                        <p:strVal val="visible"/>
                                      </p:to>
                                    </p:set>
                                    <p:animEffect transition="in" filter="fade">
                                      <p:cBhvr>
                                        <p:cTn id="35" dur="1000"/>
                                        <p:tgtEl>
                                          <p:spTgt spid="14">
                                            <p:txEl>
                                              <p:pRg st="4" end="4"/>
                                            </p:txEl>
                                          </p:spTgt>
                                        </p:tgtEl>
                                      </p:cBhvr>
                                    </p:animEffect>
                                    <p:anim calcmode="lin" valueType="num">
                                      <p:cBhvr>
                                        <p:cTn id="36"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4">
                                            <p:txEl>
                                              <p:pRg st="5" end="5"/>
                                            </p:txEl>
                                          </p:spTgt>
                                        </p:tgtEl>
                                        <p:attrNameLst>
                                          <p:attrName>style.visibility</p:attrName>
                                        </p:attrNameLst>
                                      </p:cBhvr>
                                      <p:to>
                                        <p:strVal val="visible"/>
                                      </p:to>
                                    </p:set>
                                    <p:animEffect transition="in" filter="fade">
                                      <p:cBhvr>
                                        <p:cTn id="42" dur="1000"/>
                                        <p:tgtEl>
                                          <p:spTgt spid="14">
                                            <p:txEl>
                                              <p:pRg st="5" end="5"/>
                                            </p:txEl>
                                          </p:spTgt>
                                        </p:tgtEl>
                                      </p:cBhvr>
                                    </p:animEffect>
                                    <p:anim calcmode="lin" valueType="num">
                                      <p:cBhvr>
                                        <p:cTn id="43"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4">
                                            <p:txEl>
                                              <p:pRg st="6" end="6"/>
                                            </p:txEl>
                                          </p:spTgt>
                                        </p:tgtEl>
                                        <p:attrNameLst>
                                          <p:attrName>style.visibility</p:attrName>
                                        </p:attrNameLst>
                                      </p:cBhvr>
                                      <p:to>
                                        <p:strVal val="visible"/>
                                      </p:to>
                                    </p:set>
                                    <p:animEffect transition="in" filter="fade">
                                      <p:cBhvr>
                                        <p:cTn id="49" dur="1000"/>
                                        <p:tgtEl>
                                          <p:spTgt spid="14">
                                            <p:txEl>
                                              <p:pRg st="6" end="6"/>
                                            </p:txEl>
                                          </p:spTgt>
                                        </p:tgtEl>
                                      </p:cBhvr>
                                    </p:animEffect>
                                    <p:anim calcmode="lin" valueType="num">
                                      <p:cBhvr>
                                        <p:cTn id="50" dur="1000" fill="hold"/>
                                        <p:tgtEl>
                                          <p:spTgt spid="14">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1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Objectives </a:t>
            </a:r>
          </a:p>
        </p:txBody>
      </p:sp>
      <p:sp>
        <p:nvSpPr>
          <p:cNvPr id="14" name="Content Placeholder 13"/>
          <p:cNvSpPr>
            <a:spLocks noGrp="1"/>
          </p:cNvSpPr>
          <p:nvPr>
            <p:ph idx="1"/>
          </p:nvPr>
        </p:nvSpPr>
        <p:spPr>
          <a:xfrm>
            <a:off x="1341120" y="1390918"/>
            <a:ext cx="9509760" cy="4638661"/>
          </a:xfrm>
        </p:spPr>
        <p:txBody>
          <a:bodyPr/>
          <a:lstStyle/>
          <a:p>
            <a:r>
              <a:rPr lang="en-US" dirty="0"/>
              <a:t>At the end of this presentation, students will:</a:t>
            </a:r>
          </a:p>
          <a:p>
            <a:r>
              <a:rPr lang="en-US" sz="2800" dirty="0"/>
              <a:t>List and define the basic types of investments in the United States.</a:t>
            </a:r>
          </a:p>
          <a:p>
            <a:r>
              <a:rPr lang="en-US" sz="2800" dirty="0"/>
              <a:t>Differentiate between Traditional IRAs and Roth IRAs.</a:t>
            </a:r>
          </a:p>
          <a:p>
            <a:r>
              <a:rPr lang="en-US" sz="2800" dirty="0"/>
              <a:t>Read and Interpret Stock Tables.</a:t>
            </a:r>
          </a:p>
          <a:p>
            <a:r>
              <a:rPr lang="en-US" sz="2800" dirty="0"/>
              <a:t>Perform calculations on several investments including 401(k) and IRAs.</a:t>
            </a:r>
          </a:p>
          <a:p>
            <a:r>
              <a:rPr lang="en-US" sz="2800" dirty="0"/>
              <a:t>Calculate the future value of an ordinary annuity.</a:t>
            </a:r>
          </a:p>
        </p:txBody>
      </p:sp>
    </p:spTree>
    <p:extLst>
      <p:ext uri="{BB962C8B-B14F-4D97-AF65-F5344CB8AC3E}">
        <p14:creationId xmlns:p14="http://schemas.microsoft.com/office/powerpoint/2010/main" val="95100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animEffect transition="in" filter="fade">
                                      <p:cBhvr>
                                        <p:cTn id="7" dur="1000"/>
                                        <p:tgtEl>
                                          <p:spTgt spid="14">
                                            <p:txEl>
                                              <p:pRg st="1" end="1"/>
                                            </p:txEl>
                                          </p:spTgt>
                                        </p:tgtEl>
                                      </p:cBhvr>
                                    </p:animEffect>
                                    <p:anim calcmode="lin" valueType="num">
                                      <p:cBhvr>
                                        <p:cTn id="8"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2" end="2"/>
                                            </p:txEl>
                                          </p:spTgt>
                                        </p:tgtEl>
                                        <p:attrNameLst>
                                          <p:attrName>style.visibility</p:attrName>
                                        </p:attrNameLst>
                                      </p:cBhvr>
                                      <p:to>
                                        <p:strVal val="visible"/>
                                      </p:to>
                                    </p:set>
                                    <p:animEffect transition="in" filter="fade">
                                      <p:cBhvr>
                                        <p:cTn id="14" dur="1000"/>
                                        <p:tgtEl>
                                          <p:spTgt spid="14">
                                            <p:txEl>
                                              <p:pRg st="2" end="2"/>
                                            </p:txEl>
                                          </p:spTgt>
                                        </p:tgtEl>
                                      </p:cBhvr>
                                    </p:animEffect>
                                    <p:anim calcmode="lin" valueType="num">
                                      <p:cBhvr>
                                        <p:cTn id="15"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3" end="3"/>
                                            </p:txEl>
                                          </p:spTgt>
                                        </p:tgtEl>
                                        <p:attrNameLst>
                                          <p:attrName>style.visibility</p:attrName>
                                        </p:attrNameLst>
                                      </p:cBhvr>
                                      <p:to>
                                        <p:strVal val="visible"/>
                                      </p:to>
                                    </p:set>
                                    <p:animEffect transition="in" filter="fade">
                                      <p:cBhvr>
                                        <p:cTn id="21" dur="1000"/>
                                        <p:tgtEl>
                                          <p:spTgt spid="14">
                                            <p:txEl>
                                              <p:pRg st="3" end="3"/>
                                            </p:txEl>
                                          </p:spTgt>
                                        </p:tgtEl>
                                      </p:cBhvr>
                                    </p:animEffect>
                                    <p:anim calcmode="lin" valueType="num">
                                      <p:cBhvr>
                                        <p:cTn id="22"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4" end="4"/>
                                            </p:txEl>
                                          </p:spTgt>
                                        </p:tgtEl>
                                        <p:attrNameLst>
                                          <p:attrName>style.visibility</p:attrName>
                                        </p:attrNameLst>
                                      </p:cBhvr>
                                      <p:to>
                                        <p:strVal val="visible"/>
                                      </p:to>
                                    </p:set>
                                    <p:animEffect transition="in" filter="fade">
                                      <p:cBhvr>
                                        <p:cTn id="28" dur="1000"/>
                                        <p:tgtEl>
                                          <p:spTgt spid="14">
                                            <p:txEl>
                                              <p:pRg st="4" end="4"/>
                                            </p:txEl>
                                          </p:spTgt>
                                        </p:tgtEl>
                                      </p:cBhvr>
                                    </p:animEffect>
                                    <p:anim calcmode="lin" valueType="num">
                                      <p:cBhvr>
                                        <p:cTn id="29"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4">
                                            <p:txEl>
                                              <p:pRg st="5" end="5"/>
                                            </p:txEl>
                                          </p:spTgt>
                                        </p:tgtEl>
                                        <p:attrNameLst>
                                          <p:attrName>style.visibility</p:attrName>
                                        </p:attrNameLst>
                                      </p:cBhvr>
                                      <p:to>
                                        <p:strVal val="visible"/>
                                      </p:to>
                                    </p:set>
                                    <p:animEffect transition="in" filter="fade">
                                      <p:cBhvr>
                                        <p:cTn id="35" dur="1000"/>
                                        <p:tgtEl>
                                          <p:spTgt spid="14">
                                            <p:txEl>
                                              <p:pRg st="5" end="5"/>
                                            </p:txEl>
                                          </p:spTgt>
                                        </p:tgtEl>
                                      </p:cBhvr>
                                    </p:animEffect>
                                    <p:anim calcmode="lin" valueType="num">
                                      <p:cBhvr>
                                        <p:cTn id="36"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Investment  </a:t>
            </a:r>
          </a:p>
        </p:txBody>
      </p:sp>
      <p:sp>
        <p:nvSpPr>
          <p:cNvPr id="14" name="Content Placeholder 13"/>
          <p:cNvSpPr>
            <a:spLocks noGrp="1"/>
          </p:cNvSpPr>
          <p:nvPr>
            <p:ph idx="1"/>
          </p:nvPr>
        </p:nvSpPr>
        <p:spPr>
          <a:xfrm>
            <a:off x="1341120" y="1390918"/>
            <a:ext cx="9509760" cy="4638661"/>
          </a:xfrm>
        </p:spPr>
        <p:txBody>
          <a:bodyPr/>
          <a:lstStyle/>
          <a:p>
            <a:r>
              <a:rPr lang="en-US" dirty="0"/>
              <a:t>Is defined as the investing of money or capital in a business in order to yield profitable returns. This is otherwise known as </a:t>
            </a:r>
            <a:r>
              <a:rPr lang="en-US" u="sng" dirty="0"/>
              <a:t>Cash Investment</a:t>
            </a:r>
            <a:r>
              <a:rPr lang="en-US" dirty="0"/>
              <a:t>.</a:t>
            </a:r>
          </a:p>
          <a:p>
            <a:r>
              <a:rPr lang="en-US" dirty="0"/>
              <a:t>There are two main things associated with cash investments: </a:t>
            </a:r>
            <a:r>
              <a:rPr lang="en-US" b="1" dirty="0"/>
              <a:t>Risk</a:t>
            </a:r>
            <a:r>
              <a:rPr lang="en-US" dirty="0"/>
              <a:t> and </a:t>
            </a:r>
            <a:r>
              <a:rPr lang="en-US" b="1" dirty="0"/>
              <a:t>Return</a:t>
            </a:r>
            <a:r>
              <a:rPr lang="en-US" dirty="0"/>
              <a:t>.</a:t>
            </a:r>
          </a:p>
          <a:p>
            <a:r>
              <a:rPr lang="en-US" dirty="0"/>
              <a:t>Some investments carry no risk at all. For example, the U.S Federal Government insures up to $250,000 of money deposited (principal) in most bank accounts.</a:t>
            </a:r>
          </a:p>
          <a:p>
            <a:r>
              <a:rPr lang="en-US" dirty="0"/>
              <a:t>The return on investment (ROI) should be a profit, not a loss. Nobody wants to have a loss. The interest rate usually guarantees a percent increase in the investment </a:t>
            </a:r>
            <a:r>
              <a:rPr lang="en-US" i="1" dirty="0"/>
              <a:t>ceteris paribus. </a:t>
            </a:r>
            <a:r>
              <a:rPr lang="en-US" u="sng" dirty="0"/>
              <a:t>Remember the two goals of every business</a:t>
            </a:r>
            <a:r>
              <a:rPr lang="en-US" dirty="0"/>
              <a:t>: (1.) </a:t>
            </a:r>
            <a:r>
              <a:rPr lang="en-US" b="1" dirty="0"/>
              <a:t>Maximize profits</a:t>
            </a:r>
            <a:r>
              <a:rPr lang="en-US" dirty="0"/>
              <a:t>. (2.) </a:t>
            </a:r>
            <a:r>
              <a:rPr lang="en-US" b="1" dirty="0"/>
              <a:t>Minimize cost</a:t>
            </a:r>
            <a:r>
              <a:rPr lang="en-US" dirty="0"/>
              <a:t>. </a:t>
            </a:r>
          </a:p>
          <a:p>
            <a:r>
              <a:rPr lang="en-US" dirty="0"/>
              <a:t>Some investments will result in a profit. Some will result in a loss. Why? </a:t>
            </a:r>
          </a:p>
          <a:p>
            <a:r>
              <a:rPr lang="en-US" dirty="0"/>
              <a:t>Sometimes, the higher the risk; the higher the return. But, that is not a rule.</a:t>
            </a:r>
          </a:p>
          <a:p>
            <a:endParaRPr lang="en-US" dirty="0"/>
          </a:p>
          <a:p>
            <a:endParaRPr lang="en-US" dirty="0"/>
          </a:p>
        </p:txBody>
      </p:sp>
    </p:spTree>
    <p:extLst>
      <p:ext uri="{BB962C8B-B14F-4D97-AF65-F5344CB8AC3E}">
        <p14:creationId xmlns:p14="http://schemas.microsoft.com/office/powerpoint/2010/main" val="1956777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1000"/>
                                        <p:tgtEl>
                                          <p:spTgt spid="14">
                                            <p:txEl>
                                              <p:pRg st="0" end="0"/>
                                            </p:txEl>
                                          </p:spTgt>
                                        </p:tgtEl>
                                      </p:cBhvr>
                                    </p:animEffect>
                                    <p:anim calcmode="lin" valueType="num">
                                      <p:cBhvr>
                                        <p:cTn id="8"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1" end="1"/>
                                            </p:txEl>
                                          </p:spTgt>
                                        </p:tgtEl>
                                        <p:attrNameLst>
                                          <p:attrName>style.visibility</p:attrName>
                                        </p:attrNameLst>
                                      </p:cBhvr>
                                      <p:to>
                                        <p:strVal val="visible"/>
                                      </p:to>
                                    </p:set>
                                    <p:animEffect transition="in" filter="fade">
                                      <p:cBhvr>
                                        <p:cTn id="14" dur="1000"/>
                                        <p:tgtEl>
                                          <p:spTgt spid="14">
                                            <p:txEl>
                                              <p:pRg st="1" end="1"/>
                                            </p:txEl>
                                          </p:spTgt>
                                        </p:tgtEl>
                                      </p:cBhvr>
                                    </p:animEffect>
                                    <p:anim calcmode="lin" valueType="num">
                                      <p:cBhvr>
                                        <p:cTn id="15"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2" end="2"/>
                                            </p:txEl>
                                          </p:spTgt>
                                        </p:tgtEl>
                                        <p:attrNameLst>
                                          <p:attrName>style.visibility</p:attrName>
                                        </p:attrNameLst>
                                      </p:cBhvr>
                                      <p:to>
                                        <p:strVal val="visible"/>
                                      </p:to>
                                    </p:set>
                                    <p:animEffect transition="in" filter="fade">
                                      <p:cBhvr>
                                        <p:cTn id="21" dur="1000"/>
                                        <p:tgtEl>
                                          <p:spTgt spid="14">
                                            <p:txEl>
                                              <p:pRg st="2" end="2"/>
                                            </p:txEl>
                                          </p:spTgt>
                                        </p:tgtEl>
                                      </p:cBhvr>
                                    </p:animEffect>
                                    <p:anim calcmode="lin" valueType="num">
                                      <p:cBhvr>
                                        <p:cTn id="22"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3" end="3"/>
                                            </p:txEl>
                                          </p:spTgt>
                                        </p:tgtEl>
                                        <p:attrNameLst>
                                          <p:attrName>style.visibility</p:attrName>
                                        </p:attrNameLst>
                                      </p:cBhvr>
                                      <p:to>
                                        <p:strVal val="visible"/>
                                      </p:to>
                                    </p:set>
                                    <p:animEffect transition="in" filter="fade">
                                      <p:cBhvr>
                                        <p:cTn id="28" dur="1000"/>
                                        <p:tgtEl>
                                          <p:spTgt spid="14">
                                            <p:txEl>
                                              <p:pRg st="3" end="3"/>
                                            </p:txEl>
                                          </p:spTgt>
                                        </p:tgtEl>
                                      </p:cBhvr>
                                    </p:animEffect>
                                    <p:anim calcmode="lin" valueType="num">
                                      <p:cBhvr>
                                        <p:cTn id="29"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4">
                                            <p:txEl>
                                              <p:pRg st="4" end="4"/>
                                            </p:txEl>
                                          </p:spTgt>
                                        </p:tgtEl>
                                        <p:attrNameLst>
                                          <p:attrName>style.visibility</p:attrName>
                                        </p:attrNameLst>
                                      </p:cBhvr>
                                      <p:to>
                                        <p:strVal val="visible"/>
                                      </p:to>
                                    </p:set>
                                    <p:animEffect transition="in" filter="fade">
                                      <p:cBhvr>
                                        <p:cTn id="35" dur="1000"/>
                                        <p:tgtEl>
                                          <p:spTgt spid="14">
                                            <p:txEl>
                                              <p:pRg st="4" end="4"/>
                                            </p:txEl>
                                          </p:spTgt>
                                        </p:tgtEl>
                                      </p:cBhvr>
                                    </p:animEffect>
                                    <p:anim calcmode="lin" valueType="num">
                                      <p:cBhvr>
                                        <p:cTn id="36"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4">
                                            <p:txEl>
                                              <p:pRg st="5" end="5"/>
                                            </p:txEl>
                                          </p:spTgt>
                                        </p:tgtEl>
                                        <p:attrNameLst>
                                          <p:attrName>style.visibility</p:attrName>
                                        </p:attrNameLst>
                                      </p:cBhvr>
                                      <p:to>
                                        <p:strVal val="visible"/>
                                      </p:to>
                                    </p:set>
                                    <p:animEffect transition="in" filter="fade">
                                      <p:cBhvr>
                                        <p:cTn id="42" dur="1000"/>
                                        <p:tgtEl>
                                          <p:spTgt spid="14">
                                            <p:txEl>
                                              <p:pRg st="5" end="5"/>
                                            </p:txEl>
                                          </p:spTgt>
                                        </p:tgtEl>
                                      </p:cBhvr>
                                    </p:animEffect>
                                    <p:anim calcmode="lin" valueType="num">
                                      <p:cBhvr>
                                        <p:cTn id="43"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Basic Types of Investments in The U.S </a:t>
            </a:r>
          </a:p>
        </p:txBody>
      </p:sp>
      <p:sp>
        <p:nvSpPr>
          <p:cNvPr id="14" name="Content Placeholder 13"/>
          <p:cNvSpPr>
            <a:spLocks noGrp="1"/>
          </p:cNvSpPr>
          <p:nvPr>
            <p:ph idx="1"/>
          </p:nvPr>
        </p:nvSpPr>
        <p:spPr>
          <a:xfrm>
            <a:off x="1341120" y="1390918"/>
            <a:ext cx="9509760" cy="4842457"/>
          </a:xfrm>
        </p:spPr>
        <p:txBody>
          <a:bodyPr>
            <a:normAutofit fontScale="92500" lnSpcReduction="10000"/>
          </a:bodyPr>
          <a:lstStyle/>
          <a:p>
            <a:r>
              <a:rPr lang="en-US" sz="2400" dirty="0"/>
              <a:t>Stocks</a:t>
            </a:r>
          </a:p>
          <a:p>
            <a:r>
              <a:rPr lang="en-US" sz="2400" dirty="0"/>
              <a:t>Bonds </a:t>
            </a:r>
          </a:p>
          <a:p>
            <a:r>
              <a:rPr lang="en-US" sz="2400" dirty="0"/>
              <a:t>Mutual Funds</a:t>
            </a:r>
          </a:p>
          <a:p>
            <a:r>
              <a:rPr lang="en-US" sz="2400" dirty="0"/>
              <a:t>Retirement Savings Accounts</a:t>
            </a:r>
          </a:p>
          <a:p>
            <a:pPr lvl="1"/>
            <a:r>
              <a:rPr lang="en-US" sz="2400" dirty="0"/>
              <a:t>Regular Savings Accounts</a:t>
            </a:r>
          </a:p>
          <a:p>
            <a:pPr lvl="1"/>
            <a:r>
              <a:rPr lang="en-US" sz="2400" dirty="0"/>
              <a:t>Other Investment Accounts (several of them – just ask your bank or financial institution)</a:t>
            </a:r>
          </a:p>
          <a:p>
            <a:pPr lvl="1"/>
            <a:r>
              <a:rPr lang="en-US" sz="2400" dirty="0"/>
              <a:t>Traditional IRA (Traditional Individual Retirement Account)</a:t>
            </a:r>
          </a:p>
          <a:p>
            <a:pPr lvl="1"/>
            <a:r>
              <a:rPr lang="en-US" sz="2400" dirty="0"/>
              <a:t>Roth IRA (Roth Individual Retirement Account)</a:t>
            </a:r>
          </a:p>
          <a:p>
            <a:pPr lvl="1"/>
            <a:r>
              <a:rPr lang="en-US" sz="2400" dirty="0"/>
              <a:t>Employer-sponsored Retirement Plans</a:t>
            </a:r>
          </a:p>
          <a:p>
            <a:pPr lvl="2"/>
            <a:r>
              <a:rPr lang="en-US" sz="2400" dirty="0"/>
              <a:t>401(k) Plan</a:t>
            </a:r>
          </a:p>
          <a:p>
            <a:pPr lvl="2"/>
            <a:r>
              <a:rPr lang="en-US" sz="2400" dirty="0"/>
              <a:t>403(b) Plan</a:t>
            </a:r>
          </a:p>
          <a:p>
            <a:endParaRPr lang="en-US" dirty="0"/>
          </a:p>
          <a:p>
            <a:endParaRPr lang="en-US" dirty="0"/>
          </a:p>
        </p:txBody>
      </p:sp>
      <p:pic>
        <p:nvPicPr>
          <p:cNvPr id="2" name="Picture 1"/>
          <p:cNvPicPr>
            <a:picLocks noChangeAspect="1"/>
          </p:cNvPicPr>
          <p:nvPr/>
        </p:nvPicPr>
        <p:blipFill>
          <a:blip r:embed="rId2"/>
          <a:stretch>
            <a:fillRect/>
          </a:stretch>
        </p:blipFill>
        <p:spPr>
          <a:xfrm>
            <a:off x="5256804" y="1159099"/>
            <a:ext cx="6823580" cy="2485622"/>
          </a:xfrm>
          <a:prstGeom prst="rect">
            <a:avLst/>
          </a:prstGeom>
        </p:spPr>
      </p:pic>
    </p:spTree>
    <p:extLst>
      <p:ext uri="{BB962C8B-B14F-4D97-AF65-F5344CB8AC3E}">
        <p14:creationId xmlns:p14="http://schemas.microsoft.com/office/powerpoint/2010/main" val="3089221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4">
                                            <p:txEl>
                                              <p:pRg st="0" end="0"/>
                                            </p:txEl>
                                          </p:spTgt>
                                        </p:tgtEl>
                                        <p:attrNameLst>
                                          <p:attrName>style.visibility</p:attrName>
                                        </p:attrNameLst>
                                      </p:cBhvr>
                                      <p:to>
                                        <p:strVal val="visible"/>
                                      </p:to>
                                    </p:set>
                                    <p:anim calcmode="lin" valueType="num">
                                      <p:cBhvr additive="base">
                                        <p:cTn id="25" dur="500" fill="hold"/>
                                        <p:tgtEl>
                                          <p:spTgt spid="14">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4">
                                            <p:txEl>
                                              <p:pRg st="1" end="1"/>
                                            </p:txEl>
                                          </p:spTgt>
                                        </p:tgtEl>
                                        <p:attrNameLst>
                                          <p:attrName>style.visibility</p:attrName>
                                        </p:attrNameLst>
                                      </p:cBhvr>
                                      <p:to>
                                        <p:strVal val="visible"/>
                                      </p:to>
                                    </p:set>
                                    <p:anim calcmode="lin" valueType="num">
                                      <p:cBhvr additive="base">
                                        <p:cTn id="31"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4">
                                            <p:txEl>
                                              <p:pRg st="2" end="2"/>
                                            </p:txEl>
                                          </p:spTgt>
                                        </p:tgtEl>
                                        <p:attrNameLst>
                                          <p:attrName>style.visibility</p:attrName>
                                        </p:attrNameLst>
                                      </p:cBhvr>
                                      <p:to>
                                        <p:strVal val="visible"/>
                                      </p:to>
                                    </p:set>
                                    <p:anim calcmode="lin" valueType="num">
                                      <p:cBhvr additive="base">
                                        <p:cTn id="37" dur="500" fill="hold"/>
                                        <p:tgtEl>
                                          <p:spTgt spid="14">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4">
                                            <p:txEl>
                                              <p:pRg st="3" end="3"/>
                                            </p:txEl>
                                          </p:spTgt>
                                        </p:tgtEl>
                                        <p:attrNameLst>
                                          <p:attrName>style.visibility</p:attrName>
                                        </p:attrNameLst>
                                      </p:cBhvr>
                                      <p:to>
                                        <p:strVal val="visible"/>
                                      </p:to>
                                    </p:set>
                                    <p:anim calcmode="lin" valueType="num">
                                      <p:cBhvr additive="base">
                                        <p:cTn id="43" dur="500" fill="hold"/>
                                        <p:tgtEl>
                                          <p:spTgt spid="14">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4">
                                            <p:txEl>
                                              <p:pRg st="4" end="4"/>
                                            </p:txEl>
                                          </p:spTgt>
                                        </p:tgtEl>
                                        <p:attrNameLst>
                                          <p:attrName>style.visibility</p:attrName>
                                        </p:attrNameLst>
                                      </p:cBhvr>
                                      <p:to>
                                        <p:strVal val="visible"/>
                                      </p:to>
                                    </p:set>
                                    <p:animEffect transition="in" filter="fade">
                                      <p:cBhvr>
                                        <p:cTn id="49" dur="1000"/>
                                        <p:tgtEl>
                                          <p:spTgt spid="14">
                                            <p:txEl>
                                              <p:pRg st="4" end="4"/>
                                            </p:txEl>
                                          </p:spTgt>
                                        </p:tgtEl>
                                      </p:cBhvr>
                                    </p:animEffect>
                                    <p:anim calcmode="lin" valueType="num">
                                      <p:cBhvr>
                                        <p:cTn id="50"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51"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4">
                                            <p:txEl>
                                              <p:pRg st="5" end="5"/>
                                            </p:txEl>
                                          </p:spTgt>
                                        </p:tgtEl>
                                        <p:attrNameLst>
                                          <p:attrName>style.visibility</p:attrName>
                                        </p:attrNameLst>
                                      </p:cBhvr>
                                      <p:to>
                                        <p:strVal val="visible"/>
                                      </p:to>
                                    </p:set>
                                    <p:animEffect transition="in" filter="fade">
                                      <p:cBhvr>
                                        <p:cTn id="56" dur="1000"/>
                                        <p:tgtEl>
                                          <p:spTgt spid="14">
                                            <p:txEl>
                                              <p:pRg st="5" end="5"/>
                                            </p:txEl>
                                          </p:spTgt>
                                        </p:tgtEl>
                                      </p:cBhvr>
                                    </p:animEffect>
                                    <p:anim calcmode="lin" valueType="num">
                                      <p:cBhvr>
                                        <p:cTn id="57"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58"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14">
                                            <p:txEl>
                                              <p:pRg st="6" end="6"/>
                                            </p:txEl>
                                          </p:spTgt>
                                        </p:tgtEl>
                                        <p:attrNameLst>
                                          <p:attrName>style.visibility</p:attrName>
                                        </p:attrNameLst>
                                      </p:cBhvr>
                                      <p:to>
                                        <p:strVal val="visible"/>
                                      </p:to>
                                    </p:set>
                                    <p:animEffect transition="in" filter="fade">
                                      <p:cBhvr>
                                        <p:cTn id="63" dur="1000"/>
                                        <p:tgtEl>
                                          <p:spTgt spid="14">
                                            <p:txEl>
                                              <p:pRg st="6" end="6"/>
                                            </p:txEl>
                                          </p:spTgt>
                                        </p:tgtEl>
                                      </p:cBhvr>
                                    </p:animEffect>
                                    <p:anim calcmode="lin" valueType="num">
                                      <p:cBhvr>
                                        <p:cTn id="64" dur="1000" fill="hold"/>
                                        <p:tgtEl>
                                          <p:spTgt spid="14">
                                            <p:txEl>
                                              <p:pRg st="6" end="6"/>
                                            </p:txEl>
                                          </p:spTgt>
                                        </p:tgtEl>
                                        <p:attrNameLst>
                                          <p:attrName>ppt_x</p:attrName>
                                        </p:attrNameLst>
                                      </p:cBhvr>
                                      <p:tavLst>
                                        <p:tav tm="0">
                                          <p:val>
                                            <p:strVal val="#ppt_x"/>
                                          </p:val>
                                        </p:tav>
                                        <p:tav tm="100000">
                                          <p:val>
                                            <p:strVal val="#ppt_x"/>
                                          </p:val>
                                        </p:tav>
                                      </p:tavLst>
                                    </p:anim>
                                    <p:anim calcmode="lin" valueType="num">
                                      <p:cBhvr>
                                        <p:cTn id="65" dur="1000" fill="hold"/>
                                        <p:tgtEl>
                                          <p:spTgt spid="1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14">
                                            <p:txEl>
                                              <p:pRg st="7" end="7"/>
                                            </p:txEl>
                                          </p:spTgt>
                                        </p:tgtEl>
                                        <p:attrNameLst>
                                          <p:attrName>style.visibility</p:attrName>
                                        </p:attrNameLst>
                                      </p:cBhvr>
                                      <p:to>
                                        <p:strVal val="visible"/>
                                      </p:to>
                                    </p:set>
                                    <p:animEffect transition="in" filter="fade">
                                      <p:cBhvr>
                                        <p:cTn id="70" dur="1000"/>
                                        <p:tgtEl>
                                          <p:spTgt spid="14">
                                            <p:txEl>
                                              <p:pRg st="7" end="7"/>
                                            </p:txEl>
                                          </p:spTgt>
                                        </p:tgtEl>
                                      </p:cBhvr>
                                    </p:animEffect>
                                    <p:anim calcmode="lin" valueType="num">
                                      <p:cBhvr>
                                        <p:cTn id="71" dur="1000" fill="hold"/>
                                        <p:tgtEl>
                                          <p:spTgt spid="14">
                                            <p:txEl>
                                              <p:pRg st="7" end="7"/>
                                            </p:txEl>
                                          </p:spTgt>
                                        </p:tgtEl>
                                        <p:attrNameLst>
                                          <p:attrName>ppt_x</p:attrName>
                                        </p:attrNameLst>
                                      </p:cBhvr>
                                      <p:tavLst>
                                        <p:tav tm="0">
                                          <p:val>
                                            <p:strVal val="#ppt_x"/>
                                          </p:val>
                                        </p:tav>
                                        <p:tav tm="100000">
                                          <p:val>
                                            <p:strVal val="#ppt_x"/>
                                          </p:val>
                                        </p:tav>
                                      </p:tavLst>
                                    </p:anim>
                                    <p:anim calcmode="lin" valueType="num">
                                      <p:cBhvr>
                                        <p:cTn id="72" dur="1000" fill="hold"/>
                                        <p:tgtEl>
                                          <p:spTgt spid="1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14">
                                            <p:txEl>
                                              <p:pRg st="8" end="8"/>
                                            </p:txEl>
                                          </p:spTgt>
                                        </p:tgtEl>
                                        <p:attrNameLst>
                                          <p:attrName>style.visibility</p:attrName>
                                        </p:attrNameLst>
                                      </p:cBhvr>
                                      <p:to>
                                        <p:strVal val="visible"/>
                                      </p:to>
                                    </p:set>
                                    <p:animEffect transition="in" filter="fade">
                                      <p:cBhvr>
                                        <p:cTn id="77" dur="1000"/>
                                        <p:tgtEl>
                                          <p:spTgt spid="14">
                                            <p:txEl>
                                              <p:pRg st="8" end="8"/>
                                            </p:txEl>
                                          </p:spTgt>
                                        </p:tgtEl>
                                      </p:cBhvr>
                                    </p:animEffect>
                                    <p:anim calcmode="lin" valueType="num">
                                      <p:cBhvr>
                                        <p:cTn id="78" dur="1000" fill="hold"/>
                                        <p:tgtEl>
                                          <p:spTgt spid="14">
                                            <p:txEl>
                                              <p:pRg st="8" end="8"/>
                                            </p:txEl>
                                          </p:spTgt>
                                        </p:tgtEl>
                                        <p:attrNameLst>
                                          <p:attrName>ppt_x</p:attrName>
                                        </p:attrNameLst>
                                      </p:cBhvr>
                                      <p:tavLst>
                                        <p:tav tm="0">
                                          <p:val>
                                            <p:strVal val="#ppt_x"/>
                                          </p:val>
                                        </p:tav>
                                        <p:tav tm="100000">
                                          <p:val>
                                            <p:strVal val="#ppt_x"/>
                                          </p:val>
                                        </p:tav>
                                      </p:tavLst>
                                    </p:anim>
                                    <p:anim calcmode="lin" valueType="num">
                                      <p:cBhvr>
                                        <p:cTn id="79" dur="1000" fill="hold"/>
                                        <p:tgtEl>
                                          <p:spTgt spid="1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nodeType="clickEffect">
                                  <p:stCondLst>
                                    <p:cond delay="0"/>
                                  </p:stCondLst>
                                  <p:childTnLst>
                                    <p:set>
                                      <p:cBhvr>
                                        <p:cTn id="83" dur="1" fill="hold">
                                          <p:stCondLst>
                                            <p:cond delay="0"/>
                                          </p:stCondLst>
                                        </p:cTn>
                                        <p:tgtEl>
                                          <p:spTgt spid="14">
                                            <p:txEl>
                                              <p:pRg st="9" end="9"/>
                                            </p:txEl>
                                          </p:spTgt>
                                        </p:tgtEl>
                                        <p:attrNameLst>
                                          <p:attrName>style.visibility</p:attrName>
                                        </p:attrNameLst>
                                      </p:cBhvr>
                                      <p:to>
                                        <p:strVal val="visible"/>
                                      </p:to>
                                    </p:set>
                                    <p:animEffect transition="in" filter="fade">
                                      <p:cBhvr>
                                        <p:cTn id="84" dur="1000"/>
                                        <p:tgtEl>
                                          <p:spTgt spid="14">
                                            <p:txEl>
                                              <p:pRg st="9" end="9"/>
                                            </p:txEl>
                                          </p:spTgt>
                                        </p:tgtEl>
                                      </p:cBhvr>
                                    </p:animEffect>
                                    <p:anim calcmode="lin" valueType="num">
                                      <p:cBhvr>
                                        <p:cTn id="85" dur="1000" fill="hold"/>
                                        <p:tgtEl>
                                          <p:spTgt spid="14">
                                            <p:txEl>
                                              <p:pRg st="9" end="9"/>
                                            </p:txEl>
                                          </p:spTgt>
                                        </p:tgtEl>
                                        <p:attrNameLst>
                                          <p:attrName>ppt_x</p:attrName>
                                        </p:attrNameLst>
                                      </p:cBhvr>
                                      <p:tavLst>
                                        <p:tav tm="0">
                                          <p:val>
                                            <p:strVal val="#ppt_x"/>
                                          </p:val>
                                        </p:tav>
                                        <p:tav tm="100000">
                                          <p:val>
                                            <p:strVal val="#ppt_x"/>
                                          </p:val>
                                        </p:tav>
                                      </p:tavLst>
                                    </p:anim>
                                    <p:anim calcmode="lin" valueType="num">
                                      <p:cBhvr>
                                        <p:cTn id="86" dur="1000" fill="hold"/>
                                        <p:tgtEl>
                                          <p:spTgt spid="1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nodeType="clickEffect">
                                  <p:stCondLst>
                                    <p:cond delay="0"/>
                                  </p:stCondLst>
                                  <p:childTnLst>
                                    <p:set>
                                      <p:cBhvr>
                                        <p:cTn id="90" dur="1" fill="hold">
                                          <p:stCondLst>
                                            <p:cond delay="0"/>
                                          </p:stCondLst>
                                        </p:cTn>
                                        <p:tgtEl>
                                          <p:spTgt spid="14">
                                            <p:txEl>
                                              <p:pRg st="10" end="10"/>
                                            </p:txEl>
                                          </p:spTgt>
                                        </p:tgtEl>
                                        <p:attrNameLst>
                                          <p:attrName>style.visibility</p:attrName>
                                        </p:attrNameLst>
                                      </p:cBhvr>
                                      <p:to>
                                        <p:strVal val="visible"/>
                                      </p:to>
                                    </p:set>
                                    <p:animEffect transition="in" filter="fade">
                                      <p:cBhvr>
                                        <p:cTn id="91" dur="1000"/>
                                        <p:tgtEl>
                                          <p:spTgt spid="14">
                                            <p:txEl>
                                              <p:pRg st="10" end="10"/>
                                            </p:txEl>
                                          </p:spTgt>
                                        </p:tgtEl>
                                      </p:cBhvr>
                                    </p:animEffect>
                                    <p:anim calcmode="lin" valueType="num">
                                      <p:cBhvr>
                                        <p:cTn id="92" dur="1000" fill="hold"/>
                                        <p:tgtEl>
                                          <p:spTgt spid="14">
                                            <p:txEl>
                                              <p:pRg st="10" end="10"/>
                                            </p:txEl>
                                          </p:spTgt>
                                        </p:tgtEl>
                                        <p:attrNameLst>
                                          <p:attrName>ppt_x</p:attrName>
                                        </p:attrNameLst>
                                      </p:cBhvr>
                                      <p:tavLst>
                                        <p:tav tm="0">
                                          <p:val>
                                            <p:strVal val="#ppt_x"/>
                                          </p:val>
                                        </p:tav>
                                        <p:tav tm="100000">
                                          <p:val>
                                            <p:strVal val="#ppt_x"/>
                                          </p:val>
                                        </p:tav>
                                      </p:tavLst>
                                    </p:anim>
                                    <p:anim calcmode="lin" valueType="num">
                                      <p:cBhvr>
                                        <p:cTn id="93" dur="1000" fill="hold"/>
                                        <p:tgtEl>
                                          <p:spTgt spid="14">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Stock: Meaning and Basic Vocabulary Words          1  </a:t>
            </a:r>
          </a:p>
        </p:txBody>
      </p:sp>
      <p:sp>
        <p:nvSpPr>
          <p:cNvPr id="14" name="Content Placeholder 13"/>
          <p:cNvSpPr>
            <a:spLocks noGrp="1"/>
          </p:cNvSpPr>
          <p:nvPr>
            <p:ph idx="1"/>
          </p:nvPr>
        </p:nvSpPr>
        <p:spPr>
          <a:xfrm>
            <a:off x="1341120" y="1262129"/>
            <a:ext cx="9509760" cy="5061397"/>
          </a:xfrm>
        </p:spPr>
        <p:txBody>
          <a:bodyPr/>
          <a:lstStyle/>
          <a:p>
            <a:r>
              <a:rPr lang="en-US" dirty="0"/>
              <a:t>At some point, several corporations need money to expand their businesses to several locations; recruit, hire, and train employees; develop and test new product(s); and provide new services among others. </a:t>
            </a:r>
          </a:p>
          <a:p>
            <a:r>
              <a:rPr lang="en-US" dirty="0"/>
              <a:t>Two options are available: (1.) </a:t>
            </a:r>
            <a:r>
              <a:rPr lang="en-US" b="1" dirty="0"/>
              <a:t>Borrow money from financial institutions</a:t>
            </a:r>
            <a:r>
              <a:rPr lang="en-US" dirty="0"/>
              <a:t>. (2.) </a:t>
            </a:r>
            <a:r>
              <a:rPr lang="en-US" b="1" dirty="0"/>
              <a:t>Raise money from investors by selling shares of stock / some ownership of the corporation to them.</a:t>
            </a:r>
          </a:p>
          <a:p>
            <a:r>
              <a:rPr lang="en-US" dirty="0"/>
              <a:t>A </a:t>
            </a:r>
            <a:r>
              <a:rPr lang="en-US" b="1" dirty="0"/>
              <a:t>stock</a:t>
            </a:r>
            <a:r>
              <a:rPr lang="en-US" dirty="0"/>
              <a:t> is defined as the ownership of a corporation, indicated by shares, and held by an individual or group. Stocks of public corporations usually have unique one, two, three, or four letter upper case symbols that identify them. These are called ticker symbols. Examples include: F (Ford Motor Company), KO (The Coca-Cola Company), XRX (Xerox Corporation), GOOG (Google Inc.), and MSFT (Microsoft Corporation) among others.</a:t>
            </a:r>
          </a:p>
          <a:p>
            <a:r>
              <a:rPr lang="en-US" dirty="0"/>
              <a:t>A corporation is a legal entity created and authorized to operate under the laws of a state for the purpose of conducting business.</a:t>
            </a:r>
          </a:p>
          <a:p>
            <a:endParaRPr lang="en-US" dirty="0"/>
          </a:p>
          <a:p>
            <a:endParaRPr lang="en-US" dirty="0"/>
          </a:p>
          <a:p>
            <a:endParaRPr lang="en-US" dirty="0"/>
          </a:p>
        </p:txBody>
      </p:sp>
    </p:spTree>
    <p:extLst>
      <p:ext uri="{BB962C8B-B14F-4D97-AF65-F5344CB8AC3E}">
        <p14:creationId xmlns:p14="http://schemas.microsoft.com/office/powerpoint/2010/main" val="749743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1000"/>
                                        <p:tgtEl>
                                          <p:spTgt spid="14">
                                            <p:txEl>
                                              <p:pRg st="0" end="0"/>
                                            </p:txEl>
                                          </p:spTgt>
                                        </p:tgtEl>
                                      </p:cBhvr>
                                    </p:animEffect>
                                    <p:anim calcmode="lin" valueType="num">
                                      <p:cBhvr>
                                        <p:cTn id="8"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1" end="1"/>
                                            </p:txEl>
                                          </p:spTgt>
                                        </p:tgtEl>
                                        <p:attrNameLst>
                                          <p:attrName>style.visibility</p:attrName>
                                        </p:attrNameLst>
                                      </p:cBhvr>
                                      <p:to>
                                        <p:strVal val="visible"/>
                                      </p:to>
                                    </p:set>
                                    <p:animEffect transition="in" filter="fade">
                                      <p:cBhvr>
                                        <p:cTn id="14" dur="1000"/>
                                        <p:tgtEl>
                                          <p:spTgt spid="14">
                                            <p:txEl>
                                              <p:pRg st="1" end="1"/>
                                            </p:txEl>
                                          </p:spTgt>
                                        </p:tgtEl>
                                      </p:cBhvr>
                                    </p:animEffect>
                                    <p:anim calcmode="lin" valueType="num">
                                      <p:cBhvr>
                                        <p:cTn id="15"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2" end="2"/>
                                            </p:txEl>
                                          </p:spTgt>
                                        </p:tgtEl>
                                        <p:attrNameLst>
                                          <p:attrName>style.visibility</p:attrName>
                                        </p:attrNameLst>
                                      </p:cBhvr>
                                      <p:to>
                                        <p:strVal val="visible"/>
                                      </p:to>
                                    </p:set>
                                    <p:animEffect transition="in" filter="fade">
                                      <p:cBhvr>
                                        <p:cTn id="21" dur="1000"/>
                                        <p:tgtEl>
                                          <p:spTgt spid="14">
                                            <p:txEl>
                                              <p:pRg st="2" end="2"/>
                                            </p:txEl>
                                          </p:spTgt>
                                        </p:tgtEl>
                                      </p:cBhvr>
                                    </p:animEffect>
                                    <p:anim calcmode="lin" valueType="num">
                                      <p:cBhvr>
                                        <p:cTn id="22"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3" end="3"/>
                                            </p:txEl>
                                          </p:spTgt>
                                        </p:tgtEl>
                                        <p:attrNameLst>
                                          <p:attrName>style.visibility</p:attrName>
                                        </p:attrNameLst>
                                      </p:cBhvr>
                                      <p:to>
                                        <p:strVal val="visible"/>
                                      </p:to>
                                    </p:set>
                                    <p:animEffect transition="in" filter="fade">
                                      <p:cBhvr>
                                        <p:cTn id="28" dur="1000"/>
                                        <p:tgtEl>
                                          <p:spTgt spid="14">
                                            <p:txEl>
                                              <p:pRg st="3" end="3"/>
                                            </p:txEl>
                                          </p:spTgt>
                                        </p:tgtEl>
                                      </p:cBhvr>
                                    </p:animEffect>
                                    <p:anim calcmode="lin" valueType="num">
                                      <p:cBhvr>
                                        <p:cTn id="29"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Stock 								2</a:t>
            </a:r>
          </a:p>
        </p:txBody>
      </p:sp>
      <p:sp>
        <p:nvSpPr>
          <p:cNvPr id="14" name="Content Placeholder 13"/>
          <p:cNvSpPr>
            <a:spLocks noGrp="1"/>
          </p:cNvSpPr>
          <p:nvPr>
            <p:ph idx="1"/>
          </p:nvPr>
        </p:nvSpPr>
        <p:spPr>
          <a:xfrm>
            <a:off x="1341120" y="1275008"/>
            <a:ext cx="9509760" cy="4855336"/>
          </a:xfrm>
        </p:spPr>
        <p:txBody>
          <a:bodyPr>
            <a:normAutofit lnSpcReduction="10000"/>
          </a:bodyPr>
          <a:lstStyle/>
          <a:p>
            <a:r>
              <a:rPr lang="en-US" dirty="0"/>
              <a:t>Shares are certificates or electronically recorded entries that indicate the percent of ownership in a corporation. </a:t>
            </a:r>
          </a:p>
          <a:p>
            <a:r>
              <a:rPr lang="en-US" dirty="0"/>
              <a:t>A shareholder is a person or entity that owns shares of stock in a corporation.</a:t>
            </a:r>
          </a:p>
          <a:p>
            <a:r>
              <a:rPr lang="en-US" dirty="0"/>
              <a:t>Trading is defined as the buying and selling of shares of stock. Shares of stock need both a buyer and a seller to be traded.</a:t>
            </a:r>
          </a:p>
          <a:p>
            <a:r>
              <a:rPr lang="en-US" dirty="0"/>
              <a:t>Stock Exchange is defined as a formal marketplace for buying and selling securities (stocks). Some stock exchanges include the New York Stock Exchange, and International Securities Exchange among others.</a:t>
            </a:r>
          </a:p>
          <a:p>
            <a:r>
              <a:rPr lang="en-US" dirty="0"/>
              <a:t>Securities are investment instruments that signifies an ownership position in a corporation (a stock), a creditor relationship with a corporation (a bond), or rights to ownership.</a:t>
            </a:r>
          </a:p>
          <a:p>
            <a:r>
              <a:rPr lang="en-US" dirty="0"/>
              <a:t>The price of a corporation’s share of stock indicate how well the company is performing. When a corporation is doing well, the stock price of the company goes up. When a corporation does not do well, the stock price goes down.</a:t>
            </a:r>
          </a:p>
        </p:txBody>
      </p:sp>
    </p:spTree>
    <p:extLst>
      <p:ext uri="{BB962C8B-B14F-4D97-AF65-F5344CB8AC3E}">
        <p14:creationId xmlns:p14="http://schemas.microsoft.com/office/powerpoint/2010/main" val="2283458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1000"/>
                                        <p:tgtEl>
                                          <p:spTgt spid="14">
                                            <p:txEl>
                                              <p:pRg st="0" end="0"/>
                                            </p:txEl>
                                          </p:spTgt>
                                        </p:tgtEl>
                                      </p:cBhvr>
                                    </p:animEffect>
                                    <p:anim calcmode="lin" valueType="num">
                                      <p:cBhvr>
                                        <p:cTn id="8"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1" end="1"/>
                                            </p:txEl>
                                          </p:spTgt>
                                        </p:tgtEl>
                                        <p:attrNameLst>
                                          <p:attrName>style.visibility</p:attrName>
                                        </p:attrNameLst>
                                      </p:cBhvr>
                                      <p:to>
                                        <p:strVal val="visible"/>
                                      </p:to>
                                    </p:set>
                                    <p:animEffect transition="in" filter="fade">
                                      <p:cBhvr>
                                        <p:cTn id="14" dur="1000"/>
                                        <p:tgtEl>
                                          <p:spTgt spid="14">
                                            <p:txEl>
                                              <p:pRg st="1" end="1"/>
                                            </p:txEl>
                                          </p:spTgt>
                                        </p:tgtEl>
                                      </p:cBhvr>
                                    </p:animEffect>
                                    <p:anim calcmode="lin" valueType="num">
                                      <p:cBhvr>
                                        <p:cTn id="15"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2" end="2"/>
                                            </p:txEl>
                                          </p:spTgt>
                                        </p:tgtEl>
                                        <p:attrNameLst>
                                          <p:attrName>style.visibility</p:attrName>
                                        </p:attrNameLst>
                                      </p:cBhvr>
                                      <p:to>
                                        <p:strVal val="visible"/>
                                      </p:to>
                                    </p:set>
                                    <p:animEffect transition="in" filter="fade">
                                      <p:cBhvr>
                                        <p:cTn id="21" dur="1000"/>
                                        <p:tgtEl>
                                          <p:spTgt spid="14">
                                            <p:txEl>
                                              <p:pRg st="2" end="2"/>
                                            </p:txEl>
                                          </p:spTgt>
                                        </p:tgtEl>
                                      </p:cBhvr>
                                    </p:animEffect>
                                    <p:anim calcmode="lin" valueType="num">
                                      <p:cBhvr>
                                        <p:cTn id="22"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3" end="3"/>
                                            </p:txEl>
                                          </p:spTgt>
                                        </p:tgtEl>
                                        <p:attrNameLst>
                                          <p:attrName>style.visibility</p:attrName>
                                        </p:attrNameLst>
                                      </p:cBhvr>
                                      <p:to>
                                        <p:strVal val="visible"/>
                                      </p:to>
                                    </p:set>
                                    <p:animEffect transition="in" filter="fade">
                                      <p:cBhvr>
                                        <p:cTn id="28" dur="1000"/>
                                        <p:tgtEl>
                                          <p:spTgt spid="14">
                                            <p:txEl>
                                              <p:pRg st="3" end="3"/>
                                            </p:txEl>
                                          </p:spTgt>
                                        </p:tgtEl>
                                      </p:cBhvr>
                                    </p:animEffect>
                                    <p:anim calcmode="lin" valueType="num">
                                      <p:cBhvr>
                                        <p:cTn id="29"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4">
                                            <p:txEl>
                                              <p:pRg st="4" end="4"/>
                                            </p:txEl>
                                          </p:spTgt>
                                        </p:tgtEl>
                                        <p:attrNameLst>
                                          <p:attrName>style.visibility</p:attrName>
                                        </p:attrNameLst>
                                      </p:cBhvr>
                                      <p:to>
                                        <p:strVal val="visible"/>
                                      </p:to>
                                    </p:set>
                                    <p:animEffect transition="in" filter="fade">
                                      <p:cBhvr>
                                        <p:cTn id="35" dur="1000"/>
                                        <p:tgtEl>
                                          <p:spTgt spid="14">
                                            <p:txEl>
                                              <p:pRg st="4" end="4"/>
                                            </p:txEl>
                                          </p:spTgt>
                                        </p:tgtEl>
                                      </p:cBhvr>
                                    </p:animEffect>
                                    <p:anim calcmode="lin" valueType="num">
                                      <p:cBhvr>
                                        <p:cTn id="36"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4">
                                            <p:txEl>
                                              <p:pRg st="5" end="5"/>
                                            </p:txEl>
                                          </p:spTgt>
                                        </p:tgtEl>
                                        <p:attrNameLst>
                                          <p:attrName>style.visibility</p:attrName>
                                        </p:attrNameLst>
                                      </p:cBhvr>
                                      <p:to>
                                        <p:strVal val="visible"/>
                                      </p:to>
                                    </p:set>
                                    <p:animEffect transition="in" filter="fade">
                                      <p:cBhvr>
                                        <p:cTn id="42" dur="1000"/>
                                        <p:tgtEl>
                                          <p:spTgt spid="14">
                                            <p:txEl>
                                              <p:pRg st="5" end="5"/>
                                            </p:txEl>
                                          </p:spTgt>
                                        </p:tgtEl>
                                      </p:cBhvr>
                                    </p:animEffect>
                                    <p:anim calcmode="lin" valueType="num">
                                      <p:cBhvr>
                                        <p:cTn id="43"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Stock 								3 </a:t>
            </a:r>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1341120" y="1159099"/>
                <a:ext cx="9509760" cy="5048517"/>
              </a:xfrm>
            </p:spPr>
            <p:txBody>
              <a:bodyPr>
                <a:normAutofit lnSpcReduction="10000"/>
              </a:bodyPr>
              <a:lstStyle/>
              <a:p>
                <a:r>
                  <a:rPr lang="en-US" dirty="0"/>
                  <a:t>Investing in stocks may lead to capital gain or capital loss on the sale of the stock.</a:t>
                </a:r>
              </a:p>
              <a:p>
                <a:r>
                  <a:rPr lang="en-US" dirty="0"/>
                  <a:t>Investing in stocks may also lead to dividends and/or more shares of stock to the shareholders. </a:t>
                </a:r>
              </a:p>
              <a:p>
                <a:r>
                  <a:rPr lang="en-US" dirty="0"/>
                  <a:t>Capital Gain is the profit resulting from the sale of shares of stocks. You sell the shares for more money that what you paid for them.</a:t>
                </a:r>
              </a:p>
              <a:p>
                <a:r>
                  <a:rPr lang="en-US" dirty="0"/>
                  <a:t>Capital Loss is the loss resulting from the sale of shares of stocks. You paid more money for the shares than what you sold them. Several reasons can cause capital loss. A good reason is when the company goes bankrupt.</a:t>
                </a:r>
              </a:p>
              <a:p>
                <a:r>
                  <a:rPr lang="en-US" dirty="0"/>
                  <a:t>Dividend is a portion or all of the corporation’s profits paid to the shareholders of the corporation.</a:t>
                </a:r>
              </a:p>
              <a:p>
                <a:r>
                  <a:rPr lang="en-US" u="sng" dirty="0"/>
                  <a:t>Example 1</a:t>
                </a:r>
                <a:r>
                  <a:rPr lang="en-US" dirty="0"/>
                  <a:t>: Assume Facebook Inc. issued a total of two million shares and Mark owns six hundred thousand of these shares, what is his percent ownership of the company?</a:t>
                </a:r>
              </a:p>
              <a:p>
                <a:r>
                  <a:rPr lang="en-US" dirty="0"/>
                  <a:t>Solution: </a:t>
                </a:r>
                <a14:m>
                  <m:oMath xmlns:m="http://schemas.openxmlformats.org/officeDocument/2006/math">
                    <m:r>
                      <a:rPr lang="en-US" sz="2200" b="0" i="1" smtClean="0">
                        <a:latin typeface="Cambria Math" panose="02040503050406030204" pitchFamily="18" charset="0"/>
                      </a:rPr>
                      <m:t>𝑀𝑎𝑟𝑘</m:t>
                    </m:r>
                    <m:r>
                      <a:rPr lang="en-US" sz="2200" b="0" i="1" smtClean="0">
                        <a:latin typeface="Cambria Math" panose="02040503050406030204" pitchFamily="18" charset="0"/>
                      </a:rPr>
                      <m:t> </m:t>
                    </m:r>
                    <m:r>
                      <a:rPr lang="en-US" sz="2200" b="0" i="1" smtClean="0">
                        <a:latin typeface="Cambria Math" panose="02040503050406030204" pitchFamily="18" charset="0"/>
                      </a:rPr>
                      <m:t>𝑜𝑤𝑛𝑠</m:t>
                    </m:r>
                    <m:f>
                      <m:fPr>
                        <m:ctrlPr>
                          <a:rPr lang="en-US" sz="2200" b="0" i="1" smtClean="0">
                            <a:latin typeface="Cambria Math" panose="02040503050406030204" pitchFamily="18" charset="0"/>
                          </a:rPr>
                        </m:ctrlPr>
                      </m:fPr>
                      <m:num>
                        <m:r>
                          <a:rPr lang="en-US" sz="2200" b="0" i="1" smtClean="0">
                            <a:latin typeface="Cambria Math" panose="02040503050406030204" pitchFamily="18" charset="0"/>
                          </a:rPr>
                          <m:t>600000</m:t>
                        </m:r>
                      </m:num>
                      <m:den>
                        <m:r>
                          <a:rPr lang="en-US" sz="2200" b="0" i="1" smtClean="0">
                            <a:latin typeface="Cambria Math" panose="02040503050406030204" pitchFamily="18" charset="0"/>
                          </a:rPr>
                          <m:t>2000000</m:t>
                        </m:r>
                      </m:den>
                    </m:f>
                    <m:r>
                      <a:rPr lang="en-US" sz="2200" b="0" i="1" smtClean="0">
                        <a:latin typeface="Cambria Math" panose="02040503050406030204" pitchFamily="18" charset="0"/>
                      </a:rPr>
                      <m:t>=0.3=0.3∗100=30% </m:t>
                    </m:r>
                    <m:r>
                      <a:rPr lang="en-US" sz="2200" b="0" i="1" smtClean="0">
                        <a:latin typeface="Cambria Math" panose="02040503050406030204" pitchFamily="18" charset="0"/>
                      </a:rPr>
                      <m:t>𝑜𝑓</m:t>
                    </m:r>
                    <m:r>
                      <a:rPr lang="en-US" sz="2200" b="0" i="1" smtClean="0">
                        <a:latin typeface="Cambria Math" panose="02040503050406030204" pitchFamily="18" charset="0"/>
                      </a:rPr>
                      <m:t> </m:t>
                    </m:r>
                    <m:r>
                      <a:rPr lang="en-US" sz="2200" b="0" i="1" smtClean="0">
                        <a:latin typeface="Cambria Math" panose="02040503050406030204" pitchFamily="18" charset="0"/>
                      </a:rPr>
                      <m:t>𝑡h𝑒</m:t>
                    </m:r>
                    <m:r>
                      <a:rPr lang="en-US" sz="2200" b="0" i="1" smtClean="0">
                        <a:latin typeface="Cambria Math" panose="02040503050406030204" pitchFamily="18" charset="0"/>
                      </a:rPr>
                      <m:t> </m:t>
                    </m:r>
                    <m:r>
                      <a:rPr lang="en-US" sz="2200" b="0" i="1" smtClean="0">
                        <a:latin typeface="Cambria Math" panose="02040503050406030204" pitchFamily="18" charset="0"/>
                      </a:rPr>
                      <m:t>𝑐𝑜𝑚𝑝𝑎𝑛𝑦</m:t>
                    </m:r>
                    <m:r>
                      <a:rPr lang="en-US" sz="2200" b="0" i="1" smtClean="0">
                        <a:latin typeface="Cambria Math" panose="02040503050406030204" pitchFamily="18" charset="0"/>
                      </a:rPr>
                      <m:t>. </m:t>
                    </m:r>
                  </m:oMath>
                </a14:m>
                <a:r>
                  <a:rPr lang="en-US" dirty="0"/>
                  <a:t>  </a:t>
                </a:r>
              </a:p>
              <a:p>
                <a:endParaRPr lang="en-US" dirty="0"/>
              </a:p>
              <a:p>
                <a:endParaRPr lang="en-US" dirty="0"/>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1341120" y="1159099"/>
                <a:ext cx="9509760" cy="5048517"/>
              </a:xfrm>
              <a:blipFill rotWithShape="0">
                <a:blip r:embed="rId2"/>
                <a:stretch>
                  <a:fillRect l="-64" t="-1691" r="-64"/>
                </a:stretch>
              </a:blipFill>
            </p:spPr>
            <p:txBody>
              <a:bodyPr/>
              <a:lstStyle/>
              <a:p>
                <a:r>
                  <a:rPr lang="en-US">
                    <a:noFill/>
                  </a:rPr>
                  <a:t> </a:t>
                </a:r>
              </a:p>
            </p:txBody>
          </p:sp>
        </mc:Fallback>
      </mc:AlternateContent>
    </p:spTree>
    <p:extLst>
      <p:ext uri="{BB962C8B-B14F-4D97-AF65-F5344CB8AC3E}">
        <p14:creationId xmlns:p14="http://schemas.microsoft.com/office/powerpoint/2010/main" val="1631481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1000"/>
                                        <p:tgtEl>
                                          <p:spTgt spid="14">
                                            <p:txEl>
                                              <p:pRg st="0" end="0"/>
                                            </p:txEl>
                                          </p:spTgt>
                                        </p:tgtEl>
                                      </p:cBhvr>
                                    </p:animEffect>
                                    <p:anim calcmode="lin" valueType="num">
                                      <p:cBhvr>
                                        <p:cTn id="8"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1" end="1"/>
                                            </p:txEl>
                                          </p:spTgt>
                                        </p:tgtEl>
                                        <p:attrNameLst>
                                          <p:attrName>style.visibility</p:attrName>
                                        </p:attrNameLst>
                                      </p:cBhvr>
                                      <p:to>
                                        <p:strVal val="visible"/>
                                      </p:to>
                                    </p:set>
                                    <p:animEffect transition="in" filter="fade">
                                      <p:cBhvr>
                                        <p:cTn id="14" dur="1000"/>
                                        <p:tgtEl>
                                          <p:spTgt spid="14">
                                            <p:txEl>
                                              <p:pRg st="1" end="1"/>
                                            </p:txEl>
                                          </p:spTgt>
                                        </p:tgtEl>
                                      </p:cBhvr>
                                    </p:animEffect>
                                    <p:anim calcmode="lin" valueType="num">
                                      <p:cBhvr>
                                        <p:cTn id="15"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2" end="2"/>
                                            </p:txEl>
                                          </p:spTgt>
                                        </p:tgtEl>
                                        <p:attrNameLst>
                                          <p:attrName>style.visibility</p:attrName>
                                        </p:attrNameLst>
                                      </p:cBhvr>
                                      <p:to>
                                        <p:strVal val="visible"/>
                                      </p:to>
                                    </p:set>
                                    <p:animEffect transition="in" filter="fade">
                                      <p:cBhvr>
                                        <p:cTn id="21" dur="1000"/>
                                        <p:tgtEl>
                                          <p:spTgt spid="14">
                                            <p:txEl>
                                              <p:pRg st="2" end="2"/>
                                            </p:txEl>
                                          </p:spTgt>
                                        </p:tgtEl>
                                      </p:cBhvr>
                                    </p:animEffect>
                                    <p:anim calcmode="lin" valueType="num">
                                      <p:cBhvr>
                                        <p:cTn id="22"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3" end="3"/>
                                            </p:txEl>
                                          </p:spTgt>
                                        </p:tgtEl>
                                        <p:attrNameLst>
                                          <p:attrName>style.visibility</p:attrName>
                                        </p:attrNameLst>
                                      </p:cBhvr>
                                      <p:to>
                                        <p:strVal val="visible"/>
                                      </p:to>
                                    </p:set>
                                    <p:animEffect transition="in" filter="fade">
                                      <p:cBhvr>
                                        <p:cTn id="28" dur="1000"/>
                                        <p:tgtEl>
                                          <p:spTgt spid="14">
                                            <p:txEl>
                                              <p:pRg st="3" end="3"/>
                                            </p:txEl>
                                          </p:spTgt>
                                        </p:tgtEl>
                                      </p:cBhvr>
                                    </p:animEffect>
                                    <p:anim calcmode="lin" valueType="num">
                                      <p:cBhvr>
                                        <p:cTn id="29"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4">
                                            <p:txEl>
                                              <p:pRg st="4" end="4"/>
                                            </p:txEl>
                                          </p:spTgt>
                                        </p:tgtEl>
                                        <p:attrNameLst>
                                          <p:attrName>style.visibility</p:attrName>
                                        </p:attrNameLst>
                                      </p:cBhvr>
                                      <p:to>
                                        <p:strVal val="visible"/>
                                      </p:to>
                                    </p:set>
                                    <p:animEffect transition="in" filter="fade">
                                      <p:cBhvr>
                                        <p:cTn id="35" dur="1000"/>
                                        <p:tgtEl>
                                          <p:spTgt spid="14">
                                            <p:txEl>
                                              <p:pRg st="4" end="4"/>
                                            </p:txEl>
                                          </p:spTgt>
                                        </p:tgtEl>
                                      </p:cBhvr>
                                    </p:animEffect>
                                    <p:anim calcmode="lin" valueType="num">
                                      <p:cBhvr>
                                        <p:cTn id="36"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4">
                                            <p:txEl>
                                              <p:pRg st="5" end="5"/>
                                            </p:txEl>
                                          </p:spTgt>
                                        </p:tgtEl>
                                        <p:attrNameLst>
                                          <p:attrName>style.visibility</p:attrName>
                                        </p:attrNameLst>
                                      </p:cBhvr>
                                      <p:to>
                                        <p:strVal val="visible"/>
                                      </p:to>
                                    </p:set>
                                    <p:animEffect transition="in" filter="fade">
                                      <p:cBhvr>
                                        <p:cTn id="42" dur="1000"/>
                                        <p:tgtEl>
                                          <p:spTgt spid="14">
                                            <p:txEl>
                                              <p:pRg st="5" end="5"/>
                                            </p:txEl>
                                          </p:spTgt>
                                        </p:tgtEl>
                                      </p:cBhvr>
                                    </p:animEffect>
                                    <p:anim calcmode="lin" valueType="num">
                                      <p:cBhvr>
                                        <p:cTn id="43"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4">
                                            <p:txEl>
                                              <p:pRg st="6" end="6"/>
                                            </p:txEl>
                                          </p:spTgt>
                                        </p:tgtEl>
                                        <p:attrNameLst>
                                          <p:attrName>style.visibility</p:attrName>
                                        </p:attrNameLst>
                                      </p:cBhvr>
                                      <p:to>
                                        <p:strVal val="visible"/>
                                      </p:to>
                                    </p:set>
                                    <p:animEffect transition="in" filter="fade">
                                      <p:cBhvr>
                                        <p:cTn id="49" dur="1000"/>
                                        <p:tgtEl>
                                          <p:spTgt spid="14">
                                            <p:txEl>
                                              <p:pRg st="6" end="6"/>
                                            </p:txEl>
                                          </p:spTgt>
                                        </p:tgtEl>
                                      </p:cBhvr>
                                    </p:animEffect>
                                    <p:anim calcmode="lin" valueType="num">
                                      <p:cBhvr>
                                        <p:cTn id="50" dur="1000" fill="hold"/>
                                        <p:tgtEl>
                                          <p:spTgt spid="14">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1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Stock Tables							1</a:t>
            </a:r>
          </a:p>
        </p:txBody>
      </p:sp>
      <p:sp>
        <p:nvSpPr>
          <p:cNvPr id="14" name="Content Placeholder 13"/>
          <p:cNvSpPr>
            <a:spLocks noGrp="1"/>
          </p:cNvSpPr>
          <p:nvPr>
            <p:ph idx="1"/>
          </p:nvPr>
        </p:nvSpPr>
        <p:spPr>
          <a:xfrm>
            <a:off x="1341120" y="1339404"/>
            <a:ext cx="9509760" cy="4690176"/>
          </a:xfrm>
        </p:spPr>
        <p:txBody>
          <a:bodyPr/>
          <a:lstStyle/>
          <a:p>
            <a:r>
              <a:rPr lang="en-US" dirty="0"/>
              <a:t>Stock tables are used to monitor the performance of the stock of a corporation. They also serve as a valuable tool in making investment decisions on which stocks to buy or not.</a:t>
            </a:r>
          </a:p>
          <a:p>
            <a:r>
              <a:rPr lang="en-US" dirty="0"/>
              <a:t>Let us study and interpret the stock table below:</a:t>
            </a:r>
          </a:p>
          <a:p>
            <a:endParaRPr lang="en-US" dirty="0"/>
          </a:p>
          <a:p>
            <a:endParaRPr lang="en-US" dirty="0"/>
          </a:p>
          <a:p>
            <a:endParaRPr lang="en-US" dirty="0"/>
          </a:p>
          <a:p>
            <a:endParaRPr lang="en-US" dirty="0"/>
          </a:p>
          <a:p>
            <a:r>
              <a:rPr lang="en-US" dirty="0"/>
              <a:t>52-Week High = $90.97. This is the highest price at which Wal-Mart stock traded during the past 52 weeks. This means that during the past 52 weeks, at least one investor was willing to pay $90.97 for a share of Wal-Mart stock.</a:t>
            </a:r>
          </a:p>
          <a:p>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565558377"/>
              </p:ext>
            </p:extLst>
          </p:nvPr>
        </p:nvGraphicFramePr>
        <p:xfrm>
          <a:off x="708333" y="3012105"/>
          <a:ext cx="10753860" cy="1554480"/>
        </p:xfrm>
        <a:graphic>
          <a:graphicData uri="http://schemas.openxmlformats.org/drawingml/2006/table">
            <a:tbl>
              <a:tblPr firstRow="1" bandRow="1">
                <a:tableStyleId>{B301B821-A1FF-4177-AEE7-76D212191A09}</a:tableStyleId>
              </a:tblPr>
              <a:tblGrid>
                <a:gridCol w="896155">
                  <a:extLst>
                    <a:ext uri="{9D8B030D-6E8A-4147-A177-3AD203B41FA5}">
                      <a16:colId xmlns:a16="http://schemas.microsoft.com/office/drawing/2014/main" val="20000"/>
                    </a:ext>
                  </a:extLst>
                </a:gridCol>
                <a:gridCol w="896155">
                  <a:extLst>
                    <a:ext uri="{9D8B030D-6E8A-4147-A177-3AD203B41FA5}">
                      <a16:colId xmlns:a16="http://schemas.microsoft.com/office/drawing/2014/main" val="20001"/>
                    </a:ext>
                  </a:extLst>
                </a:gridCol>
                <a:gridCol w="896155">
                  <a:extLst>
                    <a:ext uri="{9D8B030D-6E8A-4147-A177-3AD203B41FA5}">
                      <a16:colId xmlns:a16="http://schemas.microsoft.com/office/drawing/2014/main" val="20002"/>
                    </a:ext>
                  </a:extLst>
                </a:gridCol>
                <a:gridCol w="896155">
                  <a:extLst>
                    <a:ext uri="{9D8B030D-6E8A-4147-A177-3AD203B41FA5}">
                      <a16:colId xmlns:a16="http://schemas.microsoft.com/office/drawing/2014/main" val="20003"/>
                    </a:ext>
                  </a:extLst>
                </a:gridCol>
                <a:gridCol w="896155">
                  <a:extLst>
                    <a:ext uri="{9D8B030D-6E8A-4147-A177-3AD203B41FA5}">
                      <a16:colId xmlns:a16="http://schemas.microsoft.com/office/drawing/2014/main" val="20004"/>
                    </a:ext>
                  </a:extLst>
                </a:gridCol>
                <a:gridCol w="896155">
                  <a:extLst>
                    <a:ext uri="{9D8B030D-6E8A-4147-A177-3AD203B41FA5}">
                      <a16:colId xmlns:a16="http://schemas.microsoft.com/office/drawing/2014/main" val="20005"/>
                    </a:ext>
                  </a:extLst>
                </a:gridCol>
                <a:gridCol w="896155">
                  <a:extLst>
                    <a:ext uri="{9D8B030D-6E8A-4147-A177-3AD203B41FA5}">
                      <a16:colId xmlns:a16="http://schemas.microsoft.com/office/drawing/2014/main" val="20006"/>
                    </a:ext>
                  </a:extLst>
                </a:gridCol>
                <a:gridCol w="896155">
                  <a:extLst>
                    <a:ext uri="{9D8B030D-6E8A-4147-A177-3AD203B41FA5}">
                      <a16:colId xmlns:a16="http://schemas.microsoft.com/office/drawing/2014/main" val="20007"/>
                    </a:ext>
                  </a:extLst>
                </a:gridCol>
                <a:gridCol w="896155">
                  <a:extLst>
                    <a:ext uri="{9D8B030D-6E8A-4147-A177-3AD203B41FA5}">
                      <a16:colId xmlns:a16="http://schemas.microsoft.com/office/drawing/2014/main" val="20008"/>
                    </a:ext>
                  </a:extLst>
                </a:gridCol>
                <a:gridCol w="896155">
                  <a:extLst>
                    <a:ext uri="{9D8B030D-6E8A-4147-A177-3AD203B41FA5}">
                      <a16:colId xmlns:a16="http://schemas.microsoft.com/office/drawing/2014/main" val="20009"/>
                    </a:ext>
                  </a:extLst>
                </a:gridCol>
                <a:gridCol w="896155">
                  <a:extLst>
                    <a:ext uri="{9D8B030D-6E8A-4147-A177-3AD203B41FA5}">
                      <a16:colId xmlns:a16="http://schemas.microsoft.com/office/drawing/2014/main" val="20010"/>
                    </a:ext>
                  </a:extLst>
                </a:gridCol>
                <a:gridCol w="896155">
                  <a:extLst>
                    <a:ext uri="{9D8B030D-6E8A-4147-A177-3AD203B41FA5}">
                      <a16:colId xmlns:a16="http://schemas.microsoft.com/office/drawing/2014/main" val="20011"/>
                    </a:ext>
                  </a:extLst>
                </a:gridCol>
              </a:tblGrid>
              <a:tr h="370840">
                <a:tc>
                  <a:txBody>
                    <a:bodyPr/>
                    <a:lstStyle/>
                    <a:p>
                      <a:r>
                        <a:rPr lang="en-US" dirty="0"/>
                        <a:t>52-Week High</a:t>
                      </a:r>
                    </a:p>
                  </a:txBody>
                  <a:tcPr anchor="ctr"/>
                </a:tc>
                <a:tc>
                  <a:txBody>
                    <a:bodyPr/>
                    <a:lstStyle/>
                    <a:p>
                      <a:r>
                        <a:rPr lang="en-US" dirty="0"/>
                        <a:t>52-Week Low</a:t>
                      </a:r>
                    </a:p>
                  </a:txBody>
                  <a:tcPr anchor="ctr"/>
                </a:tc>
                <a:tc>
                  <a:txBody>
                    <a:bodyPr/>
                    <a:lstStyle/>
                    <a:p>
                      <a:r>
                        <a:rPr lang="en-US" dirty="0"/>
                        <a:t>Stock</a:t>
                      </a:r>
                    </a:p>
                  </a:txBody>
                  <a:tcPr anchor="ctr"/>
                </a:tc>
                <a:tc>
                  <a:txBody>
                    <a:bodyPr/>
                    <a:lstStyle/>
                    <a:p>
                      <a:r>
                        <a:rPr lang="en-US" dirty="0"/>
                        <a:t>SYM</a:t>
                      </a:r>
                    </a:p>
                  </a:txBody>
                  <a:tcPr anchor="ctr"/>
                </a:tc>
                <a:tc>
                  <a:txBody>
                    <a:bodyPr/>
                    <a:lstStyle/>
                    <a:p>
                      <a:r>
                        <a:rPr lang="en-US" dirty="0" err="1"/>
                        <a:t>Div</a:t>
                      </a:r>
                      <a:endParaRPr lang="en-US" dirty="0"/>
                    </a:p>
                  </a:txBody>
                  <a:tcPr anchor="ctr"/>
                </a:tc>
                <a:tc>
                  <a:txBody>
                    <a:bodyPr/>
                    <a:lstStyle/>
                    <a:p>
                      <a:r>
                        <a:rPr lang="en-US" dirty="0" err="1"/>
                        <a:t>Yld</a:t>
                      </a:r>
                      <a:r>
                        <a:rPr lang="en-US" dirty="0"/>
                        <a:t> %</a:t>
                      </a:r>
                    </a:p>
                  </a:txBody>
                  <a:tcPr anchor="ctr"/>
                </a:tc>
                <a:tc>
                  <a:txBody>
                    <a:bodyPr/>
                    <a:lstStyle/>
                    <a:p>
                      <a:r>
                        <a:rPr lang="en-US" dirty="0"/>
                        <a:t>P/E</a:t>
                      </a:r>
                    </a:p>
                  </a:txBody>
                  <a:tcPr anchor="ctr"/>
                </a:tc>
                <a:tc>
                  <a:txBody>
                    <a:bodyPr/>
                    <a:lstStyle/>
                    <a:p>
                      <a:r>
                        <a:rPr lang="en-US" dirty="0"/>
                        <a:t>Sales </a:t>
                      </a:r>
                      <a:r>
                        <a:rPr lang="en-US" dirty="0" err="1"/>
                        <a:t>Vol</a:t>
                      </a:r>
                      <a:r>
                        <a:rPr lang="en-US" dirty="0"/>
                        <a:t> 100s</a:t>
                      </a:r>
                    </a:p>
                  </a:txBody>
                  <a:tcPr anchor="ctr"/>
                </a:tc>
                <a:tc>
                  <a:txBody>
                    <a:bodyPr/>
                    <a:lstStyle/>
                    <a:p>
                      <a:r>
                        <a:rPr lang="en-US" dirty="0"/>
                        <a:t>High</a:t>
                      </a:r>
                    </a:p>
                  </a:txBody>
                  <a:tcPr anchor="ctr"/>
                </a:tc>
                <a:tc>
                  <a:txBody>
                    <a:bodyPr/>
                    <a:lstStyle/>
                    <a:p>
                      <a:r>
                        <a:rPr lang="en-US" dirty="0"/>
                        <a:t>Low</a:t>
                      </a:r>
                    </a:p>
                  </a:txBody>
                  <a:tcPr anchor="ctr"/>
                </a:tc>
                <a:tc>
                  <a:txBody>
                    <a:bodyPr/>
                    <a:lstStyle/>
                    <a:p>
                      <a:r>
                        <a:rPr lang="en-US" dirty="0"/>
                        <a:t>Close</a:t>
                      </a:r>
                    </a:p>
                  </a:txBody>
                  <a:tcPr anchor="ctr"/>
                </a:tc>
                <a:tc>
                  <a:txBody>
                    <a:bodyPr/>
                    <a:lstStyle/>
                    <a:p>
                      <a:r>
                        <a:rPr lang="en-US" dirty="0"/>
                        <a:t>Net </a:t>
                      </a:r>
                      <a:r>
                        <a:rPr lang="en-US" dirty="0" err="1"/>
                        <a:t>Chg</a:t>
                      </a:r>
                      <a:endParaRPr lang="en-US" dirty="0"/>
                    </a:p>
                  </a:txBody>
                  <a:tcPr anchor="ctr"/>
                </a:tc>
                <a:extLst>
                  <a:ext uri="{0D108BD9-81ED-4DB2-BD59-A6C34878D82A}">
                    <a16:rowId xmlns:a16="http://schemas.microsoft.com/office/drawing/2014/main" val="10000"/>
                  </a:ext>
                </a:extLst>
              </a:tr>
              <a:tr h="370840">
                <a:tc>
                  <a:txBody>
                    <a:bodyPr/>
                    <a:lstStyle/>
                    <a:p>
                      <a:r>
                        <a:rPr lang="en-US" dirty="0"/>
                        <a:t>90.97</a:t>
                      </a:r>
                    </a:p>
                  </a:txBody>
                  <a:tcPr anchor="ctr"/>
                </a:tc>
                <a:tc>
                  <a:txBody>
                    <a:bodyPr/>
                    <a:lstStyle/>
                    <a:p>
                      <a:r>
                        <a:rPr lang="en-US" dirty="0"/>
                        <a:t>72.27</a:t>
                      </a:r>
                    </a:p>
                  </a:txBody>
                  <a:tcPr anchor="ctr"/>
                </a:tc>
                <a:tc>
                  <a:txBody>
                    <a:bodyPr/>
                    <a:lstStyle/>
                    <a:p>
                      <a:r>
                        <a:rPr lang="en-US" dirty="0"/>
                        <a:t>Wal-Mart</a:t>
                      </a:r>
                    </a:p>
                  </a:txBody>
                  <a:tcPr anchor="ctr"/>
                </a:tc>
                <a:tc>
                  <a:txBody>
                    <a:bodyPr/>
                    <a:lstStyle/>
                    <a:p>
                      <a:r>
                        <a:rPr lang="en-US" dirty="0"/>
                        <a:t>WMT</a:t>
                      </a:r>
                    </a:p>
                  </a:txBody>
                  <a:tcPr anchor="ctr"/>
                </a:tc>
                <a:tc>
                  <a:txBody>
                    <a:bodyPr/>
                    <a:lstStyle/>
                    <a:p>
                      <a:r>
                        <a:rPr lang="en-US" dirty="0"/>
                        <a:t>1.92</a:t>
                      </a:r>
                    </a:p>
                  </a:txBody>
                  <a:tcPr anchor="ctr"/>
                </a:tc>
                <a:tc>
                  <a:txBody>
                    <a:bodyPr/>
                    <a:lstStyle/>
                    <a:p>
                      <a:r>
                        <a:rPr lang="en-US" dirty="0"/>
                        <a:t>2.2</a:t>
                      </a:r>
                    </a:p>
                  </a:txBody>
                  <a:tcPr anchor="ctr"/>
                </a:tc>
                <a:tc>
                  <a:txBody>
                    <a:bodyPr/>
                    <a:lstStyle/>
                    <a:p>
                      <a:r>
                        <a:rPr lang="en-US" dirty="0"/>
                        <a:t>18</a:t>
                      </a:r>
                    </a:p>
                  </a:txBody>
                  <a:tcPr anchor="ctr"/>
                </a:tc>
                <a:tc>
                  <a:txBody>
                    <a:bodyPr/>
                    <a:lstStyle/>
                    <a:p>
                      <a:r>
                        <a:rPr lang="en-US" dirty="0"/>
                        <a:t>46581</a:t>
                      </a:r>
                    </a:p>
                  </a:txBody>
                  <a:tcPr anchor="ctr"/>
                </a:tc>
                <a:tc>
                  <a:txBody>
                    <a:bodyPr/>
                    <a:lstStyle/>
                    <a:p>
                      <a:r>
                        <a:rPr lang="en-US" dirty="0"/>
                        <a:t>89.16</a:t>
                      </a:r>
                    </a:p>
                  </a:txBody>
                  <a:tcPr anchor="ctr"/>
                </a:tc>
                <a:tc>
                  <a:txBody>
                    <a:bodyPr/>
                    <a:lstStyle/>
                    <a:p>
                      <a:r>
                        <a:rPr lang="en-US" dirty="0"/>
                        <a:t>88.12</a:t>
                      </a:r>
                    </a:p>
                  </a:txBody>
                  <a:tcPr anchor="ctr"/>
                </a:tc>
                <a:tc>
                  <a:txBody>
                    <a:bodyPr/>
                    <a:lstStyle/>
                    <a:p>
                      <a:r>
                        <a:rPr lang="en-US" dirty="0"/>
                        <a:t>88.51</a:t>
                      </a:r>
                    </a:p>
                  </a:txBody>
                  <a:tcPr anchor="ctr"/>
                </a:tc>
                <a:tc>
                  <a:txBody>
                    <a:bodyPr/>
                    <a:lstStyle/>
                    <a:p>
                      <a:r>
                        <a:rPr lang="en-US" dirty="0"/>
                        <a:t>+0.12</a:t>
                      </a:r>
                    </a:p>
                  </a:txBody>
                  <a:tcPr anchor="ct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94443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1000"/>
                                        <p:tgtEl>
                                          <p:spTgt spid="14">
                                            <p:txEl>
                                              <p:pRg st="0" end="0"/>
                                            </p:txEl>
                                          </p:spTgt>
                                        </p:tgtEl>
                                      </p:cBhvr>
                                    </p:animEffect>
                                    <p:anim calcmode="lin" valueType="num">
                                      <p:cBhvr>
                                        <p:cTn id="8"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1" end="1"/>
                                            </p:txEl>
                                          </p:spTgt>
                                        </p:tgtEl>
                                        <p:attrNameLst>
                                          <p:attrName>style.visibility</p:attrName>
                                        </p:attrNameLst>
                                      </p:cBhvr>
                                      <p:to>
                                        <p:strVal val="visible"/>
                                      </p:to>
                                    </p:set>
                                    <p:animEffect transition="in" filter="fade">
                                      <p:cBhvr>
                                        <p:cTn id="14" dur="1000"/>
                                        <p:tgtEl>
                                          <p:spTgt spid="14">
                                            <p:txEl>
                                              <p:pRg st="1" end="1"/>
                                            </p:txEl>
                                          </p:spTgt>
                                        </p:tgtEl>
                                      </p:cBhvr>
                                    </p:animEffect>
                                    <p:anim calcmode="lin" valueType="num">
                                      <p:cBhvr>
                                        <p:cTn id="15"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5"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2000"/>
                                        <p:tgtEl>
                                          <p:spTgt spid="5"/>
                                        </p:tgtEl>
                                      </p:cBhvr>
                                    </p:animEffect>
                                    <p:anim calcmode="lin" valueType="num">
                                      <p:cBhvr>
                                        <p:cTn id="22" dur="2000" fill="hold"/>
                                        <p:tgtEl>
                                          <p:spTgt spid="5"/>
                                        </p:tgtEl>
                                        <p:attrNameLst>
                                          <p:attrName>ppt_w</p:attrName>
                                        </p:attrNameLst>
                                      </p:cBhvr>
                                      <p:tavLst>
                                        <p:tav tm="0" fmla="#ppt_w*sin(2.5*pi*$)">
                                          <p:val>
                                            <p:fltVal val="0"/>
                                          </p:val>
                                        </p:tav>
                                        <p:tav tm="100000">
                                          <p:val>
                                            <p:fltVal val="1"/>
                                          </p:val>
                                        </p:tav>
                                      </p:tavLst>
                                    </p:anim>
                                    <p:anim calcmode="lin" valueType="num">
                                      <p:cBhvr>
                                        <p:cTn id="23" dur="20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6" end="6"/>
                                            </p:txEl>
                                          </p:spTgt>
                                        </p:tgtEl>
                                        <p:attrNameLst>
                                          <p:attrName>style.visibility</p:attrName>
                                        </p:attrNameLst>
                                      </p:cBhvr>
                                      <p:to>
                                        <p:strVal val="visible"/>
                                      </p:to>
                                    </p:set>
                                    <p:animEffect transition="in" filter="fade">
                                      <p:cBhvr>
                                        <p:cTn id="28" dur="1000"/>
                                        <p:tgtEl>
                                          <p:spTgt spid="14">
                                            <p:txEl>
                                              <p:pRg st="6" end="6"/>
                                            </p:txEl>
                                          </p:spTgt>
                                        </p:tgtEl>
                                      </p:cBhvr>
                                    </p:animEffect>
                                    <p:anim calcmode="lin" valueType="num">
                                      <p:cBhvr>
                                        <p:cTn id="29" dur="1000" fill="hold"/>
                                        <p:tgtEl>
                                          <p:spTgt spid="14">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Stock Tables							2</a:t>
            </a:r>
          </a:p>
        </p:txBody>
      </p:sp>
      <p:sp>
        <p:nvSpPr>
          <p:cNvPr id="14" name="Content Placeholder 13"/>
          <p:cNvSpPr>
            <a:spLocks noGrp="1"/>
          </p:cNvSpPr>
          <p:nvPr>
            <p:ph idx="1"/>
          </p:nvPr>
        </p:nvSpPr>
        <p:spPr>
          <a:xfrm>
            <a:off x="1341120" y="1159099"/>
            <a:ext cx="9509760" cy="5138670"/>
          </a:xfrm>
        </p:spPr>
        <p:txBody>
          <a:bodyPr>
            <a:normAutofit/>
          </a:bodyPr>
          <a:lstStyle/>
          <a:p>
            <a:r>
              <a:rPr lang="en-US" dirty="0"/>
              <a:t>52-Week Low = $72.27. This is the lowest price at which Wal-Mart stock traded per share during the past 52 weeks. </a:t>
            </a:r>
          </a:p>
          <a:p>
            <a:r>
              <a:rPr lang="en-US" dirty="0"/>
              <a:t>The Stock is Wal-Mart Stores Inc.</a:t>
            </a:r>
          </a:p>
          <a:p>
            <a:r>
              <a:rPr lang="en-US" dirty="0"/>
              <a:t>The SYM is a short form for Symbol. The ticker symbol is WMT.</a:t>
            </a:r>
          </a:p>
          <a:p>
            <a:r>
              <a:rPr lang="en-US" dirty="0"/>
              <a:t>The </a:t>
            </a:r>
            <a:r>
              <a:rPr lang="en-US" dirty="0" err="1"/>
              <a:t>Div</a:t>
            </a:r>
            <a:r>
              <a:rPr lang="en-US" dirty="0"/>
              <a:t>  is $1.92. This is the dividend per share paid to the shareholders during the past year. Wal-Mart Stores Inc. paid a dividend of $1.92 per share.</a:t>
            </a:r>
          </a:p>
          <a:p>
            <a:r>
              <a:rPr lang="en-US" dirty="0"/>
              <a:t>The </a:t>
            </a:r>
            <a:r>
              <a:rPr lang="en-US" dirty="0" err="1"/>
              <a:t>Yld</a:t>
            </a:r>
            <a:r>
              <a:rPr lang="en-US" dirty="0"/>
              <a:t> % is the percent yield. The percent yield is 2.2%. This means that the investors had an annual return of 2.2% based on the dividends alone. The </a:t>
            </a:r>
            <a:r>
              <a:rPr lang="en-US" dirty="0" err="1"/>
              <a:t>Yld</a:t>
            </a:r>
            <a:r>
              <a:rPr lang="en-US" dirty="0"/>
              <a:t> % does not take into account that Wal-Mart stock prices might increase. If an investor sells for more than the purchase price, the gain will probably make Wal-Mart stock a better investment than a bank account.</a:t>
            </a:r>
          </a:p>
          <a:p>
            <a:r>
              <a:rPr lang="en-US" dirty="0"/>
              <a:t>The Sales </a:t>
            </a:r>
            <a:r>
              <a:rPr lang="en-US" dirty="0" err="1"/>
              <a:t>Vol</a:t>
            </a:r>
            <a:r>
              <a:rPr lang="en-US" dirty="0"/>
              <a:t> 100s is the sales volume in hundreds of shares that traded yesterday. This is 46581 * 100 = 4658100 shares. This means that a total of 4658100 shares of Wal-Mart stock were traded yesterday.</a:t>
            </a:r>
          </a:p>
        </p:txBody>
      </p:sp>
    </p:spTree>
    <p:extLst>
      <p:ext uri="{BB962C8B-B14F-4D97-AF65-F5344CB8AC3E}">
        <p14:creationId xmlns:p14="http://schemas.microsoft.com/office/powerpoint/2010/main" val="1724790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1000"/>
                                        <p:tgtEl>
                                          <p:spTgt spid="14">
                                            <p:txEl>
                                              <p:pRg st="0" end="0"/>
                                            </p:txEl>
                                          </p:spTgt>
                                        </p:tgtEl>
                                      </p:cBhvr>
                                    </p:animEffect>
                                    <p:anim calcmode="lin" valueType="num">
                                      <p:cBhvr>
                                        <p:cTn id="8"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1" end="1"/>
                                            </p:txEl>
                                          </p:spTgt>
                                        </p:tgtEl>
                                        <p:attrNameLst>
                                          <p:attrName>style.visibility</p:attrName>
                                        </p:attrNameLst>
                                      </p:cBhvr>
                                      <p:to>
                                        <p:strVal val="visible"/>
                                      </p:to>
                                    </p:set>
                                    <p:animEffect transition="in" filter="fade">
                                      <p:cBhvr>
                                        <p:cTn id="14" dur="1000"/>
                                        <p:tgtEl>
                                          <p:spTgt spid="14">
                                            <p:txEl>
                                              <p:pRg st="1" end="1"/>
                                            </p:txEl>
                                          </p:spTgt>
                                        </p:tgtEl>
                                      </p:cBhvr>
                                    </p:animEffect>
                                    <p:anim calcmode="lin" valueType="num">
                                      <p:cBhvr>
                                        <p:cTn id="15"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2" end="2"/>
                                            </p:txEl>
                                          </p:spTgt>
                                        </p:tgtEl>
                                        <p:attrNameLst>
                                          <p:attrName>style.visibility</p:attrName>
                                        </p:attrNameLst>
                                      </p:cBhvr>
                                      <p:to>
                                        <p:strVal val="visible"/>
                                      </p:to>
                                    </p:set>
                                    <p:animEffect transition="in" filter="fade">
                                      <p:cBhvr>
                                        <p:cTn id="21" dur="1000"/>
                                        <p:tgtEl>
                                          <p:spTgt spid="14">
                                            <p:txEl>
                                              <p:pRg st="2" end="2"/>
                                            </p:txEl>
                                          </p:spTgt>
                                        </p:tgtEl>
                                      </p:cBhvr>
                                    </p:animEffect>
                                    <p:anim calcmode="lin" valueType="num">
                                      <p:cBhvr>
                                        <p:cTn id="22"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3" end="3"/>
                                            </p:txEl>
                                          </p:spTgt>
                                        </p:tgtEl>
                                        <p:attrNameLst>
                                          <p:attrName>style.visibility</p:attrName>
                                        </p:attrNameLst>
                                      </p:cBhvr>
                                      <p:to>
                                        <p:strVal val="visible"/>
                                      </p:to>
                                    </p:set>
                                    <p:animEffect transition="in" filter="fade">
                                      <p:cBhvr>
                                        <p:cTn id="28" dur="1000"/>
                                        <p:tgtEl>
                                          <p:spTgt spid="14">
                                            <p:txEl>
                                              <p:pRg st="3" end="3"/>
                                            </p:txEl>
                                          </p:spTgt>
                                        </p:tgtEl>
                                      </p:cBhvr>
                                    </p:animEffect>
                                    <p:anim calcmode="lin" valueType="num">
                                      <p:cBhvr>
                                        <p:cTn id="29"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4">
                                            <p:txEl>
                                              <p:pRg st="4" end="4"/>
                                            </p:txEl>
                                          </p:spTgt>
                                        </p:tgtEl>
                                        <p:attrNameLst>
                                          <p:attrName>style.visibility</p:attrName>
                                        </p:attrNameLst>
                                      </p:cBhvr>
                                      <p:to>
                                        <p:strVal val="visible"/>
                                      </p:to>
                                    </p:set>
                                    <p:animEffect transition="in" filter="fade">
                                      <p:cBhvr>
                                        <p:cTn id="35" dur="1000"/>
                                        <p:tgtEl>
                                          <p:spTgt spid="14">
                                            <p:txEl>
                                              <p:pRg st="4" end="4"/>
                                            </p:txEl>
                                          </p:spTgt>
                                        </p:tgtEl>
                                      </p:cBhvr>
                                    </p:animEffect>
                                    <p:anim calcmode="lin" valueType="num">
                                      <p:cBhvr>
                                        <p:cTn id="36"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4">
                                            <p:txEl>
                                              <p:pRg st="5" end="5"/>
                                            </p:txEl>
                                          </p:spTgt>
                                        </p:tgtEl>
                                        <p:attrNameLst>
                                          <p:attrName>style.visibility</p:attrName>
                                        </p:attrNameLst>
                                      </p:cBhvr>
                                      <p:to>
                                        <p:strVal val="visible"/>
                                      </p:to>
                                    </p:set>
                                    <p:animEffect transition="in" filter="fade">
                                      <p:cBhvr>
                                        <p:cTn id="42" dur="1000"/>
                                        <p:tgtEl>
                                          <p:spTgt spid="14">
                                            <p:txEl>
                                              <p:pRg st="5" end="5"/>
                                            </p:txEl>
                                          </p:spTgt>
                                        </p:tgtEl>
                                      </p:cBhvr>
                                    </p:animEffect>
                                    <p:anim calcmode="lin" valueType="num">
                                      <p:cBhvr>
                                        <p:cTn id="43"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Stock Tables							3</a:t>
            </a:r>
          </a:p>
        </p:txBody>
      </p:sp>
      <p:sp>
        <p:nvSpPr>
          <p:cNvPr id="14" name="Content Placeholder 13"/>
          <p:cNvSpPr>
            <a:spLocks noGrp="1"/>
          </p:cNvSpPr>
          <p:nvPr>
            <p:ph idx="1"/>
          </p:nvPr>
        </p:nvSpPr>
        <p:spPr>
          <a:xfrm>
            <a:off x="1341120" y="1339404"/>
            <a:ext cx="9509760" cy="4690176"/>
          </a:xfrm>
        </p:spPr>
        <p:txBody>
          <a:bodyPr/>
          <a:lstStyle/>
          <a:p>
            <a:r>
              <a:rPr lang="en-US" dirty="0"/>
              <a:t>The High = $89.16. This is the highest price at which Wal-Mart stock traded per share yesterday.</a:t>
            </a:r>
          </a:p>
          <a:p>
            <a:r>
              <a:rPr lang="en-US" dirty="0"/>
              <a:t>The Low = $88.12. Yesterday, Wal-Mart’s stock lowest trading price per share was $88.12. </a:t>
            </a:r>
          </a:p>
          <a:p>
            <a:r>
              <a:rPr lang="en-US" dirty="0"/>
              <a:t>The Close = $88.51. This is the price at which shares last traded when the stock exchange closed yesterday. The closing price for Wal-Mart shares when the stock exchange closed yesterday was $88.51 per share.</a:t>
            </a:r>
          </a:p>
          <a:p>
            <a:r>
              <a:rPr lang="en-US" dirty="0"/>
              <a:t>The Net </a:t>
            </a:r>
            <a:r>
              <a:rPr lang="en-US" dirty="0" err="1"/>
              <a:t>Chg</a:t>
            </a:r>
            <a:r>
              <a:rPr lang="en-US" dirty="0"/>
              <a:t> = +0.12. This is the change in price from when the stock exchange closed two days ago to when it closed yesterday. Therefore, the price of a  share of Wal-Mart stock went up by $0.12 from the market close two days ago to the market close yesterday.</a:t>
            </a:r>
          </a:p>
          <a:p>
            <a:r>
              <a:rPr lang="en-US" dirty="0"/>
              <a:t>The P/E ratio = 18. This is the price-to-earnings ratio.</a:t>
            </a:r>
          </a:p>
        </p:txBody>
      </p:sp>
    </p:spTree>
    <p:extLst>
      <p:ext uri="{BB962C8B-B14F-4D97-AF65-F5344CB8AC3E}">
        <p14:creationId xmlns:p14="http://schemas.microsoft.com/office/powerpoint/2010/main" val="585738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1000"/>
                                        <p:tgtEl>
                                          <p:spTgt spid="14">
                                            <p:txEl>
                                              <p:pRg st="0" end="0"/>
                                            </p:txEl>
                                          </p:spTgt>
                                        </p:tgtEl>
                                      </p:cBhvr>
                                    </p:animEffect>
                                    <p:anim calcmode="lin" valueType="num">
                                      <p:cBhvr>
                                        <p:cTn id="8"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1" end="1"/>
                                            </p:txEl>
                                          </p:spTgt>
                                        </p:tgtEl>
                                        <p:attrNameLst>
                                          <p:attrName>style.visibility</p:attrName>
                                        </p:attrNameLst>
                                      </p:cBhvr>
                                      <p:to>
                                        <p:strVal val="visible"/>
                                      </p:to>
                                    </p:set>
                                    <p:animEffect transition="in" filter="fade">
                                      <p:cBhvr>
                                        <p:cTn id="14" dur="1000"/>
                                        <p:tgtEl>
                                          <p:spTgt spid="14">
                                            <p:txEl>
                                              <p:pRg st="1" end="1"/>
                                            </p:txEl>
                                          </p:spTgt>
                                        </p:tgtEl>
                                      </p:cBhvr>
                                    </p:animEffect>
                                    <p:anim calcmode="lin" valueType="num">
                                      <p:cBhvr>
                                        <p:cTn id="15"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2" end="2"/>
                                            </p:txEl>
                                          </p:spTgt>
                                        </p:tgtEl>
                                        <p:attrNameLst>
                                          <p:attrName>style.visibility</p:attrName>
                                        </p:attrNameLst>
                                      </p:cBhvr>
                                      <p:to>
                                        <p:strVal val="visible"/>
                                      </p:to>
                                    </p:set>
                                    <p:animEffect transition="in" filter="fade">
                                      <p:cBhvr>
                                        <p:cTn id="21" dur="1000"/>
                                        <p:tgtEl>
                                          <p:spTgt spid="14">
                                            <p:txEl>
                                              <p:pRg st="2" end="2"/>
                                            </p:txEl>
                                          </p:spTgt>
                                        </p:tgtEl>
                                      </p:cBhvr>
                                    </p:animEffect>
                                    <p:anim calcmode="lin" valueType="num">
                                      <p:cBhvr>
                                        <p:cTn id="22"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3" end="3"/>
                                            </p:txEl>
                                          </p:spTgt>
                                        </p:tgtEl>
                                        <p:attrNameLst>
                                          <p:attrName>style.visibility</p:attrName>
                                        </p:attrNameLst>
                                      </p:cBhvr>
                                      <p:to>
                                        <p:strVal val="visible"/>
                                      </p:to>
                                    </p:set>
                                    <p:animEffect transition="in" filter="fade">
                                      <p:cBhvr>
                                        <p:cTn id="28" dur="1000"/>
                                        <p:tgtEl>
                                          <p:spTgt spid="14">
                                            <p:txEl>
                                              <p:pRg st="3" end="3"/>
                                            </p:txEl>
                                          </p:spTgt>
                                        </p:tgtEl>
                                      </p:cBhvr>
                                    </p:animEffect>
                                    <p:anim calcmode="lin" valueType="num">
                                      <p:cBhvr>
                                        <p:cTn id="29"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4">
                                            <p:txEl>
                                              <p:pRg st="4" end="4"/>
                                            </p:txEl>
                                          </p:spTgt>
                                        </p:tgtEl>
                                        <p:attrNameLst>
                                          <p:attrName>style.visibility</p:attrName>
                                        </p:attrNameLst>
                                      </p:cBhvr>
                                      <p:to>
                                        <p:strVal val="visible"/>
                                      </p:to>
                                    </p:set>
                                    <p:animEffect transition="in" filter="fade">
                                      <p:cBhvr>
                                        <p:cTn id="35" dur="1000"/>
                                        <p:tgtEl>
                                          <p:spTgt spid="14">
                                            <p:txEl>
                                              <p:pRg st="4" end="4"/>
                                            </p:txEl>
                                          </p:spTgt>
                                        </p:tgtEl>
                                      </p:cBhvr>
                                    </p:animEffect>
                                    <p:anim calcmode="lin" valueType="num">
                                      <p:cBhvr>
                                        <p:cTn id="36"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Stock Tables							4</a:t>
            </a:r>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1341120" y="1339404"/>
                <a:ext cx="9509760" cy="4690176"/>
              </a:xfrm>
            </p:spPr>
            <p:txBody>
              <a:bodyPr>
                <a:normAutofit lnSpcReduction="10000"/>
              </a:bodyPr>
              <a:lstStyle/>
              <a:p>
                <a14:m>
                  <m:oMath xmlns:m="http://schemas.openxmlformats.org/officeDocument/2006/math">
                    <m:r>
                      <a:rPr lang="en-US" sz="2600" i="1" dirty="0" smtClean="0">
                        <a:latin typeface="Cambria Math" panose="02040503050406030204" pitchFamily="18" charset="0"/>
                      </a:rPr>
                      <m:t>𝑃</m:t>
                    </m:r>
                    <m:r>
                      <a:rPr lang="en-US" sz="2600" i="1" dirty="0" smtClean="0">
                        <a:latin typeface="Cambria Math" panose="02040503050406030204" pitchFamily="18" charset="0"/>
                      </a:rPr>
                      <m:t>/</m:t>
                    </m:r>
                    <m:r>
                      <a:rPr lang="en-US" sz="2600" i="1" dirty="0" smtClean="0">
                        <a:latin typeface="Cambria Math" panose="02040503050406030204" pitchFamily="18" charset="0"/>
                      </a:rPr>
                      <m:t>𝐸</m:t>
                    </m:r>
                    <m:r>
                      <a:rPr lang="en-US" sz="2600" i="1" dirty="0" smtClean="0">
                        <a:latin typeface="Cambria Math" panose="02040503050406030204" pitchFamily="18" charset="0"/>
                      </a:rPr>
                      <m:t> </m:t>
                    </m:r>
                    <m:r>
                      <a:rPr lang="en-US" sz="2600" i="1" dirty="0" smtClean="0">
                        <a:latin typeface="Cambria Math" panose="02040503050406030204" pitchFamily="18" charset="0"/>
                      </a:rPr>
                      <m:t>𝑟𝑎𝑡𝑖𝑜</m:t>
                    </m:r>
                    <m:r>
                      <a:rPr lang="en-US" sz="2600" i="1" dirty="0" smtClean="0">
                        <a:latin typeface="Cambria Math" panose="02040503050406030204" pitchFamily="18" charset="0"/>
                      </a:rPr>
                      <m:t> </m:t>
                    </m:r>
                  </m:oMath>
                </a14:m>
                <a:r>
                  <a:rPr lang="en-US" sz="2600" dirty="0"/>
                  <a:t>= </a:t>
                </a:r>
                <a14:m>
                  <m:oMath xmlns:m="http://schemas.openxmlformats.org/officeDocument/2006/math">
                    <m:f>
                      <m:fPr>
                        <m:ctrlPr>
                          <a:rPr lang="en-US" sz="2600" b="0" i="1" smtClean="0">
                            <a:latin typeface="Cambria Math" panose="02040503050406030204" pitchFamily="18" charset="0"/>
                          </a:rPr>
                        </m:ctrlPr>
                      </m:fPr>
                      <m:num>
                        <m:r>
                          <a:rPr lang="en-US" sz="2600" i="1">
                            <a:latin typeface="Cambria Math" panose="02040503050406030204" pitchFamily="18" charset="0"/>
                          </a:rPr>
                          <m:t>𝑌𝑒𝑠𝑡𝑒𝑟𝑑𝑎</m:t>
                        </m:r>
                        <m:sSup>
                          <m:sSupPr>
                            <m:ctrlPr>
                              <a:rPr lang="en-US" sz="2600" i="1">
                                <a:latin typeface="Cambria Math" panose="02040503050406030204" pitchFamily="18" charset="0"/>
                              </a:rPr>
                            </m:ctrlPr>
                          </m:sSupPr>
                          <m:e>
                            <m:r>
                              <a:rPr lang="en-US" sz="2600" i="1">
                                <a:latin typeface="Cambria Math" panose="02040503050406030204" pitchFamily="18" charset="0"/>
                              </a:rPr>
                              <m:t>𝑦</m:t>
                            </m:r>
                          </m:e>
                          <m:sup>
                            <m:r>
                              <a:rPr lang="en-US" sz="2600" i="1">
                                <a:latin typeface="Cambria Math" panose="02040503050406030204" pitchFamily="18" charset="0"/>
                              </a:rPr>
                              <m:t>′</m:t>
                            </m:r>
                          </m:sup>
                        </m:sSup>
                        <m:r>
                          <a:rPr lang="en-US" sz="2600" i="1">
                            <a:latin typeface="Cambria Math" panose="02040503050406030204" pitchFamily="18" charset="0"/>
                          </a:rPr>
                          <m:t>𝑠</m:t>
                        </m:r>
                        <m:r>
                          <a:rPr lang="en-US" sz="2600" i="1">
                            <a:latin typeface="Cambria Math" panose="02040503050406030204" pitchFamily="18" charset="0"/>
                          </a:rPr>
                          <m:t> </m:t>
                        </m:r>
                        <m:r>
                          <a:rPr lang="en-US" sz="2600" i="1">
                            <a:latin typeface="Cambria Math" panose="02040503050406030204" pitchFamily="18" charset="0"/>
                          </a:rPr>
                          <m:t>𝑐𝑙𝑜𝑠𝑖𝑛𝑔</m:t>
                        </m:r>
                        <m:r>
                          <a:rPr lang="en-US" sz="2600" i="1">
                            <a:latin typeface="Cambria Math" panose="02040503050406030204" pitchFamily="18" charset="0"/>
                          </a:rPr>
                          <m:t> </m:t>
                        </m:r>
                        <m:r>
                          <a:rPr lang="en-US" sz="2600" i="1">
                            <a:latin typeface="Cambria Math" panose="02040503050406030204" pitchFamily="18" charset="0"/>
                          </a:rPr>
                          <m:t>𝑝𝑟𝑖𝑐𝑒</m:t>
                        </m:r>
                        <m:r>
                          <a:rPr lang="en-US" sz="2600" i="1">
                            <a:latin typeface="Cambria Math" panose="02040503050406030204" pitchFamily="18" charset="0"/>
                          </a:rPr>
                          <m:t> </m:t>
                        </m:r>
                        <m:r>
                          <a:rPr lang="en-US" sz="2600" i="1">
                            <a:latin typeface="Cambria Math" panose="02040503050406030204" pitchFamily="18" charset="0"/>
                          </a:rPr>
                          <m:t>𝑝𝑒𝑟</m:t>
                        </m:r>
                        <m:r>
                          <a:rPr lang="en-US" sz="2600" i="1">
                            <a:latin typeface="Cambria Math" panose="02040503050406030204" pitchFamily="18" charset="0"/>
                          </a:rPr>
                          <m:t> </m:t>
                        </m:r>
                        <m:r>
                          <a:rPr lang="en-US" sz="2600" i="1">
                            <a:latin typeface="Cambria Math" panose="02040503050406030204" pitchFamily="18" charset="0"/>
                          </a:rPr>
                          <m:t>𝑠h𝑎𝑟𝑒</m:t>
                        </m:r>
                      </m:num>
                      <m:den>
                        <m:r>
                          <a:rPr lang="en-US" sz="2600" b="0" i="1" smtClean="0">
                            <a:latin typeface="Cambria Math" panose="02040503050406030204" pitchFamily="18" charset="0"/>
                          </a:rPr>
                          <m:t>𝐴𝑛𝑛𝑢𝑎𝑙</m:t>
                        </m:r>
                        <m:r>
                          <a:rPr lang="en-US" sz="2600" b="0" i="1" smtClean="0">
                            <a:latin typeface="Cambria Math" panose="02040503050406030204" pitchFamily="18" charset="0"/>
                          </a:rPr>
                          <m:t> </m:t>
                        </m:r>
                        <m:r>
                          <a:rPr lang="en-US" sz="2600" b="0" i="1" smtClean="0">
                            <a:latin typeface="Cambria Math" panose="02040503050406030204" pitchFamily="18" charset="0"/>
                          </a:rPr>
                          <m:t>𝑒𝑎𝑟𝑛𝑖𝑛𝑔𝑠</m:t>
                        </m:r>
                        <m:r>
                          <a:rPr lang="en-US" sz="2600" b="0" i="1" smtClean="0">
                            <a:latin typeface="Cambria Math" panose="02040503050406030204" pitchFamily="18" charset="0"/>
                          </a:rPr>
                          <m:t> </m:t>
                        </m:r>
                        <m:r>
                          <a:rPr lang="en-US" sz="2600" b="0" i="1" smtClean="0">
                            <a:latin typeface="Cambria Math" panose="02040503050406030204" pitchFamily="18" charset="0"/>
                          </a:rPr>
                          <m:t>𝑝𝑒𝑟</m:t>
                        </m:r>
                        <m:r>
                          <a:rPr lang="en-US" sz="2600" b="0" i="1" smtClean="0">
                            <a:latin typeface="Cambria Math" panose="02040503050406030204" pitchFamily="18" charset="0"/>
                          </a:rPr>
                          <m:t> </m:t>
                        </m:r>
                        <m:r>
                          <a:rPr lang="en-US" sz="2600" b="0" i="1" smtClean="0">
                            <a:latin typeface="Cambria Math" panose="02040503050406030204" pitchFamily="18" charset="0"/>
                          </a:rPr>
                          <m:t>𝑠h𝑎𝑟𝑒</m:t>
                        </m:r>
                      </m:den>
                    </m:f>
                  </m:oMath>
                </a14:m>
                <a:endParaRPr lang="en-US" sz="2600" dirty="0"/>
              </a:p>
              <a:p>
                <a14:m>
                  <m:oMath xmlns:m="http://schemas.openxmlformats.org/officeDocument/2006/math">
                    <m:r>
                      <a:rPr lang="en-US" sz="2600" i="1" dirty="0" smtClean="0">
                        <a:latin typeface="Cambria Math" panose="02040503050406030204" pitchFamily="18" charset="0"/>
                      </a:rPr>
                      <m:t>𝐴𝑛𝑛𝑢𝑎𝑙</m:t>
                    </m:r>
                    <m:r>
                      <a:rPr lang="en-US" sz="2600" i="1" dirty="0" smtClean="0">
                        <a:latin typeface="Cambria Math" panose="02040503050406030204" pitchFamily="18" charset="0"/>
                      </a:rPr>
                      <m:t> </m:t>
                    </m:r>
                    <m:r>
                      <a:rPr lang="en-US" sz="2600" i="1" dirty="0" smtClean="0">
                        <a:latin typeface="Cambria Math" panose="02040503050406030204" pitchFamily="18" charset="0"/>
                      </a:rPr>
                      <m:t>𝑒𝑎𝑟𝑛𝑖𝑛𝑔𝑠</m:t>
                    </m:r>
                    <m:r>
                      <a:rPr lang="en-US" sz="2600" i="1" dirty="0" smtClean="0">
                        <a:latin typeface="Cambria Math" panose="02040503050406030204" pitchFamily="18" charset="0"/>
                      </a:rPr>
                      <m:t> </m:t>
                    </m:r>
                    <m:r>
                      <a:rPr lang="en-US" sz="2600" i="1" dirty="0" smtClean="0">
                        <a:latin typeface="Cambria Math" panose="02040503050406030204" pitchFamily="18" charset="0"/>
                      </a:rPr>
                      <m:t>𝑝𝑒𝑟</m:t>
                    </m:r>
                    <m:r>
                      <a:rPr lang="en-US" sz="2600" i="1" dirty="0" smtClean="0">
                        <a:latin typeface="Cambria Math" panose="02040503050406030204" pitchFamily="18" charset="0"/>
                      </a:rPr>
                      <m:t> </m:t>
                    </m:r>
                    <m:r>
                      <a:rPr lang="en-US" sz="2600" i="1" dirty="0" smtClean="0">
                        <a:latin typeface="Cambria Math" panose="02040503050406030204" pitchFamily="18" charset="0"/>
                      </a:rPr>
                      <m:t>𝑠h𝑎𝑟𝑒</m:t>
                    </m:r>
                    <m:r>
                      <a:rPr lang="en-US" sz="2600" i="1" dirty="0" smtClean="0">
                        <a:latin typeface="Cambria Math" panose="02040503050406030204" pitchFamily="18" charset="0"/>
                      </a:rPr>
                      <m:t> </m:t>
                    </m:r>
                  </m:oMath>
                </a14:m>
                <a:r>
                  <a:rPr lang="en-US" sz="2600" dirty="0"/>
                  <a:t>= </a:t>
                </a:r>
                <a14:m>
                  <m:oMath xmlns:m="http://schemas.openxmlformats.org/officeDocument/2006/math">
                    <m:f>
                      <m:fPr>
                        <m:ctrlPr>
                          <a:rPr lang="en-US" sz="2600" i="1">
                            <a:latin typeface="Cambria Math" panose="02040503050406030204" pitchFamily="18" charset="0"/>
                          </a:rPr>
                        </m:ctrlPr>
                      </m:fPr>
                      <m:num>
                        <m:r>
                          <a:rPr lang="en-US" sz="2600" i="1">
                            <a:latin typeface="Cambria Math" panose="02040503050406030204" pitchFamily="18" charset="0"/>
                          </a:rPr>
                          <m:t>𝑌𝑒𝑠𝑡𝑒𝑟𝑑𝑎</m:t>
                        </m:r>
                        <m:sSup>
                          <m:sSupPr>
                            <m:ctrlPr>
                              <a:rPr lang="en-US" sz="2600" i="1">
                                <a:latin typeface="Cambria Math" panose="02040503050406030204" pitchFamily="18" charset="0"/>
                              </a:rPr>
                            </m:ctrlPr>
                          </m:sSupPr>
                          <m:e>
                            <m:r>
                              <a:rPr lang="en-US" sz="2600" i="1">
                                <a:latin typeface="Cambria Math" panose="02040503050406030204" pitchFamily="18" charset="0"/>
                              </a:rPr>
                              <m:t>𝑦</m:t>
                            </m:r>
                          </m:e>
                          <m:sup>
                            <m:r>
                              <a:rPr lang="en-US" sz="2600" i="1">
                                <a:latin typeface="Cambria Math" panose="02040503050406030204" pitchFamily="18" charset="0"/>
                              </a:rPr>
                              <m:t>′</m:t>
                            </m:r>
                          </m:sup>
                        </m:sSup>
                        <m:r>
                          <a:rPr lang="en-US" sz="2600" i="1">
                            <a:latin typeface="Cambria Math" panose="02040503050406030204" pitchFamily="18" charset="0"/>
                          </a:rPr>
                          <m:t>𝑠</m:t>
                        </m:r>
                        <m:r>
                          <a:rPr lang="en-US" sz="2600" i="1">
                            <a:latin typeface="Cambria Math" panose="02040503050406030204" pitchFamily="18" charset="0"/>
                          </a:rPr>
                          <m:t> </m:t>
                        </m:r>
                        <m:r>
                          <a:rPr lang="en-US" sz="2600" i="1">
                            <a:latin typeface="Cambria Math" panose="02040503050406030204" pitchFamily="18" charset="0"/>
                          </a:rPr>
                          <m:t>𝑐𝑙𝑜𝑠𝑖𝑛𝑔</m:t>
                        </m:r>
                        <m:r>
                          <a:rPr lang="en-US" sz="2600" i="1">
                            <a:latin typeface="Cambria Math" panose="02040503050406030204" pitchFamily="18" charset="0"/>
                          </a:rPr>
                          <m:t> </m:t>
                        </m:r>
                        <m:r>
                          <a:rPr lang="en-US" sz="2600" i="1">
                            <a:latin typeface="Cambria Math" panose="02040503050406030204" pitchFamily="18" charset="0"/>
                          </a:rPr>
                          <m:t>𝑝𝑟𝑖𝑐𝑒</m:t>
                        </m:r>
                        <m:r>
                          <a:rPr lang="en-US" sz="2600" i="1">
                            <a:latin typeface="Cambria Math" panose="02040503050406030204" pitchFamily="18" charset="0"/>
                          </a:rPr>
                          <m:t> </m:t>
                        </m:r>
                        <m:r>
                          <a:rPr lang="en-US" sz="2600" i="1">
                            <a:latin typeface="Cambria Math" panose="02040503050406030204" pitchFamily="18" charset="0"/>
                          </a:rPr>
                          <m:t>𝑝𝑒𝑟</m:t>
                        </m:r>
                        <m:r>
                          <a:rPr lang="en-US" sz="2600" i="1">
                            <a:latin typeface="Cambria Math" panose="02040503050406030204" pitchFamily="18" charset="0"/>
                          </a:rPr>
                          <m:t> </m:t>
                        </m:r>
                        <m:r>
                          <a:rPr lang="en-US" sz="2600" i="1">
                            <a:latin typeface="Cambria Math" panose="02040503050406030204" pitchFamily="18" charset="0"/>
                          </a:rPr>
                          <m:t>𝑠h𝑎𝑟𝑒</m:t>
                        </m:r>
                      </m:num>
                      <m:den>
                        <m:r>
                          <a:rPr lang="en-US" sz="2600" b="0" i="1" smtClean="0">
                            <a:latin typeface="Cambria Math" panose="02040503050406030204" pitchFamily="18" charset="0"/>
                          </a:rPr>
                          <m:t>𝑃</m:t>
                        </m:r>
                        <m:r>
                          <a:rPr lang="en-US" sz="2600" b="0" i="1" smtClean="0">
                            <a:latin typeface="Cambria Math" panose="02040503050406030204" pitchFamily="18" charset="0"/>
                          </a:rPr>
                          <m:t>/</m:t>
                        </m:r>
                        <m:r>
                          <a:rPr lang="en-US" sz="2600" b="0" i="1" smtClean="0">
                            <a:latin typeface="Cambria Math" panose="02040503050406030204" pitchFamily="18" charset="0"/>
                          </a:rPr>
                          <m:t>𝐸</m:t>
                        </m:r>
                        <m:r>
                          <a:rPr lang="en-US" sz="2600" b="0" i="1" smtClean="0">
                            <a:latin typeface="Cambria Math" panose="02040503050406030204" pitchFamily="18" charset="0"/>
                          </a:rPr>
                          <m:t> </m:t>
                        </m:r>
                        <m:r>
                          <a:rPr lang="en-US" sz="2600" b="0" i="1" smtClean="0">
                            <a:latin typeface="Cambria Math" panose="02040503050406030204" pitchFamily="18" charset="0"/>
                          </a:rPr>
                          <m:t>𝑟𝑎𝑡𝑖𝑜</m:t>
                        </m:r>
                      </m:den>
                    </m:f>
                  </m:oMath>
                </a14:m>
                <a:endParaRPr lang="en-US" sz="2600" dirty="0"/>
              </a:p>
              <a:p>
                <a:r>
                  <a:rPr lang="en-US" sz="2600" dirty="0"/>
                  <a:t>The P/E ratio for Wal-Mart stock is 18. </a:t>
                </a:r>
              </a:p>
              <a:p>
                <a:r>
                  <a:rPr lang="en-US" sz="2600" dirty="0"/>
                  <a:t>Yesterday’s closing price per share = $88.51</a:t>
                </a:r>
              </a:p>
              <a:p>
                <a14:m>
                  <m:oMath xmlns:m="http://schemas.openxmlformats.org/officeDocument/2006/math">
                    <m:r>
                      <a:rPr lang="en-US" sz="2600" b="0" i="1" dirty="0" smtClean="0">
                        <a:latin typeface="Cambria Math" panose="02040503050406030204" pitchFamily="18" charset="0"/>
                      </a:rPr>
                      <m:t>𝑇h𝑒𝑟𝑒𝑓𝑜𝑟𝑒</m:t>
                    </m:r>
                    <m:r>
                      <a:rPr lang="en-US" sz="2600" b="0" i="1" dirty="0" smtClean="0">
                        <a:latin typeface="Cambria Math" panose="02040503050406030204" pitchFamily="18" charset="0"/>
                      </a:rPr>
                      <m:t>, </m:t>
                    </m:r>
                    <m:r>
                      <a:rPr lang="en-US" sz="2600" i="1" dirty="0">
                        <a:latin typeface="Cambria Math" panose="02040503050406030204" pitchFamily="18" charset="0"/>
                      </a:rPr>
                      <m:t>𝐴𝑛𝑛𝑢𝑎𝑙</m:t>
                    </m:r>
                    <m:r>
                      <a:rPr lang="en-US" sz="2600" i="1" dirty="0">
                        <a:latin typeface="Cambria Math" panose="02040503050406030204" pitchFamily="18" charset="0"/>
                      </a:rPr>
                      <m:t> </m:t>
                    </m:r>
                    <m:r>
                      <a:rPr lang="en-US" sz="2600" i="1" dirty="0">
                        <a:latin typeface="Cambria Math" panose="02040503050406030204" pitchFamily="18" charset="0"/>
                      </a:rPr>
                      <m:t>𝑒𝑎𝑟𝑛𝑖𝑛𝑔𝑠</m:t>
                    </m:r>
                    <m:r>
                      <a:rPr lang="en-US" sz="2600" i="1" dirty="0">
                        <a:latin typeface="Cambria Math" panose="02040503050406030204" pitchFamily="18" charset="0"/>
                      </a:rPr>
                      <m:t> </m:t>
                    </m:r>
                    <m:r>
                      <a:rPr lang="en-US" sz="2600" i="1" dirty="0">
                        <a:latin typeface="Cambria Math" panose="02040503050406030204" pitchFamily="18" charset="0"/>
                      </a:rPr>
                      <m:t>𝑝𝑒𝑟</m:t>
                    </m:r>
                    <m:r>
                      <a:rPr lang="en-US" sz="2600" i="1" dirty="0">
                        <a:latin typeface="Cambria Math" panose="02040503050406030204" pitchFamily="18" charset="0"/>
                      </a:rPr>
                      <m:t> </m:t>
                    </m:r>
                    <m:r>
                      <a:rPr lang="en-US" sz="2600" i="1" dirty="0">
                        <a:latin typeface="Cambria Math" panose="02040503050406030204" pitchFamily="18" charset="0"/>
                      </a:rPr>
                      <m:t>𝑠h𝑎𝑟𝑒</m:t>
                    </m:r>
                    <m:r>
                      <a:rPr lang="en-US" sz="2600" i="1" dirty="0">
                        <a:latin typeface="Cambria Math" panose="02040503050406030204" pitchFamily="18" charset="0"/>
                      </a:rPr>
                      <m:t> </m:t>
                    </m:r>
                  </m:oMath>
                </a14:m>
                <a:r>
                  <a:rPr lang="en-US" sz="2600" dirty="0"/>
                  <a:t>= </a:t>
                </a:r>
                <a14:m>
                  <m:oMath xmlns:m="http://schemas.openxmlformats.org/officeDocument/2006/math">
                    <m:f>
                      <m:fPr>
                        <m:ctrlPr>
                          <a:rPr lang="en-US" sz="2600" i="1">
                            <a:latin typeface="Cambria Math" panose="02040503050406030204" pitchFamily="18" charset="0"/>
                          </a:rPr>
                        </m:ctrlPr>
                      </m:fPr>
                      <m:num>
                        <m:r>
                          <a:rPr lang="en-US" sz="2600" b="0" i="1" smtClean="0">
                            <a:latin typeface="Cambria Math" panose="02040503050406030204" pitchFamily="18" charset="0"/>
                          </a:rPr>
                          <m:t>$88.51</m:t>
                        </m:r>
                      </m:num>
                      <m:den>
                        <m:r>
                          <a:rPr lang="en-US" sz="2600" b="0" i="1" smtClean="0">
                            <a:latin typeface="Cambria Math" panose="02040503050406030204" pitchFamily="18" charset="0"/>
                          </a:rPr>
                          <m:t>18</m:t>
                        </m:r>
                      </m:den>
                    </m:f>
                    <m:r>
                      <a:rPr lang="en-US" sz="2600" b="0" i="1" smtClean="0">
                        <a:latin typeface="Cambria Math" panose="02040503050406030204" pitchFamily="18" charset="0"/>
                      </a:rPr>
                      <m:t>=$4.92</m:t>
                    </m:r>
                  </m:oMath>
                </a14:m>
                <a:endParaRPr lang="en-US" sz="2600" dirty="0"/>
              </a:p>
              <a:p>
                <a:r>
                  <a:rPr lang="en-US" sz="2600" dirty="0"/>
                  <a:t>The P/E ratio then tells us that Yesterday’s closing price per share $88.51, is 18 times greater than the annual earnings per share, $4.92.</a:t>
                </a:r>
              </a:p>
              <a:p>
                <a:endParaRPr lang="en-US" dirty="0"/>
              </a:p>
              <a:p>
                <a:endParaRPr lang="en-US" dirty="0"/>
              </a:p>
              <a:p>
                <a:endParaRPr lang="en-US" dirty="0"/>
              </a:p>
              <a:p>
                <a:endParaRPr lang="en-US" dirty="0"/>
              </a:p>
              <a:p>
                <a:endParaRPr lang="en-US" dirty="0"/>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1341120" y="1339404"/>
                <a:ext cx="9509760" cy="4690176"/>
              </a:xfrm>
              <a:blipFill rotWithShape="0">
                <a:blip r:embed="rId2"/>
                <a:stretch>
                  <a:fillRect l="-449" t="-390"/>
                </a:stretch>
              </a:blipFill>
            </p:spPr>
            <p:txBody>
              <a:bodyPr/>
              <a:lstStyle/>
              <a:p>
                <a:r>
                  <a:rPr lang="en-US">
                    <a:noFill/>
                  </a:rPr>
                  <a:t> </a:t>
                </a:r>
              </a:p>
            </p:txBody>
          </p:sp>
        </mc:Fallback>
      </mc:AlternateContent>
    </p:spTree>
    <p:extLst>
      <p:ext uri="{BB962C8B-B14F-4D97-AF65-F5344CB8AC3E}">
        <p14:creationId xmlns:p14="http://schemas.microsoft.com/office/powerpoint/2010/main" val="49028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1000"/>
                                        <p:tgtEl>
                                          <p:spTgt spid="14">
                                            <p:txEl>
                                              <p:pRg st="0" end="0"/>
                                            </p:txEl>
                                          </p:spTgt>
                                        </p:tgtEl>
                                      </p:cBhvr>
                                    </p:animEffect>
                                    <p:anim calcmode="lin" valueType="num">
                                      <p:cBhvr>
                                        <p:cTn id="8"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1" end="1"/>
                                            </p:txEl>
                                          </p:spTgt>
                                        </p:tgtEl>
                                        <p:attrNameLst>
                                          <p:attrName>style.visibility</p:attrName>
                                        </p:attrNameLst>
                                      </p:cBhvr>
                                      <p:to>
                                        <p:strVal val="visible"/>
                                      </p:to>
                                    </p:set>
                                    <p:animEffect transition="in" filter="fade">
                                      <p:cBhvr>
                                        <p:cTn id="14" dur="1000"/>
                                        <p:tgtEl>
                                          <p:spTgt spid="14">
                                            <p:txEl>
                                              <p:pRg st="1" end="1"/>
                                            </p:txEl>
                                          </p:spTgt>
                                        </p:tgtEl>
                                      </p:cBhvr>
                                    </p:animEffect>
                                    <p:anim calcmode="lin" valueType="num">
                                      <p:cBhvr>
                                        <p:cTn id="15"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2" end="2"/>
                                            </p:txEl>
                                          </p:spTgt>
                                        </p:tgtEl>
                                        <p:attrNameLst>
                                          <p:attrName>style.visibility</p:attrName>
                                        </p:attrNameLst>
                                      </p:cBhvr>
                                      <p:to>
                                        <p:strVal val="visible"/>
                                      </p:to>
                                    </p:set>
                                    <p:animEffect transition="in" filter="fade">
                                      <p:cBhvr>
                                        <p:cTn id="21" dur="1000"/>
                                        <p:tgtEl>
                                          <p:spTgt spid="14">
                                            <p:txEl>
                                              <p:pRg st="2" end="2"/>
                                            </p:txEl>
                                          </p:spTgt>
                                        </p:tgtEl>
                                      </p:cBhvr>
                                    </p:animEffect>
                                    <p:anim calcmode="lin" valueType="num">
                                      <p:cBhvr>
                                        <p:cTn id="22"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3" end="3"/>
                                            </p:txEl>
                                          </p:spTgt>
                                        </p:tgtEl>
                                        <p:attrNameLst>
                                          <p:attrName>style.visibility</p:attrName>
                                        </p:attrNameLst>
                                      </p:cBhvr>
                                      <p:to>
                                        <p:strVal val="visible"/>
                                      </p:to>
                                    </p:set>
                                    <p:animEffect transition="in" filter="fade">
                                      <p:cBhvr>
                                        <p:cTn id="28" dur="1000"/>
                                        <p:tgtEl>
                                          <p:spTgt spid="14">
                                            <p:txEl>
                                              <p:pRg st="3" end="3"/>
                                            </p:txEl>
                                          </p:spTgt>
                                        </p:tgtEl>
                                      </p:cBhvr>
                                    </p:animEffect>
                                    <p:anim calcmode="lin" valueType="num">
                                      <p:cBhvr>
                                        <p:cTn id="29"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4">
                                            <p:txEl>
                                              <p:pRg st="4" end="4"/>
                                            </p:txEl>
                                          </p:spTgt>
                                        </p:tgtEl>
                                        <p:attrNameLst>
                                          <p:attrName>style.visibility</p:attrName>
                                        </p:attrNameLst>
                                      </p:cBhvr>
                                      <p:to>
                                        <p:strVal val="visible"/>
                                      </p:to>
                                    </p:set>
                                    <p:animEffect transition="in" filter="fade">
                                      <p:cBhvr>
                                        <p:cTn id="35" dur="1000"/>
                                        <p:tgtEl>
                                          <p:spTgt spid="14">
                                            <p:txEl>
                                              <p:pRg st="4" end="4"/>
                                            </p:txEl>
                                          </p:spTgt>
                                        </p:tgtEl>
                                      </p:cBhvr>
                                    </p:animEffect>
                                    <p:anim calcmode="lin" valueType="num">
                                      <p:cBhvr>
                                        <p:cTn id="36"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4">
                                            <p:txEl>
                                              <p:pRg st="5" end="5"/>
                                            </p:txEl>
                                          </p:spTgt>
                                        </p:tgtEl>
                                        <p:attrNameLst>
                                          <p:attrName>style.visibility</p:attrName>
                                        </p:attrNameLst>
                                      </p:cBhvr>
                                      <p:to>
                                        <p:strVal val="visible"/>
                                      </p:to>
                                    </p:set>
                                    <p:animEffect transition="in" filter="fade">
                                      <p:cBhvr>
                                        <p:cTn id="42" dur="1000"/>
                                        <p:tgtEl>
                                          <p:spTgt spid="14">
                                            <p:txEl>
                                              <p:pRg st="5" end="5"/>
                                            </p:txEl>
                                          </p:spTgt>
                                        </p:tgtEl>
                                      </p:cBhvr>
                                    </p:animEffect>
                                    <p:anim calcmode="lin" valueType="num">
                                      <p:cBhvr>
                                        <p:cTn id="43"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Bond								1 </a:t>
            </a:r>
          </a:p>
        </p:txBody>
      </p:sp>
      <p:sp>
        <p:nvSpPr>
          <p:cNvPr id="14" name="Content Placeholder 13"/>
          <p:cNvSpPr>
            <a:spLocks noGrp="1"/>
          </p:cNvSpPr>
          <p:nvPr>
            <p:ph idx="1"/>
          </p:nvPr>
        </p:nvSpPr>
        <p:spPr>
          <a:xfrm>
            <a:off x="1341120" y="1159099"/>
            <a:ext cx="9509760" cy="5138670"/>
          </a:xfrm>
        </p:spPr>
        <p:txBody>
          <a:bodyPr>
            <a:normAutofit/>
          </a:bodyPr>
          <a:lstStyle/>
          <a:p>
            <a:r>
              <a:rPr lang="en-US" dirty="0"/>
              <a:t>The U.S Treasury Department needs to borrow money to cover federal deficits. The State of California needs to finance investments in their schools, roads, housing, parks, and public facilities among others. Mobile county needs to fund the technology initiative for its’ schools. The City of Truth and Consequences, New Mexico needs money for a geothermal development project. </a:t>
            </a:r>
            <a:r>
              <a:rPr lang="en-US" dirty="0" err="1"/>
              <a:t>Ilorah</a:t>
            </a:r>
            <a:r>
              <a:rPr lang="en-US" dirty="0"/>
              <a:t> Hospitals needs to fund research on a vaccine  and a cure for the </a:t>
            </a:r>
            <a:r>
              <a:rPr lang="en-US" dirty="0" err="1"/>
              <a:t>ebola</a:t>
            </a:r>
            <a:r>
              <a:rPr lang="en-US" dirty="0"/>
              <a:t> virus. Hence, they issue bonds for the public to buy.</a:t>
            </a:r>
          </a:p>
          <a:p>
            <a:r>
              <a:rPr lang="en-US" dirty="0"/>
              <a:t>A </a:t>
            </a:r>
            <a:r>
              <a:rPr lang="en-US" b="1" dirty="0"/>
              <a:t>bond</a:t>
            </a:r>
            <a:r>
              <a:rPr lang="en-US" dirty="0"/>
              <a:t> is an evidence of debt in which the issuing corporation usually promises to pay the bondholder the face value of the bond on the maturity date, as well as the accrued interests over a given period of time.</a:t>
            </a:r>
          </a:p>
          <a:p>
            <a:r>
              <a:rPr lang="en-US" dirty="0"/>
              <a:t>The face value of the bond is the amount the issuer of the bond agrees to pay at the maturity date. It is also known as the maturity value of the par value. It is the principal amount of the bond.</a:t>
            </a:r>
          </a:p>
          <a:p>
            <a:r>
              <a:rPr lang="en-US" dirty="0"/>
              <a:t>Maturity date is the date that the bond finishes and is paid off. It is the due date to pay the principal amount of the bond.</a:t>
            </a:r>
          </a:p>
        </p:txBody>
      </p:sp>
    </p:spTree>
    <p:extLst>
      <p:ext uri="{BB962C8B-B14F-4D97-AF65-F5344CB8AC3E}">
        <p14:creationId xmlns:p14="http://schemas.microsoft.com/office/powerpoint/2010/main" val="3657087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1000"/>
                                        <p:tgtEl>
                                          <p:spTgt spid="14">
                                            <p:txEl>
                                              <p:pRg st="0" end="0"/>
                                            </p:txEl>
                                          </p:spTgt>
                                        </p:tgtEl>
                                      </p:cBhvr>
                                    </p:animEffect>
                                    <p:anim calcmode="lin" valueType="num">
                                      <p:cBhvr>
                                        <p:cTn id="8"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1" end="1"/>
                                            </p:txEl>
                                          </p:spTgt>
                                        </p:tgtEl>
                                        <p:attrNameLst>
                                          <p:attrName>style.visibility</p:attrName>
                                        </p:attrNameLst>
                                      </p:cBhvr>
                                      <p:to>
                                        <p:strVal val="visible"/>
                                      </p:to>
                                    </p:set>
                                    <p:animEffect transition="in" filter="fade">
                                      <p:cBhvr>
                                        <p:cTn id="14" dur="1000"/>
                                        <p:tgtEl>
                                          <p:spTgt spid="14">
                                            <p:txEl>
                                              <p:pRg st="1" end="1"/>
                                            </p:txEl>
                                          </p:spTgt>
                                        </p:tgtEl>
                                      </p:cBhvr>
                                    </p:animEffect>
                                    <p:anim calcmode="lin" valueType="num">
                                      <p:cBhvr>
                                        <p:cTn id="15"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2" end="2"/>
                                            </p:txEl>
                                          </p:spTgt>
                                        </p:tgtEl>
                                        <p:attrNameLst>
                                          <p:attrName>style.visibility</p:attrName>
                                        </p:attrNameLst>
                                      </p:cBhvr>
                                      <p:to>
                                        <p:strVal val="visible"/>
                                      </p:to>
                                    </p:set>
                                    <p:animEffect transition="in" filter="fade">
                                      <p:cBhvr>
                                        <p:cTn id="21" dur="1000"/>
                                        <p:tgtEl>
                                          <p:spTgt spid="14">
                                            <p:txEl>
                                              <p:pRg st="2" end="2"/>
                                            </p:txEl>
                                          </p:spTgt>
                                        </p:tgtEl>
                                      </p:cBhvr>
                                    </p:animEffect>
                                    <p:anim calcmode="lin" valueType="num">
                                      <p:cBhvr>
                                        <p:cTn id="22"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3" end="3"/>
                                            </p:txEl>
                                          </p:spTgt>
                                        </p:tgtEl>
                                        <p:attrNameLst>
                                          <p:attrName>style.visibility</p:attrName>
                                        </p:attrNameLst>
                                      </p:cBhvr>
                                      <p:to>
                                        <p:strVal val="visible"/>
                                      </p:to>
                                    </p:set>
                                    <p:animEffect transition="in" filter="fade">
                                      <p:cBhvr>
                                        <p:cTn id="28" dur="1000"/>
                                        <p:tgtEl>
                                          <p:spTgt spid="14">
                                            <p:txEl>
                                              <p:pRg st="3" end="3"/>
                                            </p:txEl>
                                          </p:spTgt>
                                        </p:tgtEl>
                                      </p:cBhvr>
                                    </p:animEffect>
                                    <p:anim calcmode="lin" valueType="num">
                                      <p:cBhvr>
                                        <p:cTn id="29"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Bond								2</a:t>
            </a:r>
          </a:p>
        </p:txBody>
      </p:sp>
      <p:sp>
        <p:nvSpPr>
          <p:cNvPr id="14" name="Content Placeholder 13"/>
          <p:cNvSpPr>
            <a:spLocks noGrp="1"/>
          </p:cNvSpPr>
          <p:nvPr>
            <p:ph idx="1"/>
          </p:nvPr>
        </p:nvSpPr>
        <p:spPr>
          <a:xfrm>
            <a:off x="1341120" y="1339404"/>
            <a:ext cx="9509760" cy="4690176"/>
          </a:xfrm>
        </p:spPr>
        <p:txBody>
          <a:bodyPr>
            <a:normAutofit/>
          </a:bodyPr>
          <a:lstStyle/>
          <a:p>
            <a:r>
              <a:rPr lang="en-US" sz="2400" dirty="0"/>
              <a:t>Bondholder is the owner of the bond. The bondholder is the one who lends money to the corporation by buying their bonds. The bondholder is the creditor of the corporation.</a:t>
            </a:r>
          </a:p>
          <a:p>
            <a:r>
              <a:rPr lang="en-US" sz="2400" dirty="0"/>
              <a:t>Bondholders do not own part of the corporation, unlike shareholders. They just lend money to the corporation by buying the bonds of the corporations. Shareholders own part of the corporation by buying the shares of the corporation.</a:t>
            </a:r>
          </a:p>
          <a:p>
            <a:r>
              <a:rPr lang="en-US" sz="2400" dirty="0"/>
              <a:t>If a corporation goes bankrupt, the bondholders are the first to claim the assets of the corporation. They make their claims before the shareholders despite that they do not own part of the corporation. So, as you can see, investing in bonds is less risky than investing in stocks though the return is lower.</a:t>
            </a:r>
          </a:p>
        </p:txBody>
      </p:sp>
    </p:spTree>
    <p:extLst>
      <p:ext uri="{BB962C8B-B14F-4D97-AF65-F5344CB8AC3E}">
        <p14:creationId xmlns:p14="http://schemas.microsoft.com/office/powerpoint/2010/main" val="3122996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1000"/>
                                        <p:tgtEl>
                                          <p:spTgt spid="14">
                                            <p:txEl>
                                              <p:pRg st="0" end="0"/>
                                            </p:txEl>
                                          </p:spTgt>
                                        </p:tgtEl>
                                      </p:cBhvr>
                                    </p:animEffect>
                                    <p:anim calcmode="lin" valueType="num">
                                      <p:cBhvr>
                                        <p:cTn id="8"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1" end="1"/>
                                            </p:txEl>
                                          </p:spTgt>
                                        </p:tgtEl>
                                        <p:attrNameLst>
                                          <p:attrName>style.visibility</p:attrName>
                                        </p:attrNameLst>
                                      </p:cBhvr>
                                      <p:to>
                                        <p:strVal val="visible"/>
                                      </p:to>
                                    </p:set>
                                    <p:animEffect transition="in" filter="fade">
                                      <p:cBhvr>
                                        <p:cTn id="14" dur="1000"/>
                                        <p:tgtEl>
                                          <p:spTgt spid="14">
                                            <p:txEl>
                                              <p:pRg st="1" end="1"/>
                                            </p:txEl>
                                          </p:spTgt>
                                        </p:tgtEl>
                                      </p:cBhvr>
                                    </p:animEffect>
                                    <p:anim calcmode="lin" valueType="num">
                                      <p:cBhvr>
                                        <p:cTn id="15"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2" end="2"/>
                                            </p:txEl>
                                          </p:spTgt>
                                        </p:tgtEl>
                                        <p:attrNameLst>
                                          <p:attrName>style.visibility</p:attrName>
                                        </p:attrNameLst>
                                      </p:cBhvr>
                                      <p:to>
                                        <p:strVal val="visible"/>
                                      </p:to>
                                    </p:set>
                                    <p:animEffect transition="in" filter="fade">
                                      <p:cBhvr>
                                        <p:cTn id="21" dur="1000"/>
                                        <p:tgtEl>
                                          <p:spTgt spid="14">
                                            <p:txEl>
                                              <p:pRg st="2" end="2"/>
                                            </p:txEl>
                                          </p:spTgt>
                                        </p:tgtEl>
                                      </p:cBhvr>
                                    </p:animEffect>
                                    <p:anim calcmode="lin" valueType="num">
                                      <p:cBhvr>
                                        <p:cTn id="22"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Mutual Fund</a:t>
            </a:r>
          </a:p>
        </p:txBody>
      </p:sp>
      <p:sp>
        <p:nvSpPr>
          <p:cNvPr id="14" name="Content Placeholder 13"/>
          <p:cNvSpPr>
            <a:spLocks noGrp="1"/>
          </p:cNvSpPr>
          <p:nvPr>
            <p:ph idx="1"/>
          </p:nvPr>
        </p:nvSpPr>
        <p:spPr>
          <a:xfrm>
            <a:off x="1341120" y="1159099"/>
            <a:ext cx="9509760" cy="5215943"/>
          </a:xfrm>
        </p:spPr>
        <p:txBody>
          <a:bodyPr/>
          <a:lstStyle/>
          <a:p>
            <a:r>
              <a:rPr lang="en-US" dirty="0"/>
              <a:t>What if you do not want to “put all your eggs in one basket”? Have you thought of investing in a mutual fund?</a:t>
            </a:r>
          </a:p>
          <a:p>
            <a:r>
              <a:rPr lang="en-US" dirty="0"/>
              <a:t>A </a:t>
            </a:r>
            <a:r>
              <a:rPr lang="en-US" b="1" dirty="0"/>
              <a:t>mutual fund</a:t>
            </a:r>
            <a:r>
              <a:rPr lang="en-US" dirty="0"/>
              <a:t> is a fund operated by an investment company that accepts money from investors and invests it on their behalf in stocks and bonds among others. </a:t>
            </a:r>
          </a:p>
          <a:p>
            <a:r>
              <a:rPr lang="en-US" dirty="0"/>
              <a:t>You give your money to the fund manager. The fund manager combines your money, in addition with the money of other investors in the mutual fund. The fund manager then invests this pool of money - buying and selling bonds and shares 0f stocks to yield the maximum possible returns. </a:t>
            </a:r>
          </a:p>
          <a:p>
            <a:r>
              <a:rPr lang="en-US" dirty="0"/>
              <a:t>In essence, investors in mutual fund own a small part of many companies. The advantage is that mutual fund protects investors against the poor performance of a single company. It offers the advantages of diversification and professional management.</a:t>
            </a:r>
          </a:p>
          <a:p>
            <a:r>
              <a:rPr lang="en-US" dirty="0"/>
              <a:t>The total investments that a person has in a mutual fund is called a financial portfolio.</a:t>
            </a:r>
          </a:p>
          <a:p>
            <a:r>
              <a:rPr lang="en-US" dirty="0"/>
              <a:t>A mixture of low-risk and high-risk investments is called a diversified portfolio.</a:t>
            </a:r>
          </a:p>
        </p:txBody>
      </p:sp>
    </p:spTree>
    <p:extLst>
      <p:ext uri="{BB962C8B-B14F-4D97-AF65-F5344CB8AC3E}">
        <p14:creationId xmlns:p14="http://schemas.microsoft.com/office/powerpoint/2010/main" val="4209377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1000"/>
                                        <p:tgtEl>
                                          <p:spTgt spid="14">
                                            <p:txEl>
                                              <p:pRg st="0" end="0"/>
                                            </p:txEl>
                                          </p:spTgt>
                                        </p:tgtEl>
                                      </p:cBhvr>
                                    </p:animEffect>
                                    <p:anim calcmode="lin" valueType="num">
                                      <p:cBhvr>
                                        <p:cTn id="8"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1" end="1"/>
                                            </p:txEl>
                                          </p:spTgt>
                                        </p:tgtEl>
                                        <p:attrNameLst>
                                          <p:attrName>style.visibility</p:attrName>
                                        </p:attrNameLst>
                                      </p:cBhvr>
                                      <p:to>
                                        <p:strVal val="visible"/>
                                      </p:to>
                                    </p:set>
                                    <p:animEffect transition="in" filter="fade">
                                      <p:cBhvr>
                                        <p:cTn id="14" dur="1000"/>
                                        <p:tgtEl>
                                          <p:spTgt spid="14">
                                            <p:txEl>
                                              <p:pRg st="1" end="1"/>
                                            </p:txEl>
                                          </p:spTgt>
                                        </p:tgtEl>
                                      </p:cBhvr>
                                    </p:animEffect>
                                    <p:anim calcmode="lin" valueType="num">
                                      <p:cBhvr>
                                        <p:cTn id="15"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2" end="2"/>
                                            </p:txEl>
                                          </p:spTgt>
                                        </p:tgtEl>
                                        <p:attrNameLst>
                                          <p:attrName>style.visibility</p:attrName>
                                        </p:attrNameLst>
                                      </p:cBhvr>
                                      <p:to>
                                        <p:strVal val="visible"/>
                                      </p:to>
                                    </p:set>
                                    <p:animEffect transition="in" filter="fade">
                                      <p:cBhvr>
                                        <p:cTn id="21" dur="1000"/>
                                        <p:tgtEl>
                                          <p:spTgt spid="14">
                                            <p:txEl>
                                              <p:pRg st="2" end="2"/>
                                            </p:txEl>
                                          </p:spTgt>
                                        </p:tgtEl>
                                      </p:cBhvr>
                                    </p:animEffect>
                                    <p:anim calcmode="lin" valueType="num">
                                      <p:cBhvr>
                                        <p:cTn id="22"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3" end="3"/>
                                            </p:txEl>
                                          </p:spTgt>
                                        </p:tgtEl>
                                        <p:attrNameLst>
                                          <p:attrName>style.visibility</p:attrName>
                                        </p:attrNameLst>
                                      </p:cBhvr>
                                      <p:to>
                                        <p:strVal val="visible"/>
                                      </p:to>
                                    </p:set>
                                    <p:animEffect transition="in" filter="fade">
                                      <p:cBhvr>
                                        <p:cTn id="28" dur="1000"/>
                                        <p:tgtEl>
                                          <p:spTgt spid="14">
                                            <p:txEl>
                                              <p:pRg st="3" end="3"/>
                                            </p:txEl>
                                          </p:spTgt>
                                        </p:tgtEl>
                                      </p:cBhvr>
                                    </p:animEffect>
                                    <p:anim calcmode="lin" valueType="num">
                                      <p:cBhvr>
                                        <p:cTn id="29"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4">
                                            <p:txEl>
                                              <p:pRg st="4" end="4"/>
                                            </p:txEl>
                                          </p:spTgt>
                                        </p:tgtEl>
                                        <p:attrNameLst>
                                          <p:attrName>style.visibility</p:attrName>
                                        </p:attrNameLst>
                                      </p:cBhvr>
                                      <p:to>
                                        <p:strVal val="visible"/>
                                      </p:to>
                                    </p:set>
                                    <p:animEffect transition="in" filter="fade">
                                      <p:cBhvr>
                                        <p:cTn id="35" dur="1000"/>
                                        <p:tgtEl>
                                          <p:spTgt spid="14">
                                            <p:txEl>
                                              <p:pRg st="4" end="4"/>
                                            </p:txEl>
                                          </p:spTgt>
                                        </p:tgtEl>
                                      </p:cBhvr>
                                    </p:animEffect>
                                    <p:anim calcmode="lin" valueType="num">
                                      <p:cBhvr>
                                        <p:cTn id="36"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4">
                                            <p:txEl>
                                              <p:pRg st="5" end="5"/>
                                            </p:txEl>
                                          </p:spTgt>
                                        </p:tgtEl>
                                        <p:attrNameLst>
                                          <p:attrName>style.visibility</p:attrName>
                                        </p:attrNameLst>
                                      </p:cBhvr>
                                      <p:to>
                                        <p:strVal val="visible"/>
                                      </p:to>
                                    </p:set>
                                    <p:animEffect transition="in" filter="fade">
                                      <p:cBhvr>
                                        <p:cTn id="42" dur="1000"/>
                                        <p:tgtEl>
                                          <p:spTgt spid="14">
                                            <p:txEl>
                                              <p:pRg st="5" end="5"/>
                                            </p:txEl>
                                          </p:spTgt>
                                        </p:tgtEl>
                                      </p:cBhvr>
                                    </p:animEffect>
                                    <p:anim calcmode="lin" valueType="num">
                                      <p:cBhvr>
                                        <p:cTn id="43"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Retirement Savings Accounts</a:t>
            </a:r>
          </a:p>
        </p:txBody>
      </p:sp>
      <p:sp>
        <p:nvSpPr>
          <p:cNvPr id="14" name="Content Placeholder 13"/>
          <p:cNvSpPr>
            <a:spLocks noGrp="1"/>
          </p:cNvSpPr>
          <p:nvPr>
            <p:ph idx="1"/>
          </p:nvPr>
        </p:nvSpPr>
        <p:spPr>
          <a:xfrm>
            <a:off x="1341120" y="1339404"/>
            <a:ext cx="9509760" cy="4690176"/>
          </a:xfrm>
        </p:spPr>
        <p:txBody>
          <a:bodyPr>
            <a:normAutofit lnSpcReduction="10000"/>
          </a:bodyPr>
          <a:lstStyle/>
          <a:p>
            <a:r>
              <a:rPr lang="en-US" sz="2400" dirty="0"/>
              <a:t>It is a great advice to begin saving some cash as soon as you get a job. Do not wait.</a:t>
            </a:r>
          </a:p>
          <a:p>
            <a:r>
              <a:rPr lang="en-US" sz="2400" dirty="0"/>
              <a:t>Retirement Savings Accounts include:</a:t>
            </a:r>
          </a:p>
          <a:p>
            <a:pPr lvl="1"/>
            <a:r>
              <a:rPr lang="en-US" sz="2400" dirty="0"/>
              <a:t>Regular Savings Accounts</a:t>
            </a:r>
          </a:p>
          <a:p>
            <a:pPr lvl="1"/>
            <a:r>
              <a:rPr lang="en-US" sz="2400" dirty="0"/>
              <a:t>Other Investment Accounts (several of them – just ask your bank or financial institution)</a:t>
            </a:r>
          </a:p>
          <a:p>
            <a:pPr lvl="1"/>
            <a:r>
              <a:rPr lang="en-US" sz="2400" dirty="0"/>
              <a:t>Traditional IRA (Traditional Individual Retirement Account)</a:t>
            </a:r>
          </a:p>
          <a:p>
            <a:pPr lvl="1"/>
            <a:r>
              <a:rPr lang="en-US" sz="2400" dirty="0"/>
              <a:t>Roth IRA (Roth Individual Retirement Account)</a:t>
            </a:r>
          </a:p>
          <a:p>
            <a:pPr lvl="1"/>
            <a:r>
              <a:rPr lang="en-US" sz="2400" dirty="0"/>
              <a:t>Employer-sponsored Retirement Plans</a:t>
            </a:r>
          </a:p>
          <a:p>
            <a:pPr lvl="2"/>
            <a:r>
              <a:rPr lang="en-US" sz="2400" dirty="0"/>
              <a:t>401(k) Plan</a:t>
            </a:r>
          </a:p>
          <a:p>
            <a:pPr lvl="2"/>
            <a:r>
              <a:rPr lang="en-US" sz="2400" dirty="0"/>
              <a:t>403(b) Plan</a:t>
            </a:r>
          </a:p>
          <a:p>
            <a:endParaRPr lang="en-US" dirty="0"/>
          </a:p>
        </p:txBody>
      </p:sp>
    </p:spTree>
    <p:extLst>
      <p:ext uri="{BB962C8B-B14F-4D97-AF65-F5344CB8AC3E}">
        <p14:creationId xmlns:p14="http://schemas.microsoft.com/office/powerpoint/2010/main" val="695268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1000"/>
                                        <p:tgtEl>
                                          <p:spTgt spid="14">
                                            <p:txEl>
                                              <p:pRg st="0" end="0"/>
                                            </p:txEl>
                                          </p:spTgt>
                                        </p:tgtEl>
                                      </p:cBhvr>
                                    </p:animEffect>
                                    <p:anim calcmode="lin" valueType="num">
                                      <p:cBhvr>
                                        <p:cTn id="8"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1" end="1"/>
                                            </p:txEl>
                                          </p:spTgt>
                                        </p:tgtEl>
                                        <p:attrNameLst>
                                          <p:attrName>style.visibility</p:attrName>
                                        </p:attrNameLst>
                                      </p:cBhvr>
                                      <p:to>
                                        <p:strVal val="visible"/>
                                      </p:to>
                                    </p:set>
                                    <p:animEffect transition="in" filter="fade">
                                      <p:cBhvr>
                                        <p:cTn id="14" dur="1000"/>
                                        <p:tgtEl>
                                          <p:spTgt spid="14">
                                            <p:txEl>
                                              <p:pRg st="1" end="1"/>
                                            </p:txEl>
                                          </p:spTgt>
                                        </p:tgtEl>
                                      </p:cBhvr>
                                    </p:animEffect>
                                    <p:anim calcmode="lin" valueType="num">
                                      <p:cBhvr>
                                        <p:cTn id="15"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4">
                                            <p:txEl>
                                              <p:pRg st="2" end="2"/>
                                            </p:txEl>
                                          </p:spTgt>
                                        </p:tgtEl>
                                        <p:attrNameLst>
                                          <p:attrName>style.visibility</p:attrName>
                                        </p:attrNameLst>
                                      </p:cBhvr>
                                      <p:to>
                                        <p:strVal val="visible"/>
                                      </p:to>
                                    </p:set>
                                    <p:animEffect transition="in" filter="fade">
                                      <p:cBhvr>
                                        <p:cTn id="19" dur="1000"/>
                                        <p:tgtEl>
                                          <p:spTgt spid="14">
                                            <p:txEl>
                                              <p:pRg st="2" end="2"/>
                                            </p:txEl>
                                          </p:spTgt>
                                        </p:tgtEl>
                                      </p:cBhvr>
                                    </p:animEffect>
                                    <p:anim calcmode="lin" valueType="num">
                                      <p:cBhvr>
                                        <p:cTn id="20"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4">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4">
                                            <p:txEl>
                                              <p:pRg st="3" end="3"/>
                                            </p:txEl>
                                          </p:spTgt>
                                        </p:tgtEl>
                                        <p:attrNameLst>
                                          <p:attrName>style.visibility</p:attrName>
                                        </p:attrNameLst>
                                      </p:cBhvr>
                                      <p:to>
                                        <p:strVal val="visible"/>
                                      </p:to>
                                    </p:set>
                                    <p:animEffect transition="in" filter="fade">
                                      <p:cBhvr>
                                        <p:cTn id="24" dur="1000"/>
                                        <p:tgtEl>
                                          <p:spTgt spid="14">
                                            <p:txEl>
                                              <p:pRg st="3" end="3"/>
                                            </p:txEl>
                                          </p:spTgt>
                                        </p:tgtEl>
                                      </p:cBhvr>
                                    </p:animEffect>
                                    <p:anim calcmode="lin" valueType="num">
                                      <p:cBhvr>
                                        <p:cTn id="25"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14">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4">
                                            <p:txEl>
                                              <p:pRg st="4" end="4"/>
                                            </p:txEl>
                                          </p:spTgt>
                                        </p:tgtEl>
                                        <p:attrNameLst>
                                          <p:attrName>style.visibility</p:attrName>
                                        </p:attrNameLst>
                                      </p:cBhvr>
                                      <p:to>
                                        <p:strVal val="visible"/>
                                      </p:to>
                                    </p:set>
                                    <p:animEffect transition="in" filter="fade">
                                      <p:cBhvr>
                                        <p:cTn id="29" dur="1000"/>
                                        <p:tgtEl>
                                          <p:spTgt spid="14">
                                            <p:txEl>
                                              <p:pRg st="4" end="4"/>
                                            </p:txEl>
                                          </p:spTgt>
                                        </p:tgtEl>
                                      </p:cBhvr>
                                    </p:animEffect>
                                    <p:anim calcmode="lin" valueType="num">
                                      <p:cBhvr>
                                        <p:cTn id="30"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14">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4">
                                            <p:txEl>
                                              <p:pRg st="5" end="5"/>
                                            </p:txEl>
                                          </p:spTgt>
                                        </p:tgtEl>
                                        <p:attrNameLst>
                                          <p:attrName>style.visibility</p:attrName>
                                        </p:attrNameLst>
                                      </p:cBhvr>
                                      <p:to>
                                        <p:strVal val="visible"/>
                                      </p:to>
                                    </p:set>
                                    <p:animEffect transition="in" filter="fade">
                                      <p:cBhvr>
                                        <p:cTn id="34" dur="1000"/>
                                        <p:tgtEl>
                                          <p:spTgt spid="14">
                                            <p:txEl>
                                              <p:pRg st="5" end="5"/>
                                            </p:txEl>
                                          </p:spTgt>
                                        </p:tgtEl>
                                      </p:cBhvr>
                                    </p:animEffect>
                                    <p:anim calcmode="lin" valueType="num">
                                      <p:cBhvr>
                                        <p:cTn id="35"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14">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4">
                                            <p:txEl>
                                              <p:pRg st="6" end="6"/>
                                            </p:txEl>
                                          </p:spTgt>
                                        </p:tgtEl>
                                        <p:attrNameLst>
                                          <p:attrName>style.visibility</p:attrName>
                                        </p:attrNameLst>
                                      </p:cBhvr>
                                      <p:to>
                                        <p:strVal val="visible"/>
                                      </p:to>
                                    </p:set>
                                    <p:animEffect transition="in" filter="fade">
                                      <p:cBhvr>
                                        <p:cTn id="39" dur="1000"/>
                                        <p:tgtEl>
                                          <p:spTgt spid="14">
                                            <p:txEl>
                                              <p:pRg st="6" end="6"/>
                                            </p:txEl>
                                          </p:spTgt>
                                        </p:tgtEl>
                                      </p:cBhvr>
                                    </p:animEffect>
                                    <p:anim calcmode="lin" valueType="num">
                                      <p:cBhvr>
                                        <p:cTn id="40" dur="1000" fill="hold"/>
                                        <p:tgtEl>
                                          <p:spTgt spid="14">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14">
                                            <p:txEl>
                                              <p:pRg st="6" end="6"/>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14">
                                            <p:txEl>
                                              <p:pRg st="7" end="7"/>
                                            </p:txEl>
                                          </p:spTgt>
                                        </p:tgtEl>
                                        <p:attrNameLst>
                                          <p:attrName>style.visibility</p:attrName>
                                        </p:attrNameLst>
                                      </p:cBhvr>
                                      <p:to>
                                        <p:strVal val="visible"/>
                                      </p:to>
                                    </p:set>
                                    <p:animEffect transition="in" filter="fade">
                                      <p:cBhvr>
                                        <p:cTn id="44" dur="1000"/>
                                        <p:tgtEl>
                                          <p:spTgt spid="14">
                                            <p:txEl>
                                              <p:pRg st="7" end="7"/>
                                            </p:txEl>
                                          </p:spTgt>
                                        </p:tgtEl>
                                      </p:cBhvr>
                                    </p:animEffect>
                                    <p:anim calcmode="lin" valueType="num">
                                      <p:cBhvr>
                                        <p:cTn id="45" dur="1000" fill="hold"/>
                                        <p:tgtEl>
                                          <p:spTgt spid="14">
                                            <p:txEl>
                                              <p:pRg st="7" end="7"/>
                                            </p:txEl>
                                          </p:spTgt>
                                        </p:tgtEl>
                                        <p:attrNameLst>
                                          <p:attrName>ppt_x</p:attrName>
                                        </p:attrNameLst>
                                      </p:cBhvr>
                                      <p:tavLst>
                                        <p:tav tm="0">
                                          <p:val>
                                            <p:strVal val="#ppt_x"/>
                                          </p:val>
                                        </p:tav>
                                        <p:tav tm="100000">
                                          <p:val>
                                            <p:strVal val="#ppt_x"/>
                                          </p:val>
                                        </p:tav>
                                      </p:tavLst>
                                    </p:anim>
                                    <p:anim calcmode="lin" valueType="num">
                                      <p:cBhvr>
                                        <p:cTn id="46" dur="1000" fill="hold"/>
                                        <p:tgtEl>
                                          <p:spTgt spid="14">
                                            <p:txEl>
                                              <p:pRg st="7" end="7"/>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14">
                                            <p:txEl>
                                              <p:pRg st="8" end="8"/>
                                            </p:txEl>
                                          </p:spTgt>
                                        </p:tgtEl>
                                        <p:attrNameLst>
                                          <p:attrName>style.visibility</p:attrName>
                                        </p:attrNameLst>
                                      </p:cBhvr>
                                      <p:to>
                                        <p:strVal val="visible"/>
                                      </p:to>
                                    </p:set>
                                    <p:animEffect transition="in" filter="fade">
                                      <p:cBhvr>
                                        <p:cTn id="49" dur="1000"/>
                                        <p:tgtEl>
                                          <p:spTgt spid="14">
                                            <p:txEl>
                                              <p:pRg st="8" end="8"/>
                                            </p:txEl>
                                          </p:spTgt>
                                        </p:tgtEl>
                                      </p:cBhvr>
                                    </p:animEffect>
                                    <p:anim calcmode="lin" valueType="num">
                                      <p:cBhvr>
                                        <p:cTn id="50" dur="1000" fill="hold"/>
                                        <p:tgtEl>
                                          <p:spTgt spid="14">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14">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Traditional and Roth Individual Retirement Accounts</a:t>
            </a:r>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1341120" y="1339403"/>
                <a:ext cx="9509760" cy="5009881"/>
              </a:xfrm>
            </p:spPr>
            <p:txBody>
              <a:bodyPr>
                <a:normAutofit/>
              </a:bodyPr>
              <a:lstStyle/>
              <a:p>
                <a:r>
                  <a:rPr lang="en-US" dirty="0"/>
                  <a:t>Traditional Individual Retirement Account</a:t>
                </a:r>
              </a:p>
              <a:p>
                <a:pPr lvl="1"/>
                <a:r>
                  <a:rPr lang="en-US" dirty="0"/>
                  <a:t>Deposit up to $5500 per year for people under 50 years of age</a:t>
                </a:r>
              </a:p>
              <a:p>
                <a:pPr lvl="1"/>
                <a:r>
                  <a:rPr lang="en-US" dirty="0"/>
                  <a:t>Deposit up to $6500 per year for people 50 years of age or older</a:t>
                </a:r>
              </a:p>
              <a:p>
                <a:pPr lvl="1"/>
                <a:r>
                  <a:rPr lang="en-US" dirty="0"/>
                  <a:t>Taxes are not paid when you deposit money into the account</a:t>
                </a:r>
              </a:p>
              <a:p>
                <a:pPr lvl="1"/>
                <a:r>
                  <a:rPr lang="en-US" dirty="0"/>
                  <a:t>May begin withdrawing the money as soon as you are </a:t>
                </a:r>
                <a14:m>
                  <m:oMath xmlns:m="http://schemas.openxmlformats.org/officeDocument/2006/math">
                    <m:r>
                      <a:rPr lang="en-US" b="0" i="1" smtClean="0">
                        <a:latin typeface="Cambria Math" panose="02040503050406030204" pitchFamily="18" charset="0"/>
                      </a:rPr>
                      <m:t>59</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oMath>
                </a14:m>
                <a:r>
                  <a:rPr lang="en-US" dirty="0"/>
                  <a:t>  years old.</a:t>
                </a:r>
              </a:p>
              <a:p>
                <a:pPr lvl="1"/>
                <a:r>
                  <a:rPr lang="en-US" dirty="0"/>
                  <a:t>The withdrawals are taxed.</a:t>
                </a:r>
              </a:p>
              <a:p>
                <a:r>
                  <a:rPr lang="en-US" dirty="0"/>
                  <a:t>Roth Individual Retirement Account</a:t>
                </a:r>
              </a:p>
              <a:p>
                <a:pPr lvl="1"/>
                <a:r>
                  <a:rPr lang="en-US" dirty="0"/>
                  <a:t>Deposit up to $5500 per year for people under 50 years of age</a:t>
                </a:r>
              </a:p>
              <a:p>
                <a:pPr lvl="1"/>
                <a:r>
                  <a:rPr lang="en-US" dirty="0"/>
                  <a:t>Deposit up to $6500 per year for people 50 years of age or older</a:t>
                </a:r>
              </a:p>
              <a:p>
                <a:pPr lvl="1"/>
                <a:r>
                  <a:rPr lang="en-US" dirty="0"/>
                  <a:t>Taxes are paid when you deposit money into the account</a:t>
                </a:r>
              </a:p>
              <a:p>
                <a:pPr lvl="1"/>
                <a:r>
                  <a:rPr lang="en-US" dirty="0"/>
                  <a:t>May begin withdrawing the money as soon as you are </a:t>
                </a:r>
                <a14:m>
                  <m:oMath xmlns:m="http://schemas.openxmlformats.org/officeDocument/2006/math">
                    <m:r>
                      <a:rPr lang="en-US" i="1">
                        <a:latin typeface="Cambria Math" panose="02040503050406030204" pitchFamily="18" charset="0"/>
                      </a:rPr>
                      <m:t>59</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oMath>
                </a14:m>
                <a:r>
                  <a:rPr lang="en-US" dirty="0"/>
                  <a:t>  years old.</a:t>
                </a:r>
              </a:p>
              <a:p>
                <a:pPr lvl="1"/>
                <a:r>
                  <a:rPr lang="en-US" dirty="0"/>
                  <a:t>The withdrawals are not taxed.</a:t>
                </a:r>
              </a:p>
              <a:p>
                <a:pPr lvl="1"/>
                <a:endParaRPr lang="en-US" dirty="0"/>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1341120" y="1339403"/>
                <a:ext cx="9509760" cy="5009881"/>
              </a:xfrm>
              <a:blipFill rotWithShape="0">
                <a:blip r:embed="rId2"/>
                <a:stretch>
                  <a:fillRect l="-64" t="-1338"/>
                </a:stretch>
              </a:blipFill>
            </p:spPr>
            <p:txBody>
              <a:bodyPr/>
              <a:lstStyle/>
              <a:p>
                <a:r>
                  <a:rPr lang="en-US">
                    <a:noFill/>
                  </a:rPr>
                  <a:t> </a:t>
                </a:r>
              </a:p>
            </p:txBody>
          </p:sp>
        </mc:Fallback>
      </mc:AlternateContent>
    </p:spTree>
    <p:extLst>
      <p:ext uri="{BB962C8B-B14F-4D97-AF65-F5344CB8AC3E}">
        <p14:creationId xmlns:p14="http://schemas.microsoft.com/office/powerpoint/2010/main" val="3628012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animEffect transition="in" filter="fade">
                                      <p:cBhvr>
                                        <p:cTn id="7" dur="1000"/>
                                        <p:tgtEl>
                                          <p:spTgt spid="14">
                                            <p:txEl>
                                              <p:pRg st="1" end="1"/>
                                            </p:txEl>
                                          </p:spTgt>
                                        </p:tgtEl>
                                      </p:cBhvr>
                                    </p:animEffect>
                                    <p:anim calcmode="lin" valueType="num">
                                      <p:cBhvr>
                                        <p:cTn id="8"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2" end="2"/>
                                            </p:txEl>
                                          </p:spTgt>
                                        </p:tgtEl>
                                        <p:attrNameLst>
                                          <p:attrName>style.visibility</p:attrName>
                                        </p:attrNameLst>
                                      </p:cBhvr>
                                      <p:to>
                                        <p:strVal val="visible"/>
                                      </p:to>
                                    </p:set>
                                    <p:animEffect transition="in" filter="fade">
                                      <p:cBhvr>
                                        <p:cTn id="14" dur="1000"/>
                                        <p:tgtEl>
                                          <p:spTgt spid="14">
                                            <p:txEl>
                                              <p:pRg st="2" end="2"/>
                                            </p:txEl>
                                          </p:spTgt>
                                        </p:tgtEl>
                                      </p:cBhvr>
                                    </p:animEffect>
                                    <p:anim calcmode="lin" valueType="num">
                                      <p:cBhvr>
                                        <p:cTn id="15"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3" end="3"/>
                                            </p:txEl>
                                          </p:spTgt>
                                        </p:tgtEl>
                                        <p:attrNameLst>
                                          <p:attrName>style.visibility</p:attrName>
                                        </p:attrNameLst>
                                      </p:cBhvr>
                                      <p:to>
                                        <p:strVal val="visible"/>
                                      </p:to>
                                    </p:set>
                                    <p:animEffect transition="in" filter="fade">
                                      <p:cBhvr>
                                        <p:cTn id="21" dur="1000"/>
                                        <p:tgtEl>
                                          <p:spTgt spid="14">
                                            <p:txEl>
                                              <p:pRg st="3" end="3"/>
                                            </p:txEl>
                                          </p:spTgt>
                                        </p:tgtEl>
                                      </p:cBhvr>
                                    </p:animEffect>
                                    <p:anim calcmode="lin" valueType="num">
                                      <p:cBhvr>
                                        <p:cTn id="22"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4" end="4"/>
                                            </p:txEl>
                                          </p:spTgt>
                                        </p:tgtEl>
                                        <p:attrNameLst>
                                          <p:attrName>style.visibility</p:attrName>
                                        </p:attrNameLst>
                                      </p:cBhvr>
                                      <p:to>
                                        <p:strVal val="visible"/>
                                      </p:to>
                                    </p:set>
                                    <p:animEffect transition="in" filter="fade">
                                      <p:cBhvr>
                                        <p:cTn id="28" dur="1000"/>
                                        <p:tgtEl>
                                          <p:spTgt spid="14">
                                            <p:txEl>
                                              <p:pRg st="4" end="4"/>
                                            </p:txEl>
                                          </p:spTgt>
                                        </p:tgtEl>
                                      </p:cBhvr>
                                    </p:animEffect>
                                    <p:anim calcmode="lin" valueType="num">
                                      <p:cBhvr>
                                        <p:cTn id="29"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4">
                                            <p:txEl>
                                              <p:pRg st="5" end="5"/>
                                            </p:txEl>
                                          </p:spTgt>
                                        </p:tgtEl>
                                        <p:attrNameLst>
                                          <p:attrName>style.visibility</p:attrName>
                                        </p:attrNameLst>
                                      </p:cBhvr>
                                      <p:to>
                                        <p:strVal val="visible"/>
                                      </p:to>
                                    </p:set>
                                    <p:animEffect transition="in" filter="fade">
                                      <p:cBhvr>
                                        <p:cTn id="35" dur="1000"/>
                                        <p:tgtEl>
                                          <p:spTgt spid="14">
                                            <p:txEl>
                                              <p:pRg st="5" end="5"/>
                                            </p:txEl>
                                          </p:spTgt>
                                        </p:tgtEl>
                                      </p:cBhvr>
                                    </p:animEffect>
                                    <p:anim calcmode="lin" valueType="num">
                                      <p:cBhvr>
                                        <p:cTn id="36"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4">
                                            <p:txEl>
                                              <p:pRg st="7" end="7"/>
                                            </p:txEl>
                                          </p:spTgt>
                                        </p:tgtEl>
                                        <p:attrNameLst>
                                          <p:attrName>style.visibility</p:attrName>
                                        </p:attrNameLst>
                                      </p:cBhvr>
                                      <p:to>
                                        <p:strVal val="visible"/>
                                      </p:to>
                                    </p:set>
                                    <p:animEffect transition="in" filter="fade">
                                      <p:cBhvr>
                                        <p:cTn id="42" dur="1000"/>
                                        <p:tgtEl>
                                          <p:spTgt spid="14">
                                            <p:txEl>
                                              <p:pRg st="7" end="7"/>
                                            </p:txEl>
                                          </p:spTgt>
                                        </p:tgtEl>
                                      </p:cBhvr>
                                    </p:animEffect>
                                    <p:anim calcmode="lin" valueType="num">
                                      <p:cBhvr>
                                        <p:cTn id="43" dur="1000" fill="hold"/>
                                        <p:tgtEl>
                                          <p:spTgt spid="14">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1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4">
                                            <p:txEl>
                                              <p:pRg st="8" end="8"/>
                                            </p:txEl>
                                          </p:spTgt>
                                        </p:tgtEl>
                                        <p:attrNameLst>
                                          <p:attrName>style.visibility</p:attrName>
                                        </p:attrNameLst>
                                      </p:cBhvr>
                                      <p:to>
                                        <p:strVal val="visible"/>
                                      </p:to>
                                    </p:set>
                                    <p:animEffect transition="in" filter="fade">
                                      <p:cBhvr>
                                        <p:cTn id="49" dur="1000"/>
                                        <p:tgtEl>
                                          <p:spTgt spid="14">
                                            <p:txEl>
                                              <p:pRg st="8" end="8"/>
                                            </p:txEl>
                                          </p:spTgt>
                                        </p:tgtEl>
                                      </p:cBhvr>
                                    </p:animEffect>
                                    <p:anim calcmode="lin" valueType="num">
                                      <p:cBhvr>
                                        <p:cTn id="50" dur="1000" fill="hold"/>
                                        <p:tgtEl>
                                          <p:spTgt spid="14">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1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4">
                                            <p:txEl>
                                              <p:pRg st="9" end="9"/>
                                            </p:txEl>
                                          </p:spTgt>
                                        </p:tgtEl>
                                        <p:attrNameLst>
                                          <p:attrName>style.visibility</p:attrName>
                                        </p:attrNameLst>
                                      </p:cBhvr>
                                      <p:to>
                                        <p:strVal val="visible"/>
                                      </p:to>
                                    </p:set>
                                    <p:animEffect transition="in" filter="fade">
                                      <p:cBhvr>
                                        <p:cTn id="56" dur="1000"/>
                                        <p:tgtEl>
                                          <p:spTgt spid="14">
                                            <p:txEl>
                                              <p:pRg st="9" end="9"/>
                                            </p:txEl>
                                          </p:spTgt>
                                        </p:tgtEl>
                                      </p:cBhvr>
                                    </p:animEffect>
                                    <p:anim calcmode="lin" valueType="num">
                                      <p:cBhvr>
                                        <p:cTn id="57" dur="1000" fill="hold"/>
                                        <p:tgtEl>
                                          <p:spTgt spid="14">
                                            <p:txEl>
                                              <p:pRg st="9" end="9"/>
                                            </p:txEl>
                                          </p:spTgt>
                                        </p:tgtEl>
                                        <p:attrNameLst>
                                          <p:attrName>ppt_x</p:attrName>
                                        </p:attrNameLst>
                                      </p:cBhvr>
                                      <p:tavLst>
                                        <p:tav tm="0">
                                          <p:val>
                                            <p:strVal val="#ppt_x"/>
                                          </p:val>
                                        </p:tav>
                                        <p:tav tm="100000">
                                          <p:val>
                                            <p:strVal val="#ppt_x"/>
                                          </p:val>
                                        </p:tav>
                                      </p:tavLst>
                                    </p:anim>
                                    <p:anim calcmode="lin" valueType="num">
                                      <p:cBhvr>
                                        <p:cTn id="58" dur="1000" fill="hold"/>
                                        <p:tgtEl>
                                          <p:spTgt spid="1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14">
                                            <p:txEl>
                                              <p:pRg st="10" end="10"/>
                                            </p:txEl>
                                          </p:spTgt>
                                        </p:tgtEl>
                                        <p:attrNameLst>
                                          <p:attrName>style.visibility</p:attrName>
                                        </p:attrNameLst>
                                      </p:cBhvr>
                                      <p:to>
                                        <p:strVal val="visible"/>
                                      </p:to>
                                    </p:set>
                                    <p:animEffect transition="in" filter="fade">
                                      <p:cBhvr>
                                        <p:cTn id="63" dur="1000"/>
                                        <p:tgtEl>
                                          <p:spTgt spid="14">
                                            <p:txEl>
                                              <p:pRg st="10" end="10"/>
                                            </p:txEl>
                                          </p:spTgt>
                                        </p:tgtEl>
                                      </p:cBhvr>
                                    </p:animEffect>
                                    <p:anim calcmode="lin" valueType="num">
                                      <p:cBhvr>
                                        <p:cTn id="64" dur="1000" fill="hold"/>
                                        <p:tgtEl>
                                          <p:spTgt spid="14">
                                            <p:txEl>
                                              <p:pRg st="10" end="10"/>
                                            </p:txEl>
                                          </p:spTgt>
                                        </p:tgtEl>
                                        <p:attrNameLst>
                                          <p:attrName>ppt_x</p:attrName>
                                        </p:attrNameLst>
                                      </p:cBhvr>
                                      <p:tavLst>
                                        <p:tav tm="0">
                                          <p:val>
                                            <p:strVal val="#ppt_x"/>
                                          </p:val>
                                        </p:tav>
                                        <p:tav tm="100000">
                                          <p:val>
                                            <p:strVal val="#ppt_x"/>
                                          </p:val>
                                        </p:tav>
                                      </p:tavLst>
                                    </p:anim>
                                    <p:anim calcmode="lin" valueType="num">
                                      <p:cBhvr>
                                        <p:cTn id="65" dur="1000" fill="hold"/>
                                        <p:tgtEl>
                                          <p:spTgt spid="14">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14">
                                            <p:txEl>
                                              <p:pRg st="11" end="11"/>
                                            </p:txEl>
                                          </p:spTgt>
                                        </p:tgtEl>
                                        <p:attrNameLst>
                                          <p:attrName>style.visibility</p:attrName>
                                        </p:attrNameLst>
                                      </p:cBhvr>
                                      <p:to>
                                        <p:strVal val="visible"/>
                                      </p:to>
                                    </p:set>
                                    <p:animEffect transition="in" filter="fade">
                                      <p:cBhvr>
                                        <p:cTn id="70" dur="1000"/>
                                        <p:tgtEl>
                                          <p:spTgt spid="14">
                                            <p:txEl>
                                              <p:pRg st="11" end="11"/>
                                            </p:txEl>
                                          </p:spTgt>
                                        </p:tgtEl>
                                      </p:cBhvr>
                                    </p:animEffect>
                                    <p:anim calcmode="lin" valueType="num">
                                      <p:cBhvr>
                                        <p:cTn id="71" dur="1000" fill="hold"/>
                                        <p:tgtEl>
                                          <p:spTgt spid="14">
                                            <p:txEl>
                                              <p:pRg st="11" end="11"/>
                                            </p:txEl>
                                          </p:spTgt>
                                        </p:tgtEl>
                                        <p:attrNameLst>
                                          <p:attrName>ppt_x</p:attrName>
                                        </p:attrNameLst>
                                      </p:cBhvr>
                                      <p:tavLst>
                                        <p:tav tm="0">
                                          <p:val>
                                            <p:strVal val="#ppt_x"/>
                                          </p:val>
                                        </p:tav>
                                        <p:tav tm="100000">
                                          <p:val>
                                            <p:strVal val="#ppt_x"/>
                                          </p:val>
                                        </p:tav>
                                      </p:tavLst>
                                    </p:anim>
                                    <p:anim calcmode="lin" valueType="num">
                                      <p:cBhvr>
                                        <p:cTn id="72" dur="1000" fill="hold"/>
                                        <p:tgtEl>
                                          <p:spTgt spid="14">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401(K) Investment Plan Account</a:t>
            </a:r>
          </a:p>
        </p:txBody>
      </p:sp>
      <p:sp>
        <p:nvSpPr>
          <p:cNvPr id="14" name="Content Placeholder 13"/>
          <p:cNvSpPr>
            <a:spLocks noGrp="1"/>
          </p:cNvSpPr>
          <p:nvPr>
            <p:ph idx="1"/>
          </p:nvPr>
        </p:nvSpPr>
        <p:spPr>
          <a:xfrm>
            <a:off x="1341120" y="1339403"/>
            <a:ext cx="9509760" cy="4790941"/>
          </a:xfrm>
        </p:spPr>
        <p:txBody>
          <a:bodyPr>
            <a:normAutofit/>
          </a:bodyPr>
          <a:lstStyle/>
          <a:p>
            <a:pPr lvl="1"/>
            <a:r>
              <a:rPr lang="en-US" sz="2100" dirty="0"/>
              <a:t>Formed as a law under section 401(K) of the Internal Revenue Tax Code.</a:t>
            </a:r>
          </a:p>
          <a:p>
            <a:pPr lvl="1"/>
            <a:r>
              <a:rPr lang="en-US" sz="2100" dirty="0"/>
              <a:t>Are offered by for-profit companies.</a:t>
            </a:r>
          </a:p>
          <a:p>
            <a:pPr lvl="1"/>
            <a:r>
              <a:rPr lang="en-US" sz="2100" dirty="0"/>
              <a:t>Is a deferred compensation plan set up by an employer so that employees can contribute for retirement on a pre-tax basis. </a:t>
            </a:r>
          </a:p>
          <a:p>
            <a:pPr lvl="1"/>
            <a:r>
              <a:rPr lang="en-US" sz="2100" dirty="0"/>
              <a:t>Employers match a percentage of the amount contributed by the employee.</a:t>
            </a:r>
          </a:p>
          <a:p>
            <a:pPr lvl="1"/>
            <a:r>
              <a:rPr lang="en-US" sz="2100" dirty="0"/>
              <a:t>Contributions by the employee and the employer, including earnings and interests are not taxed.</a:t>
            </a:r>
          </a:p>
          <a:p>
            <a:pPr lvl="1"/>
            <a:r>
              <a:rPr lang="en-US" sz="2100" dirty="0"/>
              <a:t>The withdrawals are taxed.</a:t>
            </a:r>
          </a:p>
          <a:p>
            <a:pPr lvl="1"/>
            <a:r>
              <a:rPr lang="en-US" sz="2100" dirty="0"/>
              <a:t>Currently, employees under 50 years of age can contribute up to 15% of their salary (but no more than $11000) annually.</a:t>
            </a:r>
          </a:p>
          <a:p>
            <a:pPr lvl="1"/>
            <a:r>
              <a:rPr lang="en-US" sz="2100" dirty="0"/>
              <a:t>Currently, employees 50 years of age or older can contribute up to 15% of their salary (but no more than $12000) annually. </a:t>
            </a:r>
          </a:p>
          <a:p>
            <a:pPr lvl="1"/>
            <a:endParaRPr lang="en-US" dirty="0"/>
          </a:p>
        </p:txBody>
      </p:sp>
    </p:spTree>
    <p:extLst>
      <p:ext uri="{BB962C8B-B14F-4D97-AF65-F5344CB8AC3E}">
        <p14:creationId xmlns:p14="http://schemas.microsoft.com/office/powerpoint/2010/main" val="2542322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1000"/>
                                        <p:tgtEl>
                                          <p:spTgt spid="14">
                                            <p:txEl>
                                              <p:pRg st="0" end="0"/>
                                            </p:txEl>
                                          </p:spTgt>
                                        </p:tgtEl>
                                      </p:cBhvr>
                                    </p:animEffect>
                                    <p:anim calcmode="lin" valueType="num">
                                      <p:cBhvr>
                                        <p:cTn id="8"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1" end="1"/>
                                            </p:txEl>
                                          </p:spTgt>
                                        </p:tgtEl>
                                        <p:attrNameLst>
                                          <p:attrName>style.visibility</p:attrName>
                                        </p:attrNameLst>
                                      </p:cBhvr>
                                      <p:to>
                                        <p:strVal val="visible"/>
                                      </p:to>
                                    </p:set>
                                    <p:animEffect transition="in" filter="fade">
                                      <p:cBhvr>
                                        <p:cTn id="14" dur="1000"/>
                                        <p:tgtEl>
                                          <p:spTgt spid="14">
                                            <p:txEl>
                                              <p:pRg st="1" end="1"/>
                                            </p:txEl>
                                          </p:spTgt>
                                        </p:tgtEl>
                                      </p:cBhvr>
                                    </p:animEffect>
                                    <p:anim calcmode="lin" valueType="num">
                                      <p:cBhvr>
                                        <p:cTn id="15"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2" end="2"/>
                                            </p:txEl>
                                          </p:spTgt>
                                        </p:tgtEl>
                                        <p:attrNameLst>
                                          <p:attrName>style.visibility</p:attrName>
                                        </p:attrNameLst>
                                      </p:cBhvr>
                                      <p:to>
                                        <p:strVal val="visible"/>
                                      </p:to>
                                    </p:set>
                                    <p:animEffect transition="in" filter="fade">
                                      <p:cBhvr>
                                        <p:cTn id="21" dur="1000"/>
                                        <p:tgtEl>
                                          <p:spTgt spid="14">
                                            <p:txEl>
                                              <p:pRg st="2" end="2"/>
                                            </p:txEl>
                                          </p:spTgt>
                                        </p:tgtEl>
                                      </p:cBhvr>
                                    </p:animEffect>
                                    <p:anim calcmode="lin" valueType="num">
                                      <p:cBhvr>
                                        <p:cTn id="22"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3" end="3"/>
                                            </p:txEl>
                                          </p:spTgt>
                                        </p:tgtEl>
                                        <p:attrNameLst>
                                          <p:attrName>style.visibility</p:attrName>
                                        </p:attrNameLst>
                                      </p:cBhvr>
                                      <p:to>
                                        <p:strVal val="visible"/>
                                      </p:to>
                                    </p:set>
                                    <p:animEffect transition="in" filter="fade">
                                      <p:cBhvr>
                                        <p:cTn id="28" dur="1000"/>
                                        <p:tgtEl>
                                          <p:spTgt spid="14">
                                            <p:txEl>
                                              <p:pRg st="3" end="3"/>
                                            </p:txEl>
                                          </p:spTgt>
                                        </p:tgtEl>
                                      </p:cBhvr>
                                    </p:animEffect>
                                    <p:anim calcmode="lin" valueType="num">
                                      <p:cBhvr>
                                        <p:cTn id="29"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4">
                                            <p:txEl>
                                              <p:pRg st="4" end="4"/>
                                            </p:txEl>
                                          </p:spTgt>
                                        </p:tgtEl>
                                        <p:attrNameLst>
                                          <p:attrName>style.visibility</p:attrName>
                                        </p:attrNameLst>
                                      </p:cBhvr>
                                      <p:to>
                                        <p:strVal val="visible"/>
                                      </p:to>
                                    </p:set>
                                    <p:animEffect transition="in" filter="fade">
                                      <p:cBhvr>
                                        <p:cTn id="35" dur="1000"/>
                                        <p:tgtEl>
                                          <p:spTgt spid="14">
                                            <p:txEl>
                                              <p:pRg st="4" end="4"/>
                                            </p:txEl>
                                          </p:spTgt>
                                        </p:tgtEl>
                                      </p:cBhvr>
                                    </p:animEffect>
                                    <p:anim calcmode="lin" valueType="num">
                                      <p:cBhvr>
                                        <p:cTn id="36"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4">
                                            <p:txEl>
                                              <p:pRg st="5" end="5"/>
                                            </p:txEl>
                                          </p:spTgt>
                                        </p:tgtEl>
                                        <p:attrNameLst>
                                          <p:attrName>style.visibility</p:attrName>
                                        </p:attrNameLst>
                                      </p:cBhvr>
                                      <p:to>
                                        <p:strVal val="visible"/>
                                      </p:to>
                                    </p:set>
                                    <p:animEffect transition="in" filter="fade">
                                      <p:cBhvr>
                                        <p:cTn id="42" dur="1000"/>
                                        <p:tgtEl>
                                          <p:spTgt spid="14">
                                            <p:txEl>
                                              <p:pRg st="5" end="5"/>
                                            </p:txEl>
                                          </p:spTgt>
                                        </p:tgtEl>
                                      </p:cBhvr>
                                    </p:animEffect>
                                    <p:anim calcmode="lin" valueType="num">
                                      <p:cBhvr>
                                        <p:cTn id="43"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4">
                                            <p:txEl>
                                              <p:pRg st="6" end="6"/>
                                            </p:txEl>
                                          </p:spTgt>
                                        </p:tgtEl>
                                        <p:attrNameLst>
                                          <p:attrName>style.visibility</p:attrName>
                                        </p:attrNameLst>
                                      </p:cBhvr>
                                      <p:to>
                                        <p:strVal val="visible"/>
                                      </p:to>
                                    </p:set>
                                    <p:animEffect transition="in" filter="fade">
                                      <p:cBhvr>
                                        <p:cTn id="49" dur="1000"/>
                                        <p:tgtEl>
                                          <p:spTgt spid="14">
                                            <p:txEl>
                                              <p:pRg st="6" end="6"/>
                                            </p:txEl>
                                          </p:spTgt>
                                        </p:tgtEl>
                                      </p:cBhvr>
                                    </p:animEffect>
                                    <p:anim calcmode="lin" valueType="num">
                                      <p:cBhvr>
                                        <p:cTn id="50" dur="1000" fill="hold"/>
                                        <p:tgtEl>
                                          <p:spTgt spid="14">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1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4">
                                            <p:txEl>
                                              <p:pRg st="7" end="7"/>
                                            </p:txEl>
                                          </p:spTgt>
                                        </p:tgtEl>
                                        <p:attrNameLst>
                                          <p:attrName>style.visibility</p:attrName>
                                        </p:attrNameLst>
                                      </p:cBhvr>
                                      <p:to>
                                        <p:strVal val="visible"/>
                                      </p:to>
                                    </p:set>
                                    <p:animEffect transition="in" filter="fade">
                                      <p:cBhvr>
                                        <p:cTn id="56" dur="1000"/>
                                        <p:tgtEl>
                                          <p:spTgt spid="14">
                                            <p:txEl>
                                              <p:pRg st="7" end="7"/>
                                            </p:txEl>
                                          </p:spTgt>
                                        </p:tgtEl>
                                      </p:cBhvr>
                                    </p:animEffect>
                                    <p:anim calcmode="lin" valueType="num">
                                      <p:cBhvr>
                                        <p:cTn id="57" dur="1000" fill="hold"/>
                                        <p:tgtEl>
                                          <p:spTgt spid="14">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1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403(b) and Other Investment Accounts</a:t>
            </a:r>
          </a:p>
        </p:txBody>
      </p:sp>
      <p:sp>
        <p:nvSpPr>
          <p:cNvPr id="14" name="Content Placeholder 13"/>
          <p:cNvSpPr>
            <a:spLocks noGrp="1"/>
          </p:cNvSpPr>
          <p:nvPr>
            <p:ph idx="1"/>
          </p:nvPr>
        </p:nvSpPr>
        <p:spPr>
          <a:xfrm>
            <a:off x="1341120" y="1339403"/>
            <a:ext cx="9509760" cy="5009881"/>
          </a:xfrm>
        </p:spPr>
        <p:txBody>
          <a:bodyPr>
            <a:normAutofit/>
          </a:bodyPr>
          <a:lstStyle/>
          <a:p>
            <a:r>
              <a:rPr lang="en-US" dirty="0"/>
              <a:t>403(b)</a:t>
            </a:r>
          </a:p>
          <a:p>
            <a:pPr lvl="2"/>
            <a:r>
              <a:rPr lang="en-US" sz="1900" dirty="0"/>
              <a:t>Formed as a law under section 403(b) of the Internal Revenue Tax Code.</a:t>
            </a:r>
          </a:p>
          <a:p>
            <a:pPr lvl="2"/>
            <a:r>
              <a:rPr lang="en-US" sz="1900" dirty="0"/>
              <a:t>Are offered by tax-exempt organizations including schools, religious institutions and hospitals among others.</a:t>
            </a:r>
          </a:p>
          <a:p>
            <a:pPr lvl="2"/>
            <a:r>
              <a:rPr lang="en-US" sz="1900" dirty="0"/>
              <a:t>Similar to the 401(K) plan, the contributions are not taxed.</a:t>
            </a:r>
          </a:p>
          <a:p>
            <a:pPr lvl="2"/>
            <a:r>
              <a:rPr lang="en-US" sz="1900" dirty="0"/>
              <a:t>The withdrawals are taxed.</a:t>
            </a:r>
          </a:p>
          <a:p>
            <a:r>
              <a:rPr lang="en-US" dirty="0"/>
              <a:t>Other Investment Accounts</a:t>
            </a:r>
          </a:p>
          <a:p>
            <a:pPr lvl="1"/>
            <a:r>
              <a:rPr lang="en-US" dirty="0"/>
              <a:t>Regular Savings Account</a:t>
            </a:r>
          </a:p>
          <a:p>
            <a:pPr lvl="1"/>
            <a:r>
              <a:rPr lang="en-US" dirty="0"/>
              <a:t>Money Market Deposit Account</a:t>
            </a:r>
          </a:p>
          <a:p>
            <a:pPr lvl="1"/>
            <a:r>
              <a:rPr lang="en-US" dirty="0"/>
              <a:t>Interest-Bearing Checking Accounts</a:t>
            </a:r>
          </a:p>
          <a:p>
            <a:pPr lvl="1"/>
            <a:r>
              <a:rPr lang="en-US" dirty="0"/>
              <a:t>Certificates of Deposit (CDs)</a:t>
            </a:r>
          </a:p>
          <a:p>
            <a:pPr lvl="1"/>
            <a:r>
              <a:rPr lang="en-US" dirty="0"/>
              <a:t>Other investment and retirement accounts including Pension Plan</a:t>
            </a:r>
          </a:p>
          <a:p>
            <a:pPr lvl="1"/>
            <a:endParaRPr lang="en-US" dirty="0"/>
          </a:p>
          <a:p>
            <a:pPr lvl="1"/>
            <a:endParaRPr lang="en-US" dirty="0"/>
          </a:p>
        </p:txBody>
      </p:sp>
    </p:spTree>
    <p:extLst>
      <p:ext uri="{BB962C8B-B14F-4D97-AF65-F5344CB8AC3E}">
        <p14:creationId xmlns:p14="http://schemas.microsoft.com/office/powerpoint/2010/main" val="973712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animEffect transition="in" filter="fade">
                                      <p:cBhvr>
                                        <p:cTn id="7" dur="1000"/>
                                        <p:tgtEl>
                                          <p:spTgt spid="14">
                                            <p:txEl>
                                              <p:pRg st="1" end="1"/>
                                            </p:txEl>
                                          </p:spTgt>
                                        </p:tgtEl>
                                      </p:cBhvr>
                                    </p:animEffect>
                                    <p:anim calcmode="lin" valueType="num">
                                      <p:cBhvr>
                                        <p:cTn id="8"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2" end="2"/>
                                            </p:txEl>
                                          </p:spTgt>
                                        </p:tgtEl>
                                        <p:attrNameLst>
                                          <p:attrName>style.visibility</p:attrName>
                                        </p:attrNameLst>
                                      </p:cBhvr>
                                      <p:to>
                                        <p:strVal val="visible"/>
                                      </p:to>
                                    </p:set>
                                    <p:animEffect transition="in" filter="fade">
                                      <p:cBhvr>
                                        <p:cTn id="14" dur="1000"/>
                                        <p:tgtEl>
                                          <p:spTgt spid="14">
                                            <p:txEl>
                                              <p:pRg st="2" end="2"/>
                                            </p:txEl>
                                          </p:spTgt>
                                        </p:tgtEl>
                                      </p:cBhvr>
                                    </p:animEffect>
                                    <p:anim calcmode="lin" valueType="num">
                                      <p:cBhvr>
                                        <p:cTn id="15"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3" end="3"/>
                                            </p:txEl>
                                          </p:spTgt>
                                        </p:tgtEl>
                                        <p:attrNameLst>
                                          <p:attrName>style.visibility</p:attrName>
                                        </p:attrNameLst>
                                      </p:cBhvr>
                                      <p:to>
                                        <p:strVal val="visible"/>
                                      </p:to>
                                    </p:set>
                                    <p:animEffect transition="in" filter="fade">
                                      <p:cBhvr>
                                        <p:cTn id="21" dur="1000"/>
                                        <p:tgtEl>
                                          <p:spTgt spid="14">
                                            <p:txEl>
                                              <p:pRg st="3" end="3"/>
                                            </p:txEl>
                                          </p:spTgt>
                                        </p:tgtEl>
                                      </p:cBhvr>
                                    </p:animEffect>
                                    <p:anim calcmode="lin" valueType="num">
                                      <p:cBhvr>
                                        <p:cTn id="22"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4" end="4"/>
                                            </p:txEl>
                                          </p:spTgt>
                                        </p:tgtEl>
                                        <p:attrNameLst>
                                          <p:attrName>style.visibility</p:attrName>
                                        </p:attrNameLst>
                                      </p:cBhvr>
                                      <p:to>
                                        <p:strVal val="visible"/>
                                      </p:to>
                                    </p:set>
                                    <p:animEffect transition="in" filter="fade">
                                      <p:cBhvr>
                                        <p:cTn id="28" dur="1000"/>
                                        <p:tgtEl>
                                          <p:spTgt spid="14">
                                            <p:txEl>
                                              <p:pRg st="4" end="4"/>
                                            </p:txEl>
                                          </p:spTgt>
                                        </p:tgtEl>
                                      </p:cBhvr>
                                    </p:animEffect>
                                    <p:anim calcmode="lin" valueType="num">
                                      <p:cBhvr>
                                        <p:cTn id="29"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4">
                                            <p:txEl>
                                              <p:pRg st="6" end="6"/>
                                            </p:txEl>
                                          </p:spTgt>
                                        </p:tgtEl>
                                        <p:attrNameLst>
                                          <p:attrName>style.visibility</p:attrName>
                                        </p:attrNameLst>
                                      </p:cBhvr>
                                      <p:to>
                                        <p:strVal val="visible"/>
                                      </p:to>
                                    </p:set>
                                    <p:animEffect transition="in" filter="fade">
                                      <p:cBhvr>
                                        <p:cTn id="35" dur="1000"/>
                                        <p:tgtEl>
                                          <p:spTgt spid="14">
                                            <p:txEl>
                                              <p:pRg st="6" end="6"/>
                                            </p:txEl>
                                          </p:spTgt>
                                        </p:tgtEl>
                                      </p:cBhvr>
                                    </p:animEffect>
                                    <p:anim calcmode="lin" valueType="num">
                                      <p:cBhvr>
                                        <p:cTn id="36" dur="1000" fill="hold"/>
                                        <p:tgtEl>
                                          <p:spTgt spid="14">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1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4">
                                            <p:txEl>
                                              <p:pRg st="7" end="7"/>
                                            </p:txEl>
                                          </p:spTgt>
                                        </p:tgtEl>
                                        <p:attrNameLst>
                                          <p:attrName>style.visibility</p:attrName>
                                        </p:attrNameLst>
                                      </p:cBhvr>
                                      <p:to>
                                        <p:strVal val="visible"/>
                                      </p:to>
                                    </p:set>
                                    <p:animEffect transition="in" filter="fade">
                                      <p:cBhvr>
                                        <p:cTn id="42" dur="1000"/>
                                        <p:tgtEl>
                                          <p:spTgt spid="14">
                                            <p:txEl>
                                              <p:pRg st="7" end="7"/>
                                            </p:txEl>
                                          </p:spTgt>
                                        </p:tgtEl>
                                      </p:cBhvr>
                                    </p:animEffect>
                                    <p:anim calcmode="lin" valueType="num">
                                      <p:cBhvr>
                                        <p:cTn id="43" dur="1000" fill="hold"/>
                                        <p:tgtEl>
                                          <p:spTgt spid="14">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1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4">
                                            <p:txEl>
                                              <p:pRg st="8" end="8"/>
                                            </p:txEl>
                                          </p:spTgt>
                                        </p:tgtEl>
                                        <p:attrNameLst>
                                          <p:attrName>style.visibility</p:attrName>
                                        </p:attrNameLst>
                                      </p:cBhvr>
                                      <p:to>
                                        <p:strVal val="visible"/>
                                      </p:to>
                                    </p:set>
                                    <p:animEffect transition="in" filter="fade">
                                      <p:cBhvr>
                                        <p:cTn id="49" dur="1000"/>
                                        <p:tgtEl>
                                          <p:spTgt spid="14">
                                            <p:txEl>
                                              <p:pRg st="8" end="8"/>
                                            </p:txEl>
                                          </p:spTgt>
                                        </p:tgtEl>
                                      </p:cBhvr>
                                    </p:animEffect>
                                    <p:anim calcmode="lin" valueType="num">
                                      <p:cBhvr>
                                        <p:cTn id="50" dur="1000" fill="hold"/>
                                        <p:tgtEl>
                                          <p:spTgt spid="14">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1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4">
                                            <p:txEl>
                                              <p:pRg st="9" end="9"/>
                                            </p:txEl>
                                          </p:spTgt>
                                        </p:tgtEl>
                                        <p:attrNameLst>
                                          <p:attrName>style.visibility</p:attrName>
                                        </p:attrNameLst>
                                      </p:cBhvr>
                                      <p:to>
                                        <p:strVal val="visible"/>
                                      </p:to>
                                    </p:set>
                                    <p:animEffect transition="in" filter="fade">
                                      <p:cBhvr>
                                        <p:cTn id="56" dur="1000"/>
                                        <p:tgtEl>
                                          <p:spTgt spid="14">
                                            <p:txEl>
                                              <p:pRg st="9" end="9"/>
                                            </p:txEl>
                                          </p:spTgt>
                                        </p:tgtEl>
                                      </p:cBhvr>
                                    </p:animEffect>
                                    <p:anim calcmode="lin" valueType="num">
                                      <p:cBhvr>
                                        <p:cTn id="57" dur="1000" fill="hold"/>
                                        <p:tgtEl>
                                          <p:spTgt spid="14">
                                            <p:txEl>
                                              <p:pRg st="9" end="9"/>
                                            </p:txEl>
                                          </p:spTgt>
                                        </p:tgtEl>
                                        <p:attrNameLst>
                                          <p:attrName>ppt_x</p:attrName>
                                        </p:attrNameLst>
                                      </p:cBhvr>
                                      <p:tavLst>
                                        <p:tav tm="0">
                                          <p:val>
                                            <p:strVal val="#ppt_x"/>
                                          </p:val>
                                        </p:tav>
                                        <p:tav tm="100000">
                                          <p:val>
                                            <p:strVal val="#ppt_x"/>
                                          </p:val>
                                        </p:tav>
                                      </p:tavLst>
                                    </p:anim>
                                    <p:anim calcmode="lin" valueType="num">
                                      <p:cBhvr>
                                        <p:cTn id="58" dur="1000" fill="hold"/>
                                        <p:tgtEl>
                                          <p:spTgt spid="1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14">
                                            <p:txEl>
                                              <p:pRg st="10" end="10"/>
                                            </p:txEl>
                                          </p:spTgt>
                                        </p:tgtEl>
                                        <p:attrNameLst>
                                          <p:attrName>style.visibility</p:attrName>
                                        </p:attrNameLst>
                                      </p:cBhvr>
                                      <p:to>
                                        <p:strVal val="visible"/>
                                      </p:to>
                                    </p:set>
                                    <p:animEffect transition="in" filter="fade">
                                      <p:cBhvr>
                                        <p:cTn id="63" dur="1000"/>
                                        <p:tgtEl>
                                          <p:spTgt spid="14">
                                            <p:txEl>
                                              <p:pRg st="10" end="10"/>
                                            </p:txEl>
                                          </p:spTgt>
                                        </p:tgtEl>
                                      </p:cBhvr>
                                    </p:animEffect>
                                    <p:anim calcmode="lin" valueType="num">
                                      <p:cBhvr>
                                        <p:cTn id="64" dur="1000" fill="hold"/>
                                        <p:tgtEl>
                                          <p:spTgt spid="14">
                                            <p:txEl>
                                              <p:pRg st="10" end="10"/>
                                            </p:txEl>
                                          </p:spTgt>
                                        </p:tgtEl>
                                        <p:attrNameLst>
                                          <p:attrName>ppt_x</p:attrName>
                                        </p:attrNameLst>
                                      </p:cBhvr>
                                      <p:tavLst>
                                        <p:tav tm="0">
                                          <p:val>
                                            <p:strVal val="#ppt_x"/>
                                          </p:val>
                                        </p:tav>
                                        <p:tav tm="100000">
                                          <p:val>
                                            <p:strVal val="#ppt_x"/>
                                          </p:val>
                                        </p:tav>
                                      </p:tavLst>
                                    </p:anim>
                                    <p:anim calcmode="lin" valueType="num">
                                      <p:cBhvr>
                                        <p:cTn id="65" dur="1000" fill="hold"/>
                                        <p:tgtEl>
                                          <p:spTgt spid="14">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Annuity </a:t>
            </a:r>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1341120" y="1339403"/>
                <a:ext cx="9509760" cy="5009881"/>
              </a:xfrm>
            </p:spPr>
            <p:txBody>
              <a:bodyPr>
                <a:normAutofit/>
              </a:bodyPr>
              <a:lstStyle/>
              <a:p>
                <a:r>
                  <a:rPr lang="en-US" dirty="0"/>
                  <a:t>An </a:t>
                </a:r>
                <a:r>
                  <a:rPr lang="en-US" b="1" dirty="0"/>
                  <a:t>annuity</a:t>
                </a:r>
                <a:r>
                  <a:rPr lang="en-US" dirty="0"/>
                  <a:t> is defined as a sequence of equal periodic payments.</a:t>
                </a:r>
              </a:p>
              <a:p>
                <a:r>
                  <a:rPr lang="en-US" dirty="0"/>
                  <a:t>If the payments are made at the end of each period, it is known as an </a:t>
                </a:r>
                <a:r>
                  <a:rPr lang="en-US" u="sng" dirty="0"/>
                  <a:t>ordinary annuity</a:t>
                </a:r>
                <a:r>
                  <a:rPr lang="en-US" dirty="0"/>
                  <a:t>.</a:t>
                </a:r>
              </a:p>
              <a:p>
                <a:r>
                  <a:rPr lang="en-US" dirty="0"/>
                  <a:t>If the payments are made at the beginning of each period, it is known as </a:t>
                </a:r>
                <a:r>
                  <a:rPr lang="en-US" u="sng" dirty="0"/>
                  <a:t>annuity due</a:t>
                </a:r>
                <a:r>
                  <a:rPr lang="en-US" dirty="0"/>
                  <a:t>.</a:t>
                </a:r>
              </a:p>
              <a:p>
                <a:r>
                  <a:rPr lang="en-US" dirty="0"/>
                  <a:t>The </a:t>
                </a:r>
                <a:r>
                  <a:rPr lang="en-US" u="sng" dirty="0"/>
                  <a:t>future value of an annuity is the sum of all payments and all the earned interests</a:t>
                </a:r>
                <a:r>
                  <a:rPr lang="en-US" dirty="0"/>
                  <a:t>.</a:t>
                </a:r>
              </a:p>
              <a:p>
                <a:r>
                  <a:rPr lang="en-US" dirty="0"/>
                  <a:t>Applications of the Future Value of an Annuity is seen in college savings accounts, IRAs, 401(K), 403(b), and other investments that require periodic deposits.</a:t>
                </a:r>
              </a:p>
              <a:p>
                <a:r>
                  <a:rPr lang="en-US" dirty="0"/>
                  <a:t>Let us look at these formulas for calculating the Future Value of an Ordinary Annuity</a:t>
                </a:r>
              </a:p>
              <a:p>
                <a:r>
                  <a:rPr lang="en-US" u="sng" dirty="0"/>
                  <a:t>1</a:t>
                </a:r>
                <a:r>
                  <a:rPr lang="en-US" u="sng" baseline="30000" dirty="0"/>
                  <a:t>st</a:t>
                </a:r>
                <a:r>
                  <a:rPr lang="en-US" u="sng" dirty="0"/>
                  <a:t> Formula</a:t>
                </a:r>
                <a:r>
                  <a:rPr lang="en-US" dirty="0"/>
                  <a:t> </a:t>
                </a:r>
              </a:p>
              <a:p>
                <a14:m>
                  <m:oMath xmlns:m="http://schemas.openxmlformats.org/officeDocument/2006/math">
                    <m:r>
                      <a:rPr lang="en-US" sz="4000" b="0" i="1" smtClean="0">
                        <a:latin typeface="Cambria Math" panose="02040503050406030204" pitchFamily="18" charset="0"/>
                      </a:rPr>
                      <m:t>𝐹𝑉</m:t>
                    </m:r>
                    <m:r>
                      <a:rPr lang="en-US" sz="4000" b="0" i="1" smtClean="0">
                        <a:latin typeface="Cambria Math" panose="02040503050406030204" pitchFamily="18" charset="0"/>
                      </a:rPr>
                      <m:t>=</m:t>
                    </m:r>
                    <m:r>
                      <a:rPr lang="en-US" sz="4000" b="0" i="1" smtClean="0">
                        <a:latin typeface="Cambria Math" panose="02040503050406030204" pitchFamily="18" charset="0"/>
                      </a:rPr>
                      <m:t>𝑚</m:t>
                    </m:r>
                    <m:r>
                      <a:rPr lang="en-US" sz="4000" b="0" i="1" smtClean="0">
                        <a:latin typeface="Cambria Math" panose="02040503050406030204" pitchFamily="18" charset="0"/>
                      </a:rPr>
                      <m:t>∗</m:t>
                    </m:r>
                    <m:r>
                      <a:rPr lang="en-US" sz="4000" b="0" i="1" smtClean="0">
                        <a:latin typeface="Cambria Math" panose="02040503050406030204" pitchFamily="18" charset="0"/>
                      </a:rPr>
                      <m:t>𝑃𝑀𝑇</m:t>
                    </m:r>
                    <m:r>
                      <a:rPr lang="en-US" sz="4000" b="0" i="1" smtClean="0">
                        <a:latin typeface="Cambria Math" panose="02040503050406030204" pitchFamily="18" charset="0"/>
                      </a:rPr>
                      <m:t>∗[</m:t>
                    </m:r>
                    <m:f>
                      <m:fPr>
                        <m:ctrlPr>
                          <a:rPr lang="en-US" sz="4000" b="0" i="1" smtClean="0">
                            <a:latin typeface="Cambria Math" panose="02040503050406030204" pitchFamily="18" charset="0"/>
                          </a:rPr>
                        </m:ctrlPr>
                      </m:fPr>
                      <m:num>
                        <m:sSup>
                          <m:sSupPr>
                            <m:ctrlPr>
                              <a:rPr lang="en-US" sz="4000" b="0" i="1" smtClean="0">
                                <a:latin typeface="Cambria Math" panose="02040503050406030204" pitchFamily="18" charset="0"/>
                              </a:rPr>
                            </m:ctrlPr>
                          </m:sSupPr>
                          <m:e>
                            <m:r>
                              <a:rPr lang="en-US" sz="4000" b="0" i="1" smtClean="0">
                                <a:latin typeface="Cambria Math" panose="02040503050406030204" pitchFamily="18" charset="0"/>
                              </a:rPr>
                              <m:t>(1+</m:t>
                            </m:r>
                            <m:f>
                              <m:fPr>
                                <m:ctrlPr>
                                  <a:rPr lang="en-US" sz="4000" b="0" i="1" smtClean="0">
                                    <a:latin typeface="Cambria Math" panose="02040503050406030204" pitchFamily="18" charset="0"/>
                                  </a:rPr>
                                </m:ctrlPr>
                              </m:fPr>
                              <m:num>
                                <m:r>
                                  <a:rPr lang="en-US" sz="4000" b="0" i="1" smtClean="0">
                                    <a:latin typeface="Cambria Math" panose="02040503050406030204" pitchFamily="18" charset="0"/>
                                  </a:rPr>
                                  <m:t>𝑟</m:t>
                                </m:r>
                              </m:num>
                              <m:den>
                                <m:r>
                                  <a:rPr lang="en-US" sz="4000" b="0" i="1" smtClean="0">
                                    <a:latin typeface="Cambria Math" panose="02040503050406030204" pitchFamily="18" charset="0"/>
                                  </a:rPr>
                                  <m:t>𝑚</m:t>
                                </m:r>
                              </m:den>
                            </m:f>
                            <m:r>
                              <a:rPr lang="en-US" sz="4000" b="0" i="1" smtClean="0">
                                <a:latin typeface="Cambria Math" panose="02040503050406030204" pitchFamily="18" charset="0"/>
                              </a:rPr>
                              <m:t>)</m:t>
                            </m:r>
                          </m:e>
                          <m:sup>
                            <m:r>
                              <a:rPr lang="en-US" sz="4000" b="0" i="1" smtClean="0">
                                <a:latin typeface="Cambria Math" panose="02040503050406030204" pitchFamily="18" charset="0"/>
                              </a:rPr>
                              <m:t>𝑚𝑡</m:t>
                            </m:r>
                          </m:sup>
                        </m:sSup>
                        <m:r>
                          <a:rPr lang="en-US" sz="4000" b="0" i="1" smtClean="0">
                            <a:latin typeface="Cambria Math" panose="02040503050406030204" pitchFamily="18" charset="0"/>
                          </a:rPr>
                          <m:t>−1</m:t>
                        </m:r>
                      </m:num>
                      <m:den>
                        <m:r>
                          <a:rPr lang="en-US" sz="4000" b="0" i="1" smtClean="0">
                            <a:latin typeface="Cambria Math" panose="02040503050406030204" pitchFamily="18" charset="0"/>
                          </a:rPr>
                          <m:t>𝑟</m:t>
                        </m:r>
                      </m:den>
                    </m:f>
                    <m:r>
                      <a:rPr lang="en-US" sz="4000" b="0" i="1" smtClean="0">
                        <a:latin typeface="Cambria Math" panose="02040503050406030204" pitchFamily="18" charset="0"/>
                      </a:rPr>
                      <m:t>]</m:t>
                    </m:r>
                  </m:oMath>
                </a14:m>
                <a:endParaRPr lang="en-US" sz="4000" dirty="0"/>
              </a:p>
              <a:p>
                <a:endParaRPr lang="en-US" dirty="0"/>
              </a:p>
              <a:p>
                <a:pPr lvl="1"/>
                <a:endParaRPr lang="en-US" dirty="0"/>
              </a:p>
              <a:p>
                <a:pPr lvl="1"/>
                <a:endParaRPr lang="en-US" dirty="0"/>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1341120" y="1339403"/>
                <a:ext cx="9509760" cy="5009881"/>
              </a:xfrm>
              <a:blipFill rotWithShape="0">
                <a:blip r:embed="rId2"/>
                <a:stretch>
                  <a:fillRect l="-64" t="-1338" r="-64"/>
                </a:stretch>
              </a:blipFill>
            </p:spPr>
            <p:txBody>
              <a:bodyPr/>
              <a:lstStyle/>
              <a:p>
                <a:r>
                  <a:rPr lang="en-US">
                    <a:noFill/>
                  </a:rPr>
                  <a:t> </a:t>
                </a:r>
              </a:p>
            </p:txBody>
          </p:sp>
        </mc:Fallback>
      </mc:AlternateContent>
    </p:spTree>
    <p:extLst>
      <p:ext uri="{BB962C8B-B14F-4D97-AF65-F5344CB8AC3E}">
        <p14:creationId xmlns:p14="http://schemas.microsoft.com/office/powerpoint/2010/main" val="2831618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1000"/>
                                        <p:tgtEl>
                                          <p:spTgt spid="14">
                                            <p:txEl>
                                              <p:pRg st="0" end="0"/>
                                            </p:txEl>
                                          </p:spTgt>
                                        </p:tgtEl>
                                      </p:cBhvr>
                                    </p:animEffect>
                                    <p:anim calcmode="lin" valueType="num">
                                      <p:cBhvr>
                                        <p:cTn id="8"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1" end="1"/>
                                            </p:txEl>
                                          </p:spTgt>
                                        </p:tgtEl>
                                        <p:attrNameLst>
                                          <p:attrName>style.visibility</p:attrName>
                                        </p:attrNameLst>
                                      </p:cBhvr>
                                      <p:to>
                                        <p:strVal val="visible"/>
                                      </p:to>
                                    </p:set>
                                    <p:animEffect transition="in" filter="fade">
                                      <p:cBhvr>
                                        <p:cTn id="14" dur="1000"/>
                                        <p:tgtEl>
                                          <p:spTgt spid="14">
                                            <p:txEl>
                                              <p:pRg st="1" end="1"/>
                                            </p:txEl>
                                          </p:spTgt>
                                        </p:tgtEl>
                                      </p:cBhvr>
                                    </p:animEffect>
                                    <p:anim calcmode="lin" valueType="num">
                                      <p:cBhvr>
                                        <p:cTn id="15"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2" end="2"/>
                                            </p:txEl>
                                          </p:spTgt>
                                        </p:tgtEl>
                                        <p:attrNameLst>
                                          <p:attrName>style.visibility</p:attrName>
                                        </p:attrNameLst>
                                      </p:cBhvr>
                                      <p:to>
                                        <p:strVal val="visible"/>
                                      </p:to>
                                    </p:set>
                                    <p:animEffect transition="in" filter="fade">
                                      <p:cBhvr>
                                        <p:cTn id="21" dur="1000"/>
                                        <p:tgtEl>
                                          <p:spTgt spid="14">
                                            <p:txEl>
                                              <p:pRg st="2" end="2"/>
                                            </p:txEl>
                                          </p:spTgt>
                                        </p:tgtEl>
                                      </p:cBhvr>
                                    </p:animEffect>
                                    <p:anim calcmode="lin" valueType="num">
                                      <p:cBhvr>
                                        <p:cTn id="22"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3" end="3"/>
                                            </p:txEl>
                                          </p:spTgt>
                                        </p:tgtEl>
                                        <p:attrNameLst>
                                          <p:attrName>style.visibility</p:attrName>
                                        </p:attrNameLst>
                                      </p:cBhvr>
                                      <p:to>
                                        <p:strVal val="visible"/>
                                      </p:to>
                                    </p:set>
                                    <p:animEffect transition="in" filter="fade">
                                      <p:cBhvr>
                                        <p:cTn id="28" dur="1000"/>
                                        <p:tgtEl>
                                          <p:spTgt spid="14">
                                            <p:txEl>
                                              <p:pRg st="3" end="3"/>
                                            </p:txEl>
                                          </p:spTgt>
                                        </p:tgtEl>
                                      </p:cBhvr>
                                    </p:animEffect>
                                    <p:anim calcmode="lin" valueType="num">
                                      <p:cBhvr>
                                        <p:cTn id="29"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4">
                                            <p:txEl>
                                              <p:pRg st="4" end="4"/>
                                            </p:txEl>
                                          </p:spTgt>
                                        </p:tgtEl>
                                        <p:attrNameLst>
                                          <p:attrName>style.visibility</p:attrName>
                                        </p:attrNameLst>
                                      </p:cBhvr>
                                      <p:to>
                                        <p:strVal val="visible"/>
                                      </p:to>
                                    </p:set>
                                    <p:animEffect transition="in" filter="fade">
                                      <p:cBhvr>
                                        <p:cTn id="35" dur="1000"/>
                                        <p:tgtEl>
                                          <p:spTgt spid="14">
                                            <p:txEl>
                                              <p:pRg st="4" end="4"/>
                                            </p:txEl>
                                          </p:spTgt>
                                        </p:tgtEl>
                                      </p:cBhvr>
                                    </p:animEffect>
                                    <p:anim calcmode="lin" valueType="num">
                                      <p:cBhvr>
                                        <p:cTn id="36"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4">
                                            <p:txEl>
                                              <p:pRg st="5" end="5"/>
                                            </p:txEl>
                                          </p:spTgt>
                                        </p:tgtEl>
                                        <p:attrNameLst>
                                          <p:attrName>style.visibility</p:attrName>
                                        </p:attrNameLst>
                                      </p:cBhvr>
                                      <p:to>
                                        <p:strVal val="visible"/>
                                      </p:to>
                                    </p:set>
                                    <p:animEffect transition="in" filter="fade">
                                      <p:cBhvr>
                                        <p:cTn id="42" dur="1000"/>
                                        <p:tgtEl>
                                          <p:spTgt spid="14">
                                            <p:txEl>
                                              <p:pRg st="5" end="5"/>
                                            </p:txEl>
                                          </p:spTgt>
                                        </p:tgtEl>
                                      </p:cBhvr>
                                    </p:animEffect>
                                    <p:anim calcmode="lin" valueType="num">
                                      <p:cBhvr>
                                        <p:cTn id="43"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Future Value of an Ordinary Annuity </a:t>
            </a:r>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1341120" y="1159099"/>
                <a:ext cx="9509760" cy="5254580"/>
              </a:xfrm>
            </p:spPr>
            <p:txBody>
              <a:bodyPr>
                <a:normAutofit fontScale="92500" lnSpcReduction="20000"/>
              </a:bodyPr>
              <a:lstStyle/>
              <a:p>
                <a:r>
                  <a:rPr lang="en-US" u="sng" dirty="0"/>
                  <a:t>2</a:t>
                </a:r>
                <a:r>
                  <a:rPr lang="en-US" u="sng" baseline="30000" dirty="0"/>
                  <a:t>nd</a:t>
                </a:r>
                <a:r>
                  <a:rPr lang="en-US" u="sng" dirty="0"/>
                  <a:t> Formula</a:t>
                </a:r>
              </a:p>
              <a:p>
                <a14:m>
                  <m:oMath xmlns:m="http://schemas.openxmlformats.org/officeDocument/2006/math">
                    <m:r>
                      <a:rPr lang="en-US" sz="2200" b="0" i="1" smtClean="0">
                        <a:latin typeface="Cambria Math" panose="02040503050406030204" pitchFamily="18" charset="0"/>
                      </a:rPr>
                      <m:t>𝐹𝑉</m:t>
                    </m:r>
                    <m:r>
                      <a:rPr lang="en-US" sz="2200" b="0" i="1" smtClean="0">
                        <a:latin typeface="Cambria Math" panose="02040503050406030204" pitchFamily="18" charset="0"/>
                      </a:rPr>
                      <m:t>=</m:t>
                    </m:r>
                    <m:r>
                      <a:rPr lang="en-US" sz="2200" b="0" i="1" smtClean="0">
                        <a:latin typeface="Cambria Math" panose="02040503050406030204" pitchFamily="18" charset="0"/>
                      </a:rPr>
                      <m:t>𝑃𝑀𝑇</m:t>
                    </m:r>
                    <m:r>
                      <a:rPr lang="en-US" sz="2200" b="0" i="1" smtClean="0">
                        <a:latin typeface="Cambria Math" panose="02040503050406030204" pitchFamily="18" charset="0"/>
                      </a:rPr>
                      <m:t>∗[</m:t>
                    </m:r>
                    <m:f>
                      <m:fPr>
                        <m:ctrlPr>
                          <a:rPr lang="en-US" sz="2200" b="0" i="1" smtClean="0">
                            <a:latin typeface="Cambria Math" panose="02040503050406030204" pitchFamily="18" charset="0"/>
                          </a:rPr>
                        </m:ctrlPr>
                      </m:fPr>
                      <m:num>
                        <m:sSup>
                          <m:sSupPr>
                            <m:ctrlPr>
                              <a:rPr lang="en-US" sz="2200" b="0" i="1" smtClean="0">
                                <a:latin typeface="Cambria Math" panose="02040503050406030204" pitchFamily="18" charset="0"/>
                              </a:rPr>
                            </m:ctrlPr>
                          </m:sSupPr>
                          <m:e>
                            <m:r>
                              <a:rPr lang="en-US" sz="2200" b="0" i="1" smtClean="0">
                                <a:latin typeface="Cambria Math" panose="02040503050406030204" pitchFamily="18" charset="0"/>
                              </a:rPr>
                              <m:t>(1+</m:t>
                            </m:r>
                            <m:r>
                              <a:rPr lang="en-US" sz="2200" b="0" i="1" smtClean="0">
                                <a:latin typeface="Cambria Math" panose="02040503050406030204" pitchFamily="18" charset="0"/>
                              </a:rPr>
                              <m:t>𝑖</m:t>
                            </m:r>
                            <m:r>
                              <a:rPr lang="en-US" sz="2200" b="0" i="1" smtClean="0">
                                <a:latin typeface="Cambria Math" panose="02040503050406030204" pitchFamily="18" charset="0"/>
                              </a:rPr>
                              <m:t>)</m:t>
                            </m:r>
                          </m:e>
                          <m:sup>
                            <m:r>
                              <a:rPr lang="en-US" sz="2200" b="0" i="1" smtClean="0">
                                <a:latin typeface="Cambria Math" panose="02040503050406030204" pitchFamily="18" charset="0"/>
                              </a:rPr>
                              <m:t>𝑛</m:t>
                            </m:r>
                          </m:sup>
                        </m:sSup>
                        <m:r>
                          <a:rPr lang="en-US" sz="2200" b="0" i="1" smtClean="0">
                            <a:latin typeface="Cambria Math" panose="02040503050406030204" pitchFamily="18" charset="0"/>
                          </a:rPr>
                          <m:t>−1</m:t>
                        </m:r>
                      </m:num>
                      <m:den>
                        <m:r>
                          <a:rPr lang="en-US" sz="2200" b="0" i="1" smtClean="0">
                            <a:latin typeface="Cambria Math" panose="02040503050406030204" pitchFamily="18" charset="0"/>
                          </a:rPr>
                          <m:t>𝑖</m:t>
                        </m:r>
                      </m:den>
                    </m:f>
                    <m:r>
                      <a:rPr lang="en-US" sz="2200" b="0" i="1" smtClean="0">
                        <a:latin typeface="Cambria Math" panose="02040503050406030204" pitchFamily="18" charset="0"/>
                      </a:rPr>
                      <m:t>]</m:t>
                    </m:r>
                  </m:oMath>
                </a14:m>
                <a:endParaRPr lang="en-US" sz="2200" dirty="0"/>
              </a:p>
              <a:p>
                <a14:m>
                  <m:oMath xmlns:m="http://schemas.openxmlformats.org/officeDocument/2006/math">
                    <m:r>
                      <a:rPr lang="en-US" sz="2200" b="0" i="1" smtClean="0">
                        <a:latin typeface="Cambria Math" panose="02040503050406030204" pitchFamily="18" charset="0"/>
                      </a:rPr>
                      <m:t>𝑖</m:t>
                    </m:r>
                    <m:r>
                      <a:rPr lang="en-US" sz="2200" b="0" i="1" smtClean="0">
                        <a:latin typeface="Cambria Math" panose="02040503050406030204" pitchFamily="18" charset="0"/>
                      </a:rPr>
                      <m:t>=</m:t>
                    </m:r>
                    <m:f>
                      <m:fPr>
                        <m:ctrlPr>
                          <a:rPr lang="en-US" sz="2200" b="0" i="1" smtClean="0">
                            <a:latin typeface="Cambria Math" panose="02040503050406030204" pitchFamily="18" charset="0"/>
                          </a:rPr>
                        </m:ctrlPr>
                      </m:fPr>
                      <m:num>
                        <m:r>
                          <a:rPr lang="en-US" sz="2200" b="0" i="1" smtClean="0">
                            <a:latin typeface="Cambria Math" panose="02040503050406030204" pitchFamily="18" charset="0"/>
                          </a:rPr>
                          <m:t>𝑟</m:t>
                        </m:r>
                      </m:num>
                      <m:den>
                        <m:r>
                          <a:rPr lang="en-US" sz="2200" b="0" i="1" smtClean="0">
                            <a:latin typeface="Cambria Math" panose="02040503050406030204" pitchFamily="18" charset="0"/>
                          </a:rPr>
                          <m:t>𝑚</m:t>
                        </m:r>
                      </m:den>
                    </m:f>
                  </m:oMath>
                </a14:m>
                <a:endParaRPr lang="en-US" sz="2200" b="0" dirty="0"/>
              </a:p>
              <a:p>
                <a14:m>
                  <m:oMath xmlns:m="http://schemas.openxmlformats.org/officeDocument/2006/math">
                    <m:r>
                      <a:rPr lang="en-US" sz="2200" b="0" i="1" smtClean="0">
                        <a:latin typeface="Cambria Math" panose="02040503050406030204" pitchFamily="18" charset="0"/>
                      </a:rPr>
                      <m:t>𝑛</m:t>
                    </m:r>
                    <m:r>
                      <a:rPr lang="en-US" sz="2200" b="0" i="1" smtClean="0">
                        <a:latin typeface="Cambria Math" panose="02040503050406030204" pitchFamily="18" charset="0"/>
                      </a:rPr>
                      <m:t>=</m:t>
                    </m:r>
                    <m:r>
                      <a:rPr lang="en-US" sz="2200" b="0" i="1" smtClean="0">
                        <a:latin typeface="Cambria Math" panose="02040503050406030204" pitchFamily="18" charset="0"/>
                      </a:rPr>
                      <m:t>𝑚𝑡</m:t>
                    </m:r>
                  </m:oMath>
                </a14:m>
                <a:r>
                  <a:rPr lang="en-US" sz="2200" dirty="0"/>
                  <a:t>		where</a:t>
                </a:r>
              </a:p>
              <a:p>
                <a:r>
                  <a:rPr lang="en-US" dirty="0"/>
                  <a:t>FV = future value or amount ($)</a:t>
                </a:r>
              </a:p>
              <a:p>
                <a:r>
                  <a:rPr lang="en-US" dirty="0"/>
                  <a:t>PMT = periodic payment ($)</a:t>
                </a:r>
              </a:p>
              <a:p>
                <a:r>
                  <a:rPr lang="en-US" dirty="0"/>
                  <a:t>r = annual interest rate (%)</a:t>
                </a:r>
              </a:p>
              <a:p>
                <a:r>
                  <a:rPr lang="en-US" dirty="0"/>
                  <a:t>m = number of compounding periods per year</a:t>
                </a:r>
              </a:p>
              <a:p>
                <a:r>
                  <a:rPr lang="en-US" dirty="0"/>
                  <a:t>t = time (years)</a:t>
                </a:r>
              </a:p>
              <a:p>
                <a:r>
                  <a:rPr lang="en-US" dirty="0" err="1"/>
                  <a:t>i</a:t>
                </a:r>
                <a:r>
                  <a:rPr lang="en-US" dirty="0"/>
                  <a:t> = interest rate per period</a:t>
                </a:r>
              </a:p>
              <a:p>
                <a:r>
                  <a:rPr lang="en-US" dirty="0"/>
                  <a:t>n = number of payments (periods)</a:t>
                </a:r>
              </a:p>
              <a:p>
                <a:endParaRPr lang="en-US" dirty="0"/>
              </a:p>
              <a:p>
                <a:pPr lvl="1"/>
                <a:endParaRPr lang="en-US" dirty="0"/>
              </a:p>
              <a:p>
                <a:pPr lvl="1"/>
                <a:endParaRPr lang="en-US" dirty="0"/>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1341120" y="1159099"/>
                <a:ext cx="9509760" cy="5254580"/>
              </a:xfrm>
              <a:blipFill rotWithShape="0">
                <a:blip r:embed="rId2"/>
                <a:stretch>
                  <a:fillRect l="-64" t="-1972"/>
                </a:stretch>
              </a:blipFill>
            </p:spPr>
            <p:txBody>
              <a:bodyPr/>
              <a:lstStyle/>
              <a:p>
                <a:r>
                  <a:rPr lang="en-US">
                    <a:noFill/>
                  </a:rPr>
                  <a:t> </a:t>
                </a:r>
              </a:p>
            </p:txBody>
          </p:sp>
        </mc:Fallback>
      </mc:AlternateContent>
    </p:spTree>
    <p:extLst>
      <p:ext uri="{BB962C8B-B14F-4D97-AF65-F5344CB8AC3E}">
        <p14:creationId xmlns:p14="http://schemas.microsoft.com/office/powerpoint/2010/main" val="3003334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Question 1							1</a:t>
            </a:r>
          </a:p>
        </p:txBody>
      </p:sp>
      <p:sp>
        <p:nvSpPr>
          <p:cNvPr id="14" name="Content Placeholder 13"/>
          <p:cNvSpPr>
            <a:spLocks noGrp="1"/>
          </p:cNvSpPr>
          <p:nvPr>
            <p:ph idx="1"/>
          </p:nvPr>
        </p:nvSpPr>
        <p:spPr>
          <a:xfrm>
            <a:off x="1341120" y="1339404"/>
            <a:ext cx="9509760" cy="4690176"/>
          </a:xfrm>
        </p:spPr>
        <p:txBody>
          <a:bodyPr>
            <a:normAutofit fontScale="92500" lnSpcReduction="10000"/>
          </a:bodyPr>
          <a:lstStyle/>
          <a:p>
            <a:r>
              <a:rPr lang="en-US" dirty="0"/>
              <a:t>Use the stock table below to answer the following questions. </a:t>
            </a:r>
          </a:p>
          <a:p>
            <a:endParaRPr lang="en-US" dirty="0"/>
          </a:p>
          <a:p>
            <a:endParaRPr lang="en-US" dirty="0"/>
          </a:p>
          <a:p>
            <a:endParaRPr lang="en-US" dirty="0"/>
          </a:p>
          <a:p>
            <a:endParaRPr lang="en-US" dirty="0"/>
          </a:p>
          <a:p>
            <a:r>
              <a:rPr lang="en-US" dirty="0"/>
              <a:t>(a.) What were the high and low prices for the past 52 weeks? </a:t>
            </a:r>
          </a:p>
          <a:p>
            <a:r>
              <a:rPr lang="en-US" b="1" dirty="0">
                <a:solidFill>
                  <a:srgbClr val="00B050"/>
                </a:solidFill>
              </a:rPr>
              <a:t>The high price for a share of Coca-Cola stock during the past 52 weeks was $45.00</a:t>
            </a:r>
          </a:p>
          <a:p>
            <a:r>
              <a:rPr lang="en-US" b="1" dirty="0">
                <a:solidFill>
                  <a:srgbClr val="00B050"/>
                </a:solidFill>
              </a:rPr>
              <a:t>The low price for a share of the company’s stock during the past 52 weeks was $36.89</a:t>
            </a:r>
          </a:p>
          <a:p>
            <a:r>
              <a:rPr lang="en-US" dirty="0"/>
              <a:t>(b.) If you owned 700 shares of Coca-Cola stock last year, what dividend did you receive?</a:t>
            </a:r>
          </a:p>
          <a:p>
            <a:r>
              <a:rPr lang="en-US" b="1" dirty="0">
                <a:solidFill>
                  <a:srgbClr val="00B050"/>
                </a:solidFill>
              </a:rPr>
              <a:t>The dividend received = $1.22 * 700 = $854.00</a:t>
            </a:r>
          </a:p>
        </p:txBody>
      </p:sp>
      <p:graphicFrame>
        <p:nvGraphicFramePr>
          <p:cNvPr id="4" name="Table 3"/>
          <p:cNvGraphicFramePr>
            <a:graphicFrameLocks noGrp="1"/>
          </p:cNvGraphicFramePr>
          <p:nvPr>
            <p:extLst>
              <p:ext uri="{D42A27DB-BD31-4B8C-83A1-F6EECF244321}">
                <p14:modId xmlns:p14="http://schemas.microsoft.com/office/powerpoint/2010/main" val="1339024588"/>
              </p:ext>
            </p:extLst>
          </p:nvPr>
        </p:nvGraphicFramePr>
        <p:xfrm>
          <a:off x="834265" y="1930280"/>
          <a:ext cx="10473384" cy="1554480"/>
        </p:xfrm>
        <a:graphic>
          <a:graphicData uri="http://schemas.openxmlformats.org/drawingml/2006/table">
            <a:tbl>
              <a:tblPr firstRow="1" bandRow="1">
                <a:tableStyleId>{B301B821-A1FF-4177-AEE7-76D212191A09}</a:tableStyleId>
              </a:tblPr>
              <a:tblGrid>
                <a:gridCol w="872782">
                  <a:extLst>
                    <a:ext uri="{9D8B030D-6E8A-4147-A177-3AD203B41FA5}">
                      <a16:colId xmlns:a16="http://schemas.microsoft.com/office/drawing/2014/main" val="20000"/>
                    </a:ext>
                  </a:extLst>
                </a:gridCol>
                <a:gridCol w="872782">
                  <a:extLst>
                    <a:ext uri="{9D8B030D-6E8A-4147-A177-3AD203B41FA5}">
                      <a16:colId xmlns:a16="http://schemas.microsoft.com/office/drawing/2014/main" val="20001"/>
                    </a:ext>
                  </a:extLst>
                </a:gridCol>
                <a:gridCol w="872782">
                  <a:extLst>
                    <a:ext uri="{9D8B030D-6E8A-4147-A177-3AD203B41FA5}">
                      <a16:colId xmlns:a16="http://schemas.microsoft.com/office/drawing/2014/main" val="20002"/>
                    </a:ext>
                  </a:extLst>
                </a:gridCol>
                <a:gridCol w="872782">
                  <a:extLst>
                    <a:ext uri="{9D8B030D-6E8A-4147-A177-3AD203B41FA5}">
                      <a16:colId xmlns:a16="http://schemas.microsoft.com/office/drawing/2014/main" val="20003"/>
                    </a:ext>
                  </a:extLst>
                </a:gridCol>
                <a:gridCol w="872782">
                  <a:extLst>
                    <a:ext uri="{9D8B030D-6E8A-4147-A177-3AD203B41FA5}">
                      <a16:colId xmlns:a16="http://schemas.microsoft.com/office/drawing/2014/main" val="20004"/>
                    </a:ext>
                  </a:extLst>
                </a:gridCol>
                <a:gridCol w="872782">
                  <a:extLst>
                    <a:ext uri="{9D8B030D-6E8A-4147-A177-3AD203B41FA5}">
                      <a16:colId xmlns:a16="http://schemas.microsoft.com/office/drawing/2014/main" val="20005"/>
                    </a:ext>
                  </a:extLst>
                </a:gridCol>
                <a:gridCol w="872782">
                  <a:extLst>
                    <a:ext uri="{9D8B030D-6E8A-4147-A177-3AD203B41FA5}">
                      <a16:colId xmlns:a16="http://schemas.microsoft.com/office/drawing/2014/main" val="20006"/>
                    </a:ext>
                  </a:extLst>
                </a:gridCol>
                <a:gridCol w="872782">
                  <a:extLst>
                    <a:ext uri="{9D8B030D-6E8A-4147-A177-3AD203B41FA5}">
                      <a16:colId xmlns:a16="http://schemas.microsoft.com/office/drawing/2014/main" val="20007"/>
                    </a:ext>
                  </a:extLst>
                </a:gridCol>
                <a:gridCol w="872782">
                  <a:extLst>
                    <a:ext uri="{9D8B030D-6E8A-4147-A177-3AD203B41FA5}">
                      <a16:colId xmlns:a16="http://schemas.microsoft.com/office/drawing/2014/main" val="20008"/>
                    </a:ext>
                  </a:extLst>
                </a:gridCol>
                <a:gridCol w="872782">
                  <a:extLst>
                    <a:ext uri="{9D8B030D-6E8A-4147-A177-3AD203B41FA5}">
                      <a16:colId xmlns:a16="http://schemas.microsoft.com/office/drawing/2014/main" val="20009"/>
                    </a:ext>
                  </a:extLst>
                </a:gridCol>
                <a:gridCol w="872782">
                  <a:extLst>
                    <a:ext uri="{9D8B030D-6E8A-4147-A177-3AD203B41FA5}">
                      <a16:colId xmlns:a16="http://schemas.microsoft.com/office/drawing/2014/main" val="20010"/>
                    </a:ext>
                  </a:extLst>
                </a:gridCol>
                <a:gridCol w="872782">
                  <a:extLst>
                    <a:ext uri="{9D8B030D-6E8A-4147-A177-3AD203B41FA5}">
                      <a16:colId xmlns:a16="http://schemas.microsoft.com/office/drawing/2014/main" val="20011"/>
                    </a:ext>
                  </a:extLst>
                </a:gridCol>
              </a:tblGrid>
              <a:tr h="370840">
                <a:tc>
                  <a:txBody>
                    <a:bodyPr/>
                    <a:lstStyle/>
                    <a:p>
                      <a:pPr algn="ctr"/>
                      <a:r>
                        <a:rPr lang="en-US" dirty="0"/>
                        <a:t>52-Week High</a:t>
                      </a:r>
                    </a:p>
                  </a:txBody>
                  <a:tcPr/>
                </a:tc>
                <a:tc>
                  <a:txBody>
                    <a:bodyPr/>
                    <a:lstStyle/>
                    <a:p>
                      <a:pPr algn="ctr"/>
                      <a:r>
                        <a:rPr lang="en-US" dirty="0"/>
                        <a:t>52-Week Low</a:t>
                      </a:r>
                    </a:p>
                  </a:txBody>
                  <a:tcPr/>
                </a:tc>
                <a:tc>
                  <a:txBody>
                    <a:bodyPr/>
                    <a:lstStyle/>
                    <a:p>
                      <a:pPr algn="ctr"/>
                      <a:r>
                        <a:rPr lang="en-US" dirty="0"/>
                        <a:t>Stock</a:t>
                      </a:r>
                    </a:p>
                  </a:txBody>
                  <a:tcPr/>
                </a:tc>
                <a:tc>
                  <a:txBody>
                    <a:bodyPr/>
                    <a:lstStyle/>
                    <a:p>
                      <a:pPr algn="ctr"/>
                      <a:r>
                        <a:rPr lang="en-US" dirty="0"/>
                        <a:t>SYM</a:t>
                      </a:r>
                    </a:p>
                  </a:txBody>
                  <a:tcPr/>
                </a:tc>
                <a:tc>
                  <a:txBody>
                    <a:bodyPr/>
                    <a:lstStyle/>
                    <a:p>
                      <a:pPr algn="ctr"/>
                      <a:r>
                        <a:rPr lang="en-US" dirty="0" err="1"/>
                        <a:t>Div</a:t>
                      </a:r>
                      <a:endParaRPr lang="en-US" dirty="0"/>
                    </a:p>
                  </a:txBody>
                  <a:tcPr/>
                </a:tc>
                <a:tc>
                  <a:txBody>
                    <a:bodyPr/>
                    <a:lstStyle/>
                    <a:p>
                      <a:pPr algn="ctr"/>
                      <a:r>
                        <a:rPr lang="en-US" dirty="0" err="1"/>
                        <a:t>Yld</a:t>
                      </a:r>
                      <a:r>
                        <a:rPr lang="en-US" dirty="0"/>
                        <a:t> %</a:t>
                      </a:r>
                    </a:p>
                  </a:txBody>
                  <a:tcPr/>
                </a:tc>
                <a:tc>
                  <a:txBody>
                    <a:bodyPr/>
                    <a:lstStyle/>
                    <a:p>
                      <a:pPr algn="ctr"/>
                      <a:r>
                        <a:rPr lang="en-US" dirty="0"/>
                        <a:t>P/E</a:t>
                      </a:r>
                    </a:p>
                  </a:txBody>
                  <a:tcPr/>
                </a:tc>
                <a:tc>
                  <a:txBody>
                    <a:bodyPr/>
                    <a:lstStyle/>
                    <a:p>
                      <a:pPr algn="ctr"/>
                      <a:r>
                        <a:rPr lang="en-US" dirty="0"/>
                        <a:t>Sales </a:t>
                      </a:r>
                      <a:r>
                        <a:rPr lang="en-US" dirty="0" err="1"/>
                        <a:t>Vol</a:t>
                      </a:r>
                      <a:r>
                        <a:rPr lang="en-US" dirty="0"/>
                        <a:t> 100s</a:t>
                      </a:r>
                    </a:p>
                  </a:txBody>
                  <a:tcPr/>
                </a:tc>
                <a:tc>
                  <a:txBody>
                    <a:bodyPr/>
                    <a:lstStyle/>
                    <a:p>
                      <a:pPr algn="ctr"/>
                      <a:r>
                        <a:rPr lang="en-US" dirty="0"/>
                        <a:t>High</a:t>
                      </a:r>
                    </a:p>
                  </a:txBody>
                  <a:tcPr/>
                </a:tc>
                <a:tc>
                  <a:txBody>
                    <a:bodyPr/>
                    <a:lstStyle/>
                    <a:p>
                      <a:pPr algn="ctr"/>
                      <a:r>
                        <a:rPr lang="en-US" dirty="0"/>
                        <a:t>Low</a:t>
                      </a:r>
                    </a:p>
                  </a:txBody>
                  <a:tcPr/>
                </a:tc>
                <a:tc>
                  <a:txBody>
                    <a:bodyPr/>
                    <a:lstStyle/>
                    <a:p>
                      <a:pPr algn="ctr"/>
                      <a:r>
                        <a:rPr lang="en-US" dirty="0"/>
                        <a:t>Close</a:t>
                      </a:r>
                    </a:p>
                  </a:txBody>
                  <a:tcPr/>
                </a:tc>
                <a:tc>
                  <a:txBody>
                    <a:bodyPr/>
                    <a:lstStyle/>
                    <a:p>
                      <a:pPr algn="ctr"/>
                      <a:r>
                        <a:rPr lang="en-US" dirty="0"/>
                        <a:t>Net </a:t>
                      </a:r>
                      <a:r>
                        <a:rPr lang="en-US" dirty="0" err="1"/>
                        <a:t>Chg</a:t>
                      </a:r>
                      <a:endParaRPr lang="en-US" dirty="0"/>
                    </a:p>
                  </a:txBody>
                  <a:tcPr/>
                </a:tc>
                <a:extLst>
                  <a:ext uri="{0D108BD9-81ED-4DB2-BD59-A6C34878D82A}">
                    <a16:rowId xmlns:a16="http://schemas.microsoft.com/office/drawing/2014/main" val="10000"/>
                  </a:ext>
                </a:extLst>
              </a:tr>
              <a:tr h="370840">
                <a:tc>
                  <a:txBody>
                    <a:bodyPr/>
                    <a:lstStyle/>
                    <a:p>
                      <a:pPr algn="ctr"/>
                      <a:r>
                        <a:rPr lang="en-US" dirty="0"/>
                        <a:t>45.00</a:t>
                      </a:r>
                    </a:p>
                  </a:txBody>
                  <a:tcPr/>
                </a:tc>
                <a:tc>
                  <a:txBody>
                    <a:bodyPr/>
                    <a:lstStyle/>
                    <a:p>
                      <a:pPr algn="ctr"/>
                      <a:r>
                        <a:rPr lang="en-US" dirty="0"/>
                        <a:t>36.89</a:t>
                      </a:r>
                    </a:p>
                  </a:txBody>
                  <a:tcPr/>
                </a:tc>
                <a:tc>
                  <a:txBody>
                    <a:bodyPr/>
                    <a:lstStyle/>
                    <a:p>
                      <a:pPr algn="ctr"/>
                      <a:r>
                        <a:rPr lang="en-US" dirty="0"/>
                        <a:t>Coca-Cola</a:t>
                      </a:r>
                    </a:p>
                  </a:txBody>
                  <a:tcPr/>
                </a:tc>
                <a:tc>
                  <a:txBody>
                    <a:bodyPr/>
                    <a:lstStyle/>
                    <a:p>
                      <a:pPr algn="ctr"/>
                      <a:r>
                        <a:rPr lang="en-US" dirty="0"/>
                        <a:t>KO</a:t>
                      </a:r>
                    </a:p>
                  </a:txBody>
                  <a:tcPr/>
                </a:tc>
                <a:tc>
                  <a:txBody>
                    <a:bodyPr/>
                    <a:lstStyle/>
                    <a:p>
                      <a:pPr algn="ctr"/>
                      <a:r>
                        <a:rPr lang="en-US" dirty="0"/>
                        <a:t>1.22</a:t>
                      </a:r>
                    </a:p>
                  </a:txBody>
                  <a:tcPr/>
                </a:tc>
                <a:tc>
                  <a:txBody>
                    <a:bodyPr/>
                    <a:lstStyle/>
                    <a:p>
                      <a:pPr algn="ctr"/>
                      <a:r>
                        <a:rPr lang="en-US" dirty="0"/>
                        <a:t>3.0</a:t>
                      </a:r>
                    </a:p>
                  </a:txBody>
                  <a:tcPr/>
                </a:tc>
                <a:tc>
                  <a:txBody>
                    <a:bodyPr/>
                    <a:lstStyle/>
                    <a:p>
                      <a:pPr algn="ctr"/>
                      <a:r>
                        <a:rPr lang="en-US" dirty="0"/>
                        <a:t>23</a:t>
                      </a:r>
                    </a:p>
                  </a:txBody>
                  <a:tcPr/>
                </a:tc>
                <a:tc>
                  <a:txBody>
                    <a:bodyPr/>
                    <a:lstStyle/>
                    <a:p>
                      <a:pPr algn="ctr"/>
                      <a:r>
                        <a:rPr lang="en-US" dirty="0"/>
                        <a:t>191938</a:t>
                      </a:r>
                    </a:p>
                  </a:txBody>
                  <a:tcPr/>
                </a:tc>
                <a:tc>
                  <a:txBody>
                    <a:bodyPr/>
                    <a:lstStyle/>
                    <a:p>
                      <a:pPr algn="ctr"/>
                      <a:r>
                        <a:rPr lang="en-US" dirty="0"/>
                        <a:t>41.93</a:t>
                      </a:r>
                    </a:p>
                  </a:txBody>
                  <a:tcPr/>
                </a:tc>
                <a:tc>
                  <a:txBody>
                    <a:bodyPr/>
                    <a:lstStyle/>
                    <a:p>
                      <a:pPr algn="ctr"/>
                      <a:r>
                        <a:rPr lang="en-US" dirty="0"/>
                        <a:t>41.11</a:t>
                      </a:r>
                    </a:p>
                  </a:txBody>
                  <a:tcPr/>
                </a:tc>
                <a:tc>
                  <a:txBody>
                    <a:bodyPr/>
                    <a:lstStyle/>
                    <a:p>
                      <a:pPr algn="ctr"/>
                      <a:r>
                        <a:rPr lang="en-US" dirty="0"/>
                        <a:t>41.17</a:t>
                      </a:r>
                    </a:p>
                  </a:txBody>
                  <a:tcPr/>
                </a:tc>
                <a:tc>
                  <a:txBody>
                    <a:bodyPr/>
                    <a:lstStyle/>
                    <a:p>
                      <a:pPr algn="ctr"/>
                      <a:r>
                        <a:rPr lang="en-US" dirty="0"/>
                        <a:t>…</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589155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6" end="6"/>
                                            </p:txEl>
                                          </p:spTgt>
                                        </p:tgtEl>
                                        <p:attrNameLst>
                                          <p:attrName>style.visibility</p:attrName>
                                        </p:attrNameLst>
                                      </p:cBhvr>
                                      <p:to>
                                        <p:strVal val="visible"/>
                                      </p:to>
                                    </p:set>
                                    <p:animEffect transition="in" filter="fade">
                                      <p:cBhvr>
                                        <p:cTn id="7" dur="1000"/>
                                        <p:tgtEl>
                                          <p:spTgt spid="14">
                                            <p:txEl>
                                              <p:pRg st="6" end="6"/>
                                            </p:txEl>
                                          </p:spTgt>
                                        </p:tgtEl>
                                      </p:cBhvr>
                                    </p:animEffect>
                                    <p:anim calcmode="lin" valueType="num">
                                      <p:cBhvr>
                                        <p:cTn id="8" dur="1000" fill="hold"/>
                                        <p:tgtEl>
                                          <p:spTgt spid="14">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7" end="7"/>
                                            </p:txEl>
                                          </p:spTgt>
                                        </p:tgtEl>
                                        <p:attrNameLst>
                                          <p:attrName>style.visibility</p:attrName>
                                        </p:attrNameLst>
                                      </p:cBhvr>
                                      <p:to>
                                        <p:strVal val="visible"/>
                                      </p:to>
                                    </p:set>
                                    <p:animEffect transition="in" filter="fade">
                                      <p:cBhvr>
                                        <p:cTn id="14" dur="1000"/>
                                        <p:tgtEl>
                                          <p:spTgt spid="14">
                                            <p:txEl>
                                              <p:pRg st="7" end="7"/>
                                            </p:txEl>
                                          </p:spTgt>
                                        </p:tgtEl>
                                      </p:cBhvr>
                                    </p:animEffect>
                                    <p:anim calcmode="lin" valueType="num">
                                      <p:cBhvr>
                                        <p:cTn id="15" dur="1000" fill="hold"/>
                                        <p:tgtEl>
                                          <p:spTgt spid="14">
                                            <p:txEl>
                                              <p:pRg st="7" end="7"/>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9" end="9"/>
                                            </p:txEl>
                                          </p:spTgt>
                                        </p:tgtEl>
                                        <p:attrNameLst>
                                          <p:attrName>style.visibility</p:attrName>
                                        </p:attrNameLst>
                                      </p:cBhvr>
                                      <p:to>
                                        <p:strVal val="visible"/>
                                      </p:to>
                                    </p:set>
                                    <p:animEffect transition="in" filter="fade">
                                      <p:cBhvr>
                                        <p:cTn id="21" dur="1000"/>
                                        <p:tgtEl>
                                          <p:spTgt spid="14">
                                            <p:txEl>
                                              <p:pRg st="9" end="9"/>
                                            </p:txEl>
                                          </p:spTgt>
                                        </p:tgtEl>
                                      </p:cBhvr>
                                    </p:animEffect>
                                    <p:anim calcmode="lin" valueType="num">
                                      <p:cBhvr>
                                        <p:cTn id="22" dur="1000" fill="hold"/>
                                        <p:tgtEl>
                                          <p:spTgt spid="14">
                                            <p:txEl>
                                              <p:pRg st="9" end="9"/>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Question 1							2</a:t>
            </a:r>
          </a:p>
        </p:txBody>
      </p:sp>
      <p:sp>
        <p:nvSpPr>
          <p:cNvPr id="14" name="Content Placeholder 13"/>
          <p:cNvSpPr>
            <a:spLocks noGrp="1"/>
          </p:cNvSpPr>
          <p:nvPr>
            <p:ph idx="1"/>
          </p:nvPr>
        </p:nvSpPr>
        <p:spPr>
          <a:xfrm>
            <a:off x="1341120" y="1339404"/>
            <a:ext cx="9509760" cy="4690176"/>
          </a:xfrm>
        </p:spPr>
        <p:txBody>
          <a:bodyPr>
            <a:normAutofit lnSpcReduction="10000"/>
          </a:bodyPr>
          <a:lstStyle/>
          <a:p>
            <a:r>
              <a:rPr lang="en-US" dirty="0"/>
              <a:t>(c.) What is the annual return for dividends alone? </a:t>
            </a:r>
          </a:p>
          <a:p>
            <a:r>
              <a:rPr lang="en-US" b="1" dirty="0">
                <a:solidFill>
                  <a:srgbClr val="00B050"/>
                </a:solidFill>
              </a:rPr>
              <a:t>The annual return for dividends alone was 3.0%</a:t>
            </a:r>
            <a:endParaRPr lang="en-US" dirty="0"/>
          </a:p>
          <a:p>
            <a:r>
              <a:rPr lang="en-US" dirty="0"/>
              <a:t>(d.) How many shares of Coca-Cola stock were traded yesterday?</a:t>
            </a:r>
          </a:p>
          <a:p>
            <a:r>
              <a:rPr lang="en-US" b="1" dirty="0">
                <a:solidFill>
                  <a:srgbClr val="00B050"/>
                </a:solidFill>
              </a:rPr>
              <a:t>191938 * 100 = 19193800 shares of Coca-Cola stock were traded yesterday.</a:t>
            </a:r>
          </a:p>
          <a:p>
            <a:r>
              <a:rPr lang="en-US" dirty="0"/>
              <a:t>(e.) What were the high and low prices for Coca-Cola shares yesterday?</a:t>
            </a:r>
          </a:p>
          <a:p>
            <a:r>
              <a:rPr lang="en-US" b="1" dirty="0">
                <a:solidFill>
                  <a:srgbClr val="00B050"/>
                </a:solidFill>
              </a:rPr>
              <a:t>The high price for a share of Coca-Cola stock yesterday was $41.93</a:t>
            </a:r>
          </a:p>
          <a:p>
            <a:r>
              <a:rPr lang="en-US" b="1" dirty="0">
                <a:solidFill>
                  <a:srgbClr val="00B050"/>
                </a:solidFill>
              </a:rPr>
              <a:t>The low price for a share of the company’s stock yesterday was $41.11</a:t>
            </a:r>
          </a:p>
          <a:p>
            <a:r>
              <a:rPr lang="en-US" dirty="0"/>
              <a:t>(f.) What was the price at which Coca-Cola shares last traded when the stock exchange closed yesterday?</a:t>
            </a:r>
          </a:p>
          <a:p>
            <a:r>
              <a:rPr lang="en-US" b="1" dirty="0">
                <a:solidFill>
                  <a:srgbClr val="00B050"/>
                </a:solidFill>
              </a:rPr>
              <a:t>When the stock exchange closed yesterday, the price of a share of Coca-Cola stock was $41.17 </a:t>
            </a:r>
          </a:p>
        </p:txBody>
      </p:sp>
    </p:spTree>
    <p:extLst>
      <p:ext uri="{BB962C8B-B14F-4D97-AF65-F5344CB8AC3E}">
        <p14:creationId xmlns:p14="http://schemas.microsoft.com/office/powerpoint/2010/main" val="882495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animEffect transition="in" filter="fade">
                                      <p:cBhvr>
                                        <p:cTn id="7" dur="1000"/>
                                        <p:tgtEl>
                                          <p:spTgt spid="14">
                                            <p:txEl>
                                              <p:pRg st="1" end="1"/>
                                            </p:txEl>
                                          </p:spTgt>
                                        </p:tgtEl>
                                      </p:cBhvr>
                                    </p:animEffect>
                                    <p:anim calcmode="lin" valueType="num">
                                      <p:cBhvr>
                                        <p:cTn id="8"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3" end="3"/>
                                            </p:txEl>
                                          </p:spTgt>
                                        </p:tgtEl>
                                        <p:attrNameLst>
                                          <p:attrName>style.visibility</p:attrName>
                                        </p:attrNameLst>
                                      </p:cBhvr>
                                      <p:to>
                                        <p:strVal val="visible"/>
                                      </p:to>
                                    </p:set>
                                    <p:animEffect transition="in" filter="fade">
                                      <p:cBhvr>
                                        <p:cTn id="14" dur="1000"/>
                                        <p:tgtEl>
                                          <p:spTgt spid="14">
                                            <p:txEl>
                                              <p:pRg st="3" end="3"/>
                                            </p:txEl>
                                          </p:spTgt>
                                        </p:tgtEl>
                                      </p:cBhvr>
                                    </p:animEffect>
                                    <p:anim calcmode="lin" valueType="num">
                                      <p:cBhvr>
                                        <p:cTn id="15"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5" end="5"/>
                                            </p:txEl>
                                          </p:spTgt>
                                        </p:tgtEl>
                                        <p:attrNameLst>
                                          <p:attrName>style.visibility</p:attrName>
                                        </p:attrNameLst>
                                      </p:cBhvr>
                                      <p:to>
                                        <p:strVal val="visible"/>
                                      </p:to>
                                    </p:set>
                                    <p:animEffect transition="in" filter="fade">
                                      <p:cBhvr>
                                        <p:cTn id="21" dur="1000"/>
                                        <p:tgtEl>
                                          <p:spTgt spid="14">
                                            <p:txEl>
                                              <p:pRg st="5" end="5"/>
                                            </p:txEl>
                                          </p:spTgt>
                                        </p:tgtEl>
                                      </p:cBhvr>
                                    </p:animEffect>
                                    <p:anim calcmode="lin" valueType="num">
                                      <p:cBhvr>
                                        <p:cTn id="22"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6" end="6"/>
                                            </p:txEl>
                                          </p:spTgt>
                                        </p:tgtEl>
                                        <p:attrNameLst>
                                          <p:attrName>style.visibility</p:attrName>
                                        </p:attrNameLst>
                                      </p:cBhvr>
                                      <p:to>
                                        <p:strVal val="visible"/>
                                      </p:to>
                                    </p:set>
                                    <p:animEffect transition="in" filter="fade">
                                      <p:cBhvr>
                                        <p:cTn id="28" dur="1000"/>
                                        <p:tgtEl>
                                          <p:spTgt spid="14">
                                            <p:txEl>
                                              <p:pRg st="6" end="6"/>
                                            </p:txEl>
                                          </p:spTgt>
                                        </p:tgtEl>
                                      </p:cBhvr>
                                    </p:animEffect>
                                    <p:anim calcmode="lin" valueType="num">
                                      <p:cBhvr>
                                        <p:cTn id="29" dur="1000" fill="hold"/>
                                        <p:tgtEl>
                                          <p:spTgt spid="14">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4">
                                            <p:txEl>
                                              <p:pRg st="8" end="8"/>
                                            </p:txEl>
                                          </p:spTgt>
                                        </p:tgtEl>
                                        <p:attrNameLst>
                                          <p:attrName>style.visibility</p:attrName>
                                        </p:attrNameLst>
                                      </p:cBhvr>
                                      <p:to>
                                        <p:strVal val="visible"/>
                                      </p:to>
                                    </p:set>
                                    <p:animEffect transition="in" filter="fade">
                                      <p:cBhvr>
                                        <p:cTn id="35" dur="1000"/>
                                        <p:tgtEl>
                                          <p:spTgt spid="14">
                                            <p:txEl>
                                              <p:pRg st="8" end="8"/>
                                            </p:txEl>
                                          </p:spTgt>
                                        </p:tgtEl>
                                      </p:cBhvr>
                                    </p:animEffect>
                                    <p:anim calcmode="lin" valueType="num">
                                      <p:cBhvr>
                                        <p:cTn id="36" dur="1000" fill="hold"/>
                                        <p:tgtEl>
                                          <p:spTgt spid="14">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14">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Question 1							3</a:t>
            </a:r>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1341120" y="1339404"/>
                <a:ext cx="9509760" cy="4690176"/>
              </a:xfrm>
            </p:spPr>
            <p:txBody>
              <a:bodyPr/>
              <a:lstStyle/>
              <a:p>
                <a:r>
                  <a:rPr lang="en-US" dirty="0"/>
                  <a:t>(g.) What does the value or symbol in the net change column mean?</a:t>
                </a:r>
              </a:p>
              <a:p>
                <a:r>
                  <a:rPr lang="en-US" b="1" dirty="0">
                    <a:solidFill>
                      <a:srgbClr val="00B050"/>
                    </a:solidFill>
                  </a:rPr>
                  <a:t>The … under “Net </a:t>
                </a:r>
                <a:r>
                  <a:rPr lang="en-US" b="1" dirty="0" err="1">
                    <a:solidFill>
                      <a:srgbClr val="00B050"/>
                    </a:solidFill>
                  </a:rPr>
                  <a:t>Chg</a:t>
                </a:r>
                <a:r>
                  <a:rPr lang="en-US" b="1" dirty="0">
                    <a:solidFill>
                      <a:srgbClr val="00B050"/>
                    </a:solidFill>
                  </a:rPr>
                  <a:t>” column means that there was no change in price in Coca-Cola stock from the market close two days ago to yesterday’s market close. </a:t>
                </a:r>
              </a:p>
              <a:p>
                <a:r>
                  <a:rPr lang="en-US" dirty="0"/>
                  <a:t>(h.) What was the price at which Coca-Cola shares last traded when the stock exchange closed two days ago?</a:t>
                </a:r>
              </a:p>
              <a:p>
                <a:r>
                  <a:rPr lang="en-US" b="1" dirty="0">
                    <a:solidFill>
                      <a:srgbClr val="00B050"/>
                    </a:solidFill>
                  </a:rPr>
                  <a:t>When the stock exchange closed two days ago, the price of a share of Coca-Cola stock was $41.17. This is because there was no change in price as seen in the “net </a:t>
                </a:r>
                <a:r>
                  <a:rPr lang="en-US" b="1" dirty="0" err="1">
                    <a:solidFill>
                      <a:srgbClr val="00B050"/>
                    </a:solidFill>
                  </a:rPr>
                  <a:t>Chg</a:t>
                </a:r>
                <a:r>
                  <a:rPr lang="en-US" b="1" dirty="0">
                    <a:solidFill>
                      <a:srgbClr val="00B050"/>
                    </a:solidFill>
                  </a:rPr>
                  <a:t>” column.</a:t>
                </a:r>
              </a:p>
              <a:p>
                <a:r>
                  <a:rPr lang="en-US" dirty="0"/>
                  <a:t>(i.) Compute Coca Cola’s annual earnings per share.</a:t>
                </a:r>
              </a:p>
              <a:p>
                <a14:m>
                  <m:oMath xmlns:m="http://schemas.openxmlformats.org/officeDocument/2006/math">
                    <m:r>
                      <a:rPr lang="en-US" b="1" i="1" dirty="0" smtClean="0">
                        <a:solidFill>
                          <a:srgbClr val="00B050"/>
                        </a:solidFill>
                        <a:latin typeface="Cambria Math" panose="02040503050406030204" pitchFamily="18" charset="0"/>
                      </a:rPr>
                      <m:t>𝑨𝒏𝒏𝒖𝒂𝒍</m:t>
                    </m:r>
                    <m:r>
                      <a:rPr lang="en-US" b="1" i="1" dirty="0" smtClean="0">
                        <a:solidFill>
                          <a:srgbClr val="00B050"/>
                        </a:solidFill>
                        <a:latin typeface="Cambria Math" panose="02040503050406030204" pitchFamily="18" charset="0"/>
                      </a:rPr>
                      <m:t> </m:t>
                    </m:r>
                    <m:r>
                      <a:rPr lang="en-US" b="1" i="1" dirty="0" smtClean="0">
                        <a:solidFill>
                          <a:srgbClr val="00B050"/>
                        </a:solidFill>
                        <a:latin typeface="Cambria Math" panose="02040503050406030204" pitchFamily="18" charset="0"/>
                      </a:rPr>
                      <m:t>𝒆𝒂𝒓𝒏𝒊𝒏𝒈𝒔</m:t>
                    </m:r>
                    <m:r>
                      <a:rPr lang="en-US" b="1" i="1" dirty="0" smtClean="0">
                        <a:solidFill>
                          <a:srgbClr val="00B050"/>
                        </a:solidFill>
                        <a:latin typeface="Cambria Math" panose="02040503050406030204" pitchFamily="18" charset="0"/>
                      </a:rPr>
                      <m:t> </m:t>
                    </m:r>
                    <m:r>
                      <a:rPr lang="en-US" b="1" i="1" dirty="0" smtClean="0">
                        <a:solidFill>
                          <a:srgbClr val="00B050"/>
                        </a:solidFill>
                        <a:latin typeface="Cambria Math" panose="02040503050406030204" pitchFamily="18" charset="0"/>
                      </a:rPr>
                      <m:t>𝒑𝒆𝒓</m:t>
                    </m:r>
                    <m:r>
                      <a:rPr lang="en-US" b="1" i="1" dirty="0" smtClean="0">
                        <a:solidFill>
                          <a:srgbClr val="00B050"/>
                        </a:solidFill>
                        <a:latin typeface="Cambria Math" panose="02040503050406030204" pitchFamily="18" charset="0"/>
                      </a:rPr>
                      <m:t> </m:t>
                    </m:r>
                    <m:r>
                      <a:rPr lang="en-US" b="1" i="1" dirty="0" smtClean="0">
                        <a:solidFill>
                          <a:srgbClr val="00B050"/>
                        </a:solidFill>
                        <a:latin typeface="Cambria Math" panose="02040503050406030204" pitchFamily="18" charset="0"/>
                      </a:rPr>
                      <m:t>𝒔𝒉𝒂𝒓𝒆</m:t>
                    </m:r>
                    <m:r>
                      <a:rPr lang="en-US" b="1" i="1" dirty="0" smtClean="0">
                        <a:solidFill>
                          <a:srgbClr val="00B050"/>
                        </a:solidFill>
                        <a:latin typeface="Cambria Math" panose="02040503050406030204" pitchFamily="18" charset="0"/>
                      </a:rPr>
                      <m:t> </m:t>
                    </m:r>
                  </m:oMath>
                </a14:m>
                <a:r>
                  <a:rPr lang="en-US" b="1" dirty="0">
                    <a:solidFill>
                      <a:srgbClr val="00B050"/>
                    </a:solidFill>
                  </a:rPr>
                  <a:t>= </a:t>
                </a:r>
                <a14:m>
                  <m:oMath xmlns:m="http://schemas.openxmlformats.org/officeDocument/2006/math">
                    <m:f>
                      <m:fPr>
                        <m:ctrlPr>
                          <a:rPr lang="en-US" b="1" i="1">
                            <a:solidFill>
                              <a:srgbClr val="00B050"/>
                            </a:solidFill>
                            <a:latin typeface="Cambria Math" panose="02040503050406030204" pitchFamily="18" charset="0"/>
                          </a:rPr>
                        </m:ctrlPr>
                      </m:fPr>
                      <m:num>
                        <m:r>
                          <a:rPr lang="en-US" b="1" i="1">
                            <a:solidFill>
                              <a:srgbClr val="00B050"/>
                            </a:solidFill>
                            <a:latin typeface="Cambria Math" panose="02040503050406030204" pitchFamily="18" charset="0"/>
                          </a:rPr>
                          <m:t>𝒀𝒆𝒔𝒕𝒆𝒓𝒅𝒂</m:t>
                        </m:r>
                        <m:sSup>
                          <m:sSupPr>
                            <m:ctrlPr>
                              <a:rPr lang="en-US" b="1" i="1">
                                <a:solidFill>
                                  <a:srgbClr val="00B050"/>
                                </a:solidFill>
                                <a:latin typeface="Cambria Math" panose="02040503050406030204" pitchFamily="18" charset="0"/>
                              </a:rPr>
                            </m:ctrlPr>
                          </m:sSupPr>
                          <m:e>
                            <m:r>
                              <a:rPr lang="en-US" b="1" i="1">
                                <a:solidFill>
                                  <a:srgbClr val="00B050"/>
                                </a:solidFill>
                                <a:latin typeface="Cambria Math" panose="02040503050406030204" pitchFamily="18" charset="0"/>
                              </a:rPr>
                              <m:t>𝒚</m:t>
                            </m:r>
                          </m:e>
                          <m:sup>
                            <m:r>
                              <a:rPr lang="en-US" b="1" i="1">
                                <a:solidFill>
                                  <a:srgbClr val="00B050"/>
                                </a:solidFill>
                                <a:latin typeface="Cambria Math" panose="02040503050406030204" pitchFamily="18" charset="0"/>
                              </a:rPr>
                              <m:t>′</m:t>
                            </m:r>
                          </m:sup>
                        </m:sSup>
                        <m:r>
                          <a:rPr lang="en-US" b="1" i="1">
                            <a:solidFill>
                              <a:srgbClr val="00B050"/>
                            </a:solidFill>
                            <a:latin typeface="Cambria Math" panose="02040503050406030204" pitchFamily="18" charset="0"/>
                          </a:rPr>
                          <m:t>𝒔</m:t>
                        </m:r>
                        <m:r>
                          <a:rPr lang="en-US" b="1" i="1">
                            <a:solidFill>
                              <a:srgbClr val="00B050"/>
                            </a:solidFill>
                            <a:latin typeface="Cambria Math" panose="02040503050406030204" pitchFamily="18" charset="0"/>
                          </a:rPr>
                          <m:t> </m:t>
                        </m:r>
                        <m:r>
                          <a:rPr lang="en-US" b="1" i="1">
                            <a:solidFill>
                              <a:srgbClr val="00B050"/>
                            </a:solidFill>
                            <a:latin typeface="Cambria Math" panose="02040503050406030204" pitchFamily="18" charset="0"/>
                          </a:rPr>
                          <m:t>𝒄𝒍𝒐𝒔𝒊𝒏𝒈</m:t>
                        </m:r>
                        <m:r>
                          <a:rPr lang="en-US" b="1" i="1">
                            <a:solidFill>
                              <a:srgbClr val="00B050"/>
                            </a:solidFill>
                            <a:latin typeface="Cambria Math" panose="02040503050406030204" pitchFamily="18" charset="0"/>
                          </a:rPr>
                          <m:t> </m:t>
                        </m:r>
                        <m:r>
                          <a:rPr lang="en-US" b="1" i="1">
                            <a:solidFill>
                              <a:srgbClr val="00B050"/>
                            </a:solidFill>
                            <a:latin typeface="Cambria Math" panose="02040503050406030204" pitchFamily="18" charset="0"/>
                          </a:rPr>
                          <m:t>𝒑𝒓𝒊𝒄𝒆</m:t>
                        </m:r>
                        <m:r>
                          <a:rPr lang="en-US" b="1" i="1">
                            <a:solidFill>
                              <a:srgbClr val="00B050"/>
                            </a:solidFill>
                            <a:latin typeface="Cambria Math" panose="02040503050406030204" pitchFamily="18" charset="0"/>
                          </a:rPr>
                          <m:t> </m:t>
                        </m:r>
                        <m:r>
                          <a:rPr lang="en-US" b="1" i="1">
                            <a:solidFill>
                              <a:srgbClr val="00B050"/>
                            </a:solidFill>
                            <a:latin typeface="Cambria Math" panose="02040503050406030204" pitchFamily="18" charset="0"/>
                          </a:rPr>
                          <m:t>𝒑𝒆𝒓</m:t>
                        </m:r>
                        <m:r>
                          <a:rPr lang="en-US" b="1" i="1">
                            <a:solidFill>
                              <a:srgbClr val="00B050"/>
                            </a:solidFill>
                            <a:latin typeface="Cambria Math" panose="02040503050406030204" pitchFamily="18" charset="0"/>
                          </a:rPr>
                          <m:t> </m:t>
                        </m:r>
                        <m:r>
                          <a:rPr lang="en-US" b="1" i="1">
                            <a:solidFill>
                              <a:srgbClr val="00B050"/>
                            </a:solidFill>
                            <a:latin typeface="Cambria Math" panose="02040503050406030204" pitchFamily="18" charset="0"/>
                          </a:rPr>
                          <m:t>𝒔𝒉𝒂𝒓𝒆</m:t>
                        </m:r>
                      </m:num>
                      <m:den>
                        <m:r>
                          <a:rPr lang="en-US" b="1" i="1">
                            <a:solidFill>
                              <a:srgbClr val="00B050"/>
                            </a:solidFill>
                            <a:latin typeface="Cambria Math" panose="02040503050406030204" pitchFamily="18" charset="0"/>
                          </a:rPr>
                          <m:t>𝑷</m:t>
                        </m:r>
                        <m:r>
                          <a:rPr lang="en-US" b="1" i="1">
                            <a:solidFill>
                              <a:srgbClr val="00B050"/>
                            </a:solidFill>
                            <a:latin typeface="Cambria Math" panose="02040503050406030204" pitchFamily="18" charset="0"/>
                          </a:rPr>
                          <m:t>/</m:t>
                        </m:r>
                        <m:r>
                          <a:rPr lang="en-US" b="1" i="1">
                            <a:solidFill>
                              <a:srgbClr val="00B050"/>
                            </a:solidFill>
                            <a:latin typeface="Cambria Math" panose="02040503050406030204" pitchFamily="18" charset="0"/>
                          </a:rPr>
                          <m:t>𝑬</m:t>
                        </m:r>
                        <m:r>
                          <a:rPr lang="en-US" b="1" i="1">
                            <a:solidFill>
                              <a:srgbClr val="00B050"/>
                            </a:solidFill>
                            <a:latin typeface="Cambria Math" panose="02040503050406030204" pitchFamily="18" charset="0"/>
                          </a:rPr>
                          <m:t> </m:t>
                        </m:r>
                        <m:r>
                          <a:rPr lang="en-US" b="1" i="1">
                            <a:solidFill>
                              <a:srgbClr val="00B050"/>
                            </a:solidFill>
                            <a:latin typeface="Cambria Math" panose="02040503050406030204" pitchFamily="18" charset="0"/>
                          </a:rPr>
                          <m:t>𝒓𝒂𝒕𝒊𝒐</m:t>
                        </m:r>
                      </m:den>
                    </m:f>
                    <m:r>
                      <a:rPr lang="en-US" b="1" i="0" smtClean="0">
                        <a:solidFill>
                          <a:srgbClr val="00B050"/>
                        </a:solidFill>
                        <a:latin typeface="Cambria Math" panose="02040503050406030204" pitchFamily="18" charset="0"/>
                      </a:rPr>
                      <m:t>=</m:t>
                    </m:r>
                    <m:f>
                      <m:fPr>
                        <m:ctrlPr>
                          <a:rPr lang="en-US" b="1" i="1" smtClean="0">
                            <a:solidFill>
                              <a:srgbClr val="00B050"/>
                            </a:solidFill>
                            <a:latin typeface="Cambria Math" panose="02040503050406030204" pitchFamily="18" charset="0"/>
                          </a:rPr>
                        </m:ctrlPr>
                      </m:fPr>
                      <m:num>
                        <m:r>
                          <a:rPr lang="en-US" b="1" i="1" smtClean="0">
                            <a:solidFill>
                              <a:srgbClr val="00B050"/>
                            </a:solidFill>
                            <a:latin typeface="Cambria Math" panose="02040503050406030204" pitchFamily="18" charset="0"/>
                          </a:rPr>
                          <m:t>𝟒𝟏</m:t>
                        </m:r>
                        <m:r>
                          <a:rPr lang="en-US" b="1" i="1" smtClean="0">
                            <a:solidFill>
                              <a:srgbClr val="00B050"/>
                            </a:solidFill>
                            <a:latin typeface="Cambria Math" panose="02040503050406030204" pitchFamily="18" charset="0"/>
                          </a:rPr>
                          <m:t>.</m:t>
                        </m:r>
                        <m:r>
                          <a:rPr lang="en-US" b="1" i="1" smtClean="0">
                            <a:solidFill>
                              <a:srgbClr val="00B050"/>
                            </a:solidFill>
                            <a:latin typeface="Cambria Math" panose="02040503050406030204" pitchFamily="18" charset="0"/>
                          </a:rPr>
                          <m:t>𝟏𝟕</m:t>
                        </m:r>
                      </m:num>
                      <m:den>
                        <m:r>
                          <a:rPr lang="en-US" b="1" i="1" smtClean="0">
                            <a:solidFill>
                              <a:srgbClr val="00B050"/>
                            </a:solidFill>
                            <a:latin typeface="Cambria Math" panose="02040503050406030204" pitchFamily="18" charset="0"/>
                          </a:rPr>
                          <m:t>𝟐𝟑</m:t>
                        </m:r>
                      </m:den>
                    </m:f>
                    <m:r>
                      <a:rPr lang="en-US" b="1" i="1" smtClean="0">
                        <a:solidFill>
                          <a:srgbClr val="00B050"/>
                        </a:solidFill>
                        <a:latin typeface="Cambria Math" panose="02040503050406030204" pitchFamily="18" charset="0"/>
                      </a:rPr>
                      <m:t>=$</m:t>
                    </m:r>
                    <m:r>
                      <a:rPr lang="en-US" b="1" i="1" smtClean="0">
                        <a:solidFill>
                          <a:srgbClr val="00B050"/>
                        </a:solidFill>
                        <a:latin typeface="Cambria Math" panose="02040503050406030204" pitchFamily="18" charset="0"/>
                      </a:rPr>
                      <m:t>𝟏</m:t>
                    </m:r>
                    <m:r>
                      <a:rPr lang="en-US" b="1" i="1" smtClean="0">
                        <a:solidFill>
                          <a:srgbClr val="00B050"/>
                        </a:solidFill>
                        <a:latin typeface="Cambria Math" panose="02040503050406030204" pitchFamily="18" charset="0"/>
                      </a:rPr>
                      <m:t>.</m:t>
                    </m:r>
                    <m:r>
                      <a:rPr lang="en-US" b="1" i="1" smtClean="0">
                        <a:solidFill>
                          <a:srgbClr val="00B050"/>
                        </a:solidFill>
                        <a:latin typeface="Cambria Math" panose="02040503050406030204" pitchFamily="18" charset="0"/>
                      </a:rPr>
                      <m:t>𝟕𝟗</m:t>
                    </m:r>
                  </m:oMath>
                </a14:m>
                <a:endParaRPr lang="en-US" b="1" dirty="0">
                  <a:solidFill>
                    <a:srgbClr val="00B050"/>
                  </a:solidFill>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1341120" y="1339404"/>
                <a:ext cx="9509760" cy="4690176"/>
              </a:xfrm>
              <a:blipFill rotWithShape="0">
                <a:blip r:embed="rId2"/>
                <a:stretch>
                  <a:fillRect l="-64" t="-1430" r="-1026"/>
                </a:stretch>
              </a:blipFill>
            </p:spPr>
            <p:txBody>
              <a:bodyPr/>
              <a:lstStyle/>
              <a:p>
                <a:r>
                  <a:rPr lang="en-US">
                    <a:noFill/>
                  </a:rPr>
                  <a:t> </a:t>
                </a:r>
              </a:p>
            </p:txBody>
          </p:sp>
        </mc:Fallback>
      </mc:AlternateContent>
    </p:spTree>
    <p:extLst>
      <p:ext uri="{BB962C8B-B14F-4D97-AF65-F5344CB8AC3E}">
        <p14:creationId xmlns:p14="http://schemas.microsoft.com/office/powerpoint/2010/main" val="2990703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animEffect transition="in" filter="fade">
                                      <p:cBhvr>
                                        <p:cTn id="7" dur="1000"/>
                                        <p:tgtEl>
                                          <p:spTgt spid="14">
                                            <p:txEl>
                                              <p:pRg st="1" end="1"/>
                                            </p:txEl>
                                          </p:spTgt>
                                        </p:tgtEl>
                                      </p:cBhvr>
                                    </p:animEffect>
                                    <p:anim calcmode="lin" valueType="num">
                                      <p:cBhvr>
                                        <p:cTn id="8"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3" end="3"/>
                                            </p:txEl>
                                          </p:spTgt>
                                        </p:tgtEl>
                                        <p:attrNameLst>
                                          <p:attrName>style.visibility</p:attrName>
                                        </p:attrNameLst>
                                      </p:cBhvr>
                                      <p:to>
                                        <p:strVal val="visible"/>
                                      </p:to>
                                    </p:set>
                                    <p:animEffect transition="in" filter="fade">
                                      <p:cBhvr>
                                        <p:cTn id="14" dur="1000"/>
                                        <p:tgtEl>
                                          <p:spTgt spid="14">
                                            <p:txEl>
                                              <p:pRg st="3" end="3"/>
                                            </p:txEl>
                                          </p:spTgt>
                                        </p:tgtEl>
                                      </p:cBhvr>
                                    </p:animEffect>
                                    <p:anim calcmode="lin" valueType="num">
                                      <p:cBhvr>
                                        <p:cTn id="15" dur="1000" fill="hold"/>
                                        <p:tgtEl>
                                          <p:spTgt spid="14">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5" end="5"/>
                                            </p:txEl>
                                          </p:spTgt>
                                        </p:tgtEl>
                                        <p:attrNameLst>
                                          <p:attrName>style.visibility</p:attrName>
                                        </p:attrNameLst>
                                      </p:cBhvr>
                                      <p:to>
                                        <p:strVal val="visible"/>
                                      </p:to>
                                    </p:set>
                                    <p:animEffect transition="in" filter="fade">
                                      <p:cBhvr>
                                        <p:cTn id="21" dur="1000"/>
                                        <p:tgtEl>
                                          <p:spTgt spid="14">
                                            <p:txEl>
                                              <p:pRg st="5" end="5"/>
                                            </p:txEl>
                                          </p:spTgt>
                                        </p:tgtEl>
                                      </p:cBhvr>
                                    </p:animEffect>
                                    <p:anim calcmode="lin" valueType="num">
                                      <p:cBhvr>
                                        <p:cTn id="22" dur="1000" fill="hold"/>
                                        <p:tgtEl>
                                          <p:spTgt spid="14">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Question 2							1</a:t>
            </a:r>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1341120" y="1339404"/>
                <a:ext cx="9509760" cy="4690176"/>
              </a:xfrm>
            </p:spPr>
            <p:txBody>
              <a:bodyPr/>
              <a:lstStyle/>
              <a:p>
                <a:r>
                  <a:rPr lang="en-US" dirty="0"/>
                  <a:t>Luke decided t0 begin saving for retirement at the age of 32. He decided to deposit $70 at the end of each month in an IRA that pays 5% compounded monthly. </a:t>
                </a:r>
              </a:p>
              <a:p>
                <a:r>
                  <a:rPr lang="en-US" dirty="0"/>
                  <a:t>(a.) If he retires at 65 years of age, how much will he have in the IRA account?</a:t>
                </a:r>
              </a:p>
              <a:p>
                <a:r>
                  <a:rPr lang="en-US" dirty="0"/>
                  <a:t>(b.) Find the interest. Round your answers to the nearest dollar.</a:t>
                </a:r>
              </a:p>
              <a:p>
                <a:r>
                  <a:rPr lang="en-US" u="sng" dirty="0"/>
                  <a:t>Solution </a:t>
                </a:r>
              </a:p>
              <a:p>
                <a:r>
                  <a:rPr lang="en-US" dirty="0"/>
                  <a:t>(a.) PMT = $70; r = 5% = 0.05; m = 12; t = 65 – 32 = 33 years</a:t>
                </a:r>
              </a:p>
              <a:p>
                <a14:m>
                  <m:oMath xmlns:m="http://schemas.openxmlformats.org/officeDocument/2006/math">
                    <m:r>
                      <a:rPr lang="en-US" sz="3000" i="1">
                        <a:latin typeface="Cambria Math" panose="02040503050406030204" pitchFamily="18" charset="0"/>
                      </a:rPr>
                      <m:t>𝐹𝑉</m:t>
                    </m:r>
                    <m:r>
                      <a:rPr lang="en-US" sz="3000" i="1">
                        <a:latin typeface="Cambria Math" panose="02040503050406030204" pitchFamily="18" charset="0"/>
                      </a:rPr>
                      <m:t>=</m:t>
                    </m:r>
                    <m:r>
                      <a:rPr lang="en-US" sz="3000" i="1">
                        <a:latin typeface="Cambria Math" panose="02040503050406030204" pitchFamily="18" charset="0"/>
                      </a:rPr>
                      <m:t>𝑚</m:t>
                    </m:r>
                    <m:r>
                      <a:rPr lang="en-US" sz="3000" i="1">
                        <a:latin typeface="Cambria Math" panose="02040503050406030204" pitchFamily="18" charset="0"/>
                      </a:rPr>
                      <m:t>∗</m:t>
                    </m:r>
                    <m:r>
                      <a:rPr lang="en-US" sz="3000" i="1">
                        <a:latin typeface="Cambria Math" panose="02040503050406030204" pitchFamily="18" charset="0"/>
                      </a:rPr>
                      <m:t>𝑃𝑀𝑇</m:t>
                    </m:r>
                    <m:r>
                      <a:rPr lang="en-US" sz="3000" i="1">
                        <a:latin typeface="Cambria Math" panose="02040503050406030204" pitchFamily="18" charset="0"/>
                      </a:rPr>
                      <m:t>∗[</m:t>
                    </m:r>
                    <m:f>
                      <m:fPr>
                        <m:ctrlPr>
                          <a:rPr lang="en-US" sz="3000" i="1">
                            <a:latin typeface="Cambria Math" panose="02040503050406030204" pitchFamily="18" charset="0"/>
                          </a:rPr>
                        </m:ctrlPr>
                      </m:fPr>
                      <m:num>
                        <m:sSup>
                          <m:sSupPr>
                            <m:ctrlPr>
                              <a:rPr lang="en-US" sz="3000" i="1">
                                <a:latin typeface="Cambria Math" panose="02040503050406030204" pitchFamily="18" charset="0"/>
                              </a:rPr>
                            </m:ctrlPr>
                          </m:sSupPr>
                          <m:e>
                            <m:r>
                              <a:rPr lang="en-US" sz="3000" i="1">
                                <a:latin typeface="Cambria Math" panose="02040503050406030204" pitchFamily="18" charset="0"/>
                              </a:rPr>
                              <m:t>(1+</m:t>
                            </m:r>
                            <m:f>
                              <m:fPr>
                                <m:ctrlPr>
                                  <a:rPr lang="en-US" sz="3000" i="1">
                                    <a:latin typeface="Cambria Math" panose="02040503050406030204" pitchFamily="18" charset="0"/>
                                  </a:rPr>
                                </m:ctrlPr>
                              </m:fPr>
                              <m:num>
                                <m:r>
                                  <a:rPr lang="en-US" sz="3000" i="1">
                                    <a:latin typeface="Cambria Math" panose="02040503050406030204" pitchFamily="18" charset="0"/>
                                  </a:rPr>
                                  <m:t>𝑟</m:t>
                                </m:r>
                              </m:num>
                              <m:den>
                                <m:r>
                                  <a:rPr lang="en-US" sz="3000" i="1">
                                    <a:latin typeface="Cambria Math" panose="02040503050406030204" pitchFamily="18" charset="0"/>
                                  </a:rPr>
                                  <m:t>𝑚</m:t>
                                </m:r>
                              </m:den>
                            </m:f>
                            <m:r>
                              <a:rPr lang="en-US" sz="3000" i="1">
                                <a:latin typeface="Cambria Math" panose="02040503050406030204" pitchFamily="18" charset="0"/>
                              </a:rPr>
                              <m:t>)</m:t>
                            </m:r>
                          </m:e>
                          <m:sup>
                            <m:r>
                              <a:rPr lang="en-US" sz="3000" i="1">
                                <a:latin typeface="Cambria Math" panose="02040503050406030204" pitchFamily="18" charset="0"/>
                              </a:rPr>
                              <m:t>𝑚𝑡</m:t>
                            </m:r>
                          </m:sup>
                        </m:sSup>
                        <m:r>
                          <a:rPr lang="en-US" sz="3000" i="1">
                            <a:latin typeface="Cambria Math" panose="02040503050406030204" pitchFamily="18" charset="0"/>
                          </a:rPr>
                          <m:t>−1</m:t>
                        </m:r>
                      </m:num>
                      <m:den>
                        <m:r>
                          <a:rPr lang="en-US" sz="3000" i="1">
                            <a:latin typeface="Cambria Math" panose="02040503050406030204" pitchFamily="18" charset="0"/>
                          </a:rPr>
                          <m:t>𝑟</m:t>
                        </m:r>
                      </m:den>
                    </m:f>
                    <m:r>
                      <a:rPr lang="en-US" sz="3000" i="1">
                        <a:latin typeface="Cambria Math" panose="02040503050406030204" pitchFamily="18" charset="0"/>
                      </a:rPr>
                      <m:t>]</m:t>
                    </m:r>
                  </m:oMath>
                </a14:m>
                <a:endParaRPr lang="en-US" sz="3000" dirty="0"/>
              </a:p>
              <a:p>
                <a14:m>
                  <m:oMath xmlns:m="http://schemas.openxmlformats.org/officeDocument/2006/math">
                    <m:r>
                      <a:rPr lang="en-US" sz="3000" i="1">
                        <a:latin typeface="Cambria Math" panose="02040503050406030204" pitchFamily="18" charset="0"/>
                      </a:rPr>
                      <m:t>𝐹𝑉</m:t>
                    </m:r>
                    <m:r>
                      <a:rPr lang="en-US" sz="3000" i="1">
                        <a:latin typeface="Cambria Math" panose="02040503050406030204" pitchFamily="18" charset="0"/>
                      </a:rPr>
                      <m:t>=12∗70∗[</m:t>
                    </m:r>
                    <m:f>
                      <m:fPr>
                        <m:ctrlPr>
                          <a:rPr lang="en-US" sz="3000" i="1">
                            <a:latin typeface="Cambria Math" panose="02040503050406030204" pitchFamily="18" charset="0"/>
                          </a:rPr>
                        </m:ctrlPr>
                      </m:fPr>
                      <m:num>
                        <m:sSup>
                          <m:sSupPr>
                            <m:ctrlPr>
                              <a:rPr lang="en-US" sz="3000" i="1">
                                <a:latin typeface="Cambria Math" panose="02040503050406030204" pitchFamily="18" charset="0"/>
                              </a:rPr>
                            </m:ctrlPr>
                          </m:sSupPr>
                          <m:e>
                            <m:r>
                              <a:rPr lang="en-US" sz="3000" i="1">
                                <a:latin typeface="Cambria Math" panose="02040503050406030204" pitchFamily="18" charset="0"/>
                              </a:rPr>
                              <m:t>(1+</m:t>
                            </m:r>
                            <m:f>
                              <m:fPr>
                                <m:ctrlPr>
                                  <a:rPr lang="en-US" sz="3000" i="1">
                                    <a:latin typeface="Cambria Math" panose="02040503050406030204" pitchFamily="18" charset="0"/>
                                  </a:rPr>
                                </m:ctrlPr>
                              </m:fPr>
                              <m:num>
                                <m:r>
                                  <a:rPr lang="en-US" sz="3000" b="0" i="1" smtClean="0">
                                    <a:latin typeface="Cambria Math" panose="02040503050406030204" pitchFamily="18" charset="0"/>
                                  </a:rPr>
                                  <m:t>0.05</m:t>
                                </m:r>
                              </m:num>
                              <m:den>
                                <m:r>
                                  <a:rPr lang="en-US" sz="3000" b="0" i="1" smtClean="0">
                                    <a:latin typeface="Cambria Math" panose="02040503050406030204" pitchFamily="18" charset="0"/>
                                  </a:rPr>
                                  <m:t>12</m:t>
                                </m:r>
                              </m:den>
                            </m:f>
                            <m:r>
                              <a:rPr lang="en-US" sz="3000" i="1">
                                <a:latin typeface="Cambria Math" panose="02040503050406030204" pitchFamily="18" charset="0"/>
                              </a:rPr>
                              <m:t>)</m:t>
                            </m:r>
                          </m:e>
                          <m:sup>
                            <m:r>
                              <a:rPr lang="en-US" sz="3000" b="0" i="1" smtClean="0">
                                <a:latin typeface="Cambria Math" panose="02040503050406030204" pitchFamily="18" charset="0"/>
                              </a:rPr>
                              <m:t>12∗33</m:t>
                            </m:r>
                          </m:sup>
                        </m:sSup>
                        <m:r>
                          <a:rPr lang="en-US" sz="3000" i="1">
                            <a:latin typeface="Cambria Math" panose="02040503050406030204" pitchFamily="18" charset="0"/>
                          </a:rPr>
                          <m:t>−1</m:t>
                        </m:r>
                      </m:num>
                      <m:den>
                        <m:r>
                          <a:rPr lang="en-US" sz="3000" b="0" i="1" smtClean="0">
                            <a:latin typeface="Cambria Math" panose="02040503050406030204" pitchFamily="18" charset="0"/>
                          </a:rPr>
                          <m:t>0.05</m:t>
                        </m:r>
                      </m:den>
                    </m:f>
                    <m:r>
                      <a:rPr lang="en-US" sz="3000" i="1">
                        <a:latin typeface="Cambria Math" panose="02040503050406030204" pitchFamily="18" charset="0"/>
                      </a:rPr>
                      <m:t>]</m:t>
                    </m:r>
                  </m:oMath>
                </a14:m>
                <a:endParaRPr lang="en-US" sz="3000" dirty="0"/>
              </a:p>
              <a:p>
                <a:endParaRPr lang="en-US" dirty="0"/>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1341120" y="1339404"/>
                <a:ext cx="9509760" cy="4690176"/>
              </a:xfrm>
              <a:blipFill rotWithShape="0">
                <a:blip r:embed="rId2"/>
                <a:stretch>
                  <a:fillRect l="-64" t="-1430" r="-1090"/>
                </a:stretch>
              </a:blipFill>
            </p:spPr>
            <p:txBody>
              <a:bodyPr/>
              <a:lstStyle/>
              <a:p>
                <a:r>
                  <a:rPr lang="en-US">
                    <a:noFill/>
                  </a:rPr>
                  <a:t> </a:t>
                </a:r>
              </a:p>
            </p:txBody>
          </p:sp>
        </mc:Fallback>
      </mc:AlternateContent>
    </p:spTree>
    <p:extLst>
      <p:ext uri="{BB962C8B-B14F-4D97-AF65-F5344CB8AC3E}">
        <p14:creationId xmlns:p14="http://schemas.microsoft.com/office/powerpoint/2010/main" val="3891577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Question 2							2</a:t>
            </a:r>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1341120" y="1159099"/>
                <a:ext cx="9509760" cy="5241701"/>
              </a:xfrm>
            </p:spPr>
            <p:txBody>
              <a:bodyPr>
                <a:normAutofit/>
              </a:bodyPr>
              <a:lstStyle/>
              <a:p>
                <a14:m>
                  <m:oMath xmlns:m="http://schemas.openxmlformats.org/officeDocument/2006/math">
                    <m:r>
                      <a:rPr lang="en-US" sz="3000" i="1" smtClean="0">
                        <a:latin typeface="Cambria Math" panose="02040503050406030204" pitchFamily="18" charset="0"/>
                      </a:rPr>
                      <m:t>𝐹𝑉</m:t>
                    </m:r>
                    <m:r>
                      <a:rPr lang="en-US" sz="3000" i="1" smtClean="0">
                        <a:latin typeface="Cambria Math" panose="02040503050406030204" pitchFamily="18" charset="0"/>
                      </a:rPr>
                      <m:t>=840∗[</m:t>
                    </m:r>
                    <m:f>
                      <m:fPr>
                        <m:ctrlPr>
                          <a:rPr lang="en-US" sz="3000" i="1">
                            <a:latin typeface="Cambria Math" panose="02040503050406030204" pitchFamily="18" charset="0"/>
                          </a:rPr>
                        </m:ctrlPr>
                      </m:fPr>
                      <m:num>
                        <m:sSup>
                          <m:sSupPr>
                            <m:ctrlPr>
                              <a:rPr lang="en-US" sz="3000" i="1">
                                <a:latin typeface="Cambria Math" panose="02040503050406030204" pitchFamily="18" charset="0"/>
                              </a:rPr>
                            </m:ctrlPr>
                          </m:sSupPr>
                          <m:e>
                            <m:r>
                              <a:rPr lang="en-US" sz="3000" i="1">
                                <a:latin typeface="Cambria Math" panose="02040503050406030204" pitchFamily="18" charset="0"/>
                              </a:rPr>
                              <m:t>(1+</m:t>
                            </m:r>
                            <m:f>
                              <m:fPr>
                                <m:ctrlPr>
                                  <a:rPr lang="en-US" sz="3000" i="1">
                                    <a:latin typeface="Cambria Math" panose="02040503050406030204" pitchFamily="18" charset="0"/>
                                  </a:rPr>
                                </m:ctrlPr>
                              </m:fPr>
                              <m:num>
                                <m:r>
                                  <a:rPr lang="en-US" sz="3000" b="0" i="1" smtClean="0">
                                    <a:latin typeface="Cambria Math" panose="02040503050406030204" pitchFamily="18" charset="0"/>
                                  </a:rPr>
                                  <m:t>0.05</m:t>
                                </m:r>
                              </m:num>
                              <m:den>
                                <m:r>
                                  <a:rPr lang="en-US" sz="3000" b="0" i="1" smtClean="0">
                                    <a:latin typeface="Cambria Math" panose="02040503050406030204" pitchFamily="18" charset="0"/>
                                  </a:rPr>
                                  <m:t>12</m:t>
                                </m:r>
                              </m:den>
                            </m:f>
                            <m:r>
                              <a:rPr lang="en-US" sz="3000" i="1">
                                <a:latin typeface="Cambria Math" panose="02040503050406030204" pitchFamily="18" charset="0"/>
                              </a:rPr>
                              <m:t>)</m:t>
                            </m:r>
                          </m:e>
                          <m:sup>
                            <m:r>
                              <a:rPr lang="en-US" sz="3000" b="0" i="1" smtClean="0">
                                <a:latin typeface="Cambria Math" panose="02040503050406030204" pitchFamily="18" charset="0"/>
                              </a:rPr>
                              <m:t>396</m:t>
                            </m:r>
                          </m:sup>
                        </m:sSup>
                        <m:r>
                          <a:rPr lang="en-US" sz="3000" i="1">
                            <a:latin typeface="Cambria Math" panose="02040503050406030204" pitchFamily="18" charset="0"/>
                          </a:rPr>
                          <m:t>−1</m:t>
                        </m:r>
                      </m:num>
                      <m:den>
                        <m:r>
                          <a:rPr lang="en-US" sz="3000" b="0" i="1" smtClean="0">
                            <a:latin typeface="Cambria Math" panose="02040503050406030204" pitchFamily="18" charset="0"/>
                          </a:rPr>
                          <m:t>0.05</m:t>
                        </m:r>
                      </m:den>
                    </m:f>
                    <m:r>
                      <a:rPr lang="en-US" sz="3000" i="1">
                        <a:latin typeface="Cambria Math" panose="02040503050406030204" pitchFamily="18" charset="0"/>
                      </a:rPr>
                      <m:t>]</m:t>
                    </m:r>
                  </m:oMath>
                </a14:m>
                <a:endParaRPr lang="en-US" sz="3000" dirty="0"/>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𝐹𝑉</m:t>
                    </m:r>
                    <m:r>
                      <a:rPr lang="en-US" sz="3000" i="1">
                        <a:solidFill>
                          <a:srgbClr val="263050"/>
                        </a:solidFill>
                        <a:latin typeface="Cambria Math" panose="02040503050406030204" pitchFamily="18" charset="0"/>
                      </a:rPr>
                      <m:t>=840∗[</m:t>
                    </m:r>
                    <m:f>
                      <m:fPr>
                        <m:ctrlPr>
                          <a:rPr lang="en-US" sz="3000" i="1">
                            <a:solidFill>
                              <a:srgbClr val="263050"/>
                            </a:solidFill>
                            <a:latin typeface="Cambria Math" panose="02040503050406030204" pitchFamily="18" charset="0"/>
                          </a:rPr>
                        </m:ctrlPr>
                      </m:fPr>
                      <m:num>
                        <m:sSup>
                          <m:sSupPr>
                            <m:ctrlPr>
                              <a:rPr lang="en-US" sz="3000" i="1">
                                <a:solidFill>
                                  <a:srgbClr val="263050"/>
                                </a:solidFill>
                                <a:latin typeface="Cambria Math" panose="02040503050406030204" pitchFamily="18" charset="0"/>
                              </a:rPr>
                            </m:ctrlPr>
                          </m:sSupPr>
                          <m:e>
                            <m:r>
                              <a:rPr lang="en-US" sz="3000" i="1">
                                <a:solidFill>
                                  <a:srgbClr val="263050"/>
                                </a:solidFill>
                                <a:latin typeface="Cambria Math" panose="02040503050406030204" pitchFamily="18" charset="0"/>
                              </a:rPr>
                              <m:t>(1+</m:t>
                            </m:r>
                            <m:r>
                              <a:rPr lang="en-US" sz="3000" b="0" i="1" smtClean="0">
                                <a:solidFill>
                                  <a:srgbClr val="263050"/>
                                </a:solidFill>
                                <a:latin typeface="Cambria Math" panose="02040503050406030204" pitchFamily="18" charset="0"/>
                              </a:rPr>
                              <m:t>0.004166666</m:t>
                            </m:r>
                            <m:r>
                              <a:rPr lang="en-US" sz="3000" i="1">
                                <a:solidFill>
                                  <a:srgbClr val="263050"/>
                                </a:solidFill>
                                <a:latin typeface="Cambria Math" panose="02040503050406030204" pitchFamily="18" charset="0"/>
                              </a:rPr>
                              <m:t>)</m:t>
                            </m:r>
                          </m:e>
                          <m:sup>
                            <m:r>
                              <a:rPr lang="en-US" sz="3000" i="1">
                                <a:solidFill>
                                  <a:srgbClr val="263050"/>
                                </a:solidFill>
                                <a:latin typeface="Cambria Math" panose="02040503050406030204" pitchFamily="18" charset="0"/>
                              </a:rPr>
                              <m:t>396</m:t>
                            </m:r>
                          </m:sup>
                        </m:sSup>
                        <m:r>
                          <a:rPr lang="en-US" sz="3000" i="1">
                            <a:solidFill>
                              <a:srgbClr val="263050"/>
                            </a:solidFill>
                            <a:latin typeface="Cambria Math" panose="02040503050406030204" pitchFamily="18" charset="0"/>
                          </a:rPr>
                          <m:t>−1</m:t>
                        </m:r>
                      </m:num>
                      <m:den>
                        <m:r>
                          <a:rPr lang="en-US" sz="3000" i="1">
                            <a:solidFill>
                              <a:srgbClr val="263050"/>
                            </a:solidFill>
                            <a:latin typeface="Cambria Math" panose="02040503050406030204" pitchFamily="18" charset="0"/>
                          </a:rPr>
                          <m:t>0.05</m:t>
                        </m:r>
                      </m:den>
                    </m:f>
                    <m:r>
                      <a:rPr lang="en-US" sz="3000" i="1">
                        <a:solidFill>
                          <a:srgbClr val="263050"/>
                        </a:solidFill>
                        <a:latin typeface="Cambria Math" panose="02040503050406030204" pitchFamily="18" charset="0"/>
                      </a:rPr>
                      <m:t>]</m:t>
                    </m:r>
                  </m:oMath>
                </a14:m>
                <a:endParaRPr lang="en-US" sz="3000" dirty="0">
                  <a:solidFill>
                    <a:srgbClr val="263050"/>
                  </a:solidFill>
                </a:endParaRPr>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𝐹𝑉</m:t>
                    </m:r>
                    <m:r>
                      <a:rPr lang="en-US" sz="3000" i="1">
                        <a:solidFill>
                          <a:srgbClr val="263050"/>
                        </a:solidFill>
                        <a:latin typeface="Cambria Math" panose="02040503050406030204" pitchFamily="18" charset="0"/>
                      </a:rPr>
                      <m:t>=840∗[</m:t>
                    </m:r>
                    <m:f>
                      <m:fPr>
                        <m:ctrlPr>
                          <a:rPr lang="en-US" sz="3000" i="1">
                            <a:solidFill>
                              <a:srgbClr val="263050"/>
                            </a:solidFill>
                            <a:latin typeface="Cambria Math" panose="02040503050406030204" pitchFamily="18" charset="0"/>
                          </a:rPr>
                        </m:ctrlPr>
                      </m:fPr>
                      <m:num>
                        <m:sSup>
                          <m:sSupPr>
                            <m:ctrlPr>
                              <a:rPr lang="en-US" sz="3000" i="1">
                                <a:solidFill>
                                  <a:srgbClr val="263050"/>
                                </a:solidFill>
                                <a:latin typeface="Cambria Math" panose="02040503050406030204" pitchFamily="18" charset="0"/>
                              </a:rPr>
                            </m:ctrlPr>
                          </m:sSupPr>
                          <m:e>
                            <m:r>
                              <a:rPr lang="en-US" sz="3000" i="1">
                                <a:solidFill>
                                  <a:srgbClr val="263050"/>
                                </a:solidFill>
                                <a:latin typeface="Cambria Math" panose="02040503050406030204" pitchFamily="18" charset="0"/>
                              </a:rPr>
                              <m:t>(1.004166666)</m:t>
                            </m:r>
                          </m:e>
                          <m:sup>
                            <m:r>
                              <a:rPr lang="en-US" sz="3000" i="1">
                                <a:solidFill>
                                  <a:srgbClr val="263050"/>
                                </a:solidFill>
                                <a:latin typeface="Cambria Math" panose="02040503050406030204" pitchFamily="18" charset="0"/>
                              </a:rPr>
                              <m:t>396</m:t>
                            </m:r>
                          </m:sup>
                        </m:sSup>
                        <m:r>
                          <a:rPr lang="en-US" sz="3000" i="1">
                            <a:solidFill>
                              <a:srgbClr val="263050"/>
                            </a:solidFill>
                            <a:latin typeface="Cambria Math" panose="02040503050406030204" pitchFamily="18" charset="0"/>
                          </a:rPr>
                          <m:t>−1</m:t>
                        </m:r>
                      </m:num>
                      <m:den>
                        <m:r>
                          <a:rPr lang="en-US" sz="3000" i="1">
                            <a:solidFill>
                              <a:srgbClr val="263050"/>
                            </a:solidFill>
                            <a:latin typeface="Cambria Math" panose="02040503050406030204" pitchFamily="18" charset="0"/>
                          </a:rPr>
                          <m:t>0.05</m:t>
                        </m:r>
                      </m:den>
                    </m:f>
                    <m:r>
                      <a:rPr lang="en-US" sz="3000" i="1">
                        <a:solidFill>
                          <a:srgbClr val="263050"/>
                        </a:solidFill>
                        <a:latin typeface="Cambria Math" panose="02040503050406030204" pitchFamily="18" charset="0"/>
                      </a:rPr>
                      <m:t>]</m:t>
                    </m:r>
                  </m:oMath>
                </a14:m>
                <a:endParaRPr lang="en-US" sz="3000" dirty="0">
                  <a:solidFill>
                    <a:srgbClr val="263050"/>
                  </a:solidFill>
                </a:endParaRPr>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𝐹𝑉</m:t>
                    </m:r>
                    <m:r>
                      <a:rPr lang="en-US" sz="3000" i="1">
                        <a:solidFill>
                          <a:srgbClr val="263050"/>
                        </a:solidFill>
                        <a:latin typeface="Cambria Math" panose="02040503050406030204" pitchFamily="18" charset="0"/>
                      </a:rPr>
                      <m:t>=840∗[</m:t>
                    </m:r>
                    <m:f>
                      <m:fPr>
                        <m:ctrlPr>
                          <a:rPr lang="en-US" sz="3000" i="1">
                            <a:solidFill>
                              <a:srgbClr val="263050"/>
                            </a:solidFill>
                            <a:latin typeface="Cambria Math" panose="02040503050406030204" pitchFamily="18" charset="0"/>
                          </a:rPr>
                        </m:ctrlPr>
                      </m:fPr>
                      <m:num>
                        <m:r>
                          <a:rPr lang="en-US" sz="3000" b="0" i="1" smtClean="0">
                            <a:solidFill>
                              <a:srgbClr val="263050"/>
                            </a:solidFill>
                            <a:latin typeface="Cambria Math" panose="02040503050406030204" pitchFamily="18" charset="0"/>
                          </a:rPr>
                          <m:t>5.189160957</m:t>
                        </m:r>
                        <m:r>
                          <a:rPr lang="en-US" sz="3000" i="1">
                            <a:solidFill>
                              <a:srgbClr val="263050"/>
                            </a:solidFill>
                            <a:latin typeface="Cambria Math" panose="02040503050406030204" pitchFamily="18" charset="0"/>
                          </a:rPr>
                          <m:t>−1</m:t>
                        </m:r>
                      </m:num>
                      <m:den>
                        <m:r>
                          <a:rPr lang="en-US" sz="3000" i="1">
                            <a:solidFill>
                              <a:srgbClr val="263050"/>
                            </a:solidFill>
                            <a:latin typeface="Cambria Math" panose="02040503050406030204" pitchFamily="18" charset="0"/>
                          </a:rPr>
                          <m:t>0.05</m:t>
                        </m:r>
                      </m:den>
                    </m:f>
                    <m:r>
                      <a:rPr lang="en-US" sz="3000" i="1">
                        <a:solidFill>
                          <a:srgbClr val="263050"/>
                        </a:solidFill>
                        <a:latin typeface="Cambria Math" panose="02040503050406030204" pitchFamily="18" charset="0"/>
                      </a:rPr>
                      <m:t>]</m:t>
                    </m:r>
                  </m:oMath>
                </a14:m>
                <a:endParaRPr lang="en-US" sz="3000" dirty="0">
                  <a:solidFill>
                    <a:srgbClr val="263050"/>
                  </a:solidFill>
                </a:endParaRPr>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𝐹𝑉</m:t>
                    </m:r>
                    <m:r>
                      <a:rPr lang="en-US" sz="3000" i="1">
                        <a:solidFill>
                          <a:srgbClr val="263050"/>
                        </a:solidFill>
                        <a:latin typeface="Cambria Math" panose="02040503050406030204" pitchFamily="18" charset="0"/>
                      </a:rPr>
                      <m:t>=840∗[</m:t>
                    </m:r>
                    <m:f>
                      <m:fPr>
                        <m:ctrlPr>
                          <a:rPr lang="en-US" sz="3000" i="1">
                            <a:solidFill>
                              <a:srgbClr val="263050"/>
                            </a:solidFill>
                            <a:latin typeface="Cambria Math" panose="02040503050406030204" pitchFamily="18" charset="0"/>
                          </a:rPr>
                        </m:ctrlPr>
                      </m:fPr>
                      <m:num>
                        <m:r>
                          <a:rPr lang="en-US" sz="3000" b="0" i="1" smtClean="0">
                            <a:solidFill>
                              <a:srgbClr val="263050"/>
                            </a:solidFill>
                            <a:latin typeface="Cambria Math" panose="02040503050406030204" pitchFamily="18" charset="0"/>
                          </a:rPr>
                          <m:t>4</m:t>
                        </m:r>
                        <m:r>
                          <a:rPr lang="en-US" sz="3000" i="1">
                            <a:solidFill>
                              <a:srgbClr val="263050"/>
                            </a:solidFill>
                            <a:latin typeface="Cambria Math" panose="02040503050406030204" pitchFamily="18" charset="0"/>
                          </a:rPr>
                          <m:t>.189160957</m:t>
                        </m:r>
                      </m:num>
                      <m:den>
                        <m:r>
                          <a:rPr lang="en-US" sz="3000" i="1">
                            <a:solidFill>
                              <a:srgbClr val="263050"/>
                            </a:solidFill>
                            <a:latin typeface="Cambria Math" panose="02040503050406030204" pitchFamily="18" charset="0"/>
                          </a:rPr>
                          <m:t>0.05</m:t>
                        </m:r>
                      </m:den>
                    </m:f>
                    <m:r>
                      <a:rPr lang="en-US" sz="3000" i="1">
                        <a:solidFill>
                          <a:srgbClr val="263050"/>
                        </a:solidFill>
                        <a:latin typeface="Cambria Math" panose="02040503050406030204" pitchFamily="18" charset="0"/>
                      </a:rPr>
                      <m:t>]</m:t>
                    </m:r>
                  </m:oMath>
                </a14:m>
                <a:endParaRPr lang="en-US" sz="3000" dirty="0">
                  <a:solidFill>
                    <a:srgbClr val="263050"/>
                  </a:solidFill>
                </a:endParaRPr>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𝐹𝑉</m:t>
                    </m:r>
                    <m:r>
                      <a:rPr lang="en-US" sz="3000" i="1">
                        <a:solidFill>
                          <a:srgbClr val="263050"/>
                        </a:solidFill>
                        <a:latin typeface="Cambria Math" panose="02040503050406030204" pitchFamily="18" charset="0"/>
                      </a:rPr>
                      <m:t>=</m:t>
                    </m:r>
                    <m:f>
                      <m:fPr>
                        <m:ctrlPr>
                          <a:rPr lang="en-US" sz="3000" i="1">
                            <a:solidFill>
                              <a:srgbClr val="263050"/>
                            </a:solidFill>
                            <a:latin typeface="Cambria Math" panose="02040503050406030204" pitchFamily="18" charset="0"/>
                          </a:rPr>
                        </m:ctrlPr>
                      </m:fPr>
                      <m:num>
                        <m:r>
                          <a:rPr lang="en-US" sz="3000" b="0" i="1" smtClean="0">
                            <a:solidFill>
                              <a:srgbClr val="263050"/>
                            </a:solidFill>
                            <a:latin typeface="Cambria Math" panose="02040503050406030204" pitchFamily="18" charset="0"/>
                          </a:rPr>
                          <m:t>3518.895204</m:t>
                        </m:r>
                      </m:num>
                      <m:den>
                        <m:r>
                          <a:rPr lang="en-US" sz="3000" i="1">
                            <a:solidFill>
                              <a:srgbClr val="263050"/>
                            </a:solidFill>
                            <a:latin typeface="Cambria Math" panose="02040503050406030204" pitchFamily="18" charset="0"/>
                          </a:rPr>
                          <m:t>0.05</m:t>
                        </m:r>
                      </m:den>
                    </m:f>
                  </m:oMath>
                </a14:m>
                <a:endParaRPr lang="en-US" sz="3000" dirty="0">
                  <a:solidFill>
                    <a:srgbClr val="263050"/>
                  </a:solidFill>
                </a:endParaRPr>
              </a:p>
              <a:p>
                <a:endParaRPr lang="en-US" dirty="0"/>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1341120" y="1159099"/>
                <a:ext cx="9509760" cy="5241701"/>
              </a:xfrm>
              <a:blipFill rotWithShape="0">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959988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Question 2							3</a:t>
            </a:r>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1341120" y="1159099"/>
                <a:ext cx="9509760" cy="5318974"/>
              </a:xfrm>
            </p:spPr>
            <p:txBody>
              <a:bodyPr>
                <a:normAutofit/>
              </a:bodyPr>
              <a:lstStyle/>
              <a:p>
                <a:pPr lvl="0">
                  <a:buClr>
                    <a:srgbClr val="263050"/>
                  </a:buClr>
                </a:pPr>
                <a14:m>
                  <m:oMath xmlns:m="http://schemas.openxmlformats.org/officeDocument/2006/math">
                    <m:r>
                      <a:rPr lang="en-US" sz="3000" i="1" smtClean="0">
                        <a:solidFill>
                          <a:srgbClr val="263050"/>
                        </a:solidFill>
                        <a:latin typeface="Cambria Math" panose="02040503050406030204" pitchFamily="18" charset="0"/>
                      </a:rPr>
                      <m:t>𝐹𝑉</m:t>
                    </m:r>
                    <m:r>
                      <a:rPr lang="en-US" sz="3000" i="1" smtClean="0">
                        <a:solidFill>
                          <a:srgbClr val="263050"/>
                        </a:solidFill>
                        <a:latin typeface="Cambria Math" panose="02040503050406030204" pitchFamily="18" charset="0"/>
                      </a:rPr>
                      <m:t>=$70377.90≈</m:t>
                    </m:r>
                    <m:r>
                      <a:rPr lang="en-US" sz="3000" b="1" i="1" smtClean="0">
                        <a:solidFill>
                          <a:srgbClr val="00B050"/>
                        </a:solidFill>
                        <a:latin typeface="Cambria Math" panose="02040503050406030204" pitchFamily="18" charset="0"/>
                        <a:ea typeface="Cambria Math" panose="02040503050406030204" pitchFamily="18" charset="0"/>
                      </a:rPr>
                      <m:t>$</m:t>
                    </m:r>
                    <m:r>
                      <a:rPr lang="en-US" sz="3000" b="1" i="1" smtClean="0">
                        <a:solidFill>
                          <a:srgbClr val="00B050"/>
                        </a:solidFill>
                        <a:latin typeface="Cambria Math" panose="02040503050406030204" pitchFamily="18" charset="0"/>
                        <a:ea typeface="Cambria Math" panose="02040503050406030204" pitchFamily="18" charset="0"/>
                      </a:rPr>
                      <m:t>𝟕𝟎𝟑𝟕𝟖</m:t>
                    </m:r>
                  </m:oMath>
                </a14:m>
                <a:endParaRPr lang="en-US" sz="3000" b="1" dirty="0">
                  <a:solidFill>
                    <a:srgbClr val="263050"/>
                  </a:solidFill>
                </a:endParaRPr>
              </a:p>
              <a:p>
                <a:pPr lvl="0">
                  <a:buClr>
                    <a:srgbClr val="263050"/>
                  </a:buClr>
                </a:pPr>
                <a:r>
                  <a:rPr lang="en-US" dirty="0">
                    <a:solidFill>
                      <a:srgbClr val="263050"/>
                    </a:solidFill>
                  </a:rPr>
                  <a:t>Luke will have approximately $70,378 in his IRA account when he retires at age 65.</a:t>
                </a:r>
              </a:p>
              <a:p>
                <a:pPr lvl="0">
                  <a:buClr>
                    <a:srgbClr val="263050"/>
                  </a:buClr>
                </a:pPr>
                <a:r>
                  <a:rPr lang="en-US" sz="3000" b="0" dirty="0">
                    <a:solidFill>
                      <a:srgbClr val="263050"/>
                    </a:solidFill>
                  </a:rPr>
                  <a:t>(b.) </a:t>
                </a:r>
                <a14:m>
                  <m:oMath xmlns:m="http://schemas.openxmlformats.org/officeDocument/2006/math">
                    <m:r>
                      <a:rPr lang="en-US" sz="3000" b="0" i="1" smtClean="0">
                        <a:solidFill>
                          <a:srgbClr val="263050"/>
                        </a:solidFill>
                        <a:latin typeface="Cambria Math" panose="02040503050406030204" pitchFamily="18" charset="0"/>
                      </a:rPr>
                      <m:t>𝐼𝑛𝑡𝑒𝑟𝑒𝑠𝑡</m:t>
                    </m:r>
                    <m:r>
                      <a:rPr lang="en-US" sz="3000" b="0" i="1" smtClean="0">
                        <a:solidFill>
                          <a:srgbClr val="263050"/>
                        </a:solidFill>
                        <a:latin typeface="Cambria Math" panose="02040503050406030204" pitchFamily="18" charset="0"/>
                      </a:rPr>
                      <m:t>=</m:t>
                    </m:r>
                    <m:r>
                      <a:rPr lang="en-US" sz="3000" b="0" i="1" smtClean="0">
                        <a:solidFill>
                          <a:srgbClr val="263050"/>
                        </a:solidFill>
                        <a:latin typeface="Cambria Math" panose="02040503050406030204" pitchFamily="18" charset="0"/>
                      </a:rPr>
                      <m:t>𝐹𝑉</m:t>
                    </m:r>
                    <m:r>
                      <a:rPr lang="en-US" sz="3000" b="0" i="1" smtClean="0">
                        <a:solidFill>
                          <a:srgbClr val="263050"/>
                        </a:solidFill>
                        <a:latin typeface="Cambria Math" panose="02040503050406030204" pitchFamily="18" charset="0"/>
                      </a:rPr>
                      <m:t>−</m:t>
                    </m:r>
                    <m:d>
                      <m:dPr>
                        <m:ctrlPr>
                          <a:rPr lang="en-US" sz="3000" b="0" i="1" smtClean="0">
                            <a:solidFill>
                              <a:srgbClr val="263050"/>
                            </a:solidFill>
                            <a:latin typeface="Cambria Math" panose="02040503050406030204" pitchFamily="18" charset="0"/>
                          </a:rPr>
                        </m:ctrlPr>
                      </m:dPr>
                      <m:e>
                        <m:r>
                          <a:rPr lang="en-US" sz="3000" b="0" i="1" smtClean="0">
                            <a:solidFill>
                              <a:srgbClr val="263050"/>
                            </a:solidFill>
                            <a:latin typeface="Cambria Math" panose="02040503050406030204" pitchFamily="18" charset="0"/>
                          </a:rPr>
                          <m:t>𝑃𝑀𝑇</m:t>
                        </m:r>
                        <m:r>
                          <a:rPr lang="en-US" sz="3000" b="0" i="1" smtClean="0">
                            <a:solidFill>
                              <a:srgbClr val="263050"/>
                            </a:solidFill>
                            <a:latin typeface="Cambria Math" panose="02040503050406030204" pitchFamily="18" charset="0"/>
                          </a:rPr>
                          <m:t>∗</m:t>
                        </m:r>
                        <m:r>
                          <a:rPr lang="en-US" sz="3000" b="0" i="1" smtClean="0">
                            <a:solidFill>
                              <a:srgbClr val="263050"/>
                            </a:solidFill>
                            <a:latin typeface="Cambria Math" panose="02040503050406030204" pitchFamily="18" charset="0"/>
                          </a:rPr>
                          <m:t>𝑛</m:t>
                        </m:r>
                      </m:e>
                    </m:d>
                    <m:r>
                      <a:rPr lang="en-US" sz="3000" b="0" i="1" smtClean="0">
                        <a:solidFill>
                          <a:srgbClr val="263050"/>
                        </a:solidFill>
                        <a:latin typeface="Cambria Math" panose="02040503050406030204" pitchFamily="18" charset="0"/>
                      </a:rPr>
                      <m:t>  </m:t>
                    </m:r>
                    <m:r>
                      <a:rPr lang="en-US" sz="3000" b="0" i="1" smtClean="0">
                        <a:solidFill>
                          <a:srgbClr val="263050"/>
                        </a:solidFill>
                        <a:latin typeface="Cambria Math" panose="02040503050406030204" pitchFamily="18" charset="0"/>
                      </a:rPr>
                      <m:t>𝑂𝑅</m:t>
                    </m:r>
                  </m:oMath>
                </a14:m>
                <a:endParaRPr lang="en-US" sz="3000" b="0" i="1" dirty="0">
                  <a:solidFill>
                    <a:srgbClr val="263050"/>
                  </a:solidFill>
                  <a:latin typeface="Cambria Math" panose="02040503050406030204" pitchFamily="18" charset="0"/>
                </a:endParaRPr>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𝐼𝑛𝑡𝑒𝑟𝑒𝑠𝑡</m:t>
                    </m:r>
                    <m:r>
                      <a:rPr lang="en-US" sz="3000" i="1">
                        <a:solidFill>
                          <a:srgbClr val="263050"/>
                        </a:solidFill>
                        <a:latin typeface="Cambria Math" panose="02040503050406030204" pitchFamily="18" charset="0"/>
                      </a:rPr>
                      <m:t>=</m:t>
                    </m:r>
                    <m:r>
                      <a:rPr lang="en-US" sz="3000" i="1">
                        <a:solidFill>
                          <a:srgbClr val="263050"/>
                        </a:solidFill>
                        <a:latin typeface="Cambria Math" panose="02040503050406030204" pitchFamily="18" charset="0"/>
                      </a:rPr>
                      <m:t>𝐹𝑉</m:t>
                    </m:r>
                    <m:r>
                      <a:rPr lang="en-US" sz="3000" i="1">
                        <a:solidFill>
                          <a:srgbClr val="263050"/>
                        </a:solidFill>
                        <a:latin typeface="Cambria Math" panose="02040503050406030204" pitchFamily="18" charset="0"/>
                      </a:rPr>
                      <m:t>−</m:t>
                    </m:r>
                    <m:d>
                      <m:dPr>
                        <m:ctrlPr>
                          <a:rPr lang="en-US" sz="3000" i="1">
                            <a:solidFill>
                              <a:srgbClr val="263050"/>
                            </a:solidFill>
                            <a:latin typeface="Cambria Math" panose="02040503050406030204" pitchFamily="18" charset="0"/>
                          </a:rPr>
                        </m:ctrlPr>
                      </m:dPr>
                      <m:e>
                        <m:r>
                          <a:rPr lang="en-US" sz="3000" i="1">
                            <a:solidFill>
                              <a:srgbClr val="263050"/>
                            </a:solidFill>
                            <a:latin typeface="Cambria Math" panose="02040503050406030204" pitchFamily="18" charset="0"/>
                          </a:rPr>
                          <m:t>𝑃𝑀𝑇</m:t>
                        </m:r>
                        <m:r>
                          <a:rPr lang="en-US" sz="3000" i="1">
                            <a:solidFill>
                              <a:srgbClr val="263050"/>
                            </a:solidFill>
                            <a:latin typeface="Cambria Math" panose="02040503050406030204" pitchFamily="18" charset="0"/>
                          </a:rPr>
                          <m:t>∗</m:t>
                        </m:r>
                        <m:r>
                          <a:rPr lang="en-US" sz="3000" b="0" i="1" smtClean="0">
                            <a:solidFill>
                              <a:srgbClr val="263050"/>
                            </a:solidFill>
                            <a:latin typeface="Cambria Math" panose="02040503050406030204" pitchFamily="18" charset="0"/>
                          </a:rPr>
                          <m:t>𝑚</m:t>
                        </m:r>
                        <m:r>
                          <a:rPr lang="en-US" sz="3000" b="0" i="1" smtClean="0">
                            <a:solidFill>
                              <a:srgbClr val="263050"/>
                            </a:solidFill>
                            <a:latin typeface="Cambria Math" panose="02040503050406030204" pitchFamily="18" charset="0"/>
                          </a:rPr>
                          <m:t>∗</m:t>
                        </m:r>
                        <m:r>
                          <a:rPr lang="en-US" sz="3000" b="0" i="1" smtClean="0">
                            <a:solidFill>
                              <a:srgbClr val="263050"/>
                            </a:solidFill>
                            <a:latin typeface="Cambria Math" panose="02040503050406030204" pitchFamily="18" charset="0"/>
                          </a:rPr>
                          <m:t>𝑡</m:t>
                        </m:r>
                      </m:e>
                    </m:d>
                  </m:oMath>
                </a14:m>
                <a:endParaRPr lang="en-US" sz="3000" b="0" i="1" dirty="0">
                  <a:solidFill>
                    <a:srgbClr val="263050"/>
                  </a:solidFill>
                  <a:latin typeface="Cambria Math" panose="02040503050406030204" pitchFamily="18" charset="0"/>
                </a:endParaRPr>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𝐼𝑛𝑡𝑒𝑟𝑒𝑠𝑡</m:t>
                    </m:r>
                    <m:r>
                      <a:rPr lang="en-US" sz="3000" i="1">
                        <a:solidFill>
                          <a:srgbClr val="263050"/>
                        </a:solidFill>
                        <a:latin typeface="Cambria Math" panose="02040503050406030204" pitchFamily="18" charset="0"/>
                      </a:rPr>
                      <m:t>=70377.90−</m:t>
                    </m:r>
                    <m:d>
                      <m:dPr>
                        <m:ctrlPr>
                          <a:rPr lang="en-US" sz="3000" i="1">
                            <a:solidFill>
                              <a:srgbClr val="263050"/>
                            </a:solidFill>
                            <a:latin typeface="Cambria Math" panose="02040503050406030204" pitchFamily="18" charset="0"/>
                          </a:rPr>
                        </m:ctrlPr>
                      </m:dPr>
                      <m:e>
                        <m:r>
                          <a:rPr lang="en-US" sz="3000" b="0" i="1" smtClean="0">
                            <a:solidFill>
                              <a:srgbClr val="263050"/>
                            </a:solidFill>
                            <a:latin typeface="Cambria Math" panose="02040503050406030204" pitchFamily="18" charset="0"/>
                          </a:rPr>
                          <m:t>70</m:t>
                        </m:r>
                        <m:r>
                          <a:rPr lang="en-US" sz="3000" i="1">
                            <a:solidFill>
                              <a:srgbClr val="263050"/>
                            </a:solidFill>
                            <a:latin typeface="Cambria Math" panose="02040503050406030204" pitchFamily="18" charset="0"/>
                          </a:rPr>
                          <m:t>∗</m:t>
                        </m:r>
                        <m:r>
                          <a:rPr lang="en-US" sz="3000" b="0" i="1" smtClean="0">
                            <a:solidFill>
                              <a:srgbClr val="263050"/>
                            </a:solidFill>
                            <a:latin typeface="Cambria Math" panose="02040503050406030204" pitchFamily="18" charset="0"/>
                          </a:rPr>
                          <m:t>12∗33</m:t>
                        </m:r>
                      </m:e>
                    </m:d>
                  </m:oMath>
                </a14:m>
                <a:endParaRPr lang="en-US" dirty="0"/>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𝐼𝑛𝑡𝑒𝑟𝑒𝑠𝑡</m:t>
                    </m:r>
                    <m:r>
                      <a:rPr lang="en-US" sz="3000" i="1">
                        <a:solidFill>
                          <a:srgbClr val="263050"/>
                        </a:solidFill>
                        <a:latin typeface="Cambria Math" panose="02040503050406030204" pitchFamily="18" charset="0"/>
                      </a:rPr>
                      <m:t>=70377.90−27720</m:t>
                    </m:r>
                  </m:oMath>
                </a14:m>
                <a:endParaRPr lang="en-US" dirty="0"/>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𝐼𝑛𝑡𝑒𝑟𝑒𝑠𝑡</m:t>
                    </m:r>
                    <m:r>
                      <a:rPr lang="en-US" sz="3000" i="1">
                        <a:solidFill>
                          <a:srgbClr val="263050"/>
                        </a:solidFill>
                        <a:latin typeface="Cambria Math" panose="02040503050406030204" pitchFamily="18" charset="0"/>
                      </a:rPr>
                      <m:t>=$42657.90≈</m:t>
                    </m:r>
                    <m:r>
                      <a:rPr lang="en-US" sz="3000" b="1" i="1" smtClean="0">
                        <a:solidFill>
                          <a:srgbClr val="00B050"/>
                        </a:solidFill>
                        <a:latin typeface="Cambria Math" panose="02040503050406030204" pitchFamily="18" charset="0"/>
                        <a:ea typeface="Cambria Math" panose="02040503050406030204" pitchFamily="18" charset="0"/>
                      </a:rPr>
                      <m:t>$</m:t>
                    </m:r>
                    <m:r>
                      <a:rPr lang="en-US" sz="3000" b="1" i="1" smtClean="0">
                        <a:solidFill>
                          <a:srgbClr val="00B050"/>
                        </a:solidFill>
                        <a:latin typeface="Cambria Math" panose="02040503050406030204" pitchFamily="18" charset="0"/>
                        <a:ea typeface="Cambria Math" panose="02040503050406030204" pitchFamily="18" charset="0"/>
                      </a:rPr>
                      <m:t>𝟒𝟐𝟔𝟓𝟖</m:t>
                    </m:r>
                  </m:oMath>
                </a14:m>
                <a:endParaRPr lang="en-US" b="1" dirty="0"/>
              </a:p>
              <a:p>
                <a:pPr>
                  <a:buClr>
                    <a:srgbClr val="263050"/>
                  </a:buClr>
                </a:pPr>
                <a:r>
                  <a:rPr lang="en-US" b="1" u="sng" dirty="0">
                    <a:solidFill>
                      <a:srgbClr val="263050"/>
                    </a:solidFill>
                  </a:rPr>
                  <a:t>NOTE</a:t>
                </a:r>
                <a:r>
                  <a:rPr lang="en-US" dirty="0">
                    <a:solidFill>
                      <a:srgbClr val="263050"/>
                    </a:solidFill>
                  </a:rPr>
                  <a:t>: Whenever you are solving calculations dealing with money, do not round until the final answer. Round only when you are asked to round. Otherwise, round your answer to the two decimal places or to the nearest hundredth. (dollars and cents).</a:t>
                </a:r>
              </a:p>
              <a:p>
                <a:pPr lvl="0">
                  <a:buClr>
                    <a:srgbClr val="263050"/>
                  </a:buClr>
                </a:pPr>
                <a:endParaRPr lang="en-US" dirty="0"/>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1341120" y="1159099"/>
                <a:ext cx="9509760" cy="5318974"/>
              </a:xfrm>
              <a:blipFill rotWithShape="0">
                <a:blip r:embed="rId2"/>
                <a:stretch>
                  <a:fillRect l="-769" b="-916"/>
                </a:stretch>
              </a:blipFill>
            </p:spPr>
            <p:txBody>
              <a:bodyPr/>
              <a:lstStyle/>
              <a:p>
                <a:r>
                  <a:rPr lang="en-US">
                    <a:noFill/>
                  </a:rPr>
                  <a:t> </a:t>
                </a:r>
              </a:p>
            </p:txBody>
          </p:sp>
        </mc:Fallback>
      </mc:AlternateContent>
    </p:spTree>
    <p:extLst>
      <p:ext uri="{BB962C8B-B14F-4D97-AF65-F5344CB8AC3E}">
        <p14:creationId xmlns:p14="http://schemas.microsoft.com/office/powerpoint/2010/main" val="37234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Question 3							1</a:t>
            </a:r>
          </a:p>
        </p:txBody>
      </p:sp>
      <p:sp>
        <p:nvSpPr>
          <p:cNvPr id="14" name="Content Placeholder 13"/>
          <p:cNvSpPr>
            <a:spLocks noGrp="1"/>
          </p:cNvSpPr>
          <p:nvPr>
            <p:ph idx="1"/>
          </p:nvPr>
        </p:nvSpPr>
        <p:spPr>
          <a:xfrm>
            <a:off x="1341120" y="1339404"/>
            <a:ext cx="9509760" cy="4690176"/>
          </a:xfrm>
        </p:spPr>
        <p:txBody>
          <a:bodyPr>
            <a:normAutofit/>
          </a:bodyPr>
          <a:lstStyle/>
          <a:p>
            <a:r>
              <a:rPr lang="en-US" dirty="0"/>
              <a:t>(a.) Between the ages of 22 and 28, Rita contributed $7000 per year to a 401(k) and her employer contributed $3500 per year (matched it 50%) on her behalf. The interest rate is 8.6% compounded annually. What is the value of the 401(k) at the end of the 6 years? Round your answers to the nearest dollar and use the whole dollar amount for subsequent calculations.</a:t>
            </a:r>
          </a:p>
          <a:p>
            <a:r>
              <a:rPr lang="en-US" dirty="0"/>
              <a:t>(b.) After 6 years of working for this firm, she moved on to a new job. However, she kept her accumulated retirement funds in the 401(k). How much money will she have in the plan when she reaches age 65?</a:t>
            </a:r>
          </a:p>
          <a:p>
            <a:r>
              <a:rPr lang="en-US" dirty="0"/>
              <a:t>(c.) How much did she contribute to the 401(k) plan? </a:t>
            </a:r>
          </a:p>
          <a:p>
            <a:r>
              <a:rPr lang="en-US" dirty="0"/>
              <a:t>(d.) How much did her employer contribute to the plan?</a:t>
            </a:r>
          </a:p>
          <a:p>
            <a:r>
              <a:rPr lang="en-US" dirty="0"/>
              <a:t>(e.) What is the difference between the amount of money she would have accumulated in the 401(k) and the amount she contributed to the plan? </a:t>
            </a:r>
          </a:p>
        </p:txBody>
      </p:sp>
    </p:spTree>
    <p:extLst>
      <p:ext uri="{BB962C8B-B14F-4D97-AF65-F5344CB8AC3E}">
        <p14:creationId xmlns:p14="http://schemas.microsoft.com/office/powerpoint/2010/main" val="3428547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Question 3							2</a:t>
            </a:r>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1341120" y="1159099"/>
                <a:ext cx="9509760" cy="5293215"/>
              </a:xfrm>
            </p:spPr>
            <p:txBody>
              <a:bodyPr>
                <a:normAutofit fontScale="92500"/>
              </a:bodyPr>
              <a:lstStyle/>
              <a:p>
                <a:pPr lvl="0">
                  <a:buClr>
                    <a:srgbClr val="263050"/>
                  </a:buClr>
                </a:pPr>
                <a:r>
                  <a:rPr lang="en-US" sz="2200" u="sng" dirty="0">
                    <a:solidFill>
                      <a:srgbClr val="263050"/>
                    </a:solidFill>
                  </a:rPr>
                  <a:t>Solution</a:t>
                </a:r>
                <a:r>
                  <a:rPr lang="en-US" u="sng" dirty="0">
                    <a:solidFill>
                      <a:srgbClr val="263050"/>
                    </a:solidFill>
                  </a:rPr>
                  <a:t> </a:t>
                </a:r>
              </a:p>
              <a:p>
                <a:pPr lvl="0">
                  <a:buClr>
                    <a:srgbClr val="263050"/>
                  </a:buClr>
                </a:pPr>
                <a:r>
                  <a:rPr lang="en-US" dirty="0">
                    <a:solidFill>
                      <a:srgbClr val="263050"/>
                    </a:solidFill>
                  </a:rPr>
                  <a:t>(a.) </a:t>
                </a:r>
                <a:r>
                  <a:rPr lang="en-US" sz="2200" dirty="0">
                    <a:solidFill>
                      <a:srgbClr val="263050"/>
                    </a:solidFill>
                  </a:rPr>
                  <a:t>PMT = $7000 + $3500 = $10500; r = 8.6% = 0.086; m = 1; t = 28 – 22 = 6 years</a:t>
                </a:r>
              </a:p>
              <a:p>
                <a:pPr lvl="0">
                  <a:buClr>
                    <a:srgbClr val="263050"/>
                  </a:buClr>
                </a:pPr>
                <a14:m>
                  <m:oMath xmlns:m="http://schemas.openxmlformats.org/officeDocument/2006/math">
                    <m:r>
                      <a:rPr lang="en-US" sz="3000" i="1" smtClean="0">
                        <a:solidFill>
                          <a:srgbClr val="263050"/>
                        </a:solidFill>
                        <a:latin typeface="Cambria Math" panose="02040503050406030204" pitchFamily="18" charset="0"/>
                      </a:rPr>
                      <m:t>𝐹𝑉</m:t>
                    </m:r>
                    <m:r>
                      <a:rPr lang="en-US" sz="3000" i="1" smtClean="0">
                        <a:solidFill>
                          <a:srgbClr val="263050"/>
                        </a:solidFill>
                        <a:latin typeface="Cambria Math" panose="02040503050406030204" pitchFamily="18" charset="0"/>
                      </a:rPr>
                      <m:t>=</m:t>
                    </m:r>
                    <m:r>
                      <a:rPr lang="en-US" sz="3000" i="1" smtClean="0">
                        <a:solidFill>
                          <a:srgbClr val="263050"/>
                        </a:solidFill>
                        <a:latin typeface="Cambria Math" panose="02040503050406030204" pitchFamily="18" charset="0"/>
                      </a:rPr>
                      <m:t>𝑚</m:t>
                    </m:r>
                    <m:r>
                      <a:rPr lang="en-US" sz="3000" i="1" smtClean="0">
                        <a:solidFill>
                          <a:srgbClr val="263050"/>
                        </a:solidFill>
                        <a:latin typeface="Cambria Math" panose="02040503050406030204" pitchFamily="18" charset="0"/>
                      </a:rPr>
                      <m:t>∗</m:t>
                    </m:r>
                    <m:r>
                      <a:rPr lang="en-US" sz="3000" i="1" smtClean="0">
                        <a:solidFill>
                          <a:srgbClr val="263050"/>
                        </a:solidFill>
                        <a:latin typeface="Cambria Math" panose="02040503050406030204" pitchFamily="18" charset="0"/>
                      </a:rPr>
                      <m:t>𝑃𝑀𝑇</m:t>
                    </m:r>
                    <m:r>
                      <a:rPr lang="en-US" sz="3000" i="1" smtClean="0">
                        <a:solidFill>
                          <a:srgbClr val="263050"/>
                        </a:solidFill>
                        <a:latin typeface="Cambria Math" panose="02040503050406030204" pitchFamily="18" charset="0"/>
                      </a:rPr>
                      <m:t>∗[</m:t>
                    </m:r>
                    <m:f>
                      <m:fPr>
                        <m:ctrlPr>
                          <a:rPr lang="en-US" sz="3000" i="1">
                            <a:solidFill>
                              <a:srgbClr val="263050"/>
                            </a:solidFill>
                            <a:latin typeface="Cambria Math" panose="02040503050406030204" pitchFamily="18" charset="0"/>
                          </a:rPr>
                        </m:ctrlPr>
                      </m:fPr>
                      <m:num>
                        <m:sSup>
                          <m:sSupPr>
                            <m:ctrlPr>
                              <a:rPr lang="en-US" sz="3000" i="1">
                                <a:solidFill>
                                  <a:srgbClr val="263050"/>
                                </a:solidFill>
                                <a:latin typeface="Cambria Math" panose="02040503050406030204" pitchFamily="18" charset="0"/>
                              </a:rPr>
                            </m:ctrlPr>
                          </m:sSupPr>
                          <m:e>
                            <m:r>
                              <a:rPr lang="en-US" sz="3000" i="1">
                                <a:solidFill>
                                  <a:srgbClr val="263050"/>
                                </a:solidFill>
                                <a:latin typeface="Cambria Math" panose="02040503050406030204" pitchFamily="18" charset="0"/>
                              </a:rPr>
                              <m:t>(1+</m:t>
                            </m:r>
                            <m:f>
                              <m:fPr>
                                <m:ctrlPr>
                                  <a:rPr lang="en-US" sz="3000" i="1">
                                    <a:solidFill>
                                      <a:srgbClr val="263050"/>
                                    </a:solidFill>
                                    <a:latin typeface="Cambria Math" panose="02040503050406030204" pitchFamily="18" charset="0"/>
                                  </a:rPr>
                                </m:ctrlPr>
                              </m:fPr>
                              <m:num>
                                <m:r>
                                  <a:rPr lang="en-US" sz="3000" i="1">
                                    <a:solidFill>
                                      <a:srgbClr val="263050"/>
                                    </a:solidFill>
                                    <a:latin typeface="Cambria Math" panose="02040503050406030204" pitchFamily="18" charset="0"/>
                                  </a:rPr>
                                  <m:t>𝑟</m:t>
                                </m:r>
                              </m:num>
                              <m:den>
                                <m:r>
                                  <a:rPr lang="en-US" sz="3000" i="1">
                                    <a:solidFill>
                                      <a:srgbClr val="263050"/>
                                    </a:solidFill>
                                    <a:latin typeface="Cambria Math" panose="02040503050406030204" pitchFamily="18" charset="0"/>
                                  </a:rPr>
                                  <m:t>𝑚</m:t>
                                </m:r>
                              </m:den>
                            </m:f>
                            <m:r>
                              <a:rPr lang="en-US" sz="3000" i="1">
                                <a:solidFill>
                                  <a:srgbClr val="263050"/>
                                </a:solidFill>
                                <a:latin typeface="Cambria Math" panose="02040503050406030204" pitchFamily="18" charset="0"/>
                              </a:rPr>
                              <m:t>)</m:t>
                            </m:r>
                          </m:e>
                          <m:sup>
                            <m:r>
                              <a:rPr lang="en-US" sz="3000" i="1">
                                <a:solidFill>
                                  <a:srgbClr val="263050"/>
                                </a:solidFill>
                                <a:latin typeface="Cambria Math" panose="02040503050406030204" pitchFamily="18" charset="0"/>
                              </a:rPr>
                              <m:t>𝑚𝑡</m:t>
                            </m:r>
                          </m:sup>
                        </m:sSup>
                        <m:r>
                          <a:rPr lang="en-US" sz="3000" i="1">
                            <a:solidFill>
                              <a:srgbClr val="263050"/>
                            </a:solidFill>
                            <a:latin typeface="Cambria Math" panose="02040503050406030204" pitchFamily="18" charset="0"/>
                          </a:rPr>
                          <m:t>−1</m:t>
                        </m:r>
                      </m:num>
                      <m:den>
                        <m:r>
                          <a:rPr lang="en-US" sz="3000" i="1">
                            <a:solidFill>
                              <a:srgbClr val="263050"/>
                            </a:solidFill>
                            <a:latin typeface="Cambria Math" panose="02040503050406030204" pitchFamily="18" charset="0"/>
                          </a:rPr>
                          <m:t>𝑟</m:t>
                        </m:r>
                      </m:den>
                    </m:f>
                    <m:r>
                      <a:rPr lang="en-US" sz="3000" i="1">
                        <a:solidFill>
                          <a:srgbClr val="263050"/>
                        </a:solidFill>
                        <a:latin typeface="Cambria Math" panose="02040503050406030204" pitchFamily="18" charset="0"/>
                      </a:rPr>
                      <m:t>]</m:t>
                    </m:r>
                  </m:oMath>
                </a14:m>
                <a:endParaRPr lang="en-US" sz="3000" dirty="0">
                  <a:solidFill>
                    <a:srgbClr val="263050"/>
                  </a:solidFill>
                </a:endParaRPr>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𝐹𝑉</m:t>
                    </m:r>
                    <m:r>
                      <a:rPr lang="en-US" sz="3000" i="1">
                        <a:solidFill>
                          <a:srgbClr val="263050"/>
                        </a:solidFill>
                        <a:latin typeface="Cambria Math" panose="02040503050406030204" pitchFamily="18" charset="0"/>
                      </a:rPr>
                      <m:t>=1∗10500∗[</m:t>
                    </m:r>
                    <m:f>
                      <m:fPr>
                        <m:ctrlPr>
                          <a:rPr lang="en-US" sz="3000" i="1">
                            <a:solidFill>
                              <a:srgbClr val="263050"/>
                            </a:solidFill>
                            <a:latin typeface="Cambria Math" panose="02040503050406030204" pitchFamily="18" charset="0"/>
                          </a:rPr>
                        </m:ctrlPr>
                      </m:fPr>
                      <m:num>
                        <m:sSup>
                          <m:sSupPr>
                            <m:ctrlPr>
                              <a:rPr lang="en-US" sz="3000" i="1">
                                <a:solidFill>
                                  <a:srgbClr val="263050"/>
                                </a:solidFill>
                                <a:latin typeface="Cambria Math" panose="02040503050406030204" pitchFamily="18" charset="0"/>
                              </a:rPr>
                            </m:ctrlPr>
                          </m:sSupPr>
                          <m:e>
                            <m:r>
                              <a:rPr lang="en-US" sz="3000" i="1">
                                <a:solidFill>
                                  <a:srgbClr val="263050"/>
                                </a:solidFill>
                                <a:latin typeface="Cambria Math" panose="02040503050406030204" pitchFamily="18" charset="0"/>
                              </a:rPr>
                              <m:t>(1+</m:t>
                            </m:r>
                            <m:f>
                              <m:fPr>
                                <m:ctrlPr>
                                  <a:rPr lang="en-US" sz="3000" i="1">
                                    <a:solidFill>
                                      <a:srgbClr val="263050"/>
                                    </a:solidFill>
                                    <a:latin typeface="Cambria Math" panose="02040503050406030204" pitchFamily="18" charset="0"/>
                                  </a:rPr>
                                </m:ctrlPr>
                              </m:fPr>
                              <m:num>
                                <m:r>
                                  <a:rPr lang="en-US" sz="3000" i="1">
                                    <a:solidFill>
                                      <a:srgbClr val="263050"/>
                                    </a:solidFill>
                                    <a:latin typeface="Cambria Math" panose="02040503050406030204" pitchFamily="18" charset="0"/>
                                  </a:rPr>
                                  <m:t>0.0</m:t>
                                </m:r>
                                <m:r>
                                  <a:rPr lang="en-US" sz="3000" b="0" i="1" smtClean="0">
                                    <a:solidFill>
                                      <a:srgbClr val="263050"/>
                                    </a:solidFill>
                                    <a:latin typeface="Cambria Math" panose="02040503050406030204" pitchFamily="18" charset="0"/>
                                  </a:rPr>
                                  <m:t>86</m:t>
                                </m:r>
                              </m:num>
                              <m:den>
                                <m:r>
                                  <a:rPr lang="en-US" sz="3000" i="1">
                                    <a:solidFill>
                                      <a:srgbClr val="263050"/>
                                    </a:solidFill>
                                    <a:latin typeface="Cambria Math" panose="02040503050406030204" pitchFamily="18" charset="0"/>
                                  </a:rPr>
                                  <m:t>1</m:t>
                                </m:r>
                              </m:den>
                            </m:f>
                            <m:r>
                              <a:rPr lang="en-US" sz="3000" i="1">
                                <a:solidFill>
                                  <a:srgbClr val="263050"/>
                                </a:solidFill>
                                <a:latin typeface="Cambria Math" panose="02040503050406030204" pitchFamily="18" charset="0"/>
                              </a:rPr>
                              <m:t>)</m:t>
                            </m:r>
                          </m:e>
                          <m:sup>
                            <m:r>
                              <a:rPr lang="en-US" sz="3000" i="1">
                                <a:solidFill>
                                  <a:srgbClr val="263050"/>
                                </a:solidFill>
                                <a:latin typeface="Cambria Math" panose="02040503050406030204" pitchFamily="18" charset="0"/>
                              </a:rPr>
                              <m:t>1∗</m:t>
                            </m:r>
                            <m:r>
                              <a:rPr lang="en-US" sz="3000" b="0" i="1" smtClean="0">
                                <a:solidFill>
                                  <a:srgbClr val="263050"/>
                                </a:solidFill>
                                <a:latin typeface="Cambria Math" panose="02040503050406030204" pitchFamily="18" charset="0"/>
                              </a:rPr>
                              <m:t>6</m:t>
                            </m:r>
                          </m:sup>
                        </m:sSup>
                        <m:r>
                          <a:rPr lang="en-US" sz="3000" i="1">
                            <a:solidFill>
                              <a:srgbClr val="263050"/>
                            </a:solidFill>
                            <a:latin typeface="Cambria Math" panose="02040503050406030204" pitchFamily="18" charset="0"/>
                          </a:rPr>
                          <m:t>−1</m:t>
                        </m:r>
                      </m:num>
                      <m:den>
                        <m:r>
                          <a:rPr lang="en-US" sz="3000" i="1">
                            <a:solidFill>
                              <a:srgbClr val="263050"/>
                            </a:solidFill>
                            <a:latin typeface="Cambria Math" panose="02040503050406030204" pitchFamily="18" charset="0"/>
                          </a:rPr>
                          <m:t>0.</m:t>
                        </m:r>
                        <m:r>
                          <a:rPr lang="en-US" sz="3000" b="0" i="1" smtClean="0">
                            <a:solidFill>
                              <a:srgbClr val="263050"/>
                            </a:solidFill>
                            <a:latin typeface="Cambria Math" panose="02040503050406030204" pitchFamily="18" charset="0"/>
                          </a:rPr>
                          <m:t>086</m:t>
                        </m:r>
                      </m:den>
                    </m:f>
                    <m:r>
                      <a:rPr lang="en-US" sz="3000" i="1">
                        <a:solidFill>
                          <a:srgbClr val="263050"/>
                        </a:solidFill>
                        <a:latin typeface="Cambria Math" panose="02040503050406030204" pitchFamily="18" charset="0"/>
                      </a:rPr>
                      <m:t>]</m:t>
                    </m:r>
                  </m:oMath>
                </a14:m>
                <a:endParaRPr lang="en-US" sz="3000" dirty="0">
                  <a:solidFill>
                    <a:srgbClr val="263050"/>
                  </a:solidFill>
                </a:endParaRPr>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𝐹𝑉</m:t>
                    </m:r>
                    <m:r>
                      <a:rPr lang="en-US" sz="3000" i="1">
                        <a:solidFill>
                          <a:srgbClr val="263050"/>
                        </a:solidFill>
                        <a:latin typeface="Cambria Math" panose="02040503050406030204" pitchFamily="18" charset="0"/>
                      </a:rPr>
                      <m:t>=10500∗[</m:t>
                    </m:r>
                    <m:f>
                      <m:fPr>
                        <m:ctrlPr>
                          <a:rPr lang="en-US" sz="3000" i="1">
                            <a:solidFill>
                              <a:srgbClr val="263050"/>
                            </a:solidFill>
                            <a:latin typeface="Cambria Math" panose="02040503050406030204" pitchFamily="18" charset="0"/>
                          </a:rPr>
                        </m:ctrlPr>
                      </m:fPr>
                      <m:num>
                        <m:sSup>
                          <m:sSupPr>
                            <m:ctrlPr>
                              <a:rPr lang="en-US" sz="3000" i="1">
                                <a:solidFill>
                                  <a:srgbClr val="263050"/>
                                </a:solidFill>
                                <a:latin typeface="Cambria Math" panose="02040503050406030204" pitchFamily="18" charset="0"/>
                              </a:rPr>
                            </m:ctrlPr>
                          </m:sSupPr>
                          <m:e>
                            <m:r>
                              <a:rPr lang="en-US" sz="3000" i="1">
                                <a:solidFill>
                                  <a:srgbClr val="263050"/>
                                </a:solidFill>
                                <a:latin typeface="Cambria Math" panose="02040503050406030204" pitchFamily="18" charset="0"/>
                              </a:rPr>
                              <m:t>(1+</m:t>
                            </m:r>
                            <m:r>
                              <a:rPr lang="en-US" sz="3000" b="0" i="1" smtClean="0">
                                <a:solidFill>
                                  <a:srgbClr val="263050"/>
                                </a:solidFill>
                                <a:latin typeface="Cambria Math" panose="02040503050406030204" pitchFamily="18" charset="0"/>
                              </a:rPr>
                              <m:t>0.086</m:t>
                            </m:r>
                            <m:r>
                              <a:rPr lang="en-US" sz="3000" i="1">
                                <a:solidFill>
                                  <a:srgbClr val="263050"/>
                                </a:solidFill>
                                <a:latin typeface="Cambria Math" panose="02040503050406030204" pitchFamily="18" charset="0"/>
                              </a:rPr>
                              <m:t>)</m:t>
                            </m:r>
                          </m:e>
                          <m:sup>
                            <m:r>
                              <a:rPr lang="en-US" sz="3000" i="1">
                                <a:solidFill>
                                  <a:srgbClr val="263050"/>
                                </a:solidFill>
                                <a:latin typeface="Cambria Math" panose="02040503050406030204" pitchFamily="18" charset="0"/>
                              </a:rPr>
                              <m:t>6</m:t>
                            </m:r>
                          </m:sup>
                        </m:sSup>
                        <m:r>
                          <a:rPr lang="en-US" sz="3000" i="1">
                            <a:solidFill>
                              <a:srgbClr val="263050"/>
                            </a:solidFill>
                            <a:latin typeface="Cambria Math" panose="02040503050406030204" pitchFamily="18" charset="0"/>
                          </a:rPr>
                          <m:t>−1</m:t>
                        </m:r>
                      </m:num>
                      <m:den>
                        <m:r>
                          <a:rPr lang="en-US" sz="3000" i="1">
                            <a:solidFill>
                              <a:srgbClr val="263050"/>
                            </a:solidFill>
                            <a:latin typeface="Cambria Math" panose="02040503050406030204" pitchFamily="18" charset="0"/>
                          </a:rPr>
                          <m:t>0.086</m:t>
                        </m:r>
                      </m:den>
                    </m:f>
                    <m:r>
                      <a:rPr lang="en-US" sz="3000" i="1">
                        <a:solidFill>
                          <a:srgbClr val="263050"/>
                        </a:solidFill>
                        <a:latin typeface="Cambria Math" panose="02040503050406030204" pitchFamily="18" charset="0"/>
                      </a:rPr>
                      <m:t>]</m:t>
                    </m:r>
                  </m:oMath>
                </a14:m>
                <a:endParaRPr lang="en-US" sz="3000" dirty="0">
                  <a:solidFill>
                    <a:srgbClr val="263050"/>
                  </a:solidFill>
                </a:endParaRPr>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𝐹𝑉</m:t>
                    </m:r>
                    <m:r>
                      <a:rPr lang="en-US" sz="3000" i="1">
                        <a:solidFill>
                          <a:srgbClr val="263050"/>
                        </a:solidFill>
                        <a:latin typeface="Cambria Math" panose="02040503050406030204" pitchFamily="18" charset="0"/>
                      </a:rPr>
                      <m:t>=10500∗[</m:t>
                    </m:r>
                    <m:f>
                      <m:fPr>
                        <m:ctrlPr>
                          <a:rPr lang="en-US" sz="3000" i="1">
                            <a:solidFill>
                              <a:srgbClr val="263050"/>
                            </a:solidFill>
                            <a:latin typeface="Cambria Math" panose="02040503050406030204" pitchFamily="18" charset="0"/>
                          </a:rPr>
                        </m:ctrlPr>
                      </m:fPr>
                      <m:num>
                        <m:sSup>
                          <m:sSupPr>
                            <m:ctrlPr>
                              <a:rPr lang="en-US" sz="3000" i="1">
                                <a:solidFill>
                                  <a:srgbClr val="263050"/>
                                </a:solidFill>
                                <a:latin typeface="Cambria Math" panose="02040503050406030204" pitchFamily="18" charset="0"/>
                              </a:rPr>
                            </m:ctrlPr>
                          </m:sSupPr>
                          <m:e>
                            <m:r>
                              <a:rPr lang="en-US" sz="3000" i="1">
                                <a:solidFill>
                                  <a:srgbClr val="263050"/>
                                </a:solidFill>
                                <a:latin typeface="Cambria Math" panose="02040503050406030204" pitchFamily="18" charset="0"/>
                              </a:rPr>
                              <m:t>(1.086)</m:t>
                            </m:r>
                          </m:e>
                          <m:sup>
                            <m:r>
                              <a:rPr lang="en-US" sz="3000" i="1">
                                <a:solidFill>
                                  <a:srgbClr val="263050"/>
                                </a:solidFill>
                                <a:latin typeface="Cambria Math" panose="02040503050406030204" pitchFamily="18" charset="0"/>
                              </a:rPr>
                              <m:t>6</m:t>
                            </m:r>
                          </m:sup>
                        </m:sSup>
                        <m:r>
                          <a:rPr lang="en-US" sz="3000" i="1">
                            <a:solidFill>
                              <a:srgbClr val="263050"/>
                            </a:solidFill>
                            <a:latin typeface="Cambria Math" panose="02040503050406030204" pitchFamily="18" charset="0"/>
                          </a:rPr>
                          <m:t>−1</m:t>
                        </m:r>
                      </m:num>
                      <m:den>
                        <m:r>
                          <a:rPr lang="en-US" sz="3000" i="1">
                            <a:solidFill>
                              <a:srgbClr val="263050"/>
                            </a:solidFill>
                            <a:latin typeface="Cambria Math" panose="02040503050406030204" pitchFamily="18" charset="0"/>
                          </a:rPr>
                          <m:t>0.086</m:t>
                        </m:r>
                      </m:den>
                    </m:f>
                    <m:r>
                      <a:rPr lang="en-US" sz="3000" i="1">
                        <a:solidFill>
                          <a:srgbClr val="263050"/>
                        </a:solidFill>
                        <a:latin typeface="Cambria Math" panose="02040503050406030204" pitchFamily="18" charset="0"/>
                      </a:rPr>
                      <m:t>]</m:t>
                    </m:r>
                  </m:oMath>
                </a14:m>
                <a:endParaRPr lang="en-US" sz="3000" dirty="0">
                  <a:solidFill>
                    <a:srgbClr val="263050"/>
                  </a:solidFill>
                </a:endParaRPr>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𝐹𝑉</m:t>
                    </m:r>
                    <m:r>
                      <a:rPr lang="en-US" sz="3000" i="1">
                        <a:solidFill>
                          <a:srgbClr val="263050"/>
                        </a:solidFill>
                        <a:latin typeface="Cambria Math" panose="02040503050406030204" pitchFamily="18" charset="0"/>
                      </a:rPr>
                      <m:t>=10500∗</m:t>
                    </m:r>
                    <m:d>
                      <m:dPr>
                        <m:begChr m:val="["/>
                        <m:endChr m:val="]"/>
                        <m:ctrlPr>
                          <a:rPr lang="en-US" sz="3000" i="1">
                            <a:solidFill>
                              <a:srgbClr val="263050"/>
                            </a:solidFill>
                            <a:latin typeface="Cambria Math" panose="02040503050406030204" pitchFamily="18" charset="0"/>
                          </a:rPr>
                        </m:ctrlPr>
                      </m:dPr>
                      <m:e>
                        <m:f>
                          <m:fPr>
                            <m:ctrlPr>
                              <a:rPr lang="en-US" sz="3000" i="1">
                                <a:solidFill>
                                  <a:srgbClr val="263050"/>
                                </a:solidFill>
                                <a:latin typeface="Cambria Math" panose="02040503050406030204" pitchFamily="18" charset="0"/>
                              </a:rPr>
                            </m:ctrlPr>
                          </m:fPr>
                          <m:num>
                            <m:r>
                              <a:rPr lang="en-US" sz="3000" b="0" i="1" smtClean="0">
                                <a:solidFill>
                                  <a:srgbClr val="263050"/>
                                </a:solidFill>
                                <a:latin typeface="Cambria Math" panose="02040503050406030204" pitchFamily="18" charset="0"/>
                              </a:rPr>
                              <m:t>1.640510262</m:t>
                            </m:r>
                            <m:r>
                              <a:rPr lang="en-US" sz="3000" i="1">
                                <a:solidFill>
                                  <a:srgbClr val="263050"/>
                                </a:solidFill>
                                <a:latin typeface="Cambria Math" panose="02040503050406030204" pitchFamily="18" charset="0"/>
                              </a:rPr>
                              <m:t>−1</m:t>
                            </m:r>
                          </m:num>
                          <m:den>
                            <m:r>
                              <a:rPr lang="en-US" sz="3000" i="1">
                                <a:solidFill>
                                  <a:srgbClr val="263050"/>
                                </a:solidFill>
                                <a:latin typeface="Cambria Math" panose="02040503050406030204" pitchFamily="18" charset="0"/>
                              </a:rPr>
                              <m:t>0.086</m:t>
                            </m:r>
                          </m:den>
                        </m:f>
                      </m:e>
                    </m:d>
                    <m:r>
                      <a:rPr lang="en-US" sz="3000" b="0" i="1" smtClean="0">
                        <a:solidFill>
                          <a:srgbClr val="263050"/>
                        </a:solidFill>
                        <a:latin typeface="Cambria Math" panose="02040503050406030204" pitchFamily="18" charset="0"/>
                      </a:rPr>
                      <m:t>=</m:t>
                    </m:r>
                    <m:r>
                      <a:rPr lang="en-US" sz="3000" i="1">
                        <a:solidFill>
                          <a:srgbClr val="263050"/>
                        </a:solidFill>
                        <a:latin typeface="Cambria Math" panose="02040503050406030204" pitchFamily="18" charset="0"/>
                      </a:rPr>
                      <m:t>10500∗</m:t>
                    </m:r>
                    <m:d>
                      <m:dPr>
                        <m:begChr m:val="["/>
                        <m:endChr m:val="]"/>
                        <m:ctrlPr>
                          <a:rPr lang="en-US" sz="3000" i="1">
                            <a:solidFill>
                              <a:srgbClr val="263050"/>
                            </a:solidFill>
                            <a:latin typeface="Cambria Math" panose="02040503050406030204" pitchFamily="18" charset="0"/>
                          </a:rPr>
                        </m:ctrlPr>
                      </m:dPr>
                      <m:e>
                        <m:f>
                          <m:fPr>
                            <m:ctrlPr>
                              <a:rPr lang="en-US" sz="3000" i="1">
                                <a:solidFill>
                                  <a:srgbClr val="263050"/>
                                </a:solidFill>
                                <a:latin typeface="Cambria Math" panose="02040503050406030204" pitchFamily="18" charset="0"/>
                              </a:rPr>
                            </m:ctrlPr>
                          </m:fPr>
                          <m:num>
                            <m:r>
                              <a:rPr lang="en-US" sz="3000" b="0" i="1" smtClean="0">
                                <a:solidFill>
                                  <a:srgbClr val="263050"/>
                                </a:solidFill>
                                <a:latin typeface="Cambria Math" panose="02040503050406030204" pitchFamily="18" charset="0"/>
                              </a:rPr>
                              <m:t>0</m:t>
                            </m:r>
                            <m:r>
                              <a:rPr lang="en-US" sz="3000" i="1">
                                <a:solidFill>
                                  <a:srgbClr val="263050"/>
                                </a:solidFill>
                                <a:latin typeface="Cambria Math" panose="02040503050406030204" pitchFamily="18" charset="0"/>
                              </a:rPr>
                              <m:t>.640510262</m:t>
                            </m:r>
                          </m:num>
                          <m:den>
                            <m:r>
                              <a:rPr lang="en-US" sz="3000" i="1">
                                <a:solidFill>
                                  <a:srgbClr val="263050"/>
                                </a:solidFill>
                                <a:latin typeface="Cambria Math" panose="02040503050406030204" pitchFamily="18" charset="0"/>
                              </a:rPr>
                              <m:t>0.086</m:t>
                            </m:r>
                          </m:den>
                        </m:f>
                      </m:e>
                    </m:d>
                  </m:oMath>
                </a14:m>
                <a:endParaRPr lang="en-US" sz="3000" dirty="0">
                  <a:solidFill>
                    <a:srgbClr val="263050"/>
                  </a:solidFill>
                </a:endParaRPr>
              </a:p>
              <a:p>
                <a:pPr lvl="0">
                  <a:buClr>
                    <a:srgbClr val="263050"/>
                  </a:buClr>
                </a:pPr>
                <a:endParaRPr lang="en-US" sz="3000" dirty="0">
                  <a:solidFill>
                    <a:srgbClr val="263050"/>
                  </a:solidFill>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1341120" y="1159099"/>
                <a:ext cx="9509760" cy="5293215"/>
              </a:xfrm>
              <a:blipFill rotWithShape="0">
                <a:blip r:embed="rId2"/>
                <a:stretch>
                  <a:fillRect l="-64" t="-1152"/>
                </a:stretch>
              </a:blipFill>
            </p:spPr>
            <p:txBody>
              <a:bodyPr/>
              <a:lstStyle/>
              <a:p>
                <a:r>
                  <a:rPr lang="en-US">
                    <a:noFill/>
                  </a:rPr>
                  <a:t> </a:t>
                </a:r>
              </a:p>
            </p:txBody>
          </p:sp>
        </mc:Fallback>
      </mc:AlternateContent>
    </p:spTree>
    <p:extLst>
      <p:ext uri="{BB962C8B-B14F-4D97-AF65-F5344CB8AC3E}">
        <p14:creationId xmlns:p14="http://schemas.microsoft.com/office/powerpoint/2010/main" val="1173139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Question 3							3</a:t>
            </a:r>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1341120" y="1339404"/>
                <a:ext cx="9509760" cy="4690176"/>
              </a:xfrm>
            </p:spPr>
            <p:txBody>
              <a:bodyPr/>
              <a:lstStyle/>
              <a:p>
                <a:pPr lvl="0">
                  <a:buClr>
                    <a:srgbClr val="263050"/>
                  </a:buClr>
                </a:pPr>
                <a14:m>
                  <m:oMath xmlns:m="http://schemas.openxmlformats.org/officeDocument/2006/math">
                    <m:r>
                      <a:rPr lang="en-US" sz="3000" i="1" smtClean="0">
                        <a:solidFill>
                          <a:srgbClr val="263050"/>
                        </a:solidFill>
                        <a:latin typeface="Cambria Math" panose="02040503050406030204" pitchFamily="18" charset="0"/>
                      </a:rPr>
                      <m:t>𝐹𝑉</m:t>
                    </m:r>
                    <m:r>
                      <a:rPr lang="en-US" sz="3000" i="1" smtClean="0">
                        <a:solidFill>
                          <a:srgbClr val="263050"/>
                        </a:solidFill>
                        <a:latin typeface="Cambria Math" panose="02040503050406030204" pitchFamily="18" charset="0"/>
                      </a:rPr>
                      <m:t>=</m:t>
                    </m:r>
                    <m:f>
                      <m:fPr>
                        <m:ctrlPr>
                          <a:rPr lang="en-US" sz="3000" i="1">
                            <a:solidFill>
                              <a:srgbClr val="263050"/>
                            </a:solidFill>
                            <a:latin typeface="Cambria Math" panose="02040503050406030204" pitchFamily="18" charset="0"/>
                          </a:rPr>
                        </m:ctrlPr>
                      </m:fPr>
                      <m:num>
                        <m:r>
                          <a:rPr lang="en-US" sz="3000" b="0" i="1" smtClean="0">
                            <a:solidFill>
                              <a:srgbClr val="263050"/>
                            </a:solidFill>
                            <a:latin typeface="Cambria Math" panose="02040503050406030204" pitchFamily="18" charset="0"/>
                          </a:rPr>
                          <m:t>6725.357755</m:t>
                        </m:r>
                      </m:num>
                      <m:den>
                        <m:r>
                          <a:rPr lang="en-US" sz="3000" i="1">
                            <a:solidFill>
                              <a:srgbClr val="263050"/>
                            </a:solidFill>
                            <a:latin typeface="Cambria Math" panose="02040503050406030204" pitchFamily="18" charset="0"/>
                          </a:rPr>
                          <m:t>0.0</m:t>
                        </m:r>
                        <m:r>
                          <a:rPr lang="en-US" sz="3000" b="0" i="1" smtClean="0">
                            <a:solidFill>
                              <a:srgbClr val="263050"/>
                            </a:solidFill>
                            <a:latin typeface="Cambria Math" panose="02040503050406030204" pitchFamily="18" charset="0"/>
                          </a:rPr>
                          <m:t>86</m:t>
                        </m:r>
                      </m:den>
                    </m:f>
                    <m:r>
                      <a:rPr lang="en-US" sz="3000" b="0" i="1" smtClean="0">
                        <a:solidFill>
                          <a:srgbClr val="263050"/>
                        </a:solidFill>
                        <a:latin typeface="Cambria Math" panose="02040503050406030204" pitchFamily="18" charset="0"/>
                      </a:rPr>
                      <m:t>=$78201.83</m:t>
                    </m:r>
                    <m:r>
                      <a:rPr lang="en-US" sz="3000" b="0" i="1" smtClean="0">
                        <a:solidFill>
                          <a:srgbClr val="263050"/>
                        </a:solidFill>
                        <a:latin typeface="Cambria Math" panose="02040503050406030204" pitchFamily="18" charset="0"/>
                        <a:ea typeface="Cambria Math" panose="02040503050406030204" pitchFamily="18" charset="0"/>
                      </a:rPr>
                      <m:t>≈</m:t>
                    </m:r>
                    <m:r>
                      <a:rPr lang="en-US" sz="3000" b="1" i="1" smtClean="0">
                        <a:solidFill>
                          <a:srgbClr val="00B050"/>
                        </a:solidFill>
                        <a:latin typeface="Cambria Math" panose="02040503050406030204" pitchFamily="18" charset="0"/>
                        <a:ea typeface="Cambria Math" panose="02040503050406030204" pitchFamily="18" charset="0"/>
                      </a:rPr>
                      <m:t>$</m:t>
                    </m:r>
                    <m:r>
                      <a:rPr lang="en-US" sz="3000" b="1" i="1" smtClean="0">
                        <a:solidFill>
                          <a:srgbClr val="00B050"/>
                        </a:solidFill>
                        <a:latin typeface="Cambria Math" panose="02040503050406030204" pitchFamily="18" charset="0"/>
                        <a:ea typeface="Cambria Math" panose="02040503050406030204" pitchFamily="18" charset="0"/>
                      </a:rPr>
                      <m:t>𝟕𝟖𝟐𝟎𝟐</m:t>
                    </m:r>
                  </m:oMath>
                </a14:m>
                <a:endParaRPr lang="en-US" sz="3000" b="1" dirty="0">
                  <a:solidFill>
                    <a:srgbClr val="00B050"/>
                  </a:solidFill>
                </a:endParaRPr>
              </a:p>
              <a:p>
                <a:pPr lvl="0">
                  <a:buClr>
                    <a:srgbClr val="263050"/>
                  </a:buClr>
                </a:pPr>
                <a:r>
                  <a:rPr lang="en-US" dirty="0">
                    <a:solidFill>
                      <a:srgbClr val="263050"/>
                    </a:solidFill>
                  </a:rPr>
                  <a:t>(b.) The money was left in the 401(k) from the age of 28 years until 65 years. No periodic deposits were made during that period (37 years). However, the money earned interest. It was not withdrawn even when she found a new job. That money, the FV of $78201.83 was still being compounded annually at 8.6% interest rate. So, we have to use the </a:t>
                </a:r>
                <a:r>
                  <a:rPr lang="en-US" u="sng" dirty="0">
                    <a:solidFill>
                      <a:srgbClr val="263050"/>
                    </a:solidFill>
                  </a:rPr>
                  <a:t>Compound Interest Formula</a:t>
                </a:r>
                <a:r>
                  <a:rPr lang="en-US" dirty="0">
                    <a:solidFill>
                      <a:srgbClr val="263050"/>
                    </a:solidFill>
                  </a:rPr>
                  <a:t>. </a:t>
                </a:r>
              </a:p>
              <a:p>
                <a:pPr lvl="0">
                  <a:buClr>
                    <a:srgbClr val="263050"/>
                  </a:buClr>
                </a:pPr>
                <a14:m>
                  <m:oMath xmlns:m="http://schemas.openxmlformats.org/officeDocument/2006/math">
                    <m:r>
                      <a:rPr lang="en-US" sz="3000" b="0" i="1" smtClean="0">
                        <a:solidFill>
                          <a:srgbClr val="263050"/>
                        </a:solidFill>
                        <a:latin typeface="Cambria Math" panose="02040503050406030204" pitchFamily="18" charset="0"/>
                      </a:rPr>
                      <m:t>𝐴</m:t>
                    </m:r>
                    <m:r>
                      <a:rPr lang="en-US" sz="3000" b="0" i="1" smtClean="0">
                        <a:solidFill>
                          <a:srgbClr val="263050"/>
                        </a:solidFill>
                        <a:latin typeface="Cambria Math" panose="02040503050406030204" pitchFamily="18" charset="0"/>
                      </a:rPr>
                      <m:t>=</m:t>
                    </m:r>
                    <m:r>
                      <a:rPr lang="en-US" sz="3000" b="0" i="1" smtClean="0">
                        <a:solidFill>
                          <a:srgbClr val="263050"/>
                        </a:solidFill>
                        <a:latin typeface="Cambria Math" panose="02040503050406030204" pitchFamily="18" charset="0"/>
                      </a:rPr>
                      <m:t>𝑃</m:t>
                    </m:r>
                    <m:sSup>
                      <m:sSupPr>
                        <m:ctrlPr>
                          <a:rPr lang="en-US" sz="3000" b="0" i="1" smtClean="0">
                            <a:solidFill>
                              <a:srgbClr val="263050"/>
                            </a:solidFill>
                            <a:latin typeface="Cambria Math" panose="02040503050406030204" pitchFamily="18" charset="0"/>
                          </a:rPr>
                        </m:ctrlPr>
                      </m:sSupPr>
                      <m:e>
                        <m:r>
                          <a:rPr lang="en-US" sz="3000" b="0" i="1" smtClean="0">
                            <a:solidFill>
                              <a:srgbClr val="263050"/>
                            </a:solidFill>
                            <a:latin typeface="Cambria Math" panose="02040503050406030204" pitchFamily="18" charset="0"/>
                          </a:rPr>
                          <m:t>(1+</m:t>
                        </m:r>
                        <m:f>
                          <m:fPr>
                            <m:ctrlPr>
                              <a:rPr lang="en-US" sz="3000" b="0" i="1" smtClean="0">
                                <a:solidFill>
                                  <a:srgbClr val="263050"/>
                                </a:solidFill>
                                <a:latin typeface="Cambria Math" panose="02040503050406030204" pitchFamily="18" charset="0"/>
                              </a:rPr>
                            </m:ctrlPr>
                          </m:fPr>
                          <m:num>
                            <m:r>
                              <a:rPr lang="en-US" sz="3000" b="0" i="1" smtClean="0">
                                <a:solidFill>
                                  <a:srgbClr val="263050"/>
                                </a:solidFill>
                                <a:latin typeface="Cambria Math" panose="02040503050406030204" pitchFamily="18" charset="0"/>
                              </a:rPr>
                              <m:t>𝑟</m:t>
                            </m:r>
                          </m:num>
                          <m:den>
                            <m:r>
                              <a:rPr lang="en-US" sz="3000" b="0" i="1" smtClean="0">
                                <a:solidFill>
                                  <a:srgbClr val="263050"/>
                                </a:solidFill>
                                <a:latin typeface="Cambria Math" panose="02040503050406030204" pitchFamily="18" charset="0"/>
                              </a:rPr>
                              <m:t>𝑚</m:t>
                            </m:r>
                          </m:den>
                        </m:f>
                        <m:r>
                          <a:rPr lang="en-US" sz="3000" b="0" i="1" smtClean="0">
                            <a:solidFill>
                              <a:srgbClr val="263050"/>
                            </a:solidFill>
                            <a:latin typeface="Cambria Math" panose="02040503050406030204" pitchFamily="18" charset="0"/>
                          </a:rPr>
                          <m:t>)</m:t>
                        </m:r>
                      </m:e>
                      <m:sup>
                        <m:r>
                          <a:rPr lang="en-US" sz="3000" b="0" i="1" smtClean="0">
                            <a:solidFill>
                              <a:srgbClr val="263050"/>
                            </a:solidFill>
                            <a:latin typeface="Cambria Math" panose="02040503050406030204" pitchFamily="18" charset="0"/>
                          </a:rPr>
                          <m:t>𝑚𝑡</m:t>
                        </m:r>
                      </m:sup>
                    </m:sSup>
                  </m:oMath>
                </a14:m>
                <a:endParaRPr lang="en-US" sz="3000" dirty="0">
                  <a:solidFill>
                    <a:srgbClr val="263050"/>
                  </a:solidFill>
                </a:endParaRPr>
              </a:p>
              <a:p>
                <a:pPr lvl="0">
                  <a:buClr>
                    <a:srgbClr val="263050"/>
                  </a:buClr>
                </a:pPr>
                <a:r>
                  <a:rPr lang="en-US" dirty="0">
                    <a:solidFill>
                      <a:srgbClr val="263050"/>
                    </a:solidFill>
                  </a:rPr>
                  <a:t>P = $78202; r = 0.086; m = 1; t = 65 – 28 = 37 years</a:t>
                </a:r>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𝐴</m:t>
                    </m:r>
                    <m:r>
                      <a:rPr lang="en-US" sz="3000" i="1">
                        <a:solidFill>
                          <a:srgbClr val="263050"/>
                        </a:solidFill>
                        <a:latin typeface="Cambria Math" panose="02040503050406030204" pitchFamily="18" charset="0"/>
                      </a:rPr>
                      <m:t>=78202∗</m:t>
                    </m:r>
                    <m:sSup>
                      <m:sSupPr>
                        <m:ctrlPr>
                          <a:rPr lang="en-US" sz="3000" i="1">
                            <a:solidFill>
                              <a:srgbClr val="263050"/>
                            </a:solidFill>
                            <a:latin typeface="Cambria Math" panose="02040503050406030204" pitchFamily="18" charset="0"/>
                          </a:rPr>
                        </m:ctrlPr>
                      </m:sSupPr>
                      <m:e>
                        <m:r>
                          <a:rPr lang="en-US" sz="3000" i="1">
                            <a:solidFill>
                              <a:srgbClr val="263050"/>
                            </a:solidFill>
                            <a:latin typeface="Cambria Math" panose="02040503050406030204" pitchFamily="18" charset="0"/>
                          </a:rPr>
                          <m:t>(1+</m:t>
                        </m:r>
                        <m:f>
                          <m:fPr>
                            <m:ctrlPr>
                              <a:rPr lang="en-US" sz="3000" i="1">
                                <a:solidFill>
                                  <a:srgbClr val="263050"/>
                                </a:solidFill>
                                <a:latin typeface="Cambria Math" panose="02040503050406030204" pitchFamily="18" charset="0"/>
                              </a:rPr>
                            </m:ctrlPr>
                          </m:fPr>
                          <m:num>
                            <m:r>
                              <a:rPr lang="en-US" sz="3000" b="0" i="1" smtClean="0">
                                <a:solidFill>
                                  <a:srgbClr val="263050"/>
                                </a:solidFill>
                                <a:latin typeface="Cambria Math" panose="02040503050406030204" pitchFamily="18" charset="0"/>
                              </a:rPr>
                              <m:t>0.086</m:t>
                            </m:r>
                          </m:num>
                          <m:den>
                            <m:r>
                              <a:rPr lang="en-US" sz="3000" b="0" i="1" smtClean="0">
                                <a:solidFill>
                                  <a:srgbClr val="263050"/>
                                </a:solidFill>
                                <a:latin typeface="Cambria Math" panose="02040503050406030204" pitchFamily="18" charset="0"/>
                              </a:rPr>
                              <m:t>1</m:t>
                            </m:r>
                          </m:den>
                        </m:f>
                        <m:r>
                          <a:rPr lang="en-US" sz="3000" i="1">
                            <a:solidFill>
                              <a:srgbClr val="263050"/>
                            </a:solidFill>
                            <a:latin typeface="Cambria Math" panose="02040503050406030204" pitchFamily="18" charset="0"/>
                          </a:rPr>
                          <m:t>)</m:t>
                        </m:r>
                      </m:e>
                      <m:sup>
                        <m:r>
                          <a:rPr lang="en-US" sz="3000" b="0" i="1" smtClean="0">
                            <a:solidFill>
                              <a:srgbClr val="263050"/>
                            </a:solidFill>
                            <a:latin typeface="Cambria Math" panose="02040503050406030204" pitchFamily="18" charset="0"/>
                          </a:rPr>
                          <m:t>1∗37</m:t>
                        </m:r>
                      </m:sup>
                    </m:sSup>
                  </m:oMath>
                </a14:m>
                <a:endParaRPr lang="en-US" dirty="0">
                  <a:solidFill>
                    <a:srgbClr val="263050"/>
                  </a:solidFill>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1341120" y="1339404"/>
                <a:ext cx="9509760" cy="4690176"/>
              </a:xfrm>
              <a:blipFill rotWithShape="0">
                <a:blip r:embed="rId2"/>
                <a:stretch>
                  <a:fillRect l="-64" r="-1154"/>
                </a:stretch>
              </a:blipFill>
            </p:spPr>
            <p:txBody>
              <a:bodyPr/>
              <a:lstStyle/>
              <a:p>
                <a:r>
                  <a:rPr lang="en-US">
                    <a:noFill/>
                  </a:rPr>
                  <a:t> </a:t>
                </a:r>
              </a:p>
            </p:txBody>
          </p:sp>
        </mc:Fallback>
      </mc:AlternateContent>
    </p:spTree>
    <p:extLst>
      <p:ext uri="{BB962C8B-B14F-4D97-AF65-F5344CB8AC3E}">
        <p14:creationId xmlns:p14="http://schemas.microsoft.com/office/powerpoint/2010/main" val="1707370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Question 3							4</a:t>
            </a:r>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1341120" y="1339404"/>
                <a:ext cx="9509760" cy="4690176"/>
              </a:xfrm>
            </p:spPr>
            <p:txBody>
              <a:bodyPr/>
              <a:lstStyle/>
              <a:p>
                <a:pPr lvl="0">
                  <a:buClr>
                    <a:srgbClr val="263050"/>
                  </a:buClr>
                </a:pPr>
                <a14:m>
                  <m:oMath xmlns:m="http://schemas.openxmlformats.org/officeDocument/2006/math">
                    <m:r>
                      <a:rPr lang="en-US" sz="3600" i="1" smtClean="0">
                        <a:solidFill>
                          <a:srgbClr val="263050"/>
                        </a:solidFill>
                        <a:latin typeface="Cambria Math" panose="02040503050406030204" pitchFamily="18" charset="0"/>
                      </a:rPr>
                      <m:t>𝐴</m:t>
                    </m:r>
                    <m:r>
                      <a:rPr lang="en-US" sz="3600" i="1" smtClean="0">
                        <a:solidFill>
                          <a:srgbClr val="263050"/>
                        </a:solidFill>
                        <a:latin typeface="Cambria Math" panose="02040503050406030204" pitchFamily="18" charset="0"/>
                      </a:rPr>
                      <m:t>=78202∗</m:t>
                    </m:r>
                    <m:sSup>
                      <m:sSupPr>
                        <m:ctrlPr>
                          <a:rPr lang="en-US" sz="3600" i="1">
                            <a:solidFill>
                              <a:srgbClr val="263050"/>
                            </a:solidFill>
                            <a:latin typeface="Cambria Math" panose="02040503050406030204" pitchFamily="18" charset="0"/>
                          </a:rPr>
                        </m:ctrlPr>
                      </m:sSupPr>
                      <m:e>
                        <m:r>
                          <a:rPr lang="en-US" sz="3600" i="1">
                            <a:solidFill>
                              <a:srgbClr val="263050"/>
                            </a:solidFill>
                            <a:latin typeface="Cambria Math" panose="02040503050406030204" pitchFamily="18" charset="0"/>
                          </a:rPr>
                          <m:t>(1+</m:t>
                        </m:r>
                        <m:f>
                          <m:fPr>
                            <m:ctrlPr>
                              <a:rPr lang="en-US" sz="3600" i="1">
                                <a:solidFill>
                                  <a:srgbClr val="263050"/>
                                </a:solidFill>
                                <a:latin typeface="Cambria Math" panose="02040503050406030204" pitchFamily="18" charset="0"/>
                              </a:rPr>
                            </m:ctrlPr>
                          </m:fPr>
                          <m:num>
                            <m:r>
                              <a:rPr lang="en-US" sz="3600" b="0" i="1" smtClean="0">
                                <a:solidFill>
                                  <a:srgbClr val="263050"/>
                                </a:solidFill>
                                <a:latin typeface="Cambria Math" panose="02040503050406030204" pitchFamily="18" charset="0"/>
                              </a:rPr>
                              <m:t>0.086</m:t>
                            </m:r>
                          </m:num>
                          <m:den>
                            <m:r>
                              <a:rPr lang="en-US" sz="3600" b="0" i="1" smtClean="0">
                                <a:solidFill>
                                  <a:srgbClr val="263050"/>
                                </a:solidFill>
                                <a:latin typeface="Cambria Math" panose="02040503050406030204" pitchFamily="18" charset="0"/>
                              </a:rPr>
                              <m:t>1</m:t>
                            </m:r>
                          </m:den>
                        </m:f>
                        <m:r>
                          <a:rPr lang="en-US" sz="3600" i="1">
                            <a:solidFill>
                              <a:srgbClr val="263050"/>
                            </a:solidFill>
                            <a:latin typeface="Cambria Math" panose="02040503050406030204" pitchFamily="18" charset="0"/>
                          </a:rPr>
                          <m:t>)</m:t>
                        </m:r>
                      </m:e>
                      <m:sup>
                        <m:r>
                          <a:rPr lang="en-US" sz="3600" b="0" i="1" smtClean="0">
                            <a:solidFill>
                              <a:srgbClr val="263050"/>
                            </a:solidFill>
                            <a:latin typeface="Cambria Math" panose="02040503050406030204" pitchFamily="18" charset="0"/>
                          </a:rPr>
                          <m:t>1∗37</m:t>
                        </m:r>
                      </m:sup>
                    </m:sSup>
                  </m:oMath>
                </a14:m>
                <a:endParaRPr lang="en-US" sz="3600" dirty="0">
                  <a:solidFill>
                    <a:srgbClr val="263050"/>
                  </a:solidFill>
                </a:endParaRPr>
              </a:p>
              <a:p>
                <a:pPr lvl="0">
                  <a:buClr>
                    <a:srgbClr val="263050"/>
                  </a:buClr>
                </a:pPr>
                <a14:m>
                  <m:oMath xmlns:m="http://schemas.openxmlformats.org/officeDocument/2006/math">
                    <m:r>
                      <a:rPr lang="en-US" sz="3600" i="1">
                        <a:solidFill>
                          <a:srgbClr val="263050"/>
                        </a:solidFill>
                        <a:latin typeface="Cambria Math" panose="02040503050406030204" pitchFamily="18" charset="0"/>
                      </a:rPr>
                      <m:t>𝐴</m:t>
                    </m:r>
                    <m:r>
                      <a:rPr lang="en-US" sz="3600" i="1">
                        <a:solidFill>
                          <a:srgbClr val="263050"/>
                        </a:solidFill>
                        <a:latin typeface="Cambria Math" panose="02040503050406030204" pitchFamily="18" charset="0"/>
                      </a:rPr>
                      <m:t>=78202∗</m:t>
                    </m:r>
                    <m:sSup>
                      <m:sSupPr>
                        <m:ctrlPr>
                          <a:rPr lang="en-US" sz="3600" i="1">
                            <a:solidFill>
                              <a:srgbClr val="263050"/>
                            </a:solidFill>
                            <a:latin typeface="Cambria Math" panose="02040503050406030204" pitchFamily="18" charset="0"/>
                          </a:rPr>
                        </m:ctrlPr>
                      </m:sSupPr>
                      <m:e>
                        <m:r>
                          <a:rPr lang="en-US" sz="3600" i="1">
                            <a:solidFill>
                              <a:srgbClr val="263050"/>
                            </a:solidFill>
                            <a:latin typeface="Cambria Math" panose="02040503050406030204" pitchFamily="18" charset="0"/>
                          </a:rPr>
                          <m:t>(1+</m:t>
                        </m:r>
                        <m:r>
                          <a:rPr lang="en-US" sz="3600" b="0" i="1" smtClean="0">
                            <a:solidFill>
                              <a:srgbClr val="263050"/>
                            </a:solidFill>
                            <a:latin typeface="Cambria Math" panose="02040503050406030204" pitchFamily="18" charset="0"/>
                          </a:rPr>
                          <m:t>0.086</m:t>
                        </m:r>
                        <m:r>
                          <a:rPr lang="en-US" sz="3600" i="1">
                            <a:solidFill>
                              <a:srgbClr val="263050"/>
                            </a:solidFill>
                            <a:latin typeface="Cambria Math" panose="02040503050406030204" pitchFamily="18" charset="0"/>
                          </a:rPr>
                          <m:t>)</m:t>
                        </m:r>
                      </m:e>
                      <m:sup>
                        <m:r>
                          <a:rPr lang="en-US" sz="3600" i="1">
                            <a:solidFill>
                              <a:srgbClr val="263050"/>
                            </a:solidFill>
                            <a:latin typeface="Cambria Math" panose="02040503050406030204" pitchFamily="18" charset="0"/>
                          </a:rPr>
                          <m:t>37</m:t>
                        </m:r>
                      </m:sup>
                    </m:sSup>
                  </m:oMath>
                </a14:m>
                <a:endParaRPr lang="en-US" sz="3600" dirty="0">
                  <a:solidFill>
                    <a:srgbClr val="263050"/>
                  </a:solidFill>
                </a:endParaRPr>
              </a:p>
              <a:p>
                <a:pPr lvl="0">
                  <a:buClr>
                    <a:srgbClr val="263050"/>
                  </a:buClr>
                </a:pPr>
                <a14:m>
                  <m:oMath xmlns:m="http://schemas.openxmlformats.org/officeDocument/2006/math">
                    <m:r>
                      <a:rPr lang="en-US" sz="3600" i="1">
                        <a:solidFill>
                          <a:srgbClr val="263050"/>
                        </a:solidFill>
                        <a:latin typeface="Cambria Math" panose="02040503050406030204" pitchFamily="18" charset="0"/>
                      </a:rPr>
                      <m:t>𝐴</m:t>
                    </m:r>
                    <m:r>
                      <a:rPr lang="en-US" sz="3600" i="1">
                        <a:solidFill>
                          <a:srgbClr val="263050"/>
                        </a:solidFill>
                        <a:latin typeface="Cambria Math" panose="02040503050406030204" pitchFamily="18" charset="0"/>
                      </a:rPr>
                      <m:t>=78202∗</m:t>
                    </m:r>
                    <m:sSup>
                      <m:sSupPr>
                        <m:ctrlPr>
                          <a:rPr lang="en-US" sz="3600" i="1">
                            <a:solidFill>
                              <a:srgbClr val="263050"/>
                            </a:solidFill>
                            <a:latin typeface="Cambria Math" panose="02040503050406030204" pitchFamily="18" charset="0"/>
                          </a:rPr>
                        </m:ctrlPr>
                      </m:sSupPr>
                      <m:e>
                        <m:r>
                          <a:rPr lang="en-US" sz="3600" i="1">
                            <a:solidFill>
                              <a:srgbClr val="263050"/>
                            </a:solidFill>
                            <a:latin typeface="Cambria Math" panose="02040503050406030204" pitchFamily="18" charset="0"/>
                          </a:rPr>
                          <m:t>(1.086)</m:t>
                        </m:r>
                      </m:e>
                      <m:sup>
                        <m:r>
                          <a:rPr lang="en-US" sz="3600" i="1">
                            <a:solidFill>
                              <a:srgbClr val="263050"/>
                            </a:solidFill>
                            <a:latin typeface="Cambria Math" panose="02040503050406030204" pitchFamily="18" charset="0"/>
                          </a:rPr>
                          <m:t>37</m:t>
                        </m:r>
                      </m:sup>
                    </m:sSup>
                  </m:oMath>
                </a14:m>
                <a:endParaRPr lang="en-US" sz="3600" dirty="0">
                  <a:solidFill>
                    <a:srgbClr val="263050"/>
                  </a:solidFill>
                </a:endParaRPr>
              </a:p>
              <a:p>
                <a:pPr lvl="0">
                  <a:buClr>
                    <a:srgbClr val="263050"/>
                  </a:buClr>
                </a:pPr>
                <a14:m>
                  <m:oMath xmlns:m="http://schemas.openxmlformats.org/officeDocument/2006/math">
                    <m:r>
                      <a:rPr lang="en-US" sz="3600" i="1">
                        <a:solidFill>
                          <a:srgbClr val="263050"/>
                        </a:solidFill>
                        <a:latin typeface="Cambria Math" panose="02040503050406030204" pitchFamily="18" charset="0"/>
                      </a:rPr>
                      <m:t>𝐴</m:t>
                    </m:r>
                    <m:r>
                      <a:rPr lang="en-US" sz="3600" i="1">
                        <a:solidFill>
                          <a:srgbClr val="263050"/>
                        </a:solidFill>
                        <a:latin typeface="Cambria Math" panose="02040503050406030204" pitchFamily="18" charset="0"/>
                      </a:rPr>
                      <m:t>=78202∗21.16915556</m:t>
                    </m:r>
                  </m:oMath>
                </a14:m>
                <a:endParaRPr lang="en-US" sz="3600" dirty="0">
                  <a:solidFill>
                    <a:srgbClr val="263050"/>
                  </a:solidFill>
                </a:endParaRPr>
              </a:p>
              <a:p>
                <a:pPr lvl="0">
                  <a:buClr>
                    <a:srgbClr val="263050"/>
                  </a:buClr>
                </a:pPr>
                <a14:m>
                  <m:oMath xmlns:m="http://schemas.openxmlformats.org/officeDocument/2006/math">
                    <m:r>
                      <a:rPr lang="en-US" sz="3600" i="1">
                        <a:solidFill>
                          <a:srgbClr val="263050"/>
                        </a:solidFill>
                        <a:latin typeface="Cambria Math" panose="02040503050406030204" pitchFamily="18" charset="0"/>
                      </a:rPr>
                      <m:t>𝐴</m:t>
                    </m:r>
                    <m:r>
                      <a:rPr lang="en-US" sz="3600" i="1">
                        <a:solidFill>
                          <a:srgbClr val="263050"/>
                        </a:solidFill>
                        <a:latin typeface="Cambria Math" panose="02040503050406030204" pitchFamily="18" charset="0"/>
                      </a:rPr>
                      <m:t>=$1655470.303</m:t>
                    </m:r>
                  </m:oMath>
                </a14:m>
                <a:endParaRPr lang="en-US" sz="3600" dirty="0">
                  <a:solidFill>
                    <a:srgbClr val="263050"/>
                  </a:solidFill>
                </a:endParaRPr>
              </a:p>
              <a:p>
                <a:pPr lvl="0">
                  <a:buClr>
                    <a:srgbClr val="263050"/>
                  </a:buClr>
                </a:pPr>
                <a14:m>
                  <m:oMath xmlns:m="http://schemas.openxmlformats.org/officeDocument/2006/math">
                    <m:r>
                      <a:rPr lang="en-US" sz="3600" i="1">
                        <a:solidFill>
                          <a:srgbClr val="263050"/>
                        </a:solidFill>
                        <a:latin typeface="Cambria Math" panose="02040503050406030204" pitchFamily="18" charset="0"/>
                      </a:rPr>
                      <m:t>𝐴</m:t>
                    </m:r>
                    <m:r>
                      <a:rPr lang="en-US" sz="3600" i="1">
                        <a:solidFill>
                          <a:srgbClr val="263050"/>
                        </a:solidFill>
                        <a:latin typeface="Cambria Math" panose="02040503050406030204" pitchFamily="18" charset="0"/>
                      </a:rPr>
                      <m:t>=</m:t>
                    </m:r>
                    <m:r>
                      <a:rPr lang="en-US" sz="3600" b="1" i="1" smtClean="0">
                        <a:solidFill>
                          <a:srgbClr val="00B050"/>
                        </a:solidFill>
                        <a:latin typeface="Cambria Math" panose="02040503050406030204" pitchFamily="18" charset="0"/>
                      </a:rPr>
                      <m:t>$</m:t>
                    </m:r>
                    <m:r>
                      <a:rPr lang="en-US" sz="3600" b="1" i="1" smtClean="0">
                        <a:solidFill>
                          <a:srgbClr val="00B050"/>
                        </a:solidFill>
                        <a:latin typeface="Cambria Math" panose="02040503050406030204" pitchFamily="18" charset="0"/>
                      </a:rPr>
                      <m:t>𝟏</m:t>
                    </m:r>
                    <m:r>
                      <a:rPr lang="en-US" sz="3600" b="1" i="1" smtClean="0">
                        <a:solidFill>
                          <a:srgbClr val="00B050"/>
                        </a:solidFill>
                        <a:latin typeface="Cambria Math" panose="02040503050406030204" pitchFamily="18" charset="0"/>
                      </a:rPr>
                      <m:t>,</m:t>
                    </m:r>
                    <m:r>
                      <a:rPr lang="en-US" sz="3600" b="1" i="1" smtClean="0">
                        <a:solidFill>
                          <a:srgbClr val="00B050"/>
                        </a:solidFill>
                        <a:latin typeface="Cambria Math" panose="02040503050406030204" pitchFamily="18" charset="0"/>
                      </a:rPr>
                      <m:t>𝟔𝟓𝟓</m:t>
                    </m:r>
                    <m:r>
                      <a:rPr lang="en-US" sz="3600" b="1" i="1" smtClean="0">
                        <a:solidFill>
                          <a:srgbClr val="00B050"/>
                        </a:solidFill>
                        <a:latin typeface="Cambria Math" panose="02040503050406030204" pitchFamily="18" charset="0"/>
                      </a:rPr>
                      <m:t>,</m:t>
                    </m:r>
                    <m:r>
                      <a:rPr lang="en-US" sz="3600" b="1" i="1">
                        <a:solidFill>
                          <a:srgbClr val="00B050"/>
                        </a:solidFill>
                        <a:latin typeface="Cambria Math" panose="02040503050406030204" pitchFamily="18" charset="0"/>
                      </a:rPr>
                      <m:t>𝟒𝟕𝟎</m:t>
                    </m:r>
                  </m:oMath>
                </a14:m>
                <a:endParaRPr lang="en-US" sz="3600" b="1" dirty="0">
                  <a:solidFill>
                    <a:srgbClr val="00B050"/>
                  </a:solidFill>
                </a:endParaRPr>
              </a:p>
              <a:p>
                <a:pPr lvl="0">
                  <a:buClr>
                    <a:srgbClr val="263050"/>
                  </a:buClr>
                </a:pPr>
                <a:endParaRPr lang="en-US" dirty="0">
                  <a:solidFill>
                    <a:srgbClr val="263050"/>
                  </a:solidFill>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1341120" y="1339404"/>
                <a:ext cx="9509760" cy="4690176"/>
              </a:xfrm>
              <a:blipFill rotWithShape="0">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200248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Question 3							5</a:t>
            </a:r>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1341120" y="1339404"/>
                <a:ext cx="9509760" cy="4690176"/>
              </a:xfrm>
            </p:spPr>
            <p:txBody>
              <a:bodyPr>
                <a:normAutofit fontScale="32500" lnSpcReduction="20000"/>
              </a:bodyPr>
              <a:lstStyle/>
              <a:p>
                <a:pPr lvl="0">
                  <a:lnSpc>
                    <a:spcPct val="120000"/>
                  </a:lnSpc>
                  <a:buClr>
                    <a:srgbClr val="263050"/>
                  </a:buClr>
                </a:pPr>
                <a:r>
                  <a:rPr lang="en-US" sz="8600" dirty="0">
                    <a:solidFill>
                      <a:srgbClr val="263050"/>
                    </a:solidFill>
                  </a:rPr>
                  <a:t>(c.) </a:t>
                </a:r>
                <a14:m>
                  <m:oMath xmlns:m="http://schemas.openxmlformats.org/officeDocument/2006/math">
                    <m:r>
                      <a:rPr lang="en-US" sz="8600" i="1" dirty="0" smtClean="0">
                        <a:solidFill>
                          <a:srgbClr val="263050"/>
                        </a:solidFill>
                        <a:latin typeface="Cambria Math" panose="02040503050406030204" pitchFamily="18" charset="0"/>
                      </a:rPr>
                      <m:t>𝑇h𝑒</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𝑎𝑚𝑜𝑢𝑛𝑡</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𝑠h𝑒</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𝑐𝑜𝑛𝑡𝑟𝑖𝑏𝑢𝑡𝑒𝑑</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𝑡𝑜</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𝑡h𝑒</m:t>
                    </m:r>
                    <m:r>
                      <a:rPr lang="en-US" sz="8600" i="1" dirty="0" smtClean="0">
                        <a:solidFill>
                          <a:srgbClr val="263050"/>
                        </a:solidFill>
                        <a:latin typeface="Cambria Math" panose="02040503050406030204" pitchFamily="18" charset="0"/>
                      </a:rPr>
                      <m:t> 401(</m:t>
                    </m:r>
                    <m:r>
                      <a:rPr lang="en-US" sz="8600" i="1" dirty="0" smtClean="0">
                        <a:solidFill>
                          <a:srgbClr val="263050"/>
                        </a:solidFill>
                        <a:latin typeface="Cambria Math" panose="02040503050406030204" pitchFamily="18" charset="0"/>
                      </a:rPr>
                      <m:t>𝑘</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𝑝𝑙𝑎𝑛</m:t>
                    </m:r>
                    <m:r>
                      <a:rPr lang="en-US" sz="8600" i="1" dirty="0" smtClean="0">
                        <a:solidFill>
                          <a:srgbClr val="263050"/>
                        </a:solidFill>
                        <a:latin typeface="Cambria Math" panose="02040503050406030204" pitchFamily="18" charset="0"/>
                      </a:rPr>
                      <m:t> = $7000 ∗ 6 = </m:t>
                    </m:r>
                    <m:r>
                      <a:rPr lang="en-US" sz="8600" b="1" i="1" dirty="0" smtClean="0">
                        <a:solidFill>
                          <a:srgbClr val="00B050"/>
                        </a:solidFill>
                        <a:latin typeface="Cambria Math" panose="02040503050406030204" pitchFamily="18" charset="0"/>
                      </a:rPr>
                      <m:t>$</m:t>
                    </m:r>
                    <m:r>
                      <a:rPr lang="en-US" sz="8600" b="1" i="1" dirty="0" smtClean="0">
                        <a:solidFill>
                          <a:srgbClr val="00B050"/>
                        </a:solidFill>
                        <a:latin typeface="Cambria Math" panose="02040503050406030204" pitchFamily="18" charset="0"/>
                      </a:rPr>
                      <m:t>𝟒𝟐𝟎𝟎𝟎</m:t>
                    </m:r>
                  </m:oMath>
                </a14:m>
                <a:endParaRPr lang="en-US" sz="8600" b="1" dirty="0">
                  <a:solidFill>
                    <a:srgbClr val="263050"/>
                  </a:solidFill>
                </a:endParaRPr>
              </a:p>
              <a:p>
                <a:pPr lvl="0">
                  <a:lnSpc>
                    <a:spcPct val="120000"/>
                  </a:lnSpc>
                  <a:buClr>
                    <a:srgbClr val="263050"/>
                  </a:buClr>
                </a:pPr>
                <a:r>
                  <a:rPr lang="en-US" sz="8600" dirty="0">
                    <a:solidFill>
                      <a:srgbClr val="263050"/>
                    </a:solidFill>
                  </a:rPr>
                  <a:t>(d.) </a:t>
                </a:r>
                <a14:m>
                  <m:oMath xmlns:m="http://schemas.openxmlformats.org/officeDocument/2006/math">
                    <m:r>
                      <a:rPr lang="en-US" sz="8600" i="1" dirty="0">
                        <a:solidFill>
                          <a:srgbClr val="263050"/>
                        </a:solidFill>
                        <a:latin typeface="Cambria Math" panose="02040503050406030204" pitchFamily="18" charset="0"/>
                      </a:rPr>
                      <m:t>𝑇h𝑒</m:t>
                    </m:r>
                    <m:r>
                      <a:rPr lang="en-US" sz="8600" i="1" dirty="0">
                        <a:solidFill>
                          <a:srgbClr val="263050"/>
                        </a:solidFill>
                        <a:latin typeface="Cambria Math" panose="02040503050406030204" pitchFamily="18" charset="0"/>
                      </a:rPr>
                      <m:t> </m:t>
                    </m:r>
                    <m:r>
                      <a:rPr lang="en-US" sz="8600" i="1" dirty="0">
                        <a:solidFill>
                          <a:srgbClr val="263050"/>
                        </a:solidFill>
                        <a:latin typeface="Cambria Math" panose="02040503050406030204" pitchFamily="18" charset="0"/>
                      </a:rPr>
                      <m:t>𝑎𝑚𝑜𝑢𝑛𝑡</m:t>
                    </m:r>
                    <m:r>
                      <a:rPr lang="en-US" sz="8600" i="1" dirty="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h𝑒𝑟</m:t>
                    </m:r>
                    <m:r>
                      <a:rPr lang="en-US" sz="8600" b="0" i="1" dirty="0" smtClean="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𝑒𝑚𝑝𝑙𝑜𝑦𝑒𝑟</m:t>
                    </m:r>
                    <m:r>
                      <a:rPr lang="en-US" sz="8600" i="1" dirty="0">
                        <a:solidFill>
                          <a:srgbClr val="263050"/>
                        </a:solidFill>
                        <a:latin typeface="Cambria Math" panose="02040503050406030204" pitchFamily="18" charset="0"/>
                      </a:rPr>
                      <m:t> </m:t>
                    </m:r>
                    <m:r>
                      <a:rPr lang="en-US" sz="8600" i="1" dirty="0">
                        <a:solidFill>
                          <a:srgbClr val="263050"/>
                        </a:solidFill>
                        <a:latin typeface="Cambria Math" panose="02040503050406030204" pitchFamily="18" charset="0"/>
                      </a:rPr>
                      <m:t>𝑐𝑜𝑛𝑡𝑟𝑖𝑏𝑢𝑡𝑒𝑑</m:t>
                    </m:r>
                    <m:r>
                      <a:rPr lang="en-US" sz="8600" i="1" dirty="0">
                        <a:solidFill>
                          <a:srgbClr val="263050"/>
                        </a:solidFill>
                        <a:latin typeface="Cambria Math" panose="02040503050406030204" pitchFamily="18" charset="0"/>
                      </a:rPr>
                      <m:t> </m:t>
                    </m:r>
                    <m:r>
                      <a:rPr lang="en-US" sz="8600" i="1" dirty="0">
                        <a:solidFill>
                          <a:srgbClr val="263050"/>
                        </a:solidFill>
                        <a:latin typeface="Cambria Math" panose="02040503050406030204" pitchFamily="18" charset="0"/>
                      </a:rPr>
                      <m:t>𝑡𝑜</m:t>
                    </m:r>
                    <m:r>
                      <a:rPr lang="en-US" sz="8600" i="1" dirty="0">
                        <a:solidFill>
                          <a:srgbClr val="263050"/>
                        </a:solidFill>
                        <a:latin typeface="Cambria Math" panose="02040503050406030204" pitchFamily="18" charset="0"/>
                      </a:rPr>
                      <m:t> </m:t>
                    </m:r>
                    <m:r>
                      <a:rPr lang="en-US" sz="8600" i="1" dirty="0">
                        <a:solidFill>
                          <a:srgbClr val="263050"/>
                        </a:solidFill>
                        <a:latin typeface="Cambria Math" panose="02040503050406030204" pitchFamily="18" charset="0"/>
                      </a:rPr>
                      <m:t>𝑡h𝑒</m:t>
                    </m:r>
                    <m:r>
                      <a:rPr lang="en-US" sz="8600" i="1" dirty="0">
                        <a:solidFill>
                          <a:srgbClr val="263050"/>
                        </a:solidFill>
                        <a:latin typeface="Cambria Math" panose="02040503050406030204" pitchFamily="18" charset="0"/>
                      </a:rPr>
                      <m:t> </m:t>
                    </m:r>
                  </m:oMath>
                </a14:m>
                <a:endParaRPr lang="en-US" sz="8600" i="1" dirty="0">
                  <a:solidFill>
                    <a:srgbClr val="263050"/>
                  </a:solidFill>
                  <a:latin typeface="Cambria Math" panose="02040503050406030204" pitchFamily="18" charset="0"/>
                </a:endParaRPr>
              </a:p>
              <a:p>
                <a:pPr marL="45720" lvl="0" indent="0">
                  <a:lnSpc>
                    <a:spcPct val="120000"/>
                  </a:lnSpc>
                  <a:buClr>
                    <a:srgbClr val="263050"/>
                  </a:buClr>
                  <a:buNone/>
                </a:pPr>
                <a14:m>
                  <m:oMathPara xmlns:m="http://schemas.openxmlformats.org/officeDocument/2006/math">
                    <m:oMathParaPr>
                      <m:jc m:val="centerGroup"/>
                    </m:oMathParaPr>
                    <m:oMath xmlns:m="http://schemas.openxmlformats.org/officeDocument/2006/math">
                      <m:r>
                        <a:rPr lang="en-US" sz="8600" i="1" dirty="0">
                          <a:solidFill>
                            <a:srgbClr val="263050"/>
                          </a:solidFill>
                          <a:latin typeface="Cambria Math" panose="02040503050406030204" pitchFamily="18" charset="0"/>
                        </a:rPr>
                        <m:t>401</m:t>
                      </m:r>
                      <m:d>
                        <m:dPr>
                          <m:ctrlPr>
                            <a:rPr lang="en-US" sz="8600" i="1" dirty="0">
                              <a:solidFill>
                                <a:srgbClr val="263050"/>
                              </a:solidFill>
                              <a:latin typeface="Cambria Math" panose="02040503050406030204" pitchFamily="18" charset="0"/>
                            </a:rPr>
                          </m:ctrlPr>
                        </m:dPr>
                        <m:e>
                          <m:r>
                            <a:rPr lang="en-US" sz="8600" i="1" dirty="0">
                              <a:solidFill>
                                <a:srgbClr val="263050"/>
                              </a:solidFill>
                              <a:latin typeface="Cambria Math" panose="02040503050406030204" pitchFamily="18" charset="0"/>
                            </a:rPr>
                            <m:t>𝑘</m:t>
                          </m:r>
                        </m:e>
                      </m:d>
                      <m:r>
                        <a:rPr lang="en-US" sz="8600" i="1" dirty="0">
                          <a:solidFill>
                            <a:srgbClr val="263050"/>
                          </a:solidFill>
                          <a:latin typeface="Cambria Math" panose="02040503050406030204" pitchFamily="18" charset="0"/>
                        </a:rPr>
                        <m:t>𝑝𝑙𝑎𝑛</m:t>
                      </m:r>
                      <m:r>
                        <a:rPr lang="en-US" sz="8600" i="1" dirty="0">
                          <a:solidFill>
                            <a:srgbClr val="263050"/>
                          </a:solidFill>
                          <a:latin typeface="Cambria Math" panose="02040503050406030204" pitchFamily="18" charset="0"/>
                        </a:rPr>
                        <m:t> = $3500 ∗ 6 = </m:t>
                      </m:r>
                      <m:r>
                        <a:rPr lang="en-US" sz="8600" b="1" i="1" dirty="0" smtClean="0">
                          <a:solidFill>
                            <a:srgbClr val="00B050"/>
                          </a:solidFill>
                          <a:latin typeface="Cambria Math" panose="02040503050406030204" pitchFamily="18" charset="0"/>
                        </a:rPr>
                        <m:t>$</m:t>
                      </m:r>
                      <m:r>
                        <a:rPr lang="en-US" sz="8600" b="1" i="1" dirty="0" smtClean="0">
                          <a:solidFill>
                            <a:srgbClr val="00B050"/>
                          </a:solidFill>
                          <a:latin typeface="Cambria Math" panose="02040503050406030204" pitchFamily="18" charset="0"/>
                        </a:rPr>
                        <m:t>𝟐𝟏𝟎𝟎𝟎</m:t>
                      </m:r>
                    </m:oMath>
                  </m:oMathPara>
                </a14:m>
                <a:endParaRPr lang="en-US" sz="8600" b="1" dirty="0">
                  <a:solidFill>
                    <a:srgbClr val="00B050"/>
                  </a:solidFill>
                </a:endParaRPr>
              </a:p>
              <a:p>
                <a:pPr lvl="0">
                  <a:lnSpc>
                    <a:spcPct val="120000"/>
                  </a:lnSpc>
                  <a:buClr>
                    <a:srgbClr val="263050"/>
                  </a:buClr>
                </a:pPr>
                <a:r>
                  <a:rPr lang="en-US" sz="8600" dirty="0">
                    <a:solidFill>
                      <a:srgbClr val="263050"/>
                    </a:solidFill>
                  </a:rPr>
                  <a:t>(e.) </a:t>
                </a:r>
                <a14:m>
                  <m:oMath xmlns:m="http://schemas.openxmlformats.org/officeDocument/2006/math">
                    <m:r>
                      <a:rPr lang="en-US" sz="8600" i="1" dirty="0">
                        <a:solidFill>
                          <a:srgbClr val="263050"/>
                        </a:solidFill>
                        <a:latin typeface="Cambria Math" panose="02040503050406030204" pitchFamily="18" charset="0"/>
                      </a:rPr>
                      <m:t>𝑇h𝑒</m:t>
                    </m:r>
                    <m:r>
                      <a:rPr lang="en-US" sz="8600" i="1" dirty="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𝑑𝑖𝑓𝑓𝑒𝑟𝑒𝑛𝑐𝑒</m:t>
                    </m:r>
                    <m:r>
                      <a:rPr lang="en-US" sz="8600" b="0" i="1" dirty="0" smtClean="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𝑏𝑒𝑡𝑤𝑒𝑒𝑛</m:t>
                    </m:r>
                    <m:r>
                      <a:rPr lang="en-US" sz="8600" b="0" i="1" dirty="0" smtClean="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𝑡h𝑒</m:t>
                    </m:r>
                    <m:r>
                      <a:rPr lang="en-US" sz="8600" b="0" i="1" dirty="0" smtClean="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𝑎𝑚𝑜𝑢𝑛𝑡</m:t>
                    </m:r>
                    <m:r>
                      <a:rPr lang="en-US" sz="8600" b="0" i="1" dirty="0" smtClean="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𝑜𝑓</m:t>
                    </m:r>
                    <m:r>
                      <a:rPr lang="en-US" sz="8600" b="0" i="1" dirty="0" smtClean="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𝑚𝑜𝑛𝑒𝑦</m:t>
                    </m:r>
                    <m:r>
                      <a:rPr lang="en-US" sz="8600" b="0" i="1" dirty="0" smtClean="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𝑠h𝑒</m:t>
                    </m:r>
                    <m:r>
                      <a:rPr lang="en-US" sz="8600" b="0" i="1" dirty="0" smtClean="0">
                        <a:solidFill>
                          <a:srgbClr val="263050"/>
                        </a:solidFill>
                        <a:latin typeface="Cambria Math" panose="02040503050406030204" pitchFamily="18" charset="0"/>
                      </a:rPr>
                      <m:t> </m:t>
                    </m:r>
                  </m:oMath>
                </a14:m>
                <a:endParaRPr lang="en-US" sz="8600" b="0" i="1" dirty="0">
                  <a:solidFill>
                    <a:srgbClr val="263050"/>
                  </a:solidFill>
                  <a:latin typeface="Cambria Math" panose="02040503050406030204" pitchFamily="18" charset="0"/>
                </a:endParaRPr>
              </a:p>
              <a:p>
                <a:pPr marL="45720" lvl="0" indent="0">
                  <a:lnSpc>
                    <a:spcPct val="120000"/>
                  </a:lnSpc>
                  <a:buClr>
                    <a:srgbClr val="263050"/>
                  </a:buClr>
                  <a:buNone/>
                </a:pPr>
                <a14:m>
                  <m:oMathPara xmlns:m="http://schemas.openxmlformats.org/officeDocument/2006/math">
                    <m:oMathParaPr>
                      <m:jc m:val="centerGroup"/>
                    </m:oMathParaPr>
                    <m:oMath xmlns:m="http://schemas.openxmlformats.org/officeDocument/2006/math">
                      <m:r>
                        <a:rPr lang="en-US" sz="8600" b="0" i="1" dirty="0" smtClean="0">
                          <a:solidFill>
                            <a:srgbClr val="263050"/>
                          </a:solidFill>
                          <a:latin typeface="Cambria Math" panose="02040503050406030204" pitchFamily="18" charset="0"/>
                        </a:rPr>
                        <m:t>𝑤𝑜𝑢𝑙𝑑</m:t>
                      </m:r>
                      <m:r>
                        <a:rPr lang="en-US" sz="8600" b="0" i="1" dirty="0" smtClean="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h𝑎𝑣𝑒</m:t>
                      </m:r>
                      <m:r>
                        <a:rPr lang="en-US" sz="8600" b="0" i="1" dirty="0" smtClean="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𝑎𝑐𝑐𝑢𝑚𝑢𝑙𝑎𝑡𝑒𝑑</m:t>
                      </m:r>
                      <m:r>
                        <a:rPr lang="en-US" sz="8600" b="0" i="0"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𝑖𝑛</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𝑡h𝑒</m:t>
                      </m:r>
                      <m:r>
                        <a:rPr lang="en-US" sz="8600" i="1" dirty="0" smtClean="0">
                          <a:solidFill>
                            <a:srgbClr val="263050"/>
                          </a:solidFill>
                          <a:latin typeface="Cambria Math" panose="02040503050406030204" pitchFamily="18" charset="0"/>
                        </a:rPr>
                        <m:t> 401</m:t>
                      </m:r>
                      <m:d>
                        <m:dPr>
                          <m:ctrlPr>
                            <a:rPr lang="en-US" sz="8600" i="1" dirty="0" smtClean="0">
                              <a:solidFill>
                                <a:srgbClr val="263050"/>
                              </a:solidFill>
                              <a:latin typeface="Cambria Math" panose="02040503050406030204" pitchFamily="18" charset="0"/>
                            </a:rPr>
                          </m:ctrlPr>
                        </m:dPr>
                        <m:e>
                          <m:r>
                            <a:rPr lang="en-US" sz="8600" i="1" dirty="0" smtClean="0">
                              <a:solidFill>
                                <a:srgbClr val="263050"/>
                              </a:solidFill>
                              <a:latin typeface="Cambria Math" panose="02040503050406030204" pitchFamily="18" charset="0"/>
                            </a:rPr>
                            <m:t>𝑘</m:t>
                          </m:r>
                        </m:e>
                      </m:d>
                      <m:r>
                        <a:rPr lang="en-US" sz="8600" i="1" dirty="0" smtClean="0">
                          <a:solidFill>
                            <a:srgbClr val="263050"/>
                          </a:solidFill>
                          <a:latin typeface="Cambria Math" panose="02040503050406030204" pitchFamily="18" charset="0"/>
                        </a:rPr>
                        <m:t>𝑎𝑛𝑑</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𝑡h𝑒</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𝑎𝑚𝑜𝑢𝑛𝑡</m:t>
                      </m:r>
                      <m:r>
                        <a:rPr lang="en-US" sz="8600" i="1" dirty="0" smtClean="0">
                          <a:solidFill>
                            <a:srgbClr val="263050"/>
                          </a:solidFill>
                          <a:latin typeface="Cambria Math" panose="02040503050406030204" pitchFamily="18" charset="0"/>
                        </a:rPr>
                        <m:t> </m:t>
                      </m:r>
                    </m:oMath>
                  </m:oMathPara>
                </a14:m>
                <a:endParaRPr lang="en-US" sz="8600" i="1" dirty="0">
                  <a:solidFill>
                    <a:srgbClr val="263050"/>
                  </a:solidFill>
                  <a:latin typeface="Cambria Math" panose="02040503050406030204" pitchFamily="18" charset="0"/>
                </a:endParaRPr>
              </a:p>
              <a:p>
                <a:pPr marL="45720" lvl="0" indent="0">
                  <a:lnSpc>
                    <a:spcPct val="120000"/>
                  </a:lnSpc>
                  <a:buClr>
                    <a:srgbClr val="263050"/>
                  </a:buClr>
                  <a:buNone/>
                </a:pPr>
                <a:r>
                  <a:rPr lang="en-US" sz="8600" dirty="0">
                    <a:solidFill>
                      <a:srgbClr val="263050"/>
                    </a:solidFill>
                  </a:rPr>
                  <a:t>   </a:t>
                </a:r>
                <a14:m>
                  <m:oMath xmlns:m="http://schemas.openxmlformats.org/officeDocument/2006/math">
                    <m:r>
                      <a:rPr lang="en-US" sz="8600" i="1" dirty="0" smtClean="0">
                        <a:solidFill>
                          <a:srgbClr val="263050"/>
                        </a:solidFill>
                        <a:latin typeface="Cambria Math" panose="02040503050406030204" pitchFamily="18" charset="0"/>
                      </a:rPr>
                      <m:t>𝑠h𝑒</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𝑐𝑜𝑛𝑡𝑟𝑖𝑏𝑢𝑡𝑒𝑑</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𝑡𝑜</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𝑡h𝑒</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𝑝𝑙𝑎𝑛</m:t>
                    </m:r>
                    <m:r>
                      <a:rPr lang="en-US" sz="8600" i="1" dirty="0" smtClean="0">
                        <a:solidFill>
                          <a:srgbClr val="263050"/>
                        </a:solidFill>
                        <a:latin typeface="Cambria Math" panose="02040503050406030204" pitchFamily="18" charset="0"/>
                      </a:rPr>
                      <m:t> =</m:t>
                    </m:r>
                    <m:r>
                      <a:rPr lang="en-US" sz="8600" b="0" i="0" dirty="0" smtClean="0">
                        <a:solidFill>
                          <a:srgbClr val="263050"/>
                        </a:solidFill>
                        <a:latin typeface="Cambria Math" panose="02040503050406030204" pitchFamily="18" charset="0"/>
                      </a:rPr>
                      <m:t>$1655470 −$42000=   </m:t>
                    </m:r>
                    <m:r>
                      <a:rPr lang="en-US" sz="8600" b="1" i="0" dirty="0" smtClean="0">
                        <a:solidFill>
                          <a:srgbClr val="00B050"/>
                        </a:solidFill>
                        <a:latin typeface="Cambria Math" panose="02040503050406030204" pitchFamily="18" charset="0"/>
                      </a:rPr>
                      <m:t>$</m:t>
                    </m:r>
                    <m:r>
                      <a:rPr lang="en-US" sz="8600" b="1" i="0" dirty="0" smtClean="0">
                        <a:solidFill>
                          <a:srgbClr val="00B050"/>
                        </a:solidFill>
                        <a:latin typeface="Cambria Math" panose="02040503050406030204" pitchFamily="18" charset="0"/>
                      </a:rPr>
                      <m:t>𝟏</m:t>
                    </m:r>
                    <m:r>
                      <a:rPr lang="en-US" sz="8600" b="1" i="0" dirty="0" smtClean="0">
                        <a:solidFill>
                          <a:srgbClr val="00B050"/>
                        </a:solidFill>
                        <a:latin typeface="Cambria Math" panose="02040503050406030204" pitchFamily="18" charset="0"/>
                      </a:rPr>
                      <m:t>,</m:t>
                    </m:r>
                    <m:r>
                      <a:rPr lang="en-US" sz="8600" b="1" i="0" dirty="0" smtClean="0">
                        <a:solidFill>
                          <a:srgbClr val="00B050"/>
                        </a:solidFill>
                        <a:latin typeface="Cambria Math" panose="02040503050406030204" pitchFamily="18" charset="0"/>
                      </a:rPr>
                      <m:t>𝟔𝟏𝟑</m:t>
                    </m:r>
                    <m:r>
                      <a:rPr lang="en-US" sz="8600" b="1" i="0" dirty="0" smtClean="0">
                        <a:solidFill>
                          <a:srgbClr val="00B050"/>
                        </a:solidFill>
                        <a:latin typeface="Cambria Math" panose="02040503050406030204" pitchFamily="18" charset="0"/>
                      </a:rPr>
                      <m:t>,</m:t>
                    </m:r>
                    <m:r>
                      <a:rPr lang="en-US" sz="8600" b="1" i="0" dirty="0" smtClean="0">
                        <a:solidFill>
                          <a:srgbClr val="00B050"/>
                        </a:solidFill>
                        <a:latin typeface="Cambria Math" panose="02040503050406030204" pitchFamily="18" charset="0"/>
                      </a:rPr>
                      <m:t>𝟒𝟕𝟎</m:t>
                    </m:r>
                  </m:oMath>
                </a14:m>
                <a:r>
                  <a:rPr lang="en-US" sz="8600" b="1" dirty="0">
                    <a:solidFill>
                      <a:srgbClr val="00B050"/>
                    </a:solidFill>
                  </a:rPr>
                  <a:t> </a:t>
                </a:r>
                <a:endParaRPr lang="en-US" sz="8600" b="1" dirty="0">
                  <a:solidFill>
                    <a:srgbClr val="263050"/>
                  </a:solidFill>
                </a:endParaRPr>
              </a:p>
              <a:p>
                <a:pPr lvl="0">
                  <a:buClr>
                    <a:srgbClr val="263050"/>
                  </a:buClr>
                </a:pPr>
                <a:endParaRPr lang="en-US" dirty="0">
                  <a:solidFill>
                    <a:srgbClr val="263050"/>
                  </a:solidFill>
                </a:endParaRPr>
              </a:p>
              <a:p>
                <a:pPr lvl="0">
                  <a:buClr>
                    <a:srgbClr val="263050"/>
                  </a:buClr>
                </a:pPr>
                <a:endParaRPr lang="en-US" dirty="0">
                  <a:solidFill>
                    <a:srgbClr val="263050"/>
                  </a:solidFill>
                </a:endParaRPr>
              </a:p>
              <a:p>
                <a:pPr lvl="0">
                  <a:buClr>
                    <a:srgbClr val="263050"/>
                  </a:buClr>
                </a:pPr>
                <a:endParaRPr lang="en-US" dirty="0">
                  <a:solidFill>
                    <a:srgbClr val="263050"/>
                  </a:solidFill>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1341120" y="1339404"/>
                <a:ext cx="9509760" cy="4690176"/>
              </a:xfrm>
              <a:blipFill rotWithShape="0">
                <a:blip r:embed="rId2"/>
                <a:stretch>
                  <a:fillRect l="-641" t="-1300"/>
                </a:stretch>
              </a:blipFill>
            </p:spPr>
            <p:txBody>
              <a:bodyPr/>
              <a:lstStyle/>
              <a:p>
                <a:r>
                  <a:rPr lang="en-US">
                    <a:noFill/>
                  </a:rPr>
                  <a:t> </a:t>
                </a:r>
              </a:p>
            </p:txBody>
          </p:sp>
        </mc:Fallback>
      </mc:AlternateContent>
    </p:spTree>
    <p:extLst>
      <p:ext uri="{BB962C8B-B14F-4D97-AF65-F5344CB8AC3E}">
        <p14:creationId xmlns:p14="http://schemas.microsoft.com/office/powerpoint/2010/main" val="1609715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Question 4							1</a:t>
            </a:r>
          </a:p>
        </p:txBody>
      </p:sp>
      <p:sp>
        <p:nvSpPr>
          <p:cNvPr id="14" name="Content Placeholder 13"/>
          <p:cNvSpPr>
            <a:spLocks noGrp="1"/>
          </p:cNvSpPr>
          <p:nvPr>
            <p:ph idx="1"/>
          </p:nvPr>
        </p:nvSpPr>
        <p:spPr>
          <a:xfrm>
            <a:off x="1341120" y="1339404"/>
            <a:ext cx="9509760" cy="4690176"/>
          </a:xfrm>
        </p:spPr>
        <p:txBody>
          <a:bodyPr>
            <a:normAutofit/>
          </a:bodyPr>
          <a:lstStyle/>
          <a:p>
            <a:r>
              <a:rPr lang="en-US" dirty="0"/>
              <a:t>(a.) Between the ages of 25 and 40, Lucy contributed $5000 per year to a 401(k) and her employer matched this contribution dollar for dollar on her behalf. The interest rate is 7.5% compounded annually. What is the value of the 401(k) at the end of the 15 years? Round your answers to the nearest dollar and use the whole dollar amount for subsequent calculations.</a:t>
            </a:r>
          </a:p>
          <a:p>
            <a:r>
              <a:rPr lang="en-US" dirty="0"/>
              <a:t>(b.) After 15 years of working for this firm, she moved on to a new job. However, she kept her accumulated retirement funds in the 401(k). How much money will she have in the plan when she reaches age 65?</a:t>
            </a:r>
          </a:p>
          <a:p>
            <a:r>
              <a:rPr lang="en-US" dirty="0"/>
              <a:t>(c.) How much did she contribute to the 401(k) plan? </a:t>
            </a:r>
          </a:p>
          <a:p>
            <a:r>
              <a:rPr lang="en-US" dirty="0"/>
              <a:t>(d.) How much did her employer contribute to the plan?</a:t>
            </a:r>
          </a:p>
          <a:p>
            <a:r>
              <a:rPr lang="en-US" dirty="0"/>
              <a:t>(e.) What is the difference between the amount of money she would have accumulated in the 401(k) and the amount she contributed to the plan? </a:t>
            </a:r>
          </a:p>
        </p:txBody>
      </p:sp>
    </p:spTree>
    <p:extLst>
      <p:ext uri="{BB962C8B-B14F-4D97-AF65-F5344CB8AC3E}">
        <p14:creationId xmlns:p14="http://schemas.microsoft.com/office/powerpoint/2010/main" val="24035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Question 4							2</a:t>
            </a:r>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1341120" y="1159099"/>
                <a:ext cx="9509760" cy="5293215"/>
              </a:xfrm>
            </p:spPr>
            <p:txBody>
              <a:bodyPr>
                <a:normAutofit fontScale="92500"/>
              </a:bodyPr>
              <a:lstStyle/>
              <a:p>
                <a:pPr lvl="0">
                  <a:buClr>
                    <a:srgbClr val="263050"/>
                  </a:buClr>
                </a:pPr>
                <a:r>
                  <a:rPr lang="en-US" sz="2200" u="sng" dirty="0">
                    <a:solidFill>
                      <a:srgbClr val="263050"/>
                    </a:solidFill>
                  </a:rPr>
                  <a:t>Solution</a:t>
                </a:r>
                <a:r>
                  <a:rPr lang="en-US" u="sng" dirty="0">
                    <a:solidFill>
                      <a:srgbClr val="263050"/>
                    </a:solidFill>
                  </a:rPr>
                  <a:t> </a:t>
                </a:r>
              </a:p>
              <a:p>
                <a:pPr lvl="0">
                  <a:buClr>
                    <a:srgbClr val="263050"/>
                  </a:buClr>
                </a:pPr>
                <a:r>
                  <a:rPr lang="en-US" dirty="0">
                    <a:solidFill>
                      <a:srgbClr val="263050"/>
                    </a:solidFill>
                  </a:rPr>
                  <a:t>(a.) </a:t>
                </a:r>
                <a:r>
                  <a:rPr lang="en-US" sz="2200" dirty="0">
                    <a:solidFill>
                      <a:srgbClr val="263050"/>
                    </a:solidFill>
                  </a:rPr>
                  <a:t>PMT = $5000 + $5000 = $10000; r = 7.5% = 0.075; m = 1; t = 40 – 25 = 15 years</a:t>
                </a:r>
              </a:p>
              <a:p>
                <a:pPr lvl="0">
                  <a:buClr>
                    <a:srgbClr val="263050"/>
                  </a:buClr>
                </a:pPr>
                <a14:m>
                  <m:oMath xmlns:m="http://schemas.openxmlformats.org/officeDocument/2006/math">
                    <m:r>
                      <a:rPr lang="en-US" sz="3000" i="1" smtClean="0">
                        <a:solidFill>
                          <a:srgbClr val="263050"/>
                        </a:solidFill>
                        <a:latin typeface="Cambria Math" panose="02040503050406030204" pitchFamily="18" charset="0"/>
                      </a:rPr>
                      <m:t>𝐹𝑉</m:t>
                    </m:r>
                    <m:r>
                      <a:rPr lang="en-US" sz="3000" i="1" smtClean="0">
                        <a:solidFill>
                          <a:srgbClr val="263050"/>
                        </a:solidFill>
                        <a:latin typeface="Cambria Math" panose="02040503050406030204" pitchFamily="18" charset="0"/>
                      </a:rPr>
                      <m:t>=</m:t>
                    </m:r>
                    <m:r>
                      <a:rPr lang="en-US" sz="3000" i="1" smtClean="0">
                        <a:solidFill>
                          <a:srgbClr val="263050"/>
                        </a:solidFill>
                        <a:latin typeface="Cambria Math" panose="02040503050406030204" pitchFamily="18" charset="0"/>
                      </a:rPr>
                      <m:t>𝑚</m:t>
                    </m:r>
                    <m:r>
                      <a:rPr lang="en-US" sz="3000" i="1" smtClean="0">
                        <a:solidFill>
                          <a:srgbClr val="263050"/>
                        </a:solidFill>
                        <a:latin typeface="Cambria Math" panose="02040503050406030204" pitchFamily="18" charset="0"/>
                      </a:rPr>
                      <m:t>∗</m:t>
                    </m:r>
                    <m:r>
                      <a:rPr lang="en-US" sz="3000" i="1" smtClean="0">
                        <a:solidFill>
                          <a:srgbClr val="263050"/>
                        </a:solidFill>
                        <a:latin typeface="Cambria Math" panose="02040503050406030204" pitchFamily="18" charset="0"/>
                      </a:rPr>
                      <m:t>𝑃𝑀𝑇</m:t>
                    </m:r>
                    <m:r>
                      <a:rPr lang="en-US" sz="3000" i="1" smtClean="0">
                        <a:solidFill>
                          <a:srgbClr val="263050"/>
                        </a:solidFill>
                        <a:latin typeface="Cambria Math" panose="02040503050406030204" pitchFamily="18" charset="0"/>
                      </a:rPr>
                      <m:t>∗[</m:t>
                    </m:r>
                    <m:f>
                      <m:fPr>
                        <m:ctrlPr>
                          <a:rPr lang="en-US" sz="3000" i="1">
                            <a:solidFill>
                              <a:srgbClr val="263050"/>
                            </a:solidFill>
                            <a:latin typeface="Cambria Math" panose="02040503050406030204" pitchFamily="18" charset="0"/>
                          </a:rPr>
                        </m:ctrlPr>
                      </m:fPr>
                      <m:num>
                        <m:sSup>
                          <m:sSupPr>
                            <m:ctrlPr>
                              <a:rPr lang="en-US" sz="3000" i="1">
                                <a:solidFill>
                                  <a:srgbClr val="263050"/>
                                </a:solidFill>
                                <a:latin typeface="Cambria Math" panose="02040503050406030204" pitchFamily="18" charset="0"/>
                              </a:rPr>
                            </m:ctrlPr>
                          </m:sSupPr>
                          <m:e>
                            <m:r>
                              <a:rPr lang="en-US" sz="3000" i="1">
                                <a:solidFill>
                                  <a:srgbClr val="263050"/>
                                </a:solidFill>
                                <a:latin typeface="Cambria Math" panose="02040503050406030204" pitchFamily="18" charset="0"/>
                              </a:rPr>
                              <m:t>(1+</m:t>
                            </m:r>
                            <m:f>
                              <m:fPr>
                                <m:ctrlPr>
                                  <a:rPr lang="en-US" sz="3000" i="1">
                                    <a:solidFill>
                                      <a:srgbClr val="263050"/>
                                    </a:solidFill>
                                    <a:latin typeface="Cambria Math" panose="02040503050406030204" pitchFamily="18" charset="0"/>
                                  </a:rPr>
                                </m:ctrlPr>
                              </m:fPr>
                              <m:num>
                                <m:r>
                                  <a:rPr lang="en-US" sz="3000" i="1">
                                    <a:solidFill>
                                      <a:srgbClr val="263050"/>
                                    </a:solidFill>
                                    <a:latin typeface="Cambria Math" panose="02040503050406030204" pitchFamily="18" charset="0"/>
                                  </a:rPr>
                                  <m:t>𝑟</m:t>
                                </m:r>
                              </m:num>
                              <m:den>
                                <m:r>
                                  <a:rPr lang="en-US" sz="3000" i="1">
                                    <a:solidFill>
                                      <a:srgbClr val="263050"/>
                                    </a:solidFill>
                                    <a:latin typeface="Cambria Math" panose="02040503050406030204" pitchFamily="18" charset="0"/>
                                  </a:rPr>
                                  <m:t>𝑚</m:t>
                                </m:r>
                              </m:den>
                            </m:f>
                            <m:r>
                              <a:rPr lang="en-US" sz="3000" i="1">
                                <a:solidFill>
                                  <a:srgbClr val="263050"/>
                                </a:solidFill>
                                <a:latin typeface="Cambria Math" panose="02040503050406030204" pitchFamily="18" charset="0"/>
                              </a:rPr>
                              <m:t>)</m:t>
                            </m:r>
                          </m:e>
                          <m:sup>
                            <m:r>
                              <a:rPr lang="en-US" sz="3000" i="1">
                                <a:solidFill>
                                  <a:srgbClr val="263050"/>
                                </a:solidFill>
                                <a:latin typeface="Cambria Math" panose="02040503050406030204" pitchFamily="18" charset="0"/>
                              </a:rPr>
                              <m:t>𝑚𝑡</m:t>
                            </m:r>
                          </m:sup>
                        </m:sSup>
                        <m:r>
                          <a:rPr lang="en-US" sz="3000" i="1">
                            <a:solidFill>
                              <a:srgbClr val="263050"/>
                            </a:solidFill>
                            <a:latin typeface="Cambria Math" panose="02040503050406030204" pitchFamily="18" charset="0"/>
                          </a:rPr>
                          <m:t>−1</m:t>
                        </m:r>
                      </m:num>
                      <m:den>
                        <m:r>
                          <a:rPr lang="en-US" sz="3000" i="1">
                            <a:solidFill>
                              <a:srgbClr val="263050"/>
                            </a:solidFill>
                            <a:latin typeface="Cambria Math" panose="02040503050406030204" pitchFamily="18" charset="0"/>
                          </a:rPr>
                          <m:t>𝑟</m:t>
                        </m:r>
                      </m:den>
                    </m:f>
                    <m:r>
                      <a:rPr lang="en-US" sz="3000" i="1">
                        <a:solidFill>
                          <a:srgbClr val="263050"/>
                        </a:solidFill>
                        <a:latin typeface="Cambria Math" panose="02040503050406030204" pitchFamily="18" charset="0"/>
                      </a:rPr>
                      <m:t>]</m:t>
                    </m:r>
                  </m:oMath>
                </a14:m>
                <a:endParaRPr lang="en-US" sz="3000" dirty="0">
                  <a:solidFill>
                    <a:srgbClr val="263050"/>
                  </a:solidFill>
                </a:endParaRPr>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𝐹𝑉</m:t>
                    </m:r>
                    <m:r>
                      <a:rPr lang="en-US" sz="3000" i="1">
                        <a:solidFill>
                          <a:srgbClr val="263050"/>
                        </a:solidFill>
                        <a:latin typeface="Cambria Math" panose="02040503050406030204" pitchFamily="18" charset="0"/>
                      </a:rPr>
                      <m:t>=1∗10000∗[</m:t>
                    </m:r>
                    <m:f>
                      <m:fPr>
                        <m:ctrlPr>
                          <a:rPr lang="en-US" sz="3000" i="1">
                            <a:solidFill>
                              <a:srgbClr val="263050"/>
                            </a:solidFill>
                            <a:latin typeface="Cambria Math" panose="02040503050406030204" pitchFamily="18" charset="0"/>
                          </a:rPr>
                        </m:ctrlPr>
                      </m:fPr>
                      <m:num>
                        <m:sSup>
                          <m:sSupPr>
                            <m:ctrlPr>
                              <a:rPr lang="en-US" sz="3000" i="1">
                                <a:solidFill>
                                  <a:srgbClr val="263050"/>
                                </a:solidFill>
                                <a:latin typeface="Cambria Math" panose="02040503050406030204" pitchFamily="18" charset="0"/>
                              </a:rPr>
                            </m:ctrlPr>
                          </m:sSupPr>
                          <m:e>
                            <m:r>
                              <a:rPr lang="en-US" sz="3000" i="1">
                                <a:solidFill>
                                  <a:srgbClr val="263050"/>
                                </a:solidFill>
                                <a:latin typeface="Cambria Math" panose="02040503050406030204" pitchFamily="18" charset="0"/>
                              </a:rPr>
                              <m:t>(1+</m:t>
                            </m:r>
                            <m:f>
                              <m:fPr>
                                <m:ctrlPr>
                                  <a:rPr lang="en-US" sz="3000" i="1">
                                    <a:solidFill>
                                      <a:srgbClr val="263050"/>
                                    </a:solidFill>
                                    <a:latin typeface="Cambria Math" panose="02040503050406030204" pitchFamily="18" charset="0"/>
                                  </a:rPr>
                                </m:ctrlPr>
                              </m:fPr>
                              <m:num>
                                <m:r>
                                  <a:rPr lang="en-US" sz="3000" i="1">
                                    <a:solidFill>
                                      <a:srgbClr val="263050"/>
                                    </a:solidFill>
                                    <a:latin typeface="Cambria Math" panose="02040503050406030204" pitchFamily="18" charset="0"/>
                                  </a:rPr>
                                  <m:t>0.</m:t>
                                </m:r>
                                <m:r>
                                  <a:rPr lang="en-US" sz="3000" b="0" i="1" smtClean="0">
                                    <a:solidFill>
                                      <a:srgbClr val="263050"/>
                                    </a:solidFill>
                                    <a:latin typeface="Cambria Math" panose="02040503050406030204" pitchFamily="18" charset="0"/>
                                  </a:rPr>
                                  <m:t>075</m:t>
                                </m:r>
                              </m:num>
                              <m:den>
                                <m:r>
                                  <a:rPr lang="en-US" sz="3000" i="1">
                                    <a:solidFill>
                                      <a:srgbClr val="263050"/>
                                    </a:solidFill>
                                    <a:latin typeface="Cambria Math" panose="02040503050406030204" pitchFamily="18" charset="0"/>
                                  </a:rPr>
                                  <m:t>1</m:t>
                                </m:r>
                              </m:den>
                            </m:f>
                            <m:r>
                              <a:rPr lang="en-US" sz="3000" i="1">
                                <a:solidFill>
                                  <a:srgbClr val="263050"/>
                                </a:solidFill>
                                <a:latin typeface="Cambria Math" panose="02040503050406030204" pitchFamily="18" charset="0"/>
                              </a:rPr>
                              <m:t>)</m:t>
                            </m:r>
                          </m:e>
                          <m:sup>
                            <m:r>
                              <a:rPr lang="en-US" sz="3000" i="1">
                                <a:solidFill>
                                  <a:srgbClr val="263050"/>
                                </a:solidFill>
                                <a:latin typeface="Cambria Math" panose="02040503050406030204" pitchFamily="18" charset="0"/>
                              </a:rPr>
                              <m:t>1∗</m:t>
                            </m:r>
                            <m:r>
                              <a:rPr lang="en-US" sz="3000" b="0" i="1" smtClean="0">
                                <a:solidFill>
                                  <a:srgbClr val="263050"/>
                                </a:solidFill>
                                <a:latin typeface="Cambria Math" panose="02040503050406030204" pitchFamily="18" charset="0"/>
                              </a:rPr>
                              <m:t>15</m:t>
                            </m:r>
                          </m:sup>
                        </m:sSup>
                        <m:r>
                          <a:rPr lang="en-US" sz="3000" i="1">
                            <a:solidFill>
                              <a:srgbClr val="263050"/>
                            </a:solidFill>
                            <a:latin typeface="Cambria Math" panose="02040503050406030204" pitchFamily="18" charset="0"/>
                          </a:rPr>
                          <m:t>−1</m:t>
                        </m:r>
                      </m:num>
                      <m:den>
                        <m:r>
                          <a:rPr lang="en-US" sz="3000" i="1">
                            <a:solidFill>
                              <a:srgbClr val="263050"/>
                            </a:solidFill>
                            <a:latin typeface="Cambria Math" panose="02040503050406030204" pitchFamily="18" charset="0"/>
                          </a:rPr>
                          <m:t>0.0</m:t>
                        </m:r>
                        <m:r>
                          <a:rPr lang="en-US" sz="3000" b="0" i="1" smtClean="0">
                            <a:solidFill>
                              <a:srgbClr val="263050"/>
                            </a:solidFill>
                            <a:latin typeface="Cambria Math" panose="02040503050406030204" pitchFamily="18" charset="0"/>
                          </a:rPr>
                          <m:t>75</m:t>
                        </m:r>
                      </m:den>
                    </m:f>
                    <m:r>
                      <a:rPr lang="en-US" sz="3000" i="1">
                        <a:solidFill>
                          <a:srgbClr val="263050"/>
                        </a:solidFill>
                        <a:latin typeface="Cambria Math" panose="02040503050406030204" pitchFamily="18" charset="0"/>
                      </a:rPr>
                      <m:t>]</m:t>
                    </m:r>
                  </m:oMath>
                </a14:m>
                <a:endParaRPr lang="en-US" sz="3000" dirty="0">
                  <a:solidFill>
                    <a:srgbClr val="263050"/>
                  </a:solidFill>
                </a:endParaRPr>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𝐹𝑉</m:t>
                    </m:r>
                    <m:r>
                      <a:rPr lang="en-US" sz="3000" i="1">
                        <a:solidFill>
                          <a:srgbClr val="263050"/>
                        </a:solidFill>
                        <a:latin typeface="Cambria Math" panose="02040503050406030204" pitchFamily="18" charset="0"/>
                      </a:rPr>
                      <m:t>=10000∗[</m:t>
                    </m:r>
                    <m:f>
                      <m:fPr>
                        <m:ctrlPr>
                          <a:rPr lang="en-US" sz="3000" i="1">
                            <a:solidFill>
                              <a:srgbClr val="263050"/>
                            </a:solidFill>
                            <a:latin typeface="Cambria Math" panose="02040503050406030204" pitchFamily="18" charset="0"/>
                          </a:rPr>
                        </m:ctrlPr>
                      </m:fPr>
                      <m:num>
                        <m:sSup>
                          <m:sSupPr>
                            <m:ctrlPr>
                              <a:rPr lang="en-US" sz="3000" i="1">
                                <a:solidFill>
                                  <a:srgbClr val="263050"/>
                                </a:solidFill>
                                <a:latin typeface="Cambria Math" panose="02040503050406030204" pitchFamily="18" charset="0"/>
                              </a:rPr>
                            </m:ctrlPr>
                          </m:sSupPr>
                          <m:e>
                            <m:r>
                              <a:rPr lang="en-US" sz="3000" i="1">
                                <a:solidFill>
                                  <a:srgbClr val="263050"/>
                                </a:solidFill>
                                <a:latin typeface="Cambria Math" panose="02040503050406030204" pitchFamily="18" charset="0"/>
                              </a:rPr>
                              <m:t>(1+</m:t>
                            </m:r>
                            <m:r>
                              <a:rPr lang="en-US" sz="3000" b="0" i="1" smtClean="0">
                                <a:solidFill>
                                  <a:srgbClr val="263050"/>
                                </a:solidFill>
                                <a:latin typeface="Cambria Math" panose="02040503050406030204" pitchFamily="18" charset="0"/>
                              </a:rPr>
                              <m:t>0.075</m:t>
                            </m:r>
                            <m:r>
                              <a:rPr lang="en-US" sz="3000" i="1">
                                <a:solidFill>
                                  <a:srgbClr val="263050"/>
                                </a:solidFill>
                                <a:latin typeface="Cambria Math" panose="02040503050406030204" pitchFamily="18" charset="0"/>
                              </a:rPr>
                              <m:t>)</m:t>
                            </m:r>
                          </m:e>
                          <m:sup>
                            <m:r>
                              <a:rPr lang="en-US" sz="3000" b="0" i="1" smtClean="0">
                                <a:solidFill>
                                  <a:srgbClr val="263050"/>
                                </a:solidFill>
                                <a:latin typeface="Cambria Math" panose="02040503050406030204" pitchFamily="18" charset="0"/>
                              </a:rPr>
                              <m:t>15</m:t>
                            </m:r>
                          </m:sup>
                        </m:sSup>
                        <m:r>
                          <a:rPr lang="en-US" sz="3000" i="1">
                            <a:solidFill>
                              <a:srgbClr val="263050"/>
                            </a:solidFill>
                            <a:latin typeface="Cambria Math" panose="02040503050406030204" pitchFamily="18" charset="0"/>
                          </a:rPr>
                          <m:t>−1</m:t>
                        </m:r>
                      </m:num>
                      <m:den>
                        <m:r>
                          <a:rPr lang="en-US" sz="3000" i="1">
                            <a:solidFill>
                              <a:srgbClr val="263050"/>
                            </a:solidFill>
                            <a:latin typeface="Cambria Math" panose="02040503050406030204" pitchFamily="18" charset="0"/>
                          </a:rPr>
                          <m:t>0.0</m:t>
                        </m:r>
                        <m:r>
                          <a:rPr lang="en-US" sz="3000" b="0" i="1" smtClean="0">
                            <a:solidFill>
                              <a:srgbClr val="263050"/>
                            </a:solidFill>
                            <a:latin typeface="Cambria Math" panose="02040503050406030204" pitchFamily="18" charset="0"/>
                          </a:rPr>
                          <m:t>75</m:t>
                        </m:r>
                      </m:den>
                    </m:f>
                    <m:r>
                      <a:rPr lang="en-US" sz="3000" i="1">
                        <a:solidFill>
                          <a:srgbClr val="263050"/>
                        </a:solidFill>
                        <a:latin typeface="Cambria Math" panose="02040503050406030204" pitchFamily="18" charset="0"/>
                      </a:rPr>
                      <m:t>]</m:t>
                    </m:r>
                  </m:oMath>
                </a14:m>
                <a:endParaRPr lang="en-US" sz="3000" dirty="0">
                  <a:solidFill>
                    <a:srgbClr val="263050"/>
                  </a:solidFill>
                </a:endParaRPr>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𝐹𝑉</m:t>
                    </m:r>
                    <m:r>
                      <a:rPr lang="en-US" sz="3000" i="1">
                        <a:solidFill>
                          <a:srgbClr val="263050"/>
                        </a:solidFill>
                        <a:latin typeface="Cambria Math" panose="02040503050406030204" pitchFamily="18" charset="0"/>
                      </a:rPr>
                      <m:t>=10000∗[</m:t>
                    </m:r>
                    <m:f>
                      <m:fPr>
                        <m:ctrlPr>
                          <a:rPr lang="en-US" sz="3000" i="1">
                            <a:solidFill>
                              <a:srgbClr val="263050"/>
                            </a:solidFill>
                            <a:latin typeface="Cambria Math" panose="02040503050406030204" pitchFamily="18" charset="0"/>
                          </a:rPr>
                        </m:ctrlPr>
                      </m:fPr>
                      <m:num>
                        <m:sSup>
                          <m:sSupPr>
                            <m:ctrlPr>
                              <a:rPr lang="en-US" sz="3000" i="1">
                                <a:solidFill>
                                  <a:srgbClr val="263050"/>
                                </a:solidFill>
                                <a:latin typeface="Cambria Math" panose="02040503050406030204" pitchFamily="18" charset="0"/>
                              </a:rPr>
                            </m:ctrlPr>
                          </m:sSupPr>
                          <m:e>
                            <m:r>
                              <a:rPr lang="en-US" sz="3000" i="1">
                                <a:solidFill>
                                  <a:srgbClr val="263050"/>
                                </a:solidFill>
                                <a:latin typeface="Cambria Math" panose="02040503050406030204" pitchFamily="18" charset="0"/>
                              </a:rPr>
                              <m:t>(1.0</m:t>
                            </m:r>
                            <m:r>
                              <a:rPr lang="en-US" sz="3000" b="0" i="1" smtClean="0">
                                <a:solidFill>
                                  <a:srgbClr val="263050"/>
                                </a:solidFill>
                                <a:latin typeface="Cambria Math" panose="02040503050406030204" pitchFamily="18" charset="0"/>
                              </a:rPr>
                              <m:t>75</m:t>
                            </m:r>
                            <m:r>
                              <a:rPr lang="en-US" sz="3000" i="1">
                                <a:solidFill>
                                  <a:srgbClr val="263050"/>
                                </a:solidFill>
                                <a:latin typeface="Cambria Math" panose="02040503050406030204" pitchFamily="18" charset="0"/>
                              </a:rPr>
                              <m:t>)</m:t>
                            </m:r>
                          </m:e>
                          <m:sup>
                            <m:r>
                              <a:rPr lang="en-US" sz="3000" b="0" i="1" smtClean="0">
                                <a:solidFill>
                                  <a:srgbClr val="263050"/>
                                </a:solidFill>
                                <a:latin typeface="Cambria Math" panose="02040503050406030204" pitchFamily="18" charset="0"/>
                              </a:rPr>
                              <m:t>15</m:t>
                            </m:r>
                          </m:sup>
                        </m:sSup>
                        <m:r>
                          <a:rPr lang="en-US" sz="3000" i="1">
                            <a:solidFill>
                              <a:srgbClr val="263050"/>
                            </a:solidFill>
                            <a:latin typeface="Cambria Math" panose="02040503050406030204" pitchFamily="18" charset="0"/>
                          </a:rPr>
                          <m:t>−1</m:t>
                        </m:r>
                      </m:num>
                      <m:den>
                        <m:r>
                          <a:rPr lang="en-US" sz="3000" i="1">
                            <a:solidFill>
                              <a:srgbClr val="263050"/>
                            </a:solidFill>
                            <a:latin typeface="Cambria Math" panose="02040503050406030204" pitchFamily="18" charset="0"/>
                          </a:rPr>
                          <m:t>0.0</m:t>
                        </m:r>
                        <m:r>
                          <a:rPr lang="en-US" sz="3000" b="0" i="1" smtClean="0">
                            <a:solidFill>
                              <a:srgbClr val="263050"/>
                            </a:solidFill>
                            <a:latin typeface="Cambria Math" panose="02040503050406030204" pitchFamily="18" charset="0"/>
                          </a:rPr>
                          <m:t>75</m:t>
                        </m:r>
                      </m:den>
                    </m:f>
                    <m:r>
                      <a:rPr lang="en-US" sz="3000" i="1">
                        <a:solidFill>
                          <a:srgbClr val="263050"/>
                        </a:solidFill>
                        <a:latin typeface="Cambria Math" panose="02040503050406030204" pitchFamily="18" charset="0"/>
                      </a:rPr>
                      <m:t>]</m:t>
                    </m:r>
                  </m:oMath>
                </a14:m>
                <a:endParaRPr lang="en-US" sz="3000" dirty="0">
                  <a:solidFill>
                    <a:srgbClr val="263050"/>
                  </a:solidFill>
                </a:endParaRPr>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𝐹𝑉</m:t>
                    </m:r>
                    <m:r>
                      <a:rPr lang="en-US" sz="3000" i="1">
                        <a:solidFill>
                          <a:srgbClr val="263050"/>
                        </a:solidFill>
                        <a:latin typeface="Cambria Math" panose="02040503050406030204" pitchFamily="18" charset="0"/>
                      </a:rPr>
                      <m:t>=10000∗</m:t>
                    </m:r>
                    <m:d>
                      <m:dPr>
                        <m:begChr m:val="["/>
                        <m:endChr m:val="]"/>
                        <m:ctrlPr>
                          <a:rPr lang="en-US" sz="3000" i="1">
                            <a:solidFill>
                              <a:srgbClr val="263050"/>
                            </a:solidFill>
                            <a:latin typeface="Cambria Math" panose="02040503050406030204" pitchFamily="18" charset="0"/>
                          </a:rPr>
                        </m:ctrlPr>
                      </m:dPr>
                      <m:e>
                        <m:f>
                          <m:fPr>
                            <m:ctrlPr>
                              <a:rPr lang="en-US" sz="3000" i="1">
                                <a:solidFill>
                                  <a:srgbClr val="263050"/>
                                </a:solidFill>
                                <a:latin typeface="Cambria Math" panose="02040503050406030204" pitchFamily="18" charset="0"/>
                              </a:rPr>
                            </m:ctrlPr>
                          </m:fPr>
                          <m:num>
                            <m:r>
                              <a:rPr lang="en-US" sz="3000" b="0" i="1" smtClean="0">
                                <a:solidFill>
                                  <a:srgbClr val="263050"/>
                                </a:solidFill>
                                <a:latin typeface="Cambria Math" panose="02040503050406030204" pitchFamily="18" charset="0"/>
                              </a:rPr>
                              <m:t>2.958877353</m:t>
                            </m:r>
                            <m:r>
                              <a:rPr lang="en-US" sz="3000" i="1">
                                <a:solidFill>
                                  <a:srgbClr val="263050"/>
                                </a:solidFill>
                                <a:latin typeface="Cambria Math" panose="02040503050406030204" pitchFamily="18" charset="0"/>
                              </a:rPr>
                              <m:t>−1</m:t>
                            </m:r>
                          </m:num>
                          <m:den>
                            <m:r>
                              <a:rPr lang="en-US" sz="3000" i="1">
                                <a:solidFill>
                                  <a:srgbClr val="263050"/>
                                </a:solidFill>
                                <a:latin typeface="Cambria Math" panose="02040503050406030204" pitchFamily="18" charset="0"/>
                              </a:rPr>
                              <m:t>0.0</m:t>
                            </m:r>
                            <m:r>
                              <a:rPr lang="en-US" sz="3000" b="0" i="1" smtClean="0">
                                <a:solidFill>
                                  <a:srgbClr val="263050"/>
                                </a:solidFill>
                                <a:latin typeface="Cambria Math" panose="02040503050406030204" pitchFamily="18" charset="0"/>
                              </a:rPr>
                              <m:t>75</m:t>
                            </m:r>
                          </m:den>
                        </m:f>
                      </m:e>
                    </m:d>
                    <m:r>
                      <a:rPr lang="en-US" sz="3000" b="0" i="1" smtClean="0">
                        <a:solidFill>
                          <a:srgbClr val="263050"/>
                        </a:solidFill>
                        <a:latin typeface="Cambria Math" panose="02040503050406030204" pitchFamily="18" charset="0"/>
                      </a:rPr>
                      <m:t>=</m:t>
                    </m:r>
                    <m:r>
                      <a:rPr lang="en-US" sz="3000" i="1">
                        <a:solidFill>
                          <a:srgbClr val="263050"/>
                        </a:solidFill>
                        <a:latin typeface="Cambria Math" panose="02040503050406030204" pitchFamily="18" charset="0"/>
                      </a:rPr>
                      <m:t>10</m:t>
                    </m:r>
                    <m:r>
                      <a:rPr lang="en-US" sz="3000" b="0" i="1" smtClean="0">
                        <a:solidFill>
                          <a:srgbClr val="263050"/>
                        </a:solidFill>
                        <a:latin typeface="Cambria Math" panose="02040503050406030204" pitchFamily="18" charset="0"/>
                      </a:rPr>
                      <m:t>0</m:t>
                    </m:r>
                    <m:r>
                      <a:rPr lang="en-US" sz="3000" i="1">
                        <a:solidFill>
                          <a:srgbClr val="263050"/>
                        </a:solidFill>
                        <a:latin typeface="Cambria Math" panose="02040503050406030204" pitchFamily="18" charset="0"/>
                      </a:rPr>
                      <m:t>00∗</m:t>
                    </m:r>
                    <m:d>
                      <m:dPr>
                        <m:begChr m:val="["/>
                        <m:endChr m:val="]"/>
                        <m:ctrlPr>
                          <a:rPr lang="en-US" sz="3000" i="1">
                            <a:solidFill>
                              <a:srgbClr val="263050"/>
                            </a:solidFill>
                            <a:latin typeface="Cambria Math" panose="02040503050406030204" pitchFamily="18" charset="0"/>
                          </a:rPr>
                        </m:ctrlPr>
                      </m:dPr>
                      <m:e>
                        <m:f>
                          <m:fPr>
                            <m:ctrlPr>
                              <a:rPr lang="en-US" sz="3000" i="1">
                                <a:solidFill>
                                  <a:srgbClr val="263050"/>
                                </a:solidFill>
                                <a:latin typeface="Cambria Math" panose="02040503050406030204" pitchFamily="18" charset="0"/>
                              </a:rPr>
                            </m:ctrlPr>
                          </m:fPr>
                          <m:num>
                            <m:r>
                              <a:rPr lang="en-US" sz="3000" b="0" i="1" smtClean="0">
                                <a:solidFill>
                                  <a:srgbClr val="263050"/>
                                </a:solidFill>
                                <a:latin typeface="Cambria Math" panose="02040503050406030204" pitchFamily="18" charset="0"/>
                              </a:rPr>
                              <m:t>1.958877353</m:t>
                            </m:r>
                          </m:num>
                          <m:den>
                            <m:r>
                              <a:rPr lang="en-US" sz="3000" i="1">
                                <a:solidFill>
                                  <a:srgbClr val="263050"/>
                                </a:solidFill>
                                <a:latin typeface="Cambria Math" panose="02040503050406030204" pitchFamily="18" charset="0"/>
                              </a:rPr>
                              <m:t>0.0</m:t>
                            </m:r>
                            <m:r>
                              <a:rPr lang="en-US" sz="3000" b="0" i="1" smtClean="0">
                                <a:solidFill>
                                  <a:srgbClr val="263050"/>
                                </a:solidFill>
                                <a:latin typeface="Cambria Math" panose="02040503050406030204" pitchFamily="18" charset="0"/>
                              </a:rPr>
                              <m:t>75</m:t>
                            </m:r>
                          </m:den>
                        </m:f>
                      </m:e>
                    </m:d>
                  </m:oMath>
                </a14:m>
                <a:endParaRPr lang="en-US" sz="3000" dirty="0">
                  <a:solidFill>
                    <a:srgbClr val="263050"/>
                  </a:solidFill>
                </a:endParaRPr>
              </a:p>
              <a:p>
                <a:pPr lvl="0">
                  <a:buClr>
                    <a:srgbClr val="263050"/>
                  </a:buClr>
                </a:pPr>
                <a:endParaRPr lang="en-US" sz="3000" dirty="0">
                  <a:solidFill>
                    <a:srgbClr val="263050"/>
                  </a:solidFill>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1341120" y="1159099"/>
                <a:ext cx="9509760" cy="5293215"/>
              </a:xfrm>
              <a:blipFill rotWithShape="0">
                <a:blip r:embed="rId2"/>
                <a:stretch>
                  <a:fillRect l="-64" t="-1152"/>
                </a:stretch>
              </a:blipFill>
            </p:spPr>
            <p:txBody>
              <a:bodyPr/>
              <a:lstStyle/>
              <a:p>
                <a:r>
                  <a:rPr lang="en-US">
                    <a:noFill/>
                  </a:rPr>
                  <a:t> </a:t>
                </a:r>
              </a:p>
            </p:txBody>
          </p:sp>
        </mc:Fallback>
      </mc:AlternateContent>
    </p:spTree>
    <p:extLst>
      <p:ext uri="{BB962C8B-B14F-4D97-AF65-F5344CB8AC3E}">
        <p14:creationId xmlns:p14="http://schemas.microsoft.com/office/powerpoint/2010/main" val="2235268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Question 4							3</a:t>
            </a:r>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1341120" y="1339404"/>
                <a:ext cx="9509760" cy="4690176"/>
              </a:xfrm>
            </p:spPr>
            <p:txBody>
              <a:bodyPr/>
              <a:lstStyle/>
              <a:p>
                <a:pPr lvl="0">
                  <a:buClr>
                    <a:srgbClr val="263050"/>
                  </a:buClr>
                </a:pPr>
                <a14:m>
                  <m:oMath xmlns:m="http://schemas.openxmlformats.org/officeDocument/2006/math">
                    <m:r>
                      <a:rPr lang="en-US" sz="3000" i="1" smtClean="0">
                        <a:solidFill>
                          <a:srgbClr val="263050"/>
                        </a:solidFill>
                        <a:latin typeface="Cambria Math" panose="02040503050406030204" pitchFamily="18" charset="0"/>
                      </a:rPr>
                      <m:t>𝐹𝑉</m:t>
                    </m:r>
                    <m:r>
                      <a:rPr lang="en-US" sz="3000" i="1" smtClean="0">
                        <a:solidFill>
                          <a:srgbClr val="263050"/>
                        </a:solidFill>
                        <a:latin typeface="Cambria Math" panose="02040503050406030204" pitchFamily="18" charset="0"/>
                      </a:rPr>
                      <m:t>=</m:t>
                    </m:r>
                    <m:f>
                      <m:fPr>
                        <m:ctrlPr>
                          <a:rPr lang="en-US" sz="3000" i="1">
                            <a:solidFill>
                              <a:srgbClr val="263050"/>
                            </a:solidFill>
                            <a:latin typeface="Cambria Math" panose="02040503050406030204" pitchFamily="18" charset="0"/>
                          </a:rPr>
                        </m:ctrlPr>
                      </m:fPr>
                      <m:num>
                        <m:r>
                          <a:rPr lang="en-US" sz="3000" b="0" i="1" smtClean="0">
                            <a:solidFill>
                              <a:srgbClr val="263050"/>
                            </a:solidFill>
                            <a:latin typeface="Cambria Math" panose="02040503050406030204" pitchFamily="18" charset="0"/>
                          </a:rPr>
                          <m:t>19588.77353</m:t>
                        </m:r>
                      </m:num>
                      <m:den>
                        <m:r>
                          <a:rPr lang="en-US" sz="3000" i="1">
                            <a:solidFill>
                              <a:srgbClr val="263050"/>
                            </a:solidFill>
                            <a:latin typeface="Cambria Math" panose="02040503050406030204" pitchFamily="18" charset="0"/>
                          </a:rPr>
                          <m:t>0.0</m:t>
                        </m:r>
                        <m:r>
                          <a:rPr lang="en-US" sz="3000" b="0" i="1" smtClean="0">
                            <a:solidFill>
                              <a:srgbClr val="263050"/>
                            </a:solidFill>
                            <a:latin typeface="Cambria Math" panose="02040503050406030204" pitchFamily="18" charset="0"/>
                          </a:rPr>
                          <m:t>75</m:t>
                        </m:r>
                      </m:den>
                    </m:f>
                    <m:r>
                      <a:rPr lang="en-US" sz="3000" b="0" i="1" smtClean="0">
                        <a:solidFill>
                          <a:srgbClr val="263050"/>
                        </a:solidFill>
                        <a:latin typeface="Cambria Math" panose="02040503050406030204" pitchFamily="18" charset="0"/>
                      </a:rPr>
                      <m:t>=$261183.65</m:t>
                    </m:r>
                    <m:r>
                      <a:rPr lang="en-US" sz="3000" b="0" i="1" smtClean="0">
                        <a:solidFill>
                          <a:srgbClr val="263050"/>
                        </a:solidFill>
                        <a:latin typeface="Cambria Math" panose="02040503050406030204" pitchFamily="18" charset="0"/>
                        <a:ea typeface="Cambria Math" panose="02040503050406030204" pitchFamily="18" charset="0"/>
                      </a:rPr>
                      <m:t>≈</m:t>
                    </m:r>
                    <m:r>
                      <a:rPr lang="en-US" sz="3000" b="1" i="1" smtClean="0">
                        <a:solidFill>
                          <a:srgbClr val="00B050"/>
                        </a:solidFill>
                        <a:latin typeface="Cambria Math" panose="02040503050406030204" pitchFamily="18" charset="0"/>
                        <a:ea typeface="Cambria Math" panose="02040503050406030204" pitchFamily="18" charset="0"/>
                      </a:rPr>
                      <m:t>$</m:t>
                    </m:r>
                    <m:r>
                      <a:rPr lang="en-US" sz="3000" b="1" i="1" smtClean="0">
                        <a:solidFill>
                          <a:srgbClr val="00B050"/>
                        </a:solidFill>
                        <a:latin typeface="Cambria Math" panose="02040503050406030204" pitchFamily="18" charset="0"/>
                        <a:ea typeface="Cambria Math" panose="02040503050406030204" pitchFamily="18" charset="0"/>
                      </a:rPr>
                      <m:t>𝟐𝟔𝟏𝟏𝟖𝟒</m:t>
                    </m:r>
                  </m:oMath>
                </a14:m>
                <a:endParaRPr lang="en-US" sz="3000" b="1" dirty="0">
                  <a:solidFill>
                    <a:srgbClr val="00B050"/>
                  </a:solidFill>
                </a:endParaRPr>
              </a:p>
              <a:p>
                <a:pPr lvl="0">
                  <a:buClr>
                    <a:srgbClr val="263050"/>
                  </a:buClr>
                </a:pPr>
                <a:r>
                  <a:rPr lang="en-US" dirty="0">
                    <a:solidFill>
                      <a:srgbClr val="263050"/>
                    </a:solidFill>
                  </a:rPr>
                  <a:t>(b.) The money was left in the 401(k) from the age of 40 years until 65 years. No periodic deposits were made during that period (25 years). However, the money earned interest. It was not withdrawn even when she found a new job. That money, the FV of $261183.65 was still being compounded annually at 7.5% interest rate. So, we have to use the </a:t>
                </a:r>
                <a:r>
                  <a:rPr lang="en-US" u="sng" dirty="0">
                    <a:solidFill>
                      <a:srgbClr val="263050"/>
                    </a:solidFill>
                  </a:rPr>
                  <a:t>Compound Interest Formula</a:t>
                </a:r>
                <a:r>
                  <a:rPr lang="en-US" dirty="0">
                    <a:solidFill>
                      <a:srgbClr val="263050"/>
                    </a:solidFill>
                  </a:rPr>
                  <a:t>. </a:t>
                </a:r>
              </a:p>
              <a:p>
                <a:pPr lvl="0">
                  <a:buClr>
                    <a:srgbClr val="263050"/>
                  </a:buClr>
                </a:pPr>
                <a14:m>
                  <m:oMath xmlns:m="http://schemas.openxmlformats.org/officeDocument/2006/math">
                    <m:r>
                      <a:rPr lang="en-US" sz="3000" b="0" i="1" smtClean="0">
                        <a:solidFill>
                          <a:srgbClr val="263050"/>
                        </a:solidFill>
                        <a:latin typeface="Cambria Math" panose="02040503050406030204" pitchFamily="18" charset="0"/>
                      </a:rPr>
                      <m:t>𝐴</m:t>
                    </m:r>
                    <m:r>
                      <a:rPr lang="en-US" sz="3000" b="0" i="1" smtClean="0">
                        <a:solidFill>
                          <a:srgbClr val="263050"/>
                        </a:solidFill>
                        <a:latin typeface="Cambria Math" panose="02040503050406030204" pitchFamily="18" charset="0"/>
                      </a:rPr>
                      <m:t>=</m:t>
                    </m:r>
                    <m:r>
                      <a:rPr lang="en-US" sz="3000" b="0" i="1" smtClean="0">
                        <a:solidFill>
                          <a:srgbClr val="263050"/>
                        </a:solidFill>
                        <a:latin typeface="Cambria Math" panose="02040503050406030204" pitchFamily="18" charset="0"/>
                      </a:rPr>
                      <m:t>𝑃</m:t>
                    </m:r>
                    <m:sSup>
                      <m:sSupPr>
                        <m:ctrlPr>
                          <a:rPr lang="en-US" sz="3000" b="0" i="1" smtClean="0">
                            <a:solidFill>
                              <a:srgbClr val="263050"/>
                            </a:solidFill>
                            <a:latin typeface="Cambria Math" panose="02040503050406030204" pitchFamily="18" charset="0"/>
                          </a:rPr>
                        </m:ctrlPr>
                      </m:sSupPr>
                      <m:e>
                        <m:r>
                          <a:rPr lang="en-US" sz="3000" b="0" i="1" smtClean="0">
                            <a:solidFill>
                              <a:srgbClr val="263050"/>
                            </a:solidFill>
                            <a:latin typeface="Cambria Math" panose="02040503050406030204" pitchFamily="18" charset="0"/>
                          </a:rPr>
                          <m:t>(1+</m:t>
                        </m:r>
                        <m:f>
                          <m:fPr>
                            <m:ctrlPr>
                              <a:rPr lang="en-US" sz="3000" b="0" i="1" smtClean="0">
                                <a:solidFill>
                                  <a:srgbClr val="263050"/>
                                </a:solidFill>
                                <a:latin typeface="Cambria Math" panose="02040503050406030204" pitchFamily="18" charset="0"/>
                              </a:rPr>
                            </m:ctrlPr>
                          </m:fPr>
                          <m:num>
                            <m:r>
                              <a:rPr lang="en-US" sz="3000" b="0" i="1" smtClean="0">
                                <a:solidFill>
                                  <a:srgbClr val="263050"/>
                                </a:solidFill>
                                <a:latin typeface="Cambria Math" panose="02040503050406030204" pitchFamily="18" charset="0"/>
                              </a:rPr>
                              <m:t>𝑟</m:t>
                            </m:r>
                          </m:num>
                          <m:den>
                            <m:r>
                              <a:rPr lang="en-US" sz="3000" b="0" i="1" smtClean="0">
                                <a:solidFill>
                                  <a:srgbClr val="263050"/>
                                </a:solidFill>
                                <a:latin typeface="Cambria Math" panose="02040503050406030204" pitchFamily="18" charset="0"/>
                              </a:rPr>
                              <m:t>𝑚</m:t>
                            </m:r>
                          </m:den>
                        </m:f>
                        <m:r>
                          <a:rPr lang="en-US" sz="3000" b="0" i="1" smtClean="0">
                            <a:solidFill>
                              <a:srgbClr val="263050"/>
                            </a:solidFill>
                            <a:latin typeface="Cambria Math" panose="02040503050406030204" pitchFamily="18" charset="0"/>
                          </a:rPr>
                          <m:t>)</m:t>
                        </m:r>
                      </m:e>
                      <m:sup>
                        <m:r>
                          <a:rPr lang="en-US" sz="3000" b="0" i="1" smtClean="0">
                            <a:solidFill>
                              <a:srgbClr val="263050"/>
                            </a:solidFill>
                            <a:latin typeface="Cambria Math" panose="02040503050406030204" pitchFamily="18" charset="0"/>
                          </a:rPr>
                          <m:t>𝑚𝑡</m:t>
                        </m:r>
                      </m:sup>
                    </m:sSup>
                  </m:oMath>
                </a14:m>
                <a:endParaRPr lang="en-US" sz="3000" dirty="0">
                  <a:solidFill>
                    <a:srgbClr val="263050"/>
                  </a:solidFill>
                </a:endParaRPr>
              </a:p>
              <a:p>
                <a:pPr lvl="0">
                  <a:buClr>
                    <a:srgbClr val="263050"/>
                  </a:buClr>
                </a:pPr>
                <a:r>
                  <a:rPr lang="en-US" dirty="0">
                    <a:solidFill>
                      <a:srgbClr val="263050"/>
                    </a:solidFill>
                  </a:rPr>
                  <a:t>P = $261184; r = 0.075; m = 1; t = 65 – 40 = 25 years</a:t>
                </a:r>
              </a:p>
              <a:p>
                <a:pPr lvl="0">
                  <a:buClr>
                    <a:srgbClr val="263050"/>
                  </a:buClr>
                </a:pPr>
                <a14:m>
                  <m:oMath xmlns:m="http://schemas.openxmlformats.org/officeDocument/2006/math">
                    <m:r>
                      <a:rPr lang="en-US" sz="3000" i="1">
                        <a:solidFill>
                          <a:srgbClr val="263050"/>
                        </a:solidFill>
                        <a:latin typeface="Cambria Math" panose="02040503050406030204" pitchFamily="18" charset="0"/>
                      </a:rPr>
                      <m:t>𝐴</m:t>
                    </m:r>
                    <m:r>
                      <a:rPr lang="en-US" sz="3000" i="1">
                        <a:solidFill>
                          <a:srgbClr val="263050"/>
                        </a:solidFill>
                        <a:latin typeface="Cambria Math" panose="02040503050406030204" pitchFamily="18" charset="0"/>
                      </a:rPr>
                      <m:t>=261184∗</m:t>
                    </m:r>
                    <m:sSup>
                      <m:sSupPr>
                        <m:ctrlPr>
                          <a:rPr lang="en-US" sz="3000" i="1">
                            <a:solidFill>
                              <a:srgbClr val="263050"/>
                            </a:solidFill>
                            <a:latin typeface="Cambria Math" panose="02040503050406030204" pitchFamily="18" charset="0"/>
                          </a:rPr>
                        </m:ctrlPr>
                      </m:sSupPr>
                      <m:e>
                        <m:r>
                          <a:rPr lang="en-US" sz="3000" i="1">
                            <a:solidFill>
                              <a:srgbClr val="263050"/>
                            </a:solidFill>
                            <a:latin typeface="Cambria Math" panose="02040503050406030204" pitchFamily="18" charset="0"/>
                          </a:rPr>
                          <m:t>(1+</m:t>
                        </m:r>
                        <m:f>
                          <m:fPr>
                            <m:ctrlPr>
                              <a:rPr lang="en-US" sz="3000" i="1">
                                <a:solidFill>
                                  <a:srgbClr val="263050"/>
                                </a:solidFill>
                                <a:latin typeface="Cambria Math" panose="02040503050406030204" pitchFamily="18" charset="0"/>
                              </a:rPr>
                            </m:ctrlPr>
                          </m:fPr>
                          <m:num>
                            <m:r>
                              <a:rPr lang="en-US" sz="3000" b="0" i="1" smtClean="0">
                                <a:solidFill>
                                  <a:srgbClr val="263050"/>
                                </a:solidFill>
                                <a:latin typeface="Cambria Math" panose="02040503050406030204" pitchFamily="18" charset="0"/>
                              </a:rPr>
                              <m:t>0.075</m:t>
                            </m:r>
                          </m:num>
                          <m:den>
                            <m:r>
                              <a:rPr lang="en-US" sz="3000" b="0" i="1" smtClean="0">
                                <a:solidFill>
                                  <a:srgbClr val="263050"/>
                                </a:solidFill>
                                <a:latin typeface="Cambria Math" panose="02040503050406030204" pitchFamily="18" charset="0"/>
                              </a:rPr>
                              <m:t>1</m:t>
                            </m:r>
                          </m:den>
                        </m:f>
                        <m:r>
                          <a:rPr lang="en-US" sz="3000" i="1">
                            <a:solidFill>
                              <a:srgbClr val="263050"/>
                            </a:solidFill>
                            <a:latin typeface="Cambria Math" panose="02040503050406030204" pitchFamily="18" charset="0"/>
                          </a:rPr>
                          <m:t>)</m:t>
                        </m:r>
                      </m:e>
                      <m:sup>
                        <m:r>
                          <a:rPr lang="en-US" sz="3000" b="0" i="1" smtClean="0">
                            <a:solidFill>
                              <a:srgbClr val="263050"/>
                            </a:solidFill>
                            <a:latin typeface="Cambria Math" panose="02040503050406030204" pitchFamily="18" charset="0"/>
                          </a:rPr>
                          <m:t>1∗25</m:t>
                        </m:r>
                      </m:sup>
                    </m:sSup>
                  </m:oMath>
                </a14:m>
                <a:endParaRPr lang="en-US" dirty="0">
                  <a:solidFill>
                    <a:srgbClr val="263050"/>
                  </a:solidFill>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1341120" y="1339404"/>
                <a:ext cx="9509760" cy="4690176"/>
              </a:xfrm>
              <a:blipFill rotWithShape="0">
                <a:blip r:embed="rId2"/>
                <a:stretch>
                  <a:fillRect l="-64" r="-1154"/>
                </a:stretch>
              </a:blipFill>
            </p:spPr>
            <p:txBody>
              <a:bodyPr/>
              <a:lstStyle/>
              <a:p>
                <a:r>
                  <a:rPr lang="en-US">
                    <a:noFill/>
                  </a:rPr>
                  <a:t> </a:t>
                </a:r>
              </a:p>
            </p:txBody>
          </p:sp>
        </mc:Fallback>
      </mc:AlternateContent>
    </p:spTree>
    <p:extLst>
      <p:ext uri="{BB962C8B-B14F-4D97-AF65-F5344CB8AC3E}">
        <p14:creationId xmlns:p14="http://schemas.microsoft.com/office/powerpoint/2010/main" val="2896051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Question 4							4</a:t>
            </a:r>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1341120" y="1339404"/>
                <a:ext cx="9509760" cy="4690176"/>
              </a:xfrm>
            </p:spPr>
            <p:txBody>
              <a:bodyPr/>
              <a:lstStyle/>
              <a:p>
                <a:pPr lvl="0">
                  <a:buClr>
                    <a:srgbClr val="263050"/>
                  </a:buClr>
                </a:pPr>
                <a14:m>
                  <m:oMath xmlns:m="http://schemas.openxmlformats.org/officeDocument/2006/math">
                    <m:r>
                      <a:rPr lang="en-US" sz="3600" i="1" smtClean="0">
                        <a:solidFill>
                          <a:srgbClr val="263050"/>
                        </a:solidFill>
                        <a:latin typeface="Cambria Math" panose="02040503050406030204" pitchFamily="18" charset="0"/>
                      </a:rPr>
                      <m:t>𝐴</m:t>
                    </m:r>
                    <m:r>
                      <a:rPr lang="en-US" sz="3600" i="1" smtClean="0">
                        <a:solidFill>
                          <a:srgbClr val="263050"/>
                        </a:solidFill>
                        <a:latin typeface="Cambria Math" panose="02040503050406030204" pitchFamily="18" charset="0"/>
                      </a:rPr>
                      <m:t>=261184∗</m:t>
                    </m:r>
                    <m:sSup>
                      <m:sSupPr>
                        <m:ctrlPr>
                          <a:rPr lang="en-US" sz="3600" i="1">
                            <a:solidFill>
                              <a:srgbClr val="263050"/>
                            </a:solidFill>
                            <a:latin typeface="Cambria Math" panose="02040503050406030204" pitchFamily="18" charset="0"/>
                          </a:rPr>
                        </m:ctrlPr>
                      </m:sSupPr>
                      <m:e>
                        <m:r>
                          <a:rPr lang="en-US" sz="3600" i="1">
                            <a:solidFill>
                              <a:srgbClr val="263050"/>
                            </a:solidFill>
                            <a:latin typeface="Cambria Math" panose="02040503050406030204" pitchFamily="18" charset="0"/>
                          </a:rPr>
                          <m:t>(1+</m:t>
                        </m:r>
                        <m:f>
                          <m:fPr>
                            <m:ctrlPr>
                              <a:rPr lang="en-US" sz="3600" i="1">
                                <a:solidFill>
                                  <a:srgbClr val="263050"/>
                                </a:solidFill>
                                <a:latin typeface="Cambria Math" panose="02040503050406030204" pitchFamily="18" charset="0"/>
                              </a:rPr>
                            </m:ctrlPr>
                          </m:fPr>
                          <m:num>
                            <m:r>
                              <a:rPr lang="en-US" sz="3600" b="0" i="1" smtClean="0">
                                <a:solidFill>
                                  <a:srgbClr val="263050"/>
                                </a:solidFill>
                                <a:latin typeface="Cambria Math" panose="02040503050406030204" pitchFamily="18" charset="0"/>
                              </a:rPr>
                              <m:t>0.075</m:t>
                            </m:r>
                          </m:num>
                          <m:den>
                            <m:r>
                              <a:rPr lang="en-US" sz="3600" b="0" i="1" smtClean="0">
                                <a:solidFill>
                                  <a:srgbClr val="263050"/>
                                </a:solidFill>
                                <a:latin typeface="Cambria Math" panose="02040503050406030204" pitchFamily="18" charset="0"/>
                              </a:rPr>
                              <m:t>1</m:t>
                            </m:r>
                          </m:den>
                        </m:f>
                        <m:r>
                          <a:rPr lang="en-US" sz="3600" i="1">
                            <a:solidFill>
                              <a:srgbClr val="263050"/>
                            </a:solidFill>
                            <a:latin typeface="Cambria Math" panose="02040503050406030204" pitchFamily="18" charset="0"/>
                          </a:rPr>
                          <m:t>)</m:t>
                        </m:r>
                      </m:e>
                      <m:sup>
                        <m:r>
                          <a:rPr lang="en-US" sz="3600" b="0" i="1" smtClean="0">
                            <a:solidFill>
                              <a:srgbClr val="263050"/>
                            </a:solidFill>
                            <a:latin typeface="Cambria Math" panose="02040503050406030204" pitchFamily="18" charset="0"/>
                          </a:rPr>
                          <m:t>1∗25</m:t>
                        </m:r>
                      </m:sup>
                    </m:sSup>
                  </m:oMath>
                </a14:m>
                <a:endParaRPr lang="en-US" sz="3600" dirty="0">
                  <a:solidFill>
                    <a:srgbClr val="263050"/>
                  </a:solidFill>
                </a:endParaRPr>
              </a:p>
              <a:p>
                <a:pPr lvl="0">
                  <a:buClr>
                    <a:srgbClr val="263050"/>
                  </a:buClr>
                </a:pPr>
                <a14:m>
                  <m:oMath xmlns:m="http://schemas.openxmlformats.org/officeDocument/2006/math">
                    <m:r>
                      <a:rPr lang="en-US" sz="3600" i="1">
                        <a:solidFill>
                          <a:srgbClr val="263050"/>
                        </a:solidFill>
                        <a:latin typeface="Cambria Math" panose="02040503050406030204" pitchFamily="18" charset="0"/>
                      </a:rPr>
                      <m:t>𝐴</m:t>
                    </m:r>
                    <m:r>
                      <a:rPr lang="en-US" sz="3600" i="1">
                        <a:solidFill>
                          <a:srgbClr val="263050"/>
                        </a:solidFill>
                        <a:latin typeface="Cambria Math" panose="02040503050406030204" pitchFamily="18" charset="0"/>
                      </a:rPr>
                      <m:t>=261184∗</m:t>
                    </m:r>
                    <m:sSup>
                      <m:sSupPr>
                        <m:ctrlPr>
                          <a:rPr lang="en-US" sz="3600" i="1">
                            <a:solidFill>
                              <a:srgbClr val="263050"/>
                            </a:solidFill>
                            <a:latin typeface="Cambria Math" panose="02040503050406030204" pitchFamily="18" charset="0"/>
                          </a:rPr>
                        </m:ctrlPr>
                      </m:sSupPr>
                      <m:e>
                        <m:r>
                          <a:rPr lang="en-US" sz="3600" i="1">
                            <a:solidFill>
                              <a:srgbClr val="263050"/>
                            </a:solidFill>
                            <a:latin typeface="Cambria Math" panose="02040503050406030204" pitchFamily="18" charset="0"/>
                          </a:rPr>
                          <m:t>(1+</m:t>
                        </m:r>
                        <m:r>
                          <a:rPr lang="en-US" sz="3600" b="0" i="1" smtClean="0">
                            <a:solidFill>
                              <a:srgbClr val="263050"/>
                            </a:solidFill>
                            <a:latin typeface="Cambria Math" panose="02040503050406030204" pitchFamily="18" charset="0"/>
                          </a:rPr>
                          <m:t>0.075</m:t>
                        </m:r>
                        <m:r>
                          <a:rPr lang="en-US" sz="3600" i="1">
                            <a:solidFill>
                              <a:srgbClr val="263050"/>
                            </a:solidFill>
                            <a:latin typeface="Cambria Math" panose="02040503050406030204" pitchFamily="18" charset="0"/>
                          </a:rPr>
                          <m:t>)</m:t>
                        </m:r>
                      </m:e>
                      <m:sup>
                        <m:r>
                          <a:rPr lang="en-US" sz="3600" b="0" i="1" smtClean="0">
                            <a:solidFill>
                              <a:srgbClr val="263050"/>
                            </a:solidFill>
                            <a:latin typeface="Cambria Math" panose="02040503050406030204" pitchFamily="18" charset="0"/>
                          </a:rPr>
                          <m:t>25</m:t>
                        </m:r>
                      </m:sup>
                    </m:sSup>
                  </m:oMath>
                </a14:m>
                <a:endParaRPr lang="en-US" sz="3600" dirty="0">
                  <a:solidFill>
                    <a:srgbClr val="263050"/>
                  </a:solidFill>
                </a:endParaRPr>
              </a:p>
              <a:p>
                <a:pPr lvl="0">
                  <a:buClr>
                    <a:srgbClr val="263050"/>
                  </a:buClr>
                </a:pPr>
                <a14:m>
                  <m:oMath xmlns:m="http://schemas.openxmlformats.org/officeDocument/2006/math">
                    <m:r>
                      <a:rPr lang="en-US" sz="3600" i="1">
                        <a:solidFill>
                          <a:srgbClr val="263050"/>
                        </a:solidFill>
                        <a:latin typeface="Cambria Math" panose="02040503050406030204" pitchFamily="18" charset="0"/>
                      </a:rPr>
                      <m:t>𝐴</m:t>
                    </m:r>
                    <m:r>
                      <a:rPr lang="en-US" sz="3600" i="1">
                        <a:solidFill>
                          <a:srgbClr val="263050"/>
                        </a:solidFill>
                        <a:latin typeface="Cambria Math" panose="02040503050406030204" pitchFamily="18" charset="0"/>
                      </a:rPr>
                      <m:t>=261184∗</m:t>
                    </m:r>
                    <m:sSup>
                      <m:sSupPr>
                        <m:ctrlPr>
                          <a:rPr lang="en-US" sz="3600" i="1">
                            <a:solidFill>
                              <a:srgbClr val="263050"/>
                            </a:solidFill>
                            <a:latin typeface="Cambria Math" panose="02040503050406030204" pitchFamily="18" charset="0"/>
                          </a:rPr>
                        </m:ctrlPr>
                      </m:sSupPr>
                      <m:e>
                        <m:r>
                          <a:rPr lang="en-US" sz="3600" i="1">
                            <a:solidFill>
                              <a:srgbClr val="263050"/>
                            </a:solidFill>
                            <a:latin typeface="Cambria Math" panose="02040503050406030204" pitchFamily="18" charset="0"/>
                          </a:rPr>
                          <m:t>(1.0</m:t>
                        </m:r>
                        <m:r>
                          <a:rPr lang="en-US" sz="3600" b="0" i="1" smtClean="0">
                            <a:solidFill>
                              <a:srgbClr val="263050"/>
                            </a:solidFill>
                            <a:latin typeface="Cambria Math" panose="02040503050406030204" pitchFamily="18" charset="0"/>
                          </a:rPr>
                          <m:t>75</m:t>
                        </m:r>
                        <m:r>
                          <a:rPr lang="en-US" sz="3600" i="1">
                            <a:solidFill>
                              <a:srgbClr val="263050"/>
                            </a:solidFill>
                            <a:latin typeface="Cambria Math" panose="02040503050406030204" pitchFamily="18" charset="0"/>
                          </a:rPr>
                          <m:t>)</m:t>
                        </m:r>
                      </m:e>
                      <m:sup>
                        <m:r>
                          <a:rPr lang="en-US" sz="3600" b="0" i="1" smtClean="0">
                            <a:solidFill>
                              <a:srgbClr val="263050"/>
                            </a:solidFill>
                            <a:latin typeface="Cambria Math" panose="02040503050406030204" pitchFamily="18" charset="0"/>
                          </a:rPr>
                          <m:t>25</m:t>
                        </m:r>
                      </m:sup>
                    </m:sSup>
                  </m:oMath>
                </a14:m>
                <a:endParaRPr lang="en-US" sz="3600" dirty="0">
                  <a:solidFill>
                    <a:srgbClr val="263050"/>
                  </a:solidFill>
                </a:endParaRPr>
              </a:p>
              <a:p>
                <a:pPr lvl="0">
                  <a:buClr>
                    <a:srgbClr val="263050"/>
                  </a:buClr>
                </a:pPr>
                <a14:m>
                  <m:oMath xmlns:m="http://schemas.openxmlformats.org/officeDocument/2006/math">
                    <m:r>
                      <a:rPr lang="en-US" sz="3600" i="1">
                        <a:solidFill>
                          <a:srgbClr val="263050"/>
                        </a:solidFill>
                        <a:latin typeface="Cambria Math" panose="02040503050406030204" pitchFamily="18" charset="0"/>
                      </a:rPr>
                      <m:t>𝐴</m:t>
                    </m:r>
                    <m:r>
                      <a:rPr lang="en-US" sz="3600" i="1">
                        <a:solidFill>
                          <a:srgbClr val="263050"/>
                        </a:solidFill>
                        <a:latin typeface="Cambria Math" panose="02040503050406030204" pitchFamily="18" charset="0"/>
                      </a:rPr>
                      <m:t>=261184∗6.098</m:t>
                    </m:r>
                    <m:r>
                      <a:rPr lang="en-US" sz="3600" b="0" i="1" smtClean="0">
                        <a:solidFill>
                          <a:srgbClr val="263050"/>
                        </a:solidFill>
                        <a:latin typeface="Cambria Math" panose="02040503050406030204" pitchFamily="18" charset="0"/>
                      </a:rPr>
                      <m:t>339613</m:t>
                    </m:r>
                  </m:oMath>
                </a14:m>
                <a:endParaRPr lang="en-US" sz="3600" dirty="0">
                  <a:solidFill>
                    <a:srgbClr val="263050"/>
                  </a:solidFill>
                </a:endParaRPr>
              </a:p>
              <a:p>
                <a:pPr lvl="0">
                  <a:buClr>
                    <a:srgbClr val="263050"/>
                  </a:buClr>
                </a:pPr>
                <a14:m>
                  <m:oMath xmlns:m="http://schemas.openxmlformats.org/officeDocument/2006/math">
                    <m:r>
                      <a:rPr lang="en-US" sz="3600" i="1">
                        <a:solidFill>
                          <a:srgbClr val="263050"/>
                        </a:solidFill>
                        <a:latin typeface="Cambria Math" panose="02040503050406030204" pitchFamily="18" charset="0"/>
                      </a:rPr>
                      <m:t>𝐴</m:t>
                    </m:r>
                    <m:r>
                      <a:rPr lang="en-US" sz="3600" i="1">
                        <a:solidFill>
                          <a:srgbClr val="263050"/>
                        </a:solidFill>
                        <a:latin typeface="Cambria Math" panose="02040503050406030204" pitchFamily="18" charset="0"/>
                      </a:rPr>
                      <m:t>=$1592788.73</m:t>
                    </m:r>
                  </m:oMath>
                </a14:m>
                <a:endParaRPr lang="en-US" sz="3600" dirty="0">
                  <a:solidFill>
                    <a:srgbClr val="263050"/>
                  </a:solidFill>
                </a:endParaRPr>
              </a:p>
              <a:p>
                <a:pPr lvl="0">
                  <a:buClr>
                    <a:srgbClr val="263050"/>
                  </a:buClr>
                </a:pPr>
                <a14:m>
                  <m:oMath xmlns:m="http://schemas.openxmlformats.org/officeDocument/2006/math">
                    <m:r>
                      <a:rPr lang="en-US" sz="3600" i="1">
                        <a:solidFill>
                          <a:srgbClr val="263050"/>
                        </a:solidFill>
                        <a:latin typeface="Cambria Math" panose="02040503050406030204" pitchFamily="18" charset="0"/>
                      </a:rPr>
                      <m:t>𝐴</m:t>
                    </m:r>
                    <m:r>
                      <a:rPr lang="en-US" sz="3600" i="1">
                        <a:solidFill>
                          <a:srgbClr val="263050"/>
                        </a:solidFill>
                        <a:latin typeface="Cambria Math" panose="02040503050406030204" pitchFamily="18" charset="0"/>
                      </a:rPr>
                      <m:t>=</m:t>
                    </m:r>
                    <m:r>
                      <a:rPr lang="en-US" sz="3600" b="1" i="1" smtClean="0">
                        <a:solidFill>
                          <a:srgbClr val="00B050"/>
                        </a:solidFill>
                        <a:latin typeface="Cambria Math" panose="02040503050406030204" pitchFamily="18" charset="0"/>
                      </a:rPr>
                      <m:t>$</m:t>
                    </m:r>
                    <m:r>
                      <a:rPr lang="en-US" sz="3600" b="1" i="1" smtClean="0">
                        <a:solidFill>
                          <a:srgbClr val="00B050"/>
                        </a:solidFill>
                        <a:latin typeface="Cambria Math" panose="02040503050406030204" pitchFamily="18" charset="0"/>
                      </a:rPr>
                      <m:t>𝟏</m:t>
                    </m:r>
                    <m:r>
                      <a:rPr lang="en-US" sz="3600" b="1" i="1" smtClean="0">
                        <a:solidFill>
                          <a:srgbClr val="00B050"/>
                        </a:solidFill>
                        <a:latin typeface="Cambria Math" panose="02040503050406030204" pitchFamily="18" charset="0"/>
                      </a:rPr>
                      <m:t>,</m:t>
                    </m:r>
                    <m:r>
                      <a:rPr lang="en-US" sz="3600" b="1" i="1" smtClean="0">
                        <a:solidFill>
                          <a:srgbClr val="00B050"/>
                        </a:solidFill>
                        <a:latin typeface="Cambria Math" panose="02040503050406030204" pitchFamily="18" charset="0"/>
                      </a:rPr>
                      <m:t>𝟓𝟗𝟐</m:t>
                    </m:r>
                    <m:r>
                      <a:rPr lang="en-US" sz="3600" b="1" i="1" smtClean="0">
                        <a:solidFill>
                          <a:srgbClr val="00B050"/>
                        </a:solidFill>
                        <a:latin typeface="Cambria Math" panose="02040503050406030204" pitchFamily="18" charset="0"/>
                      </a:rPr>
                      <m:t>,</m:t>
                    </m:r>
                    <m:r>
                      <a:rPr lang="en-US" sz="3600" b="1" i="1" smtClean="0">
                        <a:solidFill>
                          <a:srgbClr val="00B050"/>
                        </a:solidFill>
                        <a:latin typeface="Cambria Math" panose="02040503050406030204" pitchFamily="18" charset="0"/>
                      </a:rPr>
                      <m:t>𝟕𝟖𝟗</m:t>
                    </m:r>
                  </m:oMath>
                </a14:m>
                <a:endParaRPr lang="en-US" sz="3600" b="1" dirty="0">
                  <a:solidFill>
                    <a:srgbClr val="00B050"/>
                  </a:solidFill>
                </a:endParaRPr>
              </a:p>
              <a:p>
                <a:pPr lvl="0">
                  <a:buClr>
                    <a:srgbClr val="263050"/>
                  </a:buClr>
                </a:pPr>
                <a:endParaRPr lang="en-US" dirty="0">
                  <a:solidFill>
                    <a:srgbClr val="263050"/>
                  </a:solidFill>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1341120" y="1339404"/>
                <a:ext cx="9509760" cy="4690176"/>
              </a:xfrm>
              <a:blipFill rotWithShape="0">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28129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Question 4							5</a:t>
            </a:r>
          </a:p>
        </p:txBody>
      </p:sp>
      <mc:AlternateContent xmlns:mc="http://schemas.openxmlformats.org/markup-compatibility/2006" xmlns:a14="http://schemas.microsoft.com/office/drawing/2010/main">
        <mc:Choice Requires="a14">
          <p:sp>
            <p:nvSpPr>
              <p:cNvPr id="14" name="Content Placeholder 13"/>
              <p:cNvSpPr>
                <a:spLocks noGrp="1"/>
              </p:cNvSpPr>
              <p:nvPr>
                <p:ph idx="1"/>
              </p:nvPr>
            </p:nvSpPr>
            <p:spPr>
              <a:xfrm>
                <a:off x="1341120" y="1339404"/>
                <a:ext cx="9509760" cy="4690176"/>
              </a:xfrm>
            </p:spPr>
            <p:txBody>
              <a:bodyPr>
                <a:normAutofit fontScale="32500" lnSpcReduction="20000"/>
              </a:bodyPr>
              <a:lstStyle/>
              <a:p>
                <a:pPr lvl="0">
                  <a:lnSpc>
                    <a:spcPct val="120000"/>
                  </a:lnSpc>
                  <a:buClr>
                    <a:srgbClr val="263050"/>
                  </a:buClr>
                </a:pPr>
                <a:r>
                  <a:rPr lang="en-US" sz="8600" dirty="0">
                    <a:solidFill>
                      <a:srgbClr val="263050"/>
                    </a:solidFill>
                  </a:rPr>
                  <a:t>(c.) </a:t>
                </a:r>
                <a14:m>
                  <m:oMath xmlns:m="http://schemas.openxmlformats.org/officeDocument/2006/math">
                    <m:r>
                      <a:rPr lang="en-US" sz="8600" i="1" dirty="0" smtClean="0">
                        <a:solidFill>
                          <a:srgbClr val="263050"/>
                        </a:solidFill>
                        <a:latin typeface="Cambria Math" panose="02040503050406030204" pitchFamily="18" charset="0"/>
                      </a:rPr>
                      <m:t>𝑇h𝑒</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𝑎𝑚𝑜𝑢𝑛𝑡</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𝑠h𝑒</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𝑐𝑜𝑛𝑡𝑟𝑖𝑏𝑢𝑡𝑒𝑑</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𝑡𝑜</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𝑡h𝑒</m:t>
                    </m:r>
                    <m:r>
                      <a:rPr lang="en-US" sz="8600" i="1" dirty="0" smtClean="0">
                        <a:solidFill>
                          <a:srgbClr val="263050"/>
                        </a:solidFill>
                        <a:latin typeface="Cambria Math" panose="02040503050406030204" pitchFamily="18" charset="0"/>
                      </a:rPr>
                      <m:t> 401(</m:t>
                    </m:r>
                    <m:r>
                      <a:rPr lang="en-US" sz="8600" i="1" dirty="0" smtClean="0">
                        <a:solidFill>
                          <a:srgbClr val="263050"/>
                        </a:solidFill>
                        <a:latin typeface="Cambria Math" panose="02040503050406030204" pitchFamily="18" charset="0"/>
                      </a:rPr>
                      <m:t>𝑘</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𝑝𝑙𝑎𝑛</m:t>
                    </m:r>
                    <m:r>
                      <a:rPr lang="en-US" sz="8600" i="1" dirty="0" smtClean="0">
                        <a:solidFill>
                          <a:srgbClr val="263050"/>
                        </a:solidFill>
                        <a:latin typeface="Cambria Math" panose="02040503050406030204" pitchFamily="18" charset="0"/>
                      </a:rPr>
                      <m:t> = $5000 ∗15 = </m:t>
                    </m:r>
                    <m:r>
                      <a:rPr lang="en-US" sz="8600" b="1" i="1" dirty="0" smtClean="0">
                        <a:solidFill>
                          <a:srgbClr val="00B050"/>
                        </a:solidFill>
                        <a:latin typeface="Cambria Math" panose="02040503050406030204" pitchFamily="18" charset="0"/>
                      </a:rPr>
                      <m:t>$</m:t>
                    </m:r>
                    <m:r>
                      <a:rPr lang="en-US" sz="8600" b="1" i="1" dirty="0" smtClean="0">
                        <a:solidFill>
                          <a:srgbClr val="00B050"/>
                        </a:solidFill>
                        <a:latin typeface="Cambria Math" panose="02040503050406030204" pitchFamily="18" charset="0"/>
                      </a:rPr>
                      <m:t>𝟕𝟓𝟎𝟎𝟎</m:t>
                    </m:r>
                  </m:oMath>
                </a14:m>
                <a:endParaRPr lang="en-US" sz="8600" b="1" dirty="0">
                  <a:solidFill>
                    <a:srgbClr val="263050"/>
                  </a:solidFill>
                </a:endParaRPr>
              </a:p>
              <a:p>
                <a:pPr lvl="0">
                  <a:lnSpc>
                    <a:spcPct val="120000"/>
                  </a:lnSpc>
                  <a:buClr>
                    <a:srgbClr val="263050"/>
                  </a:buClr>
                </a:pPr>
                <a:r>
                  <a:rPr lang="en-US" sz="8600" dirty="0">
                    <a:solidFill>
                      <a:srgbClr val="263050"/>
                    </a:solidFill>
                  </a:rPr>
                  <a:t>(d.) </a:t>
                </a:r>
                <a14:m>
                  <m:oMath xmlns:m="http://schemas.openxmlformats.org/officeDocument/2006/math">
                    <m:r>
                      <a:rPr lang="en-US" sz="8600" i="1" dirty="0">
                        <a:solidFill>
                          <a:srgbClr val="263050"/>
                        </a:solidFill>
                        <a:latin typeface="Cambria Math" panose="02040503050406030204" pitchFamily="18" charset="0"/>
                      </a:rPr>
                      <m:t>𝑇h𝑒</m:t>
                    </m:r>
                    <m:r>
                      <a:rPr lang="en-US" sz="8600" i="1" dirty="0">
                        <a:solidFill>
                          <a:srgbClr val="263050"/>
                        </a:solidFill>
                        <a:latin typeface="Cambria Math" panose="02040503050406030204" pitchFamily="18" charset="0"/>
                      </a:rPr>
                      <m:t> </m:t>
                    </m:r>
                    <m:r>
                      <a:rPr lang="en-US" sz="8600" i="1" dirty="0">
                        <a:solidFill>
                          <a:srgbClr val="263050"/>
                        </a:solidFill>
                        <a:latin typeface="Cambria Math" panose="02040503050406030204" pitchFamily="18" charset="0"/>
                      </a:rPr>
                      <m:t>𝑎𝑚𝑜𝑢𝑛𝑡</m:t>
                    </m:r>
                    <m:r>
                      <a:rPr lang="en-US" sz="8600" i="1" dirty="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h𝑒𝑟</m:t>
                    </m:r>
                    <m:r>
                      <a:rPr lang="en-US" sz="8600" b="0" i="1" dirty="0" smtClean="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𝑒𝑚𝑝𝑙𝑜𝑦𝑒𝑟</m:t>
                    </m:r>
                    <m:r>
                      <a:rPr lang="en-US" sz="8600" i="1" dirty="0">
                        <a:solidFill>
                          <a:srgbClr val="263050"/>
                        </a:solidFill>
                        <a:latin typeface="Cambria Math" panose="02040503050406030204" pitchFamily="18" charset="0"/>
                      </a:rPr>
                      <m:t> </m:t>
                    </m:r>
                    <m:r>
                      <a:rPr lang="en-US" sz="8600" i="1" dirty="0">
                        <a:solidFill>
                          <a:srgbClr val="263050"/>
                        </a:solidFill>
                        <a:latin typeface="Cambria Math" panose="02040503050406030204" pitchFamily="18" charset="0"/>
                      </a:rPr>
                      <m:t>𝑐𝑜𝑛𝑡𝑟𝑖𝑏𝑢𝑡𝑒𝑑</m:t>
                    </m:r>
                    <m:r>
                      <a:rPr lang="en-US" sz="8600" i="1" dirty="0">
                        <a:solidFill>
                          <a:srgbClr val="263050"/>
                        </a:solidFill>
                        <a:latin typeface="Cambria Math" panose="02040503050406030204" pitchFamily="18" charset="0"/>
                      </a:rPr>
                      <m:t> </m:t>
                    </m:r>
                    <m:r>
                      <a:rPr lang="en-US" sz="8600" i="1" dirty="0">
                        <a:solidFill>
                          <a:srgbClr val="263050"/>
                        </a:solidFill>
                        <a:latin typeface="Cambria Math" panose="02040503050406030204" pitchFamily="18" charset="0"/>
                      </a:rPr>
                      <m:t>𝑡𝑜</m:t>
                    </m:r>
                    <m:r>
                      <a:rPr lang="en-US" sz="8600" i="1" dirty="0">
                        <a:solidFill>
                          <a:srgbClr val="263050"/>
                        </a:solidFill>
                        <a:latin typeface="Cambria Math" panose="02040503050406030204" pitchFamily="18" charset="0"/>
                      </a:rPr>
                      <m:t> </m:t>
                    </m:r>
                    <m:r>
                      <a:rPr lang="en-US" sz="8600" i="1" dirty="0">
                        <a:solidFill>
                          <a:srgbClr val="263050"/>
                        </a:solidFill>
                        <a:latin typeface="Cambria Math" panose="02040503050406030204" pitchFamily="18" charset="0"/>
                      </a:rPr>
                      <m:t>𝑡h𝑒</m:t>
                    </m:r>
                    <m:r>
                      <a:rPr lang="en-US" sz="8600" i="1" dirty="0">
                        <a:solidFill>
                          <a:srgbClr val="263050"/>
                        </a:solidFill>
                        <a:latin typeface="Cambria Math" panose="02040503050406030204" pitchFamily="18" charset="0"/>
                      </a:rPr>
                      <m:t> </m:t>
                    </m:r>
                  </m:oMath>
                </a14:m>
                <a:endParaRPr lang="en-US" sz="8600" i="1" dirty="0">
                  <a:solidFill>
                    <a:srgbClr val="263050"/>
                  </a:solidFill>
                  <a:latin typeface="Cambria Math" panose="02040503050406030204" pitchFamily="18" charset="0"/>
                </a:endParaRPr>
              </a:p>
              <a:p>
                <a:pPr marL="45720" lvl="0" indent="0">
                  <a:lnSpc>
                    <a:spcPct val="120000"/>
                  </a:lnSpc>
                  <a:buClr>
                    <a:srgbClr val="263050"/>
                  </a:buClr>
                  <a:buNone/>
                </a:pPr>
                <a14:m>
                  <m:oMathPara xmlns:m="http://schemas.openxmlformats.org/officeDocument/2006/math">
                    <m:oMathParaPr>
                      <m:jc m:val="centerGroup"/>
                    </m:oMathParaPr>
                    <m:oMath xmlns:m="http://schemas.openxmlformats.org/officeDocument/2006/math">
                      <m:r>
                        <a:rPr lang="en-US" sz="8600" i="1" dirty="0">
                          <a:solidFill>
                            <a:srgbClr val="263050"/>
                          </a:solidFill>
                          <a:latin typeface="Cambria Math" panose="02040503050406030204" pitchFamily="18" charset="0"/>
                        </a:rPr>
                        <m:t>401</m:t>
                      </m:r>
                      <m:d>
                        <m:dPr>
                          <m:ctrlPr>
                            <a:rPr lang="en-US" sz="8600" i="1" dirty="0">
                              <a:solidFill>
                                <a:srgbClr val="263050"/>
                              </a:solidFill>
                              <a:latin typeface="Cambria Math" panose="02040503050406030204" pitchFamily="18" charset="0"/>
                            </a:rPr>
                          </m:ctrlPr>
                        </m:dPr>
                        <m:e>
                          <m:r>
                            <a:rPr lang="en-US" sz="8600" i="1" dirty="0">
                              <a:solidFill>
                                <a:srgbClr val="263050"/>
                              </a:solidFill>
                              <a:latin typeface="Cambria Math" panose="02040503050406030204" pitchFamily="18" charset="0"/>
                            </a:rPr>
                            <m:t>𝑘</m:t>
                          </m:r>
                        </m:e>
                      </m:d>
                      <m:r>
                        <a:rPr lang="en-US" sz="8600" i="1" dirty="0">
                          <a:solidFill>
                            <a:srgbClr val="263050"/>
                          </a:solidFill>
                          <a:latin typeface="Cambria Math" panose="02040503050406030204" pitchFamily="18" charset="0"/>
                        </a:rPr>
                        <m:t>𝑝𝑙𝑎𝑛</m:t>
                      </m:r>
                      <m:r>
                        <a:rPr lang="en-US" sz="8600" i="1" dirty="0">
                          <a:solidFill>
                            <a:srgbClr val="263050"/>
                          </a:solidFill>
                          <a:latin typeface="Cambria Math" panose="02040503050406030204" pitchFamily="18" charset="0"/>
                        </a:rPr>
                        <m:t> = $5000 ∗15 = </m:t>
                      </m:r>
                      <m:r>
                        <a:rPr lang="en-US" sz="8600" b="1" i="1" dirty="0" smtClean="0">
                          <a:solidFill>
                            <a:srgbClr val="00B050"/>
                          </a:solidFill>
                          <a:latin typeface="Cambria Math" panose="02040503050406030204" pitchFamily="18" charset="0"/>
                        </a:rPr>
                        <m:t>$</m:t>
                      </m:r>
                      <m:r>
                        <a:rPr lang="en-US" sz="8600" b="1" i="1" dirty="0" smtClean="0">
                          <a:solidFill>
                            <a:srgbClr val="00B050"/>
                          </a:solidFill>
                          <a:latin typeface="Cambria Math" panose="02040503050406030204" pitchFamily="18" charset="0"/>
                        </a:rPr>
                        <m:t>𝟕𝟓𝟎𝟎𝟎</m:t>
                      </m:r>
                    </m:oMath>
                  </m:oMathPara>
                </a14:m>
                <a:endParaRPr lang="en-US" sz="8600" b="1" dirty="0">
                  <a:solidFill>
                    <a:srgbClr val="00B050"/>
                  </a:solidFill>
                </a:endParaRPr>
              </a:p>
              <a:p>
                <a:pPr lvl="0">
                  <a:lnSpc>
                    <a:spcPct val="120000"/>
                  </a:lnSpc>
                  <a:buClr>
                    <a:srgbClr val="263050"/>
                  </a:buClr>
                </a:pPr>
                <a:r>
                  <a:rPr lang="en-US" sz="8600" dirty="0">
                    <a:solidFill>
                      <a:srgbClr val="263050"/>
                    </a:solidFill>
                  </a:rPr>
                  <a:t>(e.) </a:t>
                </a:r>
                <a14:m>
                  <m:oMath xmlns:m="http://schemas.openxmlformats.org/officeDocument/2006/math">
                    <m:r>
                      <a:rPr lang="en-US" sz="8600" i="1" dirty="0">
                        <a:solidFill>
                          <a:srgbClr val="263050"/>
                        </a:solidFill>
                        <a:latin typeface="Cambria Math" panose="02040503050406030204" pitchFamily="18" charset="0"/>
                      </a:rPr>
                      <m:t>𝑇h𝑒</m:t>
                    </m:r>
                    <m:r>
                      <a:rPr lang="en-US" sz="8600" i="1" dirty="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𝑑𝑖𝑓𝑓𝑒𝑟𝑒𝑛𝑐𝑒</m:t>
                    </m:r>
                    <m:r>
                      <a:rPr lang="en-US" sz="8600" b="0" i="1" dirty="0" smtClean="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𝑏𝑒𝑡𝑤𝑒𝑒𝑛</m:t>
                    </m:r>
                    <m:r>
                      <a:rPr lang="en-US" sz="8600" b="0" i="1" dirty="0" smtClean="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𝑡h𝑒</m:t>
                    </m:r>
                    <m:r>
                      <a:rPr lang="en-US" sz="8600" b="0" i="1" dirty="0" smtClean="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𝑎𝑚𝑜𝑢𝑛𝑡</m:t>
                    </m:r>
                    <m:r>
                      <a:rPr lang="en-US" sz="8600" b="0" i="1" dirty="0" smtClean="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𝑜𝑓</m:t>
                    </m:r>
                    <m:r>
                      <a:rPr lang="en-US" sz="8600" b="0" i="1" dirty="0" smtClean="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𝑚𝑜𝑛𝑒𝑦</m:t>
                    </m:r>
                    <m:r>
                      <a:rPr lang="en-US" sz="8600" b="0" i="1" dirty="0" smtClean="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𝑠h𝑒</m:t>
                    </m:r>
                    <m:r>
                      <a:rPr lang="en-US" sz="8600" b="0" i="1" dirty="0" smtClean="0">
                        <a:solidFill>
                          <a:srgbClr val="263050"/>
                        </a:solidFill>
                        <a:latin typeface="Cambria Math" panose="02040503050406030204" pitchFamily="18" charset="0"/>
                      </a:rPr>
                      <m:t> </m:t>
                    </m:r>
                  </m:oMath>
                </a14:m>
                <a:endParaRPr lang="en-US" sz="8600" b="0" i="1" dirty="0">
                  <a:solidFill>
                    <a:srgbClr val="263050"/>
                  </a:solidFill>
                  <a:latin typeface="Cambria Math" panose="02040503050406030204" pitchFamily="18" charset="0"/>
                </a:endParaRPr>
              </a:p>
              <a:p>
                <a:pPr marL="45720" lvl="0" indent="0">
                  <a:lnSpc>
                    <a:spcPct val="120000"/>
                  </a:lnSpc>
                  <a:buClr>
                    <a:srgbClr val="263050"/>
                  </a:buClr>
                  <a:buNone/>
                </a:pPr>
                <a14:m>
                  <m:oMathPara xmlns:m="http://schemas.openxmlformats.org/officeDocument/2006/math">
                    <m:oMathParaPr>
                      <m:jc m:val="centerGroup"/>
                    </m:oMathParaPr>
                    <m:oMath xmlns:m="http://schemas.openxmlformats.org/officeDocument/2006/math">
                      <m:r>
                        <a:rPr lang="en-US" sz="8600" b="0" i="1" dirty="0" smtClean="0">
                          <a:solidFill>
                            <a:srgbClr val="263050"/>
                          </a:solidFill>
                          <a:latin typeface="Cambria Math" panose="02040503050406030204" pitchFamily="18" charset="0"/>
                        </a:rPr>
                        <m:t>𝑤𝑜𝑢𝑙𝑑</m:t>
                      </m:r>
                      <m:r>
                        <a:rPr lang="en-US" sz="8600" b="0" i="1" dirty="0" smtClean="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h𝑎𝑣𝑒</m:t>
                      </m:r>
                      <m:r>
                        <a:rPr lang="en-US" sz="8600" b="0" i="1" dirty="0" smtClean="0">
                          <a:solidFill>
                            <a:srgbClr val="263050"/>
                          </a:solidFill>
                          <a:latin typeface="Cambria Math" panose="02040503050406030204" pitchFamily="18" charset="0"/>
                        </a:rPr>
                        <m:t> </m:t>
                      </m:r>
                      <m:r>
                        <a:rPr lang="en-US" sz="8600" b="0" i="1" dirty="0" smtClean="0">
                          <a:solidFill>
                            <a:srgbClr val="263050"/>
                          </a:solidFill>
                          <a:latin typeface="Cambria Math" panose="02040503050406030204" pitchFamily="18" charset="0"/>
                        </a:rPr>
                        <m:t>𝑎𝑐𝑐𝑢𝑚𝑢𝑙𝑎𝑡𝑒𝑑</m:t>
                      </m:r>
                      <m:r>
                        <a:rPr lang="en-US" sz="8600" b="0" i="0"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𝑖𝑛</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𝑡h𝑒</m:t>
                      </m:r>
                      <m:r>
                        <a:rPr lang="en-US" sz="8600" i="1" dirty="0" smtClean="0">
                          <a:solidFill>
                            <a:srgbClr val="263050"/>
                          </a:solidFill>
                          <a:latin typeface="Cambria Math" panose="02040503050406030204" pitchFamily="18" charset="0"/>
                        </a:rPr>
                        <m:t> 401</m:t>
                      </m:r>
                      <m:d>
                        <m:dPr>
                          <m:ctrlPr>
                            <a:rPr lang="en-US" sz="8600" i="1" dirty="0" smtClean="0">
                              <a:solidFill>
                                <a:srgbClr val="263050"/>
                              </a:solidFill>
                              <a:latin typeface="Cambria Math" panose="02040503050406030204" pitchFamily="18" charset="0"/>
                            </a:rPr>
                          </m:ctrlPr>
                        </m:dPr>
                        <m:e>
                          <m:r>
                            <a:rPr lang="en-US" sz="8600" i="1" dirty="0" smtClean="0">
                              <a:solidFill>
                                <a:srgbClr val="263050"/>
                              </a:solidFill>
                              <a:latin typeface="Cambria Math" panose="02040503050406030204" pitchFamily="18" charset="0"/>
                            </a:rPr>
                            <m:t>𝑘</m:t>
                          </m:r>
                        </m:e>
                      </m:d>
                      <m:r>
                        <a:rPr lang="en-US" sz="8600" i="1" dirty="0" smtClean="0">
                          <a:solidFill>
                            <a:srgbClr val="263050"/>
                          </a:solidFill>
                          <a:latin typeface="Cambria Math" panose="02040503050406030204" pitchFamily="18" charset="0"/>
                        </a:rPr>
                        <m:t>𝑎𝑛𝑑</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𝑡h𝑒</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𝑎𝑚𝑜𝑢𝑛𝑡</m:t>
                      </m:r>
                      <m:r>
                        <a:rPr lang="en-US" sz="8600" i="1" dirty="0" smtClean="0">
                          <a:solidFill>
                            <a:srgbClr val="263050"/>
                          </a:solidFill>
                          <a:latin typeface="Cambria Math" panose="02040503050406030204" pitchFamily="18" charset="0"/>
                        </a:rPr>
                        <m:t> </m:t>
                      </m:r>
                    </m:oMath>
                  </m:oMathPara>
                </a14:m>
                <a:endParaRPr lang="en-US" sz="8600" i="1" dirty="0">
                  <a:solidFill>
                    <a:srgbClr val="263050"/>
                  </a:solidFill>
                  <a:latin typeface="Cambria Math" panose="02040503050406030204" pitchFamily="18" charset="0"/>
                </a:endParaRPr>
              </a:p>
              <a:p>
                <a:pPr marL="45720" lvl="0" indent="0">
                  <a:lnSpc>
                    <a:spcPct val="120000"/>
                  </a:lnSpc>
                  <a:buClr>
                    <a:srgbClr val="263050"/>
                  </a:buClr>
                  <a:buNone/>
                </a:pPr>
                <a:r>
                  <a:rPr lang="en-US" sz="8600" dirty="0">
                    <a:solidFill>
                      <a:srgbClr val="263050"/>
                    </a:solidFill>
                  </a:rPr>
                  <a:t>   </a:t>
                </a:r>
                <a14:m>
                  <m:oMath xmlns:m="http://schemas.openxmlformats.org/officeDocument/2006/math">
                    <m:r>
                      <a:rPr lang="en-US" sz="8600" i="1" dirty="0" smtClean="0">
                        <a:solidFill>
                          <a:srgbClr val="263050"/>
                        </a:solidFill>
                        <a:latin typeface="Cambria Math" panose="02040503050406030204" pitchFamily="18" charset="0"/>
                      </a:rPr>
                      <m:t>𝑠h𝑒</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𝑐𝑜𝑛𝑡𝑟𝑖𝑏𝑢𝑡𝑒𝑑</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𝑡𝑜</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𝑡h𝑒</m:t>
                    </m:r>
                    <m:r>
                      <a:rPr lang="en-US" sz="8600" i="1" dirty="0" smtClean="0">
                        <a:solidFill>
                          <a:srgbClr val="263050"/>
                        </a:solidFill>
                        <a:latin typeface="Cambria Math" panose="02040503050406030204" pitchFamily="18" charset="0"/>
                      </a:rPr>
                      <m:t> </m:t>
                    </m:r>
                    <m:r>
                      <a:rPr lang="en-US" sz="8600" i="1" dirty="0" smtClean="0">
                        <a:solidFill>
                          <a:srgbClr val="263050"/>
                        </a:solidFill>
                        <a:latin typeface="Cambria Math" panose="02040503050406030204" pitchFamily="18" charset="0"/>
                      </a:rPr>
                      <m:t>𝑝𝑙𝑎𝑛</m:t>
                    </m:r>
                    <m:r>
                      <a:rPr lang="en-US" sz="8600" i="1" dirty="0" smtClean="0">
                        <a:solidFill>
                          <a:srgbClr val="263050"/>
                        </a:solidFill>
                        <a:latin typeface="Cambria Math" panose="02040503050406030204" pitchFamily="18" charset="0"/>
                      </a:rPr>
                      <m:t> =</m:t>
                    </m:r>
                    <m:r>
                      <a:rPr lang="en-US" sz="8600" b="0" i="0" dirty="0" smtClean="0">
                        <a:solidFill>
                          <a:srgbClr val="263050"/>
                        </a:solidFill>
                        <a:latin typeface="Cambria Math" panose="02040503050406030204" pitchFamily="18" charset="0"/>
                      </a:rPr>
                      <m:t>$1592789 −$75000=   </m:t>
                    </m:r>
                    <m:r>
                      <a:rPr lang="en-US" sz="8600" b="1" i="0" dirty="0" smtClean="0">
                        <a:solidFill>
                          <a:srgbClr val="00B050"/>
                        </a:solidFill>
                        <a:latin typeface="Cambria Math" panose="02040503050406030204" pitchFamily="18" charset="0"/>
                      </a:rPr>
                      <m:t>$</m:t>
                    </m:r>
                    <m:r>
                      <a:rPr lang="en-US" sz="8600" b="1" i="0" dirty="0" smtClean="0">
                        <a:solidFill>
                          <a:srgbClr val="00B050"/>
                        </a:solidFill>
                        <a:latin typeface="Cambria Math" panose="02040503050406030204" pitchFamily="18" charset="0"/>
                      </a:rPr>
                      <m:t>𝟏</m:t>
                    </m:r>
                    <m:r>
                      <a:rPr lang="en-US" sz="8600" b="1" i="0" dirty="0" smtClean="0">
                        <a:solidFill>
                          <a:srgbClr val="00B050"/>
                        </a:solidFill>
                        <a:latin typeface="Cambria Math" panose="02040503050406030204" pitchFamily="18" charset="0"/>
                      </a:rPr>
                      <m:t>,</m:t>
                    </m:r>
                    <m:r>
                      <a:rPr lang="en-US" sz="8600" b="1" i="0" dirty="0" smtClean="0">
                        <a:solidFill>
                          <a:srgbClr val="00B050"/>
                        </a:solidFill>
                        <a:latin typeface="Cambria Math" panose="02040503050406030204" pitchFamily="18" charset="0"/>
                      </a:rPr>
                      <m:t>𝟓𝟏𝟕</m:t>
                    </m:r>
                    <m:r>
                      <a:rPr lang="en-US" sz="8600" b="1" i="0" dirty="0" smtClean="0">
                        <a:solidFill>
                          <a:srgbClr val="00B050"/>
                        </a:solidFill>
                        <a:latin typeface="Cambria Math" panose="02040503050406030204" pitchFamily="18" charset="0"/>
                      </a:rPr>
                      <m:t>,</m:t>
                    </m:r>
                    <m:r>
                      <a:rPr lang="en-US" sz="8600" b="1" i="0" dirty="0" smtClean="0">
                        <a:solidFill>
                          <a:srgbClr val="00B050"/>
                        </a:solidFill>
                        <a:latin typeface="Cambria Math" panose="02040503050406030204" pitchFamily="18" charset="0"/>
                      </a:rPr>
                      <m:t>𝟕𝟖𝟗</m:t>
                    </m:r>
                  </m:oMath>
                </a14:m>
                <a:r>
                  <a:rPr lang="en-US" sz="8600" b="1" dirty="0">
                    <a:solidFill>
                      <a:srgbClr val="00B050"/>
                    </a:solidFill>
                  </a:rPr>
                  <a:t> </a:t>
                </a:r>
                <a:endParaRPr lang="en-US" sz="8600" b="1" dirty="0">
                  <a:solidFill>
                    <a:srgbClr val="263050"/>
                  </a:solidFill>
                </a:endParaRPr>
              </a:p>
              <a:p>
                <a:pPr lvl="0">
                  <a:buClr>
                    <a:srgbClr val="263050"/>
                  </a:buClr>
                </a:pPr>
                <a:endParaRPr lang="en-US" dirty="0">
                  <a:solidFill>
                    <a:srgbClr val="263050"/>
                  </a:solidFill>
                </a:endParaRPr>
              </a:p>
              <a:p>
                <a:pPr lvl="0">
                  <a:buClr>
                    <a:srgbClr val="263050"/>
                  </a:buClr>
                </a:pPr>
                <a:endParaRPr lang="en-US" dirty="0">
                  <a:solidFill>
                    <a:srgbClr val="263050"/>
                  </a:solidFill>
                </a:endParaRPr>
              </a:p>
              <a:p>
                <a:pPr lvl="0">
                  <a:buClr>
                    <a:srgbClr val="263050"/>
                  </a:buClr>
                </a:pPr>
                <a:endParaRPr lang="en-US" dirty="0">
                  <a:solidFill>
                    <a:srgbClr val="263050"/>
                  </a:solidFill>
                </a:endParaRPr>
              </a:p>
            </p:txBody>
          </p:sp>
        </mc:Choice>
        <mc:Fallback xmlns="">
          <p:sp>
            <p:nvSpPr>
              <p:cNvPr id="14" name="Content Placeholder 13"/>
              <p:cNvSpPr>
                <a:spLocks noGrp="1" noRot="1" noChangeAspect="1" noMove="1" noResize="1" noEditPoints="1" noAdjustHandles="1" noChangeArrowheads="1" noChangeShapeType="1" noTextEdit="1"/>
              </p:cNvSpPr>
              <p:nvPr>
                <p:ph idx="1"/>
              </p:nvPr>
            </p:nvSpPr>
            <p:spPr>
              <a:xfrm>
                <a:off x="1341120" y="1339404"/>
                <a:ext cx="9509760" cy="4690176"/>
              </a:xfrm>
              <a:blipFill rotWithShape="0">
                <a:blip r:embed="rId2"/>
                <a:stretch>
                  <a:fillRect l="-641" t="-1300"/>
                </a:stretch>
              </a:blipFill>
            </p:spPr>
            <p:txBody>
              <a:bodyPr/>
              <a:lstStyle/>
              <a:p>
                <a:r>
                  <a:rPr lang="en-US">
                    <a:noFill/>
                  </a:rPr>
                  <a:t> </a:t>
                </a:r>
              </a:p>
            </p:txBody>
          </p:sp>
        </mc:Fallback>
      </mc:AlternateContent>
    </p:spTree>
    <p:extLst>
      <p:ext uri="{BB962C8B-B14F-4D97-AF65-F5344CB8AC3E}">
        <p14:creationId xmlns:p14="http://schemas.microsoft.com/office/powerpoint/2010/main" val="1174824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Question 5							1</a:t>
            </a:r>
          </a:p>
        </p:txBody>
      </p:sp>
      <p:sp>
        <p:nvSpPr>
          <p:cNvPr id="14" name="Content Placeholder 13"/>
          <p:cNvSpPr>
            <a:spLocks noGrp="1"/>
          </p:cNvSpPr>
          <p:nvPr>
            <p:ph idx="1"/>
          </p:nvPr>
        </p:nvSpPr>
        <p:spPr>
          <a:xfrm>
            <a:off x="1341120" y="1159099"/>
            <a:ext cx="9509760" cy="5293215"/>
          </a:xfrm>
        </p:spPr>
        <p:txBody>
          <a:bodyPr/>
          <a:lstStyle/>
          <a:p>
            <a:r>
              <a:rPr lang="en-US" dirty="0"/>
              <a:t>The picture below is the  information on the stock of Dollar General Corporation taken from the Yahoo Finance website. Answer the following questions.</a:t>
            </a:r>
          </a:p>
          <a:p>
            <a:endParaRPr lang="en-US" dirty="0"/>
          </a:p>
        </p:txBody>
      </p:sp>
      <p:pic>
        <p:nvPicPr>
          <p:cNvPr id="4" name="Picture 3"/>
          <p:cNvPicPr/>
          <p:nvPr/>
        </p:nvPicPr>
        <p:blipFill rotWithShape="1">
          <a:blip r:embed="rId2"/>
          <a:srcRect r="26863" b="5500"/>
          <a:stretch/>
        </p:blipFill>
        <p:spPr bwMode="auto">
          <a:xfrm>
            <a:off x="1725770" y="1850838"/>
            <a:ext cx="8783392" cy="445256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85252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Question 5							2</a:t>
            </a:r>
          </a:p>
        </p:txBody>
      </p:sp>
      <p:sp>
        <p:nvSpPr>
          <p:cNvPr id="14" name="Content Placeholder 13"/>
          <p:cNvSpPr>
            <a:spLocks noGrp="1"/>
          </p:cNvSpPr>
          <p:nvPr>
            <p:ph idx="1"/>
          </p:nvPr>
        </p:nvSpPr>
        <p:spPr>
          <a:xfrm>
            <a:off x="1341120" y="1287887"/>
            <a:ext cx="9509760" cy="4906851"/>
          </a:xfrm>
        </p:spPr>
        <p:txBody>
          <a:bodyPr>
            <a:normAutofit fontScale="92500"/>
          </a:bodyPr>
          <a:lstStyle/>
          <a:p>
            <a:r>
              <a:rPr lang="en-US" dirty="0"/>
              <a:t>(a.) What were the high and low prices for the past 52 weeks? </a:t>
            </a:r>
          </a:p>
          <a:p>
            <a:r>
              <a:rPr lang="en-US" b="1" dirty="0">
                <a:solidFill>
                  <a:srgbClr val="00B050"/>
                </a:solidFill>
              </a:rPr>
              <a:t>The high price for a share of Dollar General stock during the past 52 weeks was $71.78</a:t>
            </a:r>
          </a:p>
          <a:p>
            <a:r>
              <a:rPr lang="en-US" b="1" dirty="0">
                <a:solidFill>
                  <a:srgbClr val="00B050"/>
                </a:solidFill>
              </a:rPr>
              <a:t>The low price for a share of the company’s stock during the past 52 weeks was $53.00</a:t>
            </a:r>
          </a:p>
          <a:p>
            <a:pPr lvl="0">
              <a:buClr>
                <a:srgbClr val="263050"/>
              </a:buClr>
            </a:pPr>
            <a:r>
              <a:rPr lang="en-US" dirty="0">
                <a:solidFill>
                  <a:srgbClr val="263050"/>
                </a:solidFill>
              </a:rPr>
              <a:t>(b.) How many shares of Dollar General stock were traded yesterday?</a:t>
            </a:r>
          </a:p>
          <a:p>
            <a:pPr lvl="0">
              <a:buClr>
                <a:srgbClr val="263050"/>
              </a:buClr>
            </a:pPr>
            <a:r>
              <a:rPr lang="en-US" b="1" dirty="0">
                <a:solidFill>
                  <a:srgbClr val="00B050"/>
                </a:solidFill>
              </a:rPr>
              <a:t>3380344shares of Dollar General stock were traded yesterday.</a:t>
            </a:r>
          </a:p>
          <a:p>
            <a:pPr lvl="0">
              <a:buClr>
                <a:srgbClr val="263050"/>
              </a:buClr>
            </a:pPr>
            <a:r>
              <a:rPr lang="en-US" dirty="0">
                <a:solidFill>
                  <a:srgbClr val="263050"/>
                </a:solidFill>
              </a:rPr>
              <a:t>(c.) What were the high and low prices for Coca-Cola shares yesterday?</a:t>
            </a:r>
          </a:p>
          <a:p>
            <a:pPr lvl="0">
              <a:buClr>
                <a:srgbClr val="263050"/>
              </a:buClr>
            </a:pPr>
            <a:r>
              <a:rPr lang="en-US" b="1" dirty="0">
                <a:solidFill>
                  <a:srgbClr val="00B050"/>
                </a:solidFill>
              </a:rPr>
              <a:t>The high price for a share of Dollar General stock yesterday was $67.24</a:t>
            </a:r>
          </a:p>
          <a:p>
            <a:pPr lvl="0">
              <a:buClr>
                <a:srgbClr val="263050"/>
              </a:buClr>
            </a:pPr>
            <a:r>
              <a:rPr lang="en-US" b="1" dirty="0">
                <a:solidFill>
                  <a:srgbClr val="00B050"/>
                </a:solidFill>
              </a:rPr>
              <a:t>The low price for a share of the company’s stock yesterday was $65.86</a:t>
            </a:r>
          </a:p>
          <a:p>
            <a:pPr lvl="0">
              <a:buClr>
                <a:srgbClr val="263050"/>
              </a:buClr>
            </a:pPr>
            <a:r>
              <a:rPr lang="en-US" dirty="0">
                <a:solidFill>
                  <a:srgbClr val="263050"/>
                </a:solidFill>
              </a:rPr>
              <a:t>(d.) What is the difference between the opening price today and yesterday’s closing price?</a:t>
            </a:r>
          </a:p>
          <a:p>
            <a:pPr lvl="0">
              <a:buClr>
                <a:srgbClr val="263050"/>
              </a:buClr>
            </a:pPr>
            <a:r>
              <a:rPr lang="en-US" b="1" dirty="0">
                <a:solidFill>
                  <a:srgbClr val="00B050"/>
                </a:solidFill>
              </a:rPr>
              <a:t>The difference is eight cents: $67.14 - $67.06 = $0.08</a:t>
            </a:r>
          </a:p>
        </p:txBody>
      </p:sp>
    </p:spTree>
    <p:extLst>
      <p:ext uri="{BB962C8B-B14F-4D97-AF65-F5344CB8AC3E}">
        <p14:creationId xmlns:p14="http://schemas.microsoft.com/office/powerpoint/2010/main" val="3568136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animEffect transition="in" filter="fade">
                                      <p:cBhvr>
                                        <p:cTn id="7" dur="1000"/>
                                        <p:tgtEl>
                                          <p:spTgt spid="14">
                                            <p:txEl>
                                              <p:pRg st="1" end="1"/>
                                            </p:txEl>
                                          </p:spTgt>
                                        </p:tgtEl>
                                      </p:cBhvr>
                                    </p:animEffect>
                                    <p:anim calcmode="lin" valueType="num">
                                      <p:cBhvr>
                                        <p:cTn id="8" dur="1000" fill="hold"/>
                                        <p:tgtEl>
                                          <p:spTgt spid="1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4">
                                            <p:txEl>
                                              <p:pRg st="2" end="2"/>
                                            </p:txEl>
                                          </p:spTgt>
                                        </p:tgtEl>
                                        <p:attrNameLst>
                                          <p:attrName>style.visibility</p:attrName>
                                        </p:attrNameLst>
                                      </p:cBhvr>
                                      <p:to>
                                        <p:strVal val="visible"/>
                                      </p:to>
                                    </p:set>
                                    <p:animEffect transition="in" filter="fade">
                                      <p:cBhvr>
                                        <p:cTn id="14" dur="1000"/>
                                        <p:tgtEl>
                                          <p:spTgt spid="14">
                                            <p:txEl>
                                              <p:pRg st="2" end="2"/>
                                            </p:txEl>
                                          </p:spTgt>
                                        </p:tgtEl>
                                      </p:cBhvr>
                                    </p:animEffect>
                                    <p:anim calcmode="lin" valueType="num">
                                      <p:cBhvr>
                                        <p:cTn id="15" dur="1000" fill="hold"/>
                                        <p:tgtEl>
                                          <p:spTgt spid="1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4" end="4"/>
                                            </p:txEl>
                                          </p:spTgt>
                                        </p:tgtEl>
                                        <p:attrNameLst>
                                          <p:attrName>style.visibility</p:attrName>
                                        </p:attrNameLst>
                                      </p:cBhvr>
                                      <p:to>
                                        <p:strVal val="visible"/>
                                      </p:to>
                                    </p:set>
                                    <p:animEffect transition="in" filter="fade">
                                      <p:cBhvr>
                                        <p:cTn id="21" dur="1000"/>
                                        <p:tgtEl>
                                          <p:spTgt spid="14">
                                            <p:txEl>
                                              <p:pRg st="4" end="4"/>
                                            </p:txEl>
                                          </p:spTgt>
                                        </p:tgtEl>
                                      </p:cBhvr>
                                    </p:animEffect>
                                    <p:anim calcmode="lin" valueType="num">
                                      <p:cBhvr>
                                        <p:cTn id="22"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
                                            <p:txEl>
                                              <p:pRg st="6" end="6"/>
                                            </p:txEl>
                                          </p:spTgt>
                                        </p:tgtEl>
                                        <p:attrNameLst>
                                          <p:attrName>style.visibility</p:attrName>
                                        </p:attrNameLst>
                                      </p:cBhvr>
                                      <p:to>
                                        <p:strVal val="visible"/>
                                      </p:to>
                                    </p:set>
                                    <p:animEffect transition="in" filter="fade">
                                      <p:cBhvr>
                                        <p:cTn id="28" dur="1000"/>
                                        <p:tgtEl>
                                          <p:spTgt spid="14">
                                            <p:txEl>
                                              <p:pRg st="6" end="6"/>
                                            </p:txEl>
                                          </p:spTgt>
                                        </p:tgtEl>
                                      </p:cBhvr>
                                    </p:animEffect>
                                    <p:anim calcmode="lin" valueType="num">
                                      <p:cBhvr>
                                        <p:cTn id="29" dur="1000" fill="hold"/>
                                        <p:tgtEl>
                                          <p:spTgt spid="14">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1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4">
                                            <p:txEl>
                                              <p:pRg st="7" end="7"/>
                                            </p:txEl>
                                          </p:spTgt>
                                        </p:tgtEl>
                                        <p:attrNameLst>
                                          <p:attrName>style.visibility</p:attrName>
                                        </p:attrNameLst>
                                      </p:cBhvr>
                                      <p:to>
                                        <p:strVal val="visible"/>
                                      </p:to>
                                    </p:set>
                                    <p:animEffect transition="in" filter="fade">
                                      <p:cBhvr>
                                        <p:cTn id="35" dur="1000"/>
                                        <p:tgtEl>
                                          <p:spTgt spid="14">
                                            <p:txEl>
                                              <p:pRg st="7" end="7"/>
                                            </p:txEl>
                                          </p:spTgt>
                                        </p:tgtEl>
                                      </p:cBhvr>
                                    </p:animEffect>
                                    <p:anim calcmode="lin" valueType="num">
                                      <p:cBhvr>
                                        <p:cTn id="36" dur="1000" fill="hold"/>
                                        <p:tgtEl>
                                          <p:spTgt spid="14">
                                            <p:txEl>
                                              <p:pRg st="7" end="7"/>
                                            </p:txEl>
                                          </p:spTgt>
                                        </p:tgtEl>
                                        <p:attrNameLst>
                                          <p:attrName>ppt_x</p:attrName>
                                        </p:attrNameLst>
                                      </p:cBhvr>
                                      <p:tavLst>
                                        <p:tav tm="0">
                                          <p:val>
                                            <p:strVal val="#ppt_x"/>
                                          </p:val>
                                        </p:tav>
                                        <p:tav tm="100000">
                                          <p:val>
                                            <p:strVal val="#ppt_x"/>
                                          </p:val>
                                        </p:tav>
                                      </p:tavLst>
                                    </p:anim>
                                    <p:anim calcmode="lin" valueType="num">
                                      <p:cBhvr>
                                        <p:cTn id="37" dur="1000" fill="hold"/>
                                        <p:tgtEl>
                                          <p:spTgt spid="1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4">
                                            <p:txEl>
                                              <p:pRg st="9" end="9"/>
                                            </p:txEl>
                                          </p:spTgt>
                                        </p:tgtEl>
                                        <p:attrNameLst>
                                          <p:attrName>style.visibility</p:attrName>
                                        </p:attrNameLst>
                                      </p:cBhvr>
                                      <p:to>
                                        <p:strVal val="visible"/>
                                      </p:to>
                                    </p:set>
                                    <p:animEffect transition="in" filter="fade">
                                      <p:cBhvr>
                                        <p:cTn id="42" dur="1000"/>
                                        <p:tgtEl>
                                          <p:spTgt spid="14">
                                            <p:txEl>
                                              <p:pRg st="9" end="9"/>
                                            </p:txEl>
                                          </p:spTgt>
                                        </p:tgtEl>
                                      </p:cBhvr>
                                    </p:animEffect>
                                    <p:anim calcmode="lin" valueType="num">
                                      <p:cBhvr>
                                        <p:cTn id="43" dur="1000" fill="hold"/>
                                        <p:tgtEl>
                                          <p:spTgt spid="14">
                                            <p:txEl>
                                              <p:pRg st="9" end="9"/>
                                            </p:txEl>
                                          </p:spTgt>
                                        </p:tgtEl>
                                        <p:attrNameLst>
                                          <p:attrName>ppt_x</p:attrName>
                                        </p:attrNameLst>
                                      </p:cBhvr>
                                      <p:tavLst>
                                        <p:tav tm="0">
                                          <p:val>
                                            <p:strVal val="#ppt_x"/>
                                          </p:val>
                                        </p:tav>
                                        <p:tav tm="100000">
                                          <p:val>
                                            <p:strVal val="#ppt_x"/>
                                          </p:val>
                                        </p:tav>
                                      </p:tavLst>
                                    </p:anim>
                                    <p:anim calcmode="lin" valueType="num">
                                      <p:cBhvr>
                                        <p:cTn id="44" dur="1000" fill="hold"/>
                                        <p:tgtEl>
                                          <p:spTgt spid="14">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341120" y="467360"/>
            <a:ext cx="9509760" cy="691739"/>
          </a:xfrm>
        </p:spPr>
        <p:txBody>
          <a:bodyPr/>
          <a:lstStyle/>
          <a:p>
            <a:r>
              <a:rPr lang="en-US" dirty="0"/>
              <a:t>Useful Websites / Referenced Websites / References</a:t>
            </a:r>
          </a:p>
        </p:txBody>
      </p:sp>
      <p:sp>
        <p:nvSpPr>
          <p:cNvPr id="14" name="Content Placeholder 13"/>
          <p:cNvSpPr>
            <a:spLocks noGrp="1"/>
          </p:cNvSpPr>
          <p:nvPr>
            <p:ph idx="1"/>
          </p:nvPr>
        </p:nvSpPr>
        <p:spPr>
          <a:xfrm>
            <a:off x="1341120" y="1339403"/>
            <a:ext cx="9509760" cy="4952339"/>
          </a:xfrm>
        </p:spPr>
        <p:txBody>
          <a:bodyPr>
            <a:normAutofit fontScale="77500" lnSpcReduction="20000"/>
          </a:bodyPr>
          <a:lstStyle/>
          <a:p>
            <a:r>
              <a:rPr lang="en-US" sz="2800" u="sng" dirty="0">
                <a:hlinkClick r:id="rId2"/>
              </a:rPr>
              <a:t>www.finance-calculators.appspot.com</a:t>
            </a:r>
            <a:endParaRPr lang="en-US" sz="2800" dirty="0"/>
          </a:p>
          <a:p>
            <a:r>
              <a:rPr lang="en-US" sz="2800" dirty="0">
                <a:hlinkClick r:id="rId3"/>
              </a:rPr>
              <a:t>http://investor.gov/</a:t>
            </a:r>
          </a:p>
          <a:p>
            <a:r>
              <a:rPr lang="en-US" sz="2800" dirty="0">
                <a:hlinkClick r:id="rId3"/>
              </a:rPr>
              <a:t>http://www.savingsbonds.gov/</a:t>
            </a:r>
          </a:p>
          <a:p>
            <a:r>
              <a:rPr lang="en-US" sz="2800" dirty="0">
                <a:hlinkClick r:id="rId3"/>
              </a:rPr>
              <a:t>http://www.nasdaq.com/investing/glossary/</a:t>
            </a:r>
            <a:endParaRPr lang="en-US" sz="2800" dirty="0"/>
          </a:p>
          <a:p>
            <a:r>
              <a:rPr lang="en-US" sz="2800" dirty="0">
                <a:hlinkClick r:id="rId4"/>
              </a:rPr>
              <a:t>http://www.computershare.com/us/Pages/glossary.aspx</a:t>
            </a:r>
            <a:endParaRPr lang="en-US" sz="2800" dirty="0"/>
          </a:p>
          <a:p>
            <a:r>
              <a:rPr lang="en-US" sz="2800" dirty="0">
                <a:hlinkClick r:id="rId5"/>
              </a:rPr>
              <a:t>http://www1.nyse.com/pdfs/glossary.pdf</a:t>
            </a:r>
            <a:endParaRPr lang="en-US" sz="2800" dirty="0"/>
          </a:p>
          <a:p>
            <a:r>
              <a:rPr lang="en-US" sz="2800" dirty="0">
                <a:hlinkClick r:id="rId6"/>
              </a:rPr>
              <a:t>http://www1.nyse.com/pdfs/NYSE_posterA_Mech.pdf</a:t>
            </a:r>
            <a:endParaRPr lang="en-US" sz="2800" dirty="0"/>
          </a:p>
          <a:p>
            <a:r>
              <a:rPr lang="en-US" sz="2800" dirty="0">
                <a:hlinkClick r:id="rId7"/>
              </a:rPr>
              <a:t>http://finance.yahoo.com/</a:t>
            </a:r>
            <a:endParaRPr lang="en-US" sz="2800" dirty="0"/>
          </a:p>
          <a:p>
            <a:r>
              <a:rPr lang="en-US" sz="2800" dirty="0">
                <a:hlinkClick r:id="rId8"/>
              </a:rPr>
              <a:t>http://www.sec.gov/divisions/marketreg/mrexchanges.shtml</a:t>
            </a:r>
            <a:endParaRPr lang="en-US" sz="2800" dirty="0"/>
          </a:p>
          <a:p>
            <a:pPr lvl="0"/>
            <a:r>
              <a:rPr lang="en-US" sz="2800" dirty="0">
                <a:solidFill>
                  <a:srgbClr val="0070C0"/>
                </a:solidFill>
              </a:rPr>
              <a:t>Blitzer, R. (2015). </a:t>
            </a:r>
            <a:r>
              <a:rPr lang="en-US" sz="2800" i="1" dirty="0">
                <a:solidFill>
                  <a:srgbClr val="0070C0"/>
                </a:solidFill>
              </a:rPr>
              <a:t>Thinking Mathematically Plus New </a:t>
            </a:r>
            <a:r>
              <a:rPr lang="en-US" sz="2800" i="1" dirty="0" err="1">
                <a:solidFill>
                  <a:srgbClr val="0070C0"/>
                </a:solidFill>
              </a:rPr>
              <a:t>Mymathlab</a:t>
            </a:r>
            <a:r>
              <a:rPr lang="en-US" sz="2800" i="1" dirty="0">
                <a:solidFill>
                  <a:srgbClr val="0070C0"/>
                </a:solidFill>
              </a:rPr>
              <a:t> With Pearson </a:t>
            </a:r>
            <a:r>
              <a:rPr lang="en-US" sz="2800" i="1" dirty="0" err="1">
                <a:solidFill>
                  <a:srgbClr val="0070C0"/>
                </a:solidFill>
              </a:rPr>
              <a:t>Etext</a:t>
            </a:r>
            <a:r>
              <a:rPr lang="en-US" sz="2800" i="1" dirty="0">
                <a:solidFill>
                  <a:srgbClr val="0070C0"/>
                </a:solidFill>
              </a:rPr>
              <a:t> Access Card.</a:t>
            </a:r>
            <a:r>
              <a:rPr lang="en-US" sz="2800" dirty="0">
                <a:solidFill>
                  <a:srgbClr val="0070C0"/>
                </a:solidFill>
              </a:rPr>
              <a:t> Pearson College Div. </a:t>
            </a:r>
          </a:p>
          <a:p>
            <a:endParaRPr lang="en-US" sz="2800" dirty="0"/>
          </a:p>
          <a:p>
            <a:endParaRPr lang="en-US" dirty="0"/>
          </a:p>
          <a:p>
            <a:endParaRPr lang="en-US" dirty="0"/>
          </a:p>
        </p:txBody>
      </p:sp>
    </p:spTree>
    <p:extLst>
      <p:ext uri="{BB962C8B-B14F-4D97-AF65-F5344CB8AC3E}">
        <p14:creationId xmlns:p14="http://schemas.microsoft.com/office/powerpoint/2010/main" val="294552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Banded Design Blue 16x9">
  <a:themeElements>
    <a:clrScheme name="Banded Design Blue">
      <a:dk1>
        <a:srgbClr val="404040"/>
      </a:dk1>
      <a:lt1>
        <a:sysClr val="window" lastClr="FFFFFF"/>
      </a:lt1>
      <a:dk2>
        <a:srgbClr val="263050"/>
      </a:dk2>
      <a:lt2>
        <a:srgbClr val="E5E8E8"/>
      </a:lt2>
      <a:accent1>
        <a:srgbClr val="77B142"/>
      </a:accent1>
      <a:accent2>
        <a:srgbClr val="E3C01E"/>
      </a:accent2>
      <a:accent3>
        <a:srgbClr val="0070C0"/>
      </a:accent3>
      <a:accent4>
        <a:srgbClr val="7556A4"/>
      </a:accent4>
      <a:accent5>
        <a:srgbClr val="F08F1E"/>
      </a:accent5>
      <a:accent6>
        <a:srgbClr val="CB3E3A"/>
      </a:accent6>
      <a:hlink>
        <a:srgbClr val="0070C0"/>
      </a:hlink>
      <a:folHlink>
        <a:srgbClr val="7556A4"/>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Banded Design Blue">
      <a:dk1>
        <a:srgbClr val="404040"/>
      </a:dk1>
      <a:lt1>
        <a:sysClr val="window" lastClr="FFFFFF"/>
      </a:lt1>
      <a:dk2>
        <a:srgbClr val="263050"/>
      </a:dk2>
      <a:lt2>
        <a:srgbClr val="E5E8E8"/>
      </a:lt2>
      <a:accent1>
        <a:srgbClr val="77B142"/>
      </a:accent1>
      <a:accent2>
        <a:srgbClr val="E3C01E"/>
      </a:accent2>
      <a:accent3>
        <a:srgbClr val="0070C0"/>
      </a:accent3>
      <a:accent4>
        <a:srgbClr val="7556A4"/>
      </a:accent4>
      <a:accent5>
        <a:srgbClr val="F08F1E"/>
      </a:accent5>
      <a:accent6>
        <a:srgbClr val="CB3E3A"/>
      </a:accent6>
      <a:hlink>
        <a:srgbClr val="0070C0"/>
      </a:hlink>
      <a:folHlink>
        <a:srgbClr val="7556A4"/>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Banded Design Blue">
      <a:dk1>
        <a:srgbClr val="404040"/>
      </a:dk1>
      <a:lt1>
        <a:sysClr val="window" lastClr="FFFFFF"/>
      </a:lt1>
      <a:dk2>
        <a:srgbClr val="263050"/>
      </a:dk2>
      <a:lt2>
        <a:srgbClr val="E5E8E8"/>
      </a:lt2>
      <a:accent1>
        <a:srgbClr val="77B142"/>
      </a:accent1>
      <a:accent2>
        <a:srgbClr val="E3C01E"/>
      </a:accent2>
      <a:accent3>
        <a:srgbClr val="0070C0"/>
      </a:accent3>
      <a:accent4>
        <a:srgbClr val="7556A4"/>
      </a:accent4>
      <a:accent5>
        <a:srgbClr val="F08F1E"/>
      </a:accent5>
      <a:accent6>
        <a:srgbClr val="CB3E3A"/>
      </a:accent6>
      <a:hlink>
        <a:srgbClr val="0070C0"/>
      </a:hlink>
      <a:folHlink>
        <a:srgbClr val="7556A4"/>
      </a:folHlink>
    </a:clrScheme>
    <a:fontScheme name="Corbel">
      <a:maj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A4D8109F-05D6-4A26-8F7E-3EF448E6183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Blue banded nature presentation with mountain sunrise photo  (widescreen)</Template>
  <TotalTime>5527</TotalTime>
  <Words>3797</Words>
  <Application>Microsoft Office PowerPoint</Application>
  <PresentationFormat>Widescreen</PresentationFormat>
  <Paragraphs>369</Paragraphs>
  <Slides>40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Arial</vt:lpstr>
      <vt:lpstr>Bell MT</vt:lpstr>
      <vt:lpstr>Cambria Math</vt:lpstr>
      <vt:lpstr>Corbel</vt:lpstr>
      <vt:lpstr>Euphemia</vt:lpstr>
      <vt:lpstr>Banded Design Blue 16x9</vt:lpstr>
      <vt:lpstr>Investments for Retirement – Part 1</vt:lpstr>
      <vt:lpstr>Why Do We Need to Invest? </vt:lpstr>
      <vt:lpstr>Objectives </vt:lpstr>
      <vt:lpstr>Investment  </vt:lpstr>
      <vt:lpstr>Basic Types of Investments in The U.S </vt:lpstr>
      <vt:lpstr>Stock: Meaning and Basic Vocabulary Words          1  </vt:lpstr>
      <vt:lpstr>Stock         2</vt:lpstr>
      <vt:lpstr>Stock         3 </vt:lpstr>
      <vt:lpstr>Stock Tables       1</vt:lpstr>
      <vt:lpstr>Stock Tables       2</vt:lpstr>
      <vt:lpstr>Stock Tables       3</vt:lpstr>
      <vt:lpstr>Stock Tables       4</vt:lpstr>
      <vt:lpstr>Bond        1 </vt:lpstr>
      <vt:lpstr>Bond        2</vt:lpstr>
      <vt:lpstr>Mutual Fund</vt:lpstr>
      <vt:lpstr>Retirement Savings Accounts</vt:lpstr>
      <vt:lpstr>Traditional and Roth Individual Retirement Accounts</vt:lpstr>
      <vt:lpstr>401(K) Investment Plan Account</vt:lpstr>
      <vt:lpstr>403(b) and Other Investment Accounts</vt:lpstr>
      <vt:lpstr>Annuity </vt:lpstr>
      <vt:lpstr>Future Value of an Ordinary Annuity </vt:lpstr>
      <vt:lpstr>Question 1       1</vt:lpstr>
      <vt:lpstr>Question 1       2</vt:lpstr>
      <vt:lpstr>Question 1       3</vt:lpstr>
      <vt:lpstr>Question 2       1</vt:lpstr>
      <vt:lpstr>Question 2       2</vt:lpstr>
      <vt:lpstr>Question 2       3</vt:lpstr>
      <vt:lpstr>Question 3       1</vt:lpstr>
      <vt:lpstr>Question 3       2</vt:lpstr>
      <vt:lpstr>Question 3       3</vt:lpstr>
      <vt:lpstr>Question 3       4</vt:lpstr>
      <vt:lpstr>Question 3       5</vt:lpstr>
      <vt:lpstr>Question 4       1</vt:lpstr>
      <vt:lpstr>Question 4       2</vt:lpstr>
      <vt:lpstr>Question 4       3</vt:lpstr>
      <vt:lpstr>Question 4       4</vt:lpstr>
      <vt:lpstr>Question 4       5</vt:lpstr>
      <vt:lpstr>Question 5       1</vt:lpstr>
      <vt:lpstr>Question 5       2</vt:lpstr>
      <vt:lpstr>Useful Websites / Referenced Websites /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Investments for Retirement</dc:title>
  <dc:creator>Samuel Chukwuemeka</dc:creator>
  <cp:keywords/>
  <cp:lastModifiedBy>Samuel Chukwuemeka</cp:lastModifiedBy>
  <cp:revision>462</cp:revision>
  <dcterms:created xsi:type="dcterms:W3CDTF">2015-01-25T15:22:13Z</dcterms:created>
  <dcterms:modified xsi:type="dcterms:W3CDTF">2016-09-26T05:34:12Z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TC028952539991</vt:lpwstr>
  </property>
</Properties>
</file>