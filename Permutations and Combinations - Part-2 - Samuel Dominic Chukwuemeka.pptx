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2.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3.xml" ContentType="application/inkml+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94" r:id="rId2"/>
  </p:sldMasterIdLst>
  <p:notesMasterIdLst>
    <p:notesMasterId r:id="rId27"/>
  </p:notesMasterIdLst>
  <p:sldIdLst>
    <p:sldId id="256" r:id="rId3"/>
    <p:sldId id="269" r:id="rId4"/>
    <p:sldId id="278" r:id="rId5"/>
    <p:sldId id="283" r:id="rId6"/>
    <p:sldId id="287" r:id="rId7"/>
    <p:sldId id="300" r:id="rId8"/>
    <p:sldId id="288" r:id="rId9"/>
    <p:sldId id="301" r:id="rId10"/>
    <p:sldId id="302" r:id="rId11"/>
    <p:sldId id="282" r:id="rId12"/>
    <p:sldId id="289" r:id="rId13"/>
    <p:sldId id="281" r:id="rId14"/>
    <p:sldId id="280" r:id="rId15"/>
    <p:sldId id="279" r:id="rId16"/>
    <p:sldId id="286" r:id="rId17"/>
    <p:sldId id="290" r:id="rId18"/>
    <p:sldId id="291" r:id="rId19"/>
    <p:sldId id="284" r:id="rId20"/>
    <p:sldId id="292" r:id="rId21"/>
    <p:sldId id="296" r:id="rId22"/>
    <p:sldId id="297" r:id="rId23"/>
    <p:sldId id="298" r:id="rId24"/>
    <p:sldId id="295" r:id="rId25"/>
    <p:sldId id="303" r:id="rId26"/>
  </p:sldIdLst>
  <p:sldSz cx="9144000" cy="6858000" type="screen4x3"/>
  <p:notesSz cx="6858000" cy="9144000"/>
  <p:defaultTextStyle>
    <a:defPPr>
      <a:defRPr lang="en-US"/>
    </a:defPPr>
    <a:lvl1pPr marL="0" algn="l" defTabSz="914400" rtl="0" latinLnBrk="0">
      <a:defRPr sz="1800" kern="1200">
        <a:solidFill>
          <a:schemeClr val="tx1"/>
        </a:solidFill>
        <a:latin typeface="+mn-lt"/>
        <a:ea typeface="+mn-ea"/>
        <a:cs typeface="+mn-cs"/>
      </a:defRPr>
    </a:lvl1pPr>
    <a:lvl2pPr marL="457200" algn="l" defTabSz="914400" rtl="0" latinLnBrk="0">
      <a:defRPr sz="1800" kern="1200">
        <a:solidFill>
          <a:schemeClr val="tx1"/>
        </a:solidFill>
        <a:latin typeface="+mn-lt"/>
        <a:ea typeface="+mn-ea"/>
        <a:cs typeface="+mn-cs"/>
      </a:defRPr>
    </a:lvl2pPr>
    <a:lvl3pPr marL="914400" algn="l" defTabSz="914400" rtl="0" latinLnBrk="0">
      <a:defRPr sz="1800" kern="1200">
        <a:solidFill>
          <a:schemeClr val="tx1"/>
        </a:solidFill>
        <a:latin typeface="+mn-lt"/>
        <a:ea typeface="+mn-ea"/>
        <a:cs typeface="+mn-cs"/>
      </a:defRPr>
    </a:lvl3pPr>
    <a:lvl4pPr marL="1371600" algn="l" defTabSz="914400" rtl="0" latinLnBrk="0">
      <a:defRPr sz="1800" kern="1200">
        <a:solidFill>
          <a:schemeClr val="tx1"/>
        </a:solidFill>
        <a:latin typeface="+mn-lt"/>
        <a:ea typeface="+mn-ea"/>
        <a:cs typeface="+mn-cs"/>
      </a:defRPr>
    </a:lvl4pPr>
    <a:lvl5pPr marL="1828800" algn="l" defTabSz="914400" rtl="0" latinLnBrk="0">
      <a:defRPr sz="1800" kern="1200">
        <a:solidFill>
          <a:schemeClr val="tx1"/>
        </a:solidFill>
        <a:latin typeface="+mn-lt"/>
        <a:ea typeface="+mn-ea"/>
        <a:cs typeface="+mn-cs"/>
      </a:defRPr>
    </a:lvl5pPr>
    <a:lvl6pPr marL="2286000" algn="l" defTabSz="914400" rtl="0" latinLnBrk="0">
      <a:defRPr sz="1800" kern="1200">
        <a:solidFill>
          <a:schemeClr val="tx1"/>
        </a:solidFill>
        <a:latin typeface="+mn-lt"/>
        <a:ea typeface="+mn-ea"/>
        <a:cs typeface="+mn-cs"/>
      </a:defRPr>
    </a:lvl6pPr>
    <a:lvl7pPr marL="2743200" algn="l" defTabSz="914400" rtl="0" latinLnBrk="0">
      <a:defRPr sz="1800" kern="1200">
        <a:solidFill>
          <a:schemeClr val="tx1"/>
        </a:solidFill>
        <a:latin typeface="+mn-lt"/>
        <a:ea typeface="+mn-ea"/>
        <a:cs typeface="+mn-cs"/>
      </a:defRPr>
    </a:lvl7pPr>
    <a:lvl8pPr marL="3200400" algn="l" defTabSz="914400" rtl="0" latinLnBrk="0">
      <a:defRPr sz="1800" kern="1200">
        <a:solidFill>
          <a:schemeClr val="tx1"/>
        </a:solidFill>
        <a:latin typeface="+mn-lt"/>
        <a:ea typeface="+mn-ea"/>
        <a:cs typeface="+mn-cs"/>
      </a:defRPr>
    </a:lvl8pPr>
    <a:lvl9pPr marL="3657600" algn="l" defTabSz="914400" rtl="0" latinLnBrk="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63" autoAdjust="0"/>
    <p:restoredTop sz="94660"/>
  </p:normalViewPr>
  <p:slideViewPr>
    <p:cSldViewPr>
      <p:cViewPr>
        <p:scale>
          <a:sx n="100" d="100"/>
          <a:sy n="100" d="100"/>
        </p:scale>
        <p:origin x="-1932" y="-31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36.85221" units="1/cm"/>
          <inkml:channelProperty channel="Y" name="resolution" value="36.86007" units="1/cm"/>
        </inkml:channelProperties>
      </inkml:inkSource>
      <inkml:timestamp xml:id="ts0" timeString="2014-11-08T16:46:00.856"/>
    </inkml:context>
    <inkml:brush xml:id="br0">
      <inkml:brushProperty name="width" value="0.05292" units="cm"/>
      <inkml:brushProperty name="height" value="0.05292" units="cm"/>
      <inkml:brushProperty name="color" value="#FF0000"/>
    </inkml:brush>
  </inkml:definitions>
  <inkml:trace contextRef="#ctx0" brushRef="#br0">22595 6562,'0'17,"0"1,0 0,0-1,0 1,0 0,0-1,0 18,0-17,0 0,0-1,0 1,0 0,0-1,0 19,0-72,-17 19,17-1,0 0,0 1,0-1,-18-17,18 0,-17 17,17 0,-18-35,0 53,18-17,0-19,0 1,0 17,0 1,0-1,0 1,18 17,0 0,-1 0,1 0,-1 0,1 0,17 17,-17-17,0 0,-1 18,1-1,0 1,-1-18,-17 35,0-17,18-18,-18 18,0-1,17 1,-17 0,0-1,0 1,0 17,0-17,0 17,0-17,0 17,36-17</inkml:trace>
  <inkml:trace contextRef="#ctx0" brushRef="#br0" timeOffset="1447.9097">23089 6068,'-17'17,"-1"-17,18 18,0 0,0-1,0 1,0 17,0-17,0 0,0 17,0-18,0 1,0 0,0 35,0 0,0-18,0-18,0 1,0 0,0-1,0 1,0 0,0-1,0 1,0 0,0-1,0 1,0 17,0-17,0-1</inkml:trace>
  <inkml:trace contextRef="#ctx0" brushRef="#br0" timeOffset="3528.1143">23036 6932,'18'0,"-18"18,0-1,18-17,-18-17</inkml:trace>
  <inkml:trace contextRef="#ctx0" brushRef="#br0" timeOffset="17479.5632">7161 8625,'0'18,"0"17,0 1,0-19,0 1,0 0,0-1,0 1,18-36,-18-17,18 0,-1-1,-17 1,0 17,18 1,-18-1,0 1,0-1,18-17,-1 35,19 0,-19 0,1 0,-1 0,1 0,0 0,-1 17,1 1,0 0,-1 34,-17-34,0 17,0-17,18 17,-18-17,0 0,0-1,0 1</inkml:trace>
  <inkml:trace contextRef="#ctx0" brushRef="#br0" timeOffset="19087.9466">7638 8361,'0'-18,"0"36,0 17,0 18,0-18,0-17,0 0,0-1,0 19,0-19,0 1,0-1,0 1,0 0,0-1,0 1</inkml:trace>
  <inkml:trace contextRef="#ctx0" brushRef="#br0" timeOffset="20623.5663">7638 8872,'0'18,"0"-53,0-1,0 1,0 18,0-19,0 54,0 0,0-1</inkml:trace>
  <inkml:trace contextRef="#ctx0" brushRef="#br0" timeOffset="21960.4686">7655 9049,'18'-18,"0"18,-18 18,0-36,-18 0</inkml:trace>
  <inkml:trace contextRef="#ctx0" brushRef="#br0" timeOffset="23504.5104">6773 9349,'0'-36,"18"36,0 0,-1 0,1 0,0 0,-1 0,1 0,17 0,-17 0,35 0,0 0,-18 0,18 0,0 0,-18 0,18 0,0 0,0 0,-18 0,0 0,18 0,-35 0,17 0,-17 0,17 0,-17 0,35 0,-18 18,0-18,18 0,-35 0,35 18,-18-18,0 0,0 0,-17 0,17 0,-17 0,17 0,-17 0,17 0,-17 0</inkml:trace>
  <inkml:trace contextRef="#ctx0" brushRef="#br0" timeOffset="27135.9133">6914 9560,'-17'0,"17"-17,-35 17,17 0,18 17,-18 1,18 0,-17-1,-1 1,18-1,-18 1,18 0,0 17,0-17,0-1,0 1,18-18,0 0,-1 0,1 0,0 0,-1 0,1 0,-18-18,0 1,17-19,-17 19,0-1,0 0,0 1,18 17,-18-18,0 36,18 17,-18 0,0-17,0 0,0 17,0 0,17-17,1-18</inkml:trace>
  <inkml:trace contextRef="#ctx0" brushRef="#br0" timeOffset="28536.746">7126 9472,'0'35,"0"-17,0 0,0-1,0 1,0 0,0-1,0 1,0-1,18 1,-1-18,-17 35,0-17,0 17,0-17</inkml:trace>
  <inkml:trace contextRef="#ctx0" brushRef="#br0" timeOffset="30488.4005">7144 9931,'0'-18</inkml:trace>
  <inkml:trace contextRef="#ctx0" brushRef="#br0" timeOffset="32256.0465">7391 9701,'0'-17,"0"-19,0 19,0 34,0 1,35-18</inkml:trace>
  <inkml:trace contextRef="#ctx0" brushRef="#br0" timeOffset="35088.4399">7620 9490,'18'-18,"-1"18,1 0,-18 18,0 17,0-17,0-1,0 1,35 17,-35-17,0-1,0 1,0 0,0-1,0 1,0 17,0-17,0 17,0-17,0 17,0-17,0-36,18-17,-18 17,17 1,-17-1,18 18,-18-18,18 18,-18-17,0-1,17 18,1-18,-18 1,18-1,-1 18,1 0,-18 18,35-18,-17 35,0-35,-18 18,0-1,0 1,0 0,0-1,0 1,0 0,0-1,0 1,0-1,-18-17,0 0,1 0,-1 0,-17 0,17 0</inkml:trace>
  <inkml:trace contextRef="#ctx0" brushRef="#br0" timeOffset="36871.7303">8043 9578,'0'-18,"18"1,-18 34,0 1,0 0,0-1,0 18,0-17,0 17,0-17,0 17,0-17,0 0,0-1,0 1,0 0,0-1</inkml:trace>
  <inkml:trace contextRef="#ctx0" brushRef="#br0" timeOffset="38961.2711">8061 10001,'0'18,"0"-36,0 36,-18-18,1 0,17 18,-18-18,18 17</inkml:trace>
  <inkml:trace contextRef="#ctx0" brushRef="#br0" timeOffset="53591.8662">16845 10954,'0'17,"0"19,0-19,0 19,0-19,0 1,0 0,0-36,0 0,0 1,0-19,0 19,0-1,0 0,18 1,-1-1,1 0,0-17,17 18,0-1,-17 18,0 18,-1-18,1 17,-18 1,17-18,-17 17,0 19,0-19,0 19,0-19,0 1,0 0,0-1,0 1,0 0,0-1,0 1,0-1,0 1</inkml:trace>
  <inkml:trace contextRef="#ctx0" brushRef="#br0" timeOffset="56351.9134">17286 10971,'0'36,"0"-1,0-17,0-1,0 19,-18-1,18 0,0-17,0-1,-17 19,17-1,0-17,0 17,-18 0,18 0,0-17,0 17,-17 1,17-1,0-18,0 1,0 0,0-1,0 19,-18-19,18-34,0-1,0 0,18 1,-18-1,0-17,0 0,17 17,-17-35,0 18,0 17,0 0,0 1,0-1,18 1,-18-1,0 0,0 1,0-19,0 19,0-1,17 0,-17-34,18 34,-18 0,0-17,18 35,-18-18,17-17,1 35,-18-18,18 18,-1-35,1 35,0 0,-18-18,17 18,1 0,0 0,-1 18,-17 0,0 17,18-17,-18 17,17-17,-17 17,0-17,0 17,0-18,0 19,0-19,-17-17,-1 36,1-36,17 17,-18-17,0 18,1 0,-1-18,18 17,-18-17,1 0,-1 18,0-18,-17 17</inkml:trace>
  <inkml:trace contextRef="#ctx0" brushRef="#br0" timeOffset="58479.4718">17480 11606,'18'0,"-18"18,0 0,0-1,0 1,0 0,0-1,0 1,35 17,-35-17,0-1,0 1,18 0,-18-1,0 1,17 0,1-36,-18-35,0 35,0-17,0 18,0-19,0 19,18 17,-1 0,1-18,0 18,-18-18,17 18,1 0,-1 0,1 0</inkml:trace>
  <inkml:trace contextRef="#ctx0" brushRef="#br0" timeOffset="63039.6567">18733 11536,'0'17,"0"1,0 0,0-1,0 1,0 0,-18 17,18-17,0-1,0 1,0 0,0 17,0-18,0 1,18-36,-18 1,0-18,17 17,-17 0,18-17,-1 17,-17 1,0-1,18 18,0 0,-1 0,1 0,0 0,-1 0,1 0,0 0,-1 18,1-1,-1-17,-17 18,0 0,0-1,0 1,0 0,0-1,0 1,18-1,-18 1,0 0</inkml:trace>
  <inkml:trace contextRef="#ctx0" brushRef="#br0" timeOffset="66135.6902">19297 11183,'0'18,"0"17,0-17,0 17,18 0,-18 0,0-17,0 17,0-17,0 17,17-35,-17 18,18-18,-18 35,0-17,18-1,-18 1,17 0,-17-1,0 1,0 0,0-1,0 1,18 17,-18-52,0-1,0 0,0 1,0-1,0-17,0 17,0-17,0 17,0-17,0 0,0 17,0 0,0 1,0-1,0 0,0 1,0-1,0 1,0-1,0 0,17-17,-17 17,18 1,-18-19,0 19,18-18,-1-1,1 19,0-1,-1 18,1-18,0 1,-1 17,1 0,17 0,-17 0,-1 0,1 17,0 1,-1 35,-17-35,18 17,-18 0,0-17,0-1,0 1,0 0,0-1,0 1,0 0,-18-1,18 1,-17-18,-1 17,0-17,1 18,-1-18,0 0,18 18,-17-18,-1 0,1 0,-1 0,0 0,1 0,-1 0,-17 0,17 0,-17 0</inkml:trace>
  <inkml:trace contextRef="#ctx0" brushRef="#br0" timeOffset="67887.699">19667 11695,'18'17,"-18"19,0-19,0 1,0-1,0 1,0 0,0-1,18 1,-18 0,0-36,0-17,0-1,0 1,0 18,0-36,0 35,0 0,0 1,17-1,-17 0,36 18,-19 0,18 0,-17 0,17 0,-17 0,0 18</inkml:trace>
  <inkml:trace contextRef="#ctx0" brushRef="#br0" timeOffset="72063.9381">20920 11218,'0'36,"0"-1,0 0,0 0,0-17,0 17,0-17,0 0,0-1,0 1,0 0,0 17,-18-18,18 1,0 0,0-1,0 1,0 0,0-1,0 19,0-19,0 19,0-19,0 1,0-1,0 1,0 0,0-1,-18-17,1 0,17-17,-18-1,18 0,0 1,0-1,0 1,0-19,0 19,0-1,0 0,0 1,0-1,0 0,0 1,0-1,0 0,0 1,0-1,18-17,-18 17,17-17,-17 0,0-1,0 19,18-1,-18 1,0-1,0 0,0 1,0-1,0 0,0 1,18-19,-1 36,1-17,0 17,-1 0,19 0,-19-18,18 18,-17 0,17 0,-17 0,-18 18,18-18,-1 17,-17 1,18 0,-18-1,0 19,0-1,0-17,0-1,0 1,0 17,0-17,0 17,0-17,0-1,0 1,-18 0,1-1,-1 1,0-18,1 0,-1 0,0 0,1 0,-1 0,1 0,-1 0,0 0,1 0</inkml:trace>
  <inkml:trace contextRef="#ctx0" brushRef="#br0" timeOffset="73823.6249">21678 11113,'-17'-18,"-1"18,0 18,-35-1,18 1,17 17,1-35,-1 18,1-1,-1 1,0 0,1-1,-1 1,18 17,-18-35,18 35,-17-17,17 0,0-1,0 1,0 0,-18 17,18 0,0-17,0 17,0-17,0-1,0 1,0 0,0 17,18-35,-18 18,17-1,1 1,-18 0,18-18,-18 17,0 1,0-1,17 1,1 0,0-1</inkml:trace>
  <inkml:trace contextRef="#ctx0" brushRef="#br0" timeOffset="75480.7669">21661 11518,'0'18,"0"-1,0 1,0 0,0-1,0 1,0 0,0-36,0-17,0 17,0-17,0 17,0-17,17 35,1-18,-1 1,-17-1,18 0,0 18,-1 0,1 0,0 0,17 0,-17 18,-1-18,-17 18,36-1,-36 1,17 0,1-1,-18 1,0 17,17 0</inkml:trace>
  <inkml:trace contextRef="#ctx0" brushRef="#br0" timeOffset="76591.594">22190 11642,'0'17,"0"1,0 17,-18-35,18 18,-18 0,1-1,-1-17,1 18,-1-18</inkml:trace>
  <inkml:trace contextRef="#ctx0" brushRef="#br0" timeOffset="78383.8274">22348 11465,'18'0,"0"18,-1 0,-17-1,0 1,18-1,-18 1,0 0,0-36,0-17,0 17,0-17,0 17,0 1,0-1,0 0,0-17,0 17,0-17,0 18,0-19,0 19,0-19,18 36,-1 0,1 0,0 0,-18 18,17-18,1 18,-18-1,18-17,-18 18</inkml:trace>
  <inkml:trace contextRef="#ctx0" brushRef="#br0" timeOffset="79792.8531">22701 11007,'18'0,"0"0,-1 0,1 0,-1 17,19 1,-19 17,1-17,0 0,-18-1,0 18,17-35,-17 36,36-1,-36 18,0-35,17 17,-17-18,0 19,0-19,0 19,0-19,0 19,0-19,0 1,0-1,0 1,-17 0,-1 17,0-17,1-1,-1-17,18 18,-35 17,35-17,-18 17,0 0,1-17,-1 17</inkml:trace>
  <inkml:trace contextRef="#ctx0" brushRef="#br0" timeOffset="83447.6852">22525 11289,'18'0,"-1"0,1 18,-1-1,1-17,0 0,-1 18,1-18,0 17</inkml:trace>
  <inkml:trace contextRef="#ctx0" brushRef="#br0" timeOffset="99407.8013">16792 13776,'18'18,"0"-1,-18 1,0 0,0-1,0 1,0-1,17 1,-17 17,0-17,0 0,18-1,-18-34,0-36,0 35,0 0,-18-34,18 16,0 19,0-19,0 19,0-19,0 19,0-18,0 17,0 0,18 18,-1 0,1 0,0 0,-1 0,1 0,0 0,-1 0,19 18,-36 0,17 17,1 0,-1 0,1-35,-18 18,0 0,0-1,0 1,0 17,0-17,0-1,0 1,0 0,0-1,0 1,0 0,0 17,0-17</inkml:trace>
  <inkml:trace contextRef="#ctx0" brushRef="#br0" timeOffset="101391.8177">17604 13882,'0'-18,"0"1,-18 17,18-18,-18 18,1 0,17-18,-18 18,0 0,1 0,-1 0,1 0,-1 0,0 0,-17 0,17 18,1 0,17-1,-36 18,19-35,-1 18,-17-18,35 18,-35-1,35 1,-18-18,18 18,-18-1,18 1,-17 0,-1-1,18 18,-18-17,1 17,17-17,0 0,0-1,0 19,17-19,1 1,0 0,-1-18,1 0,0 0,-1 17,1-17,-18 18,17-18,1 17,0-17,-1 0,1 0,0 0,-1 0,19 0,-19 0,1 0,0 0,-18-17,17 17</inkml:trace>
  <inkml:trace contextRef="#ctx0" brushRef="#br0" timeOffset="103095.5811">17692 14270,'0'18,"17"-1,-17 1,0-1,0 1,0 17,0-17,0 0,0-1,0 1,18 0,0-1,-18-34,0-19,-18 1,18 0,0 17,0-17,0 17,0-17,0 17,0-17,18 35,-1 0,19 0,-19 0,1 0,0 0,17 0</inkml:trace>
  <inkml:trace contextRef="#ctx0" brushRef="#br0" timeOffset="105639.6505">18821 14199,'35'0,"-35"18,0 0,0 17,0-17,0-1,0 1,18-18,-18 17,0 1,0 0,0-1,0 1,0 0,0-54,0-17,0 18,0 18,0-19,17 36,-17-17,36-1,-19 0,1 1,-1 17,1 0,-18-18,35 0,1 18,-19 0,-17 18,18 17,0 1,-18-19,0 19,0-19,0 1,0-1,0 1,0 0,0-1,0 1,0 0</inkml:trace>
  <inkml:trace contextRef="#ctx0" brushRef="#br0" timeOffset="107751.7611">19703 13705,'0'-17,"0"-1,-18 18,0 0,-17 0,0 18,17-18,18 17,-17 19,-1-1,0-17,1-1,17 1,-18 17,0-17,18 17,0-17,0 17,0 0,0 1,0-1,0-18,0 19,0-19,0 1,0 0,0-1,0 1,0 0,0-1,0 1,18 0,-18-1,18-17,-1 0,1 0,0 0,-1 0,1 0,-1 0,19 0,-36-17,17 17,-17-18,18 18,0-18</inkml:trace>
  <inkml:trace contextRef="#ctx0" brushRef="#br0" timeOffset="109583.6384">19950 14323,'17'0,"1"0,17 35,-35 0,0-17,0 17,0 1,18-19,-18 18,0-17,0-36,0 1,0-18,0 17,0 0,0 1,0-1,0 0,0 1,0-1,0 0,0 1,17 17,1-18,0 18,-1 0,1 0,0 0,-1 0</inkml:trace>
  <inkml:trace contextRef="#ctx0" brushRef="#br0" timeOffset="111887.3722">21431 13723,'0'-18,"-17"1,-1 17,18-18,-18 18,1 0,-1 0,0 0,18-17,-17 17,-1 0,1 0,-1 0,0 0,18 17,-17-17,-1 0,-17 35,17 1,18-19,-18 19,18-19,0 1,0 0,0-1,0 1,0-1,0 1,-17 0,17-1,0 19,0-19,0 1,0 0,0-1,0 18,0 1,0-19,0 19,0-19,0 19,0-19,0 1,17 0,1-18,0 0,-1 0,1 0,0 0,-1 0,1 0,0-18,-1 18,1-18,-1 1,1 17</inkml:trace>
  <inkml:trace contextRef="#ctx0" brushRef="#br0" timeOffset="113239.7915">21766 13617,'-35'36,"17"-1,1-18,17 1,-18 17,1-35,17 18,0 0,-18-1,18 1,0 17,-18-35,1 18,17-1,0 1,0 17,-18 1,18-19,0 1,-35 35,35-18,0-17,0-1,0 19,0-19,0 1,0 0,0-1,0 1,0 17,17-35,-17 18,18-18,17 35,-17-17,0-18</inkml:trace>
  <inkml:trace contextRef="#ctx0" brushRef="#br0" timeOffset="114999.4676">21872 14005,'0'18,"0"17,0-17,0-1,0 19,18-1,-18 0,0-17,0 0,0-1,0-52,0 17,0-17,0 17,0 1,0-1,0 0,0 1,0-1,18-17,17 17,-18 18,1 0,0 0,17 0,-17 0,-18 18,0 0,0-1,0 1,0-1,17 1,-17 0,0-1,0 1,0 0,0-1,0 19</inkml:trace>
  <inkml:trace contextRef="#ctx0" brushRef="#br0" timeOffset="116087.3944">22243 14252,'0'18,"0"0,-18-18,18 17,0 1,-18-18,1 17,-1-17,0 18,18 0,-17-18,-1 17,1-17,17 18</inkml:trace>
  <inkml:trace contextRef="#ctx0" brushRef="#br0" timeOffset="117575.4705">22437 14041,'35'17,"-17"18,-18 1,17-1,-17 0,18 1,-18-19,18 19,-18-19,0 1,-18-36,18-17,0 17,0-17,0 17,0-35,-18 36,1-1,17 0,0-17,0 18,0-1,0 0,0 1,0-1,0 0,0 1,0-1,35 18,-17 0,17 0,-18 0,1 0,0 0,-1 0,1 18</inkml:trace>
  <inkml:trace contextRef="#ctx0" brushRef="#br0" timeOffset="118887.398">22684 13653,'17'0,"19"0,-19 0,1 17,-1-17,1 18,0 17,-18-17,35 17,-35-17,18 17,-1-17,1 17,0 0,-1 0,-17-17,0 0,18 35,-1-18,-17 0,0-17,18-18,-18 17,0 1,0 0,0-1,0 19,-18-1,1 0,-1-35,1 18,-1-18,0 0,1 35,-1-35,18 18,-18-1,1 1</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36.85221" units="1/cm"/>
          <inkml:channelProperty channel="Y" name="resolution" value="36.86007" units="1/cm"/>
        </inkml:channelProperties>
      </inkml:inkSource>
      <inkml:timestamp xml:id="ts0" timeString="2014-11-08T17:15:26.777"/>
    </inkml:context>
    <inkml:brush xml:id="br0">
      <inkml:brushProperty name="width" value="0.05292" units="cm"/>
      <inkml:brushProperty name="height" value="0.05292" units="cm"/>
      <inkml:brushProperty name="color" value="#FF0000"/>
    </inkml:brush>
  </inkml:definitions>
  <inkml:trace contextRef="#ctx0" brushRef="#br0">18397 512,'0'17,"0"1,0 17,-17 0,17 1,0-1,-36 0,36-17,0-1,0-34,0-18,0-1,18 19,0-19,-1-34,1 70,-18-18,18-17,-1 35,-17-18,18 18,-18-17,18-1,-1 18,1 0,-1 0,1 0,0 0,-1 0,1 0,0 0,-18 18,0 35,0-1,0-34,0 35,0-35,0 17,0-17,0-1,0 1,0 17,0-17,0-1,0 1</inkml:trace>
  <inkml:trace contextRef="#ctx0" brushRef="#br0" timeOffset="1663.8227">19191 600,'18'0,"-18"-18,-18 0,0 18,1 0,-18 0,35 18,-18 0,0-18,-17 35,17-35,1 18,17-1,-36 1,19-18,-18 18,35-1,-18-17,0 18,1-1,17 1,-18 0,18-1,-18 19,1-19,17 19,0-19,0 19,0-19,0 1,-18-1,18 1,0 0,0-1,0 1,18-18,-1 18,1-18,17 17,-35 1,18-18,17 18,0-1,-35 1,18-18,0 0,-1 0,1 0,0 0,-1-18,19 1,-36-1,17 0,18 1,-35-1</inkml:trace>
  <inkml:trace contextRef="#ctx0" brushRef="#br0" timeOffset="3192.2595">19332 1058,'0'18,"0"0,0-1,0 1,0 17,0 0,0-17,0 0,0-1,0 1,0 0,0-1,0-52,0-18,0 18,18 0,-18-1,0 1,18 35,-18-18,35-17,-18 17,1 18,0 0,17 0,-17 0,-1 0,1 18,0-18</inkml:trace>
  <inkml:trace contextRef="#ctx0" brushRef="#br0" timeOffset="3991.4911">19985 741,'35'0,"-17"0,-1 0,19 0,-1 0,18 0,0 0,-36 0,36 0,0 0,-35 0,17 0,-17 0,35 0,-36 0</inkml:trace>
  <inkml:trace contextRef="#ctx0" brushRef="#br0" timeOffset="5568.1296">20055 988,'18'0,"17"0,1 0,17 0,-36 0,36 0,0 0,-18 0,18 0,-18 0,-17 0,35 0,-35 0,17 0,-17 0,-1 0</inkml:trace>
  <inkml:trace contextRef="#ctx0" brushRef="#br0" timeOffset="7167.5906">21096 741,'35'0,"-17"0,-18 17,0 19,0-19,0 1,0 0,0-1,0 1,0 0,0-1,0 1,18-18,-18-35,17 17,1-17,-18-1,35-17,-35 36,36-18,-36 17,17 0,1-17,-1 35,1-18,0 1,-1 17,1 0,0 17,-18 1,17 17,-17-17,18 0,-18 17,0 0,0-17,0-1,0 1,0 0,0-1,0 1,0 0,0-1,0 1,0 0,18-1</inkml:trace>
  <inkml:trace contextRef="#ctx0" brushRef="#br0" timeOffset="8088.5426">21766 441,'0'35,"0"-17,0 0,0-1,0 18,0 1,0-1,0 18,0-18,0-17,0 17,0-17,0 17,0-17,18-1,-18 1</inkml:trace>
  <inkml:trace contextRef="#ctx0" brushRef="#br0" timeOffset="8959.559">21837 1076,'0'0,"0"35,0-17,-18-18</inkml:trace>
  <inkml:trace contextRef="#ctx0" brushRef="#br0" timeOffset="10472.1217">20549 1446,'18'0,"0"0,17 0,0 0,-17 0,35 0,-18 0,0 0,36 0,-18 0,-18 0,36 0,-19 0,19 0,-18 0,0 0,-35 0,34 0,-34 0,35 0,0 0,-18 0,0 0,18 0,-35 0,17 0,1 0,16 0,1 0,-35 0,35 0,0 0,-35 0,34 0,-34 0,35 0,-35 0,17 0,-17 0,17 0,18 0,0 0,-18 0,18 36,-36-36,19 0,-1 0,0 0,-17 17,0-17,17 0,-17 0,17 0,-18 0,1 0,0 0,-1 0,1 0,0 0</inkml:trace>
  <inkml:trace contextRef="#ctx0" brushRef="#br0" timeOffset="12455.6906">20796 1940,'0'18,"0"0,0-1,0 1,0-1,0 1,0 0,0-1,18-17,-18-17,18-36,-18 35,0-17,17 17,1-17,-18 17,0 1,0-1,35 0,-35 1,0-1,18 1,17 17,-17 0,-18 17,17 1,-17 17,0-17,18-1,-18 1,18 0,-18-1,0 1,0 0,17-1,-17 1,0-1,0 1,0 0,0-1,18 1,-18 0</inkml:trace>
  <inkml:trace contextRef="#ctx0" brushRef="#br0" timeOffset="13423.2415">21237 2011,'18'0,"0"0,-1 0,1 0,-1 0,1 0,0 0,-1 0,1 0,0 0,-1-18,1 18,0 0,-1 0</inkml:trace>
  <inkml:trace contextRef="#ctx0" brushRef="#br0" timeOffset="14992.6886">21608 1870,'17'0,"-17"17,0 1,0 0,0-1,18 1,0-18,-18 18,0-1,0 1,0-1,17 1,-17-36,0 1,0-1,0 1,0-1,0 0,0 1,0-1,0 0,0 1,0-1,18 18,-18-18,17 18,1 0,0 0,-1 0,1 0,0 0,-1 0</inkml:trace>
  <inkml:trace contextRef="#ctx0" brushRef="#br0" timeOffset="15913.9335">21819 1676,'18'-18,"0"18,-1 18,-17-1,0 19,0-19,18-17,0 36,-18-19,17 1,-17-1,0 1,18 0,-18-1,17 19,-17-19,18-17,-18 18,0 17,0-17,0-1,0 19,-18-36,18 35,-17 0,-18 1,17-19,18 19,-18-19,1 1,-1-1,0 1,1 0</inkml:trace>
  <inkml:trace contextRef="#ctx0" brushRef="#br0" timeOffset="17031.427">20779 1711,'-36'18,"19"-1,-1 1,-17 0,17-1,1 1,-1-1,-17 19,17-19,0 1,1-18,17 35,0 1,-18-19,0 1,18-1,0 1,0 17,0 1,0-1,0-17,0 17,0-17,0 17,18-35,-18 53,35-36,-35 1,18 0,0 17,-18-17,17-18</inkml:trace>
  <inkml:trace contextRef="#ctx0" brushRef="#br0" timeOffset="18168.0508">22137 1658,'0'18,"0"17,0 0,0-17,0 0,0 17,0-18,0 1,0 0,0 17,0-17</inkml:trace>
  <inkml:trace contextRef="#ctx0" brushRef="#br0" timeOffset="19247.3697">22102 2205,'17'0,"1"-18</inkml:trace>
  <inkml:trace contextRef="#ctx0" brushRef="#br0" timeOffset="20903.7348">22384 1887,'0'36,"0"-19,0 19,0-19,0-34,0-36,0 35,0 0,0 1,17-1,1 18,-18-18,0 1,18 17,-18-18,17 18,-17-17,18 17,0 0,-1 0,1 0,0 0,-1 0,-17 17</inkml:trace>
  <inkml:trace contextRef="#ctx0" brushRef="#br0" timeOffset="21751.8054">22754 1676,'0'35,"0"-17,0 17,0-17,-17 17,17-18,-18 1,18 17,0-17,0 0,0-1,0 1,0 0,0-1,0 1</inkml:trace>
  <inkml:trace contextRef="#ctx0" brushRef="#br0" timeOffset="22552.2875">22719 2240,'0'18,"0"-1,0 1,18-18</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36.85221" units="1/cm"/>
          <inkml:channelProperty channel="Y" name="resolution" value="36.86007" units="1/cm"/>
        </inkml:channelProperties>
      </inkml:inkSource>
      <inkml:timestamp xml:id="ts0" timeString="2014-11-08T17:23:56.863"/>
    </inkml:context>
    <inkml:brush xml:id="br0">
      <inkml:brushProperty name="width" value="0.05292" units="cm"/>
      <inkml:brushProperty name="height" value="0.05292" units="cm"/>
      <inkml:brushProperty name="color" value="#FF0000"/>
    </inkml:brush>
  </inkml:definitions>
  <inkml:trace contextRef="#ctx0" brushRef="#br0">10336 8925,'18'0,"0"0,-1 0,19 0,-1 0,0 0,-17 0,-1 0,19 0,-1 0,0 0,1 0,-1 0,18 0,0 0,-36 0,19 0,-19 0,18 0,18 0,-17 0,-1 0,-17 0,-1 0,19 0,-19 0,18 0,1 0,-19 0,1 0,17 0,-17 0,17 0,0 36,-17-36,0 0,35 0,-36 0,19 0</inkml:trace>
  <inkml:trace contextRef="#ctx0" brushRef="#br0" timeOffset="4263.6979">5274 10019,'35'0,"1"35,-19-35,19 0,-1 0,0 0,18 0,-18 0,1 0,-1 0,-18 0,36 0,-17 0,-1 0,18 0,0 0,-36 0,36 0,-35 0,35 0,0 0,-18 0,18 0,0 0,0 0,-18 0,0 0,18 0,-35 0,17 0,-17 0,-1 0,1 0,17 0,1 0,-19 0,19 0,-19 0,19 0,-19 0,18 0,18 0,-17 0,-19 18,19-18,-19 0,54 0,-36 0,-17 0,-1 0,19 17,-1-17,-18 0,1 0,0 0,-1 0</inkml:trace>
  <inkml:trace contextRef="#ctx0" brushRef="#br0" timeOffset="6351.5591">5733 11060,'35'0,"-17"0,34-18,-52 0,53 18,-17 0,-1 0,18 0,0 0,-36 0,19 0,-19 0,19 0,-1 0,0 0,-17 0,-1 0,1 0,-18-17,18 17,-1 0,1 0,0 0,17 0,-17 0</inkml:trace>
  <inkml:trace contextRef="#ctx0" brushRef="#br0" timeOffset="8552.069">6826 11024,'18'0,"17"0,0 0,-17 0,17 0,-17 0,35 0,-18 0,-17 0,17 0,-17 0,35 0,-36 0,19 0,-19 0,19 0,-19 0,18 0,-17 0,35 0,-18 0,18 0,0 0,18 0,-18 0,-18 0,18 0,-18 0,0 0,1 0,17 0,-36 0,36 0,0 0,-18 0,18 0,-18 0,18 0,0 0,0 0,18 18,-36-18,0 0,1 0,-1 0,-17 0,-1 0</inkml:trace>
  <inkml:trace contextRef="#ctx0" brushRef="#br0" timeOffset="43263.8201">10777 8114,'18'-18,"0"18,-1 0,1 0,-18-17,-18 17,18 35,-17-17,17-1,0-34,0-1,0 0,0 1,0-1,0-17,-18 35,0-18,1 18,17 18,0-1,-18 1,18 0,0 17,18-35,-18 18,0 17,0-18,0 1,0-36,-18 18,36 0,-1 18,1-18,-18-18,0 1,18 17</inkml:trace>
  <inkml:trace contextRef="#ctx0" brushRef="#br0" timeOffset="46144.7408">6033 10142,'0'18,"0"0,0-1,0 1,0 17,0-17,0 17,0-17,0-1,0 1,0 0,0 17,0-17,0 17,0-17</inkml:trace>
  <inkml:trace contextRef="#ctx0" brushRef="#br0" timeOffset="47543.9382">5786 10319,'17'-18,"1"18,-1 0,1 0,0-18,-1 18,1 0,0 0,-1 0,1-17,0 17,-1 0,1 0,0 0,-1 0,1 0,-1 0,1 0,0 0,-1 0,19 0,-19 0,19 0</inkml:trace>
  <inkml:trace contextRef="#ctx0" brushRef="#br0" timeOffset="56992.0069">5186 9049,'0'17,"0"1,0 0,0 17,-18-17,18 35,-17-36,17 1,0-1,-18 1,18 0,0-1,0 1,-18-18,18 18,0-1,0 1,0 0,0-1,-17-17,17 18,0-1,0 1,-18 0,18-1,0 19,0-1,-18-17,18 17,-17-18,17 19,0-1,0 0,0-17,0 0,0 17,0 0,0-17,0 17,0-17,0 17,0-17,17-18,1 35,-18-17,0-1,18-17,-1 0,1 0,17 18</inkml:trace>
  <inkml:trace contextRef="#ctx0" brushRef="#br0" timeOffset="61735.7534">8520 10142,'17'0,"1"0,0 0,-1 0,1 18,-1 0,-17-1,18-17,-18 18,35 0,-17-1,0 36,-1-35,-17-1,0 19,0-1,36 0,-36 1,17-1,-17-18,18-17,-18 18,17 17,-17-17,0 0,18-1,-18 19,0-1,0-18,0 1,0 0,0-1,0 1,0 0,0 17,-18-17,18-1,0 1,0-1,-17 19,17-19,0 1,-35 0,35-1,0 1,0 17,-18-17,18 0,-18-1,18 1</inkml:trace>
  <inkml:trace contextRef="#ctx0" brushRef="#br0" timeOffset="82903.3769">16051 7497,'-17'0,"-1"0,0 0,1 0,-18-18,17 18,0 0,1 0,-19 0,19 0,-19 35,19-35,-1 0,1 18,-19-1,19-17,-1 18,0-18,18 18,-17-18,17 17,0 1,0 0,0-1,0 1,0 0,0-1,0 1,17-1,1-17,0 0,-1 0,1 0,-18 18,18-18,-1 18,1-18,-1 0,19 17,-19-17,1 0,0 0,-1 0,1 0,0 0,-1 0,1 0,-1-17,-17-1,36-17,-19 17,-17 1,18-1,-18 0,0 1,0-1,0 0,0 1,0-1,0 0,-18 1,18-1,-17 1</inkml:trace>
  <inkml:trace contextRef="#ctx0" brushRef="#br0" timeOffset="86015.8024">10901 8026,'17'0,"-17"-18,-17 0,-1 18,-17-17,0 17,17 0,0 0,1 0,-1 0,0 0,1 17,-1 1,18 0,-17-18,-1 17,18 1,-18 0,18-1,0 1,-17 0,17-1,0 1,0 17,0-17,0-1,17 1,1 0,-18-1,18-17,-1 0,-17 18,18-18,17 0,-17 18,-1-18,1 0,0 0,-1 0,1 0,0 0,-1 0,1 0,-1 0,1 0,0-18,-1 0,1 1,0-1,-18 0,0 1,0-1,0 0,0 1,0-1,0 1,-18 17,18-18,0 0,-35 1,17-1,0 0,1 1,17-1,0 0,-18 1,1-1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rtlCol="0"/>
          <a:lstStyle>
            <a:lvl1pPr algn="r">
              <a:defRPr sz="1200"/>
            </a:lvl1pPr>
          </a:lstStyle>
          <a:p>
            <a:fld id="{2447E72A-D913-4DC2-9E0A-E520CE8FCC86}" type="datetimeFigureOut">
              <a:rPr lang="en-US" smtClean="0"/>
              <a:pPr/>
              <a:t>11/8/2014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rtlCol="0" anchor="b"/>
          <a:lstStyle>
            <a:lvl1pPr algn="r">
              <a:defRPr sz="1200"/>
            </a:lvl1pPr>
          </a:lstStyle>
          <a:p>
            <a:fld id="{A5D78FC6-CE17-4259-A63C-DDFC12E048FC}" type="slidenum">
              <a:rPr lang="en-US" smtClean="0"/>
              <a:pPr/>
              <a:t>‹#›</a:t>
            </a:fld>
            <a:endParaRPr lang="en-US"/>
          </a:p>
        </p:txBody>
      </p:sp>
    </p:spTree>
    <p:extLst>
      <p:ext uri="{BB962C8B-B14F-4D97-AF65-F5344CB8AC3E}">
        <p14:creationId xmlns:p14="http://schemas.microsoft.com/office/powerpoint/2010/main" val="2365524731"/>
      </p:ext>
    </p:extLst>
  </p:cSld>
  <p:clrMap bg1="lt1" tx1="dk1" bg2="lt2" tx2="dk2" accent1="accent1" accent2="accent2" accent3="accent3" accent4="accent4" accent5="accent5" accent6="accent6" hlink="hlink" folHlink="folHlink"/>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www.samuelchukwuemeka.com</a:t>
            </a:r>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www.samuelchukwuemeka.com</a:t>
            </a:r>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www.samuelchukwuemeka.com</a:t>
            </a:r>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www.samuelchukwuemeka.com</a:t>
            </a:r>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www.samuelchukwuemeka.com</a:t>
            </a:r>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www.samuelchukwuemeka.com</a:t>
            </a:r>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www.samuelchukwuemeka.com</a:t>
            </a:r>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www.samuelchukwuemeka.com</a:t>
            </a:r>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www.samuelchukwuemeka.com</a:t>
            </a:r>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www.samuelchukwuemeka.com</a:t>
            </a:r>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www.samuelchukwuemeka.com</a:t>
            </a:r>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www.samuelchukwuemeka.com</a:t>
            </a:r>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www.samuelchukwuemeka.com</a:t>
            </a:r>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www.samuelchukwuemeka.com</a:t>
            </a:r>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www.samuelchukwuemeka.com</a:t>
            </a:r>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www.samuelchukwuemeka.com</a:t>
            </a:r>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www.samuelchukwuemeka.com</a:t>
            </a:r>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www.samuelchukwuemeka.com</a:t>
            </a:r>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www.samuelchukwuemeka.com</a:t>
            </a:r>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www.samuelchukwuemeka.com</a:t>
            </a:r>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www.samuelchukwuemeka.com</a:t>
            </a:r>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www.samuelchukwuemeka.com</a:t>
            </a:r>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www.samuelchukwuemeka.com</a:t>
            </a:r>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23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bright="42000" contrast="-68000"/>
          </a:blip>
          <a:srcRect/>
          <a:stretch>
            <a:fillRect l="-30000" t="-20000" r="-2000" b="12000"/>
          </a:stretch>
        </a:blipFill>
        <a:effectLst/>
      </p:bgPr>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smtClean="0"/>
              <a:t>Click to edit Master title style</a:t>
            </a:r>
            <a:endParaRPr lang="en-US" dirty="0"/>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dirty="0"/>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pPr algn="ctr"/>
            <a:fld id="{743653DA-8BF4-4869-96FE-9BCF43372D46}" type="datetime8">
              <a:rPr lang="en-US" smtClean="0"/>
              <a:pPr algn="ctr"/>
              <a:t>11/8/2014 9:23 PM</a:t>
            </a:fld>
            <a:endParaRPr lang="en-US" sz="2000" dirty="0">
              <a:solidFill>
                <a:srgbClr val="FFFFFF"/>
              </a:solidFill>
            </a:endParaRPr>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pPr algn="r"/>
            <a:endParaRPr lang="en-US" dirty="0">
              <a:solidFill>
                <a:schemeClr val="tx2"/>
              </a:solidFill>
            </a:endParaRPr>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72AC53DF-4216-466D-99A7-94400E6C2A25}" type="slidenum">
              <a:rPr lang="en-US" smtClean="0"/>
              <a:pPr/>
              <a:t>‹#›</a:t>
            </a:fld>
            <a:endParaRPr lang="en-US" dirty="0">
              <a:solidFill>
                <a:schemeClr val="tx2"/>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lang="en-US" smtClean="0"/>
              <a:t>Click to edit Master title style</a:t>
            </a:r>
            <a:endParaRPr lang="en-US" dirty="0"/>
          </a:p>
        </p:txBody>
      </p:sp>
      <p:sp>
        <p:nvSpPr>
          <p:cNvPr id="4" name="Date Placeholder 3"/>
          <p:cNvSpPr>
            <a:spLocks noGrp="1"/>
          </p:cNvSpPr>
          <p:nvPr>
            <p:ph type="dt" sz="half" idx="10"/>
          </p:nvPr>
        </p:nvSpPr>
        <p:spPr/>
        <p:txBody>
          <a:bodyPr/>
          <a:lstStyle/>
          <a:p>
            <a:fld id="{B7129108-AC8D-4212-9283-60D9E99BF07A}" type="datetime8">
              <a:rPr lang="en-US" smtClean="0"/>
              <a:pPr/>
              <a:t>11/8/2014 9:23 PM</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1AD93096-5B34-4342-9326-69289CEAE4C2}" type="slidenum">
              <a:rPr lang="en-US" smtClean="0"/>
              <a:pPr/>
              <a:t>‹#›</a:t>
            </a:fld>
            <a:endParaRPr lang="en-US" dirty="0">
              <a:solidFill>
                <a:srgbClr val="FFFFFF"/>
              </a:solidFill>
            </a:endParaRPr>
          </a:p>
        </p:txBody>
      </p:sp>
      <p:sp>
        <p:nvSpPr>
          <p:cNvPr id="8" name="Content Placeholder 7"/>
          <p:cNvSpPr>
            <a:spLocks noGrp="1"/>
          </p:cNvSpPr>
          <p:nvPr>
            <p:ph sz="quarter" idx="1"/>
          </p:nvPr>
        </p:nvSpPr>
        <p:spPr>
          <a:xfrm>
            <a:off x="612648" y="1600200"/>
            <a:ext cx="8153400"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smtClean="0"/>
              <a:t>Click to edit Master title style</a:t>
            </a:r>
            <a:endParaRPr lang="en-US" dirty="0"/>
          </a:p>
        </p:txBody>
      </p:sp>
      <p:sp>
        <p:nvSpPr>
          <p:cNvPr id="12" name="Date Placeholder 11"/>
          <p:cNvSpPr>
            <a:spLocks noGrp="1"/>
          </p:cNvSpPr>
          <p:nvPr>
            <p:ph type="dt" sz="half" idx="10"/>
          </p:nvPr>
        </p:nvSpPr>
        <p:spPr/>
        <p:txBody>
          <a:bodyPr/>
          <a:lstStyle/>
          <a:p>
            <a:fld id="{B6DED3D3-6235-4F4C-B439-DF277FB555A7}" type="datetime8">
              <a:rPr lang="en-US" smtClean="0"/>
              <a:pPr/>
              <a:t>11/8/2014 9:23 PM</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pPr algn="ctr"/>
            <a:fld id="{1AD93096-5B34-4342-9326-69289CEAE4C2}" type="slidenum">
              <a:rPr lang="en-US" smtClean="0"/>
              <a:pPr algn="ctr"/>
              <a:t>‹#›</a:t>
            </a:fld>
            <a:endParaRPr lang="en-US" sz="2400" dirty="0">
              <a:solidFill>
                <a:srgbClr val="FFFFFF"/>
              </a:solidFill>
            </a:endParaRPr>
          </a:p>
        </p:txBody>
      </p:sp>
      <p:sp>
        <p:nvSpPr>
          <p:cNvPr id="14" name="Footer Placeholder 13"/>
          <p:cNvSpPr>
            <a:spLocks noGrp="1"/>
          </p:cNvSpPr>
          <p:nvPr>
            <p:ph type="ftr" sz="quarter" idx="12"/>
          </p:nvPr>
        </p:nvSpPr>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Content Placeholder 8"/>
          <p:cNvSpPr>
            <a:spLocks noGrp="1"/>
          </p:cNvSpPr>
          <p:nvPr>
            <p:ph sz="quarter" idx="1"/>
          </p:nvPr>
        </p:nvSpPr>
        <p:spPr>
          <a:xfrm>
            <a:off x="609600" y="1589567"/>
            <a:ext cx="38862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2"/>
          </p:nvPr>
        </p:nvSpPr>
        <p:spPr>
          <a:xfrm>
            <a:off x="4844901" y="1589567"/>
            <a:ext cx="38862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Date Placeholder 7"/>
          <p:cNvSpPr>
            <a:spLocks noGrp="1"/>
          </p:cNvSpPr>
          <p:nvPr>
            <p:ph type="dt" sz="half" idx="15"/>
          </p:nvPr>
        </p:nvSpPr>
        <p:spPr/>
        <p:txBody>
          <a:bodyPr rtlCol="0"/>
          <a:lstStyle/>
          <a:p>
            <a:fld id="{3B5F1E3E-4B2F-4895-B65E-28B2E64F39F6}" type="datetime8">
              <a:rPr lang="en-US" smtClean="0"/>
              <a:pPr/>
              <a:t>11/8/2014 9:23 PM</a:t>
            </a:fld>
            <a:endParaRPr lang="en-US"/>
          </a:p>
        </p:txBody>
      </p:sp>
      <p:sp>
        <p:nvSpPr>
          <p:cNvPr id="10" name="Slide Number Placeholder 9"/>
          <p:cNvSpPr>
            <a:spLocks noGrp="1"/>
          </p:cNvSpPr>
          <p:nvPr>
            <p:ph type="sldNum" sz="quarter" idx="16"/>
          </p:nvPr>
        </p:nvSpPr>
        <p:spPr/>
        <p:txBody>
          <a:bodyPr rtlCol="0"/>
          <a:lstStyle/>
          <a:p>
            <a:pPr algn="ctr"/>
            <a:fld id="{1AD93096-5B34-4342-9326-69289CEAE4C2}" type="slidenum">
              <a:rPr lang="en-US" smtClean="0"/>
              <a:pPr algn="ct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lang="en-US" smtClean="0"/>
              <a:t>Click to edit Master title style</a:t>
            </a:r>
            <a:endParaRPr lang="en-US" dirty="0"/>
          </a:p>
        </p:txBody>
      </p:sp>
      <p:sp>
        <p:nvSpPr>
          <p:cNvPr id="11" name="Content Placeholder 10"/>
          <p:cNvSpPr>
            <a:spLocks noGrp="1"/>
          </p:cNvSpPr>
          <p:nvPr>
            <p:ph sz="quarter" idx="2"/>
          </p:nvPr>
        </p:nvSpPr>
        <p:spPr>
          <a:xfrm>
            <a:off x="609600" y="2438400"/>
            <a:ext cx="3886200" cy="3581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4"/>
          </p:nvPr>
        </p:nvSpPr>
        <p:spPr>
          <a:xfrm>
            <a:off x="4800600" y="2438400"/>
            <a:ext cx="3886200" cy="3581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Date Placeholder 9"/>
          <p:cNvSpPr>
            <a:spLocks noGrp="1"/>
          </p:cNvSpPr>
          <p:nvPr>
            <p:ph type="dt" sz="half" idx="15"/>
          </p:nvPr>
        </p:nvSpPr>
        <p:spPr/>
        <p:txBody>
          <a:bodyPr rtlCol="0"/>
          <a:lstStyle/>
          <a:p>
            <a:fld id="{63085435-8225-4333-BFFA-0096413F0D76}" type="datetime8">
              <a:rPr lang="en-US" smtClean="0"/>
              <a:pPr/>
              <a:t>11/8/2014 9:23 PM</a:t>
            </a:fld>
            <a:endParaRPr lang="en-US"/>
          </a:p>
        </p:txBody>
      </p:sp>
      <p:sp>
        <p:nvSpPr>
          <p:cNvPr id="12" name="Slide Number Placeholder 11"/>
          <p:cNvSpPr>
            <a:spLocks noGrp="1"/>
          </p:cNvSpPr>
          <p:nvPr>
            <p:ph type="sldNum" sz="quarter" idx="16"/>
          </p:nvPr>
        </p:nvSpPr>
        <p:spPr/>
        <p:txBody>
          <a:bodyPr rtlCol="0"/>
          <a:lstStyle/>
          <a:p>
            <a:pPr algn="ctr"/>
            <a:fld id="{1AD93096-5B34-4342-9326-69289CEAE4C2}" type="slidenum">
              <a:rPr lang="en-US" smtClean="0"/>
              <a:pPr algn="ct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783C494-2A87-468C-A21B-CB14FB9ABB00}" type="datetime8">
              <a:rPr lang="en-US" smtClean="0"/>
              <a:pPr/>
              <a:t>11/8/2014 9:23 PM</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1AD93096-5B34-4342-9326-69289CEAE4C2}" type="slidenum">
              <a:rPr lang="en-US" smtClean="0"/>
              <a:pPr/>
              <a:t>‹#›</a:t>
            </a:fld>
            <a:endParaRPr lang="en-US" dirty="0">
              <a:solidFill>
                <a:srgbClr val="FFFFFF"/>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180FA0-5B31-4864-A2BB-719EA5A679C6}" type="datetime8">
              <a:rPr lang="en-US" smtClean="0"/>
              <a:pPr/>
              <a:t>11/8/2014 9:23 PM</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1AD93096-5B34-4342-9326-69289CEAE4C2}" type="slidenum">
              <a:rPr lang="en-US" smtClean="0"/>
              <a:pPr/>
              <a:t>‹#›</a:t>
            </a:fld>
            <a:endParaRPr lang="en-US" dirty="0">
              <a:solidFill>
                <a:schemeClr val="tx2"/>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lang="en-US" smtClean="0"/>
              <a:t>Click to edit Master title style</a:t>
            </a:r>
            <a:endParaRPr lang="en-US" dirty="0"/>
          </a:p>
        </p:txBody>
      </p:sp>
      <p:sp>
        <p:nvSpPr>
          <p:cNvPr id="5" name="Date Placeholder 4"/>
          <p:cNvSpPr>
            <a:spLocks noGrp="1"/>
          </p:cNvSpPr>
          <p:nvPr>
            <p:ph type="dt" sz="half" idx="10"/>
          </p:nvPr>
        </p:nvSpPr>
        <p:spPr/>
        <p:txBody>
          <a:bodyPr/>
          <a:lstStyle/>
          <a:p>
            <a:fld id="{4BECC0C8-36B8-442A-833D-B6AACE86BB77}" type="datetime8">
              <a:rPr lang="en-US" smtClean="0"/>
              <a:pPr/>
              <a:t>11/8/2014 9:23 PM</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1AD93096-5B34-4342-9326-69289CEAE4C2}" type="slidenum">
              <a:rPr lang="en-US" smtClean="0"/>
              <a:pPr/>
              <a:t>‹#›</a:t>
            </a:fld>
            <a:endParaRPr lang="en-US" dirty="0">
              <a:solidFill>
                <a:srgbClr val="FFFFFF"/>
              </a:solidFill>
            </a:endParaRPr>
          </a:p>
        </p:txBody>
      </p:sp>
      <p:sp>
        <p:nvSpPr>
          <p:cNvPr id="9" name="Content Placeholder 8"/>
          <p:cNvSpPr>
            <a:spLocks noGrp="1"/>
          </p:cNvSpPr>
          <p:nvPr>
            <p:ph sz="quarter" idx="1"/>
          </p:nvPr>
        </p:nvSpPr>
        <p:spPr>
          <a:xfrm>
            <a:off x="2362200" y="1752600"/>
            <a:ext cx="6400800"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8" name="Picture 7" descr="sm_pencil.png"/>
          <p:cNvPicPr>
            <a:picLocks noChangeAspect="1"/>
          </p:cNvPicPr>
          <p:nvPr userDrawn="1"/>
        </p:nvPicPr>
        <p:blipFill>
          <a:blip r:embed="rId2"/>
          <a:stretch>
            <a:fillRect/>
          </a:stretch>
        </p:blipFill>
        <p:spPr>
          <a:xfrm>
            <a:off x="612648" y="1755648"/>
            <a:ext cx="1615307" cy="2145615"/>
          </a:xfrm>
          <a:prstGeom prst="rect">
            <a:avLst/>
          </a:prstGeom>
          <a:ln w="50800" cap="sq" cmpd="dbl">
            <a:solidFill>
              <a:schemeClr val="accent2"/>
            </a:solidFill>
            <a:miter lim="800000"/>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lang="en-US" smtClean="0"/>
              <a:t>Click to edit Master title style</a:t>
            </a:r>
            <a:endParaRPr lang="en-US" dirty="0"/>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2" name="Date Placeholder 11"/>
          <p:cNvSpPr>
            <a:spLocks noGrp="1"/>
          </p:cNvSpPr>
          <p:nvPr>
            <p:ph type="dt" sz="half" idx="10"/>
          </p:nvPr>
        </p:nvSpPr>
        <p:spPr>
          <a:xfrm>
            <a:off x="6248400" y="6248400"/>
            <a:ext cx="2667000" cy="365125"/>
          </a:xfrm>
        </p:spPr>
        <p:txBody>
          <a:bodyPr rtlCol="0"/>
          <a:lstStyle/>
          <a:p>
            <a:fld id="{51E20EC5-AC53-4169-941E-EDF10CD23748}" type="datetime8">
              <a:rPr lang="en-US" smtClean="0"/>
              <a:pPr/>
              <a:t>11/8/2014 9:23 PM</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pPr algn="ctr"/>
            <a:fld id="{1AD93096-5B34-4342-9326-69289CEAE4C2}" type="slidenum">
              <a:rPr lang="en-US" smtClean="0"/>
              <a:pPr algn="ctr"/>
              <a:t>‹#›</a:t>
            </a:fld>
            <a:endParaRPr lang="en-US" sz="2800" dirty="0"/>
          </a:p>
        </p:txBody>
      </p:sp>
      <p:sp>
        <p:nvSpPr>
          <p:cNvPr id="14" name="Footer Placeholder 13"/>
          <p:cNvSpPr>
            <a:spLocks noGrp="1"/>
          </p:cNvSpPr>
          <p:nvPr>
            <p:ph type="ftr" sz="quarter" idx="12"/>
          </p:nvPr>
        </p:nvSpPr>
        <p:spPr>
          <a:xfrm>
            <a:off x="1600200" y="6248206"/>
            <a:ext cx="4572000" cy="365125"/>
          </a:xfrm>
        </p:spPr>
        <p:txBody>
          <a:bodyPr rtlCol="0"/>
          <a:lstStyle/>
          <a:p>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lang="en-US" smtClean="0"/>
              <a:t>Click icon to add picture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D3816DF-213E-421B-92D3-C068DBB023D6}" type="datetime8">
              <a:rPr lang="en-US" smtClean="0">
                <a:solidFill>
                  <a:schemeClr val="tx2"/>
                </a:solidFill>
              </a:rPr>
              <a:pPr/>
              <a:t>11/8/2014 9:23 PM</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AC53DF-4216-466D-99A7-94400E6C2A25}" type="slidenum">
              <a:rPr lang="en-US" sz="1200" smtClean="0">
                <a:solidFill>
                  <a:schemeClr val="tx2"/>
                </a:solidFill>
              </a: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553200" y="6248402"/>
            <a:ext cx="2209800" cy="365125"/>
          </a:xfrm>
        </p:spPr>
        <p:txBody>
          <a:bodyPr/>
          <a:lstStyle/>
          <a:p>
            <a:fld id="{8D3816DF-213E-421B-92D3-C068DBB023D6}" type="datetime8">
              <a:rPr lang="en-US" smtClean="0">
                <a:solidFill>
                  <a:schemeClr val="tx2"/>
                </a:solidFill>
              </a:rPr>
              <a:pPr/>
              <a:t>11/8/2014 9:23 PM</a:t>
            </a:fld>
            <a:endParaRPr lang="en-US" dirty="0"/>
          </a:p>
        </p:txBody>
      </p:sp>
      <p:sp>
        <p:nvSpPr>
          <p:cNvPr id="5" name="Footer Placeholder 4"/>
          <p:cNvSpPr>
            <a:spLocks noGrp="1"/>
          </p:cNvSpPr>
          <p:nvPr>
            <p:ph type="ftr" sz="quarter" idx="11"/>
          </p:nvPr>
        </p:nvSpPr>
        <p:spPr>
          <a:xfrm>
            <a:off x="457201" y="6248207"/>
            <a:ext cx="5573483" cy="365125"/>
          </a:xfrm>
        </p:spPr>
        <p:txBody>
          <a:bodyPr/>
          <a:lstStyle/>
          <a:p>
            <a:endParaRPr lang="en-US"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72AC53DF-4216-466D-99A7-94400E6C2A25}" type="slidenum">
              <a:rPr lang="en-US" sz="1200" smtClean="0">
                <a:solidFill>
                  <a:schemeClr val="tx2"/>
                </a:solidFill>
              </a: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lang="en-US" smtClean="0"/>
              <a:t>Click to edit Master title style</a:t>
            </a:r>
            <a:endParaRPr lang="en-US" dirty="0"/>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a:defRPr sz="1400">
                <a:solidFill>
                  <a:schemeClr val="tx2"/>
                </a:solidFill>
              </a:defRPr>
            </a:lvl1pPr>
          </a:lstStyle>
          <a:p>
            <a:fld id="{8D3816DF-213E-421B-92D3-C068DBB023D6}" type="datetime8">
              <a:rPr lang="en-US" smtClean="0">
                <a:solidFill>
                  <a:schemeClr val="tx2"/>
                </a:solidFill>
              </a:rPr>
              <a:pPr/>
              <a:t>11/8/2014 9:23 PM</a:t>
            </a:fld>
            <a:endParaRPr lang="en-US" sz="1400" dirty="0">
              <a:solidFill>
                <a:schemeClr val="tx2"/>
              </a:solidFill>
            </a:endParaRP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a:defRPr sz="1400">
                <a:solidFill>
                  <a:schemeClr val="tx2"/>
                </a:solidFill>
              </a:defRPr>
            </a:lvl1pPr>
          </a:lstStyle>
          <a:p>
            <a:pPr algn="r"/>
            <a:endParaRPr lang="en-US" sz="1400" dirty="0">
              <a:solidFill>
                <a:schemeClr val="tx2"/>
              </a:solidFill>
            </a:endParaRPr>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a:defRPr sz="1400" b="1">
                <a:solidFill>
                  <a:srgbClr val="FFFFFF"/>
                </a:solidFill>
              </a:defRPr>
            </a:lvl1pPr>
          </a:lstStyle>
          <a:p>
            <a:pPr algn="ctr"/>
            <a:fld id="{72AC53DF-4216-466D-99A7-94400E6C2A25}" type="slidenum">
              <a:rPr lang="en-US" sz="1200" smtClean="0">
                <a:solidFill>
                  <a:schemeClr val="tx2"/>
                </a:solidFill>
              </a:rPr>
              <a:pPr algn="ctr"/>
              <a:t>‹#›</a:t>
            </a:fld>
            <a:endParaRPr lang="en-US" sz="1400" b="1" dirty="0">
              <a:solidFill>
                <a:srgbClr val="FFFFFF"/>
              </a:solidFill>
            </a:endParaRPr>
          </a:p>
        </p:txBody>
      </p:sp>
    </p:spTree>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txStyles>
    <p:titleStyle>
      <a:lvl1pPr algn="l" rtl="0" eaLnBrk="1" latinLnBrk="0" hangingPunct="1">
        <a:spcBef>
          <a:spcPct val="0"/>
        </a:spcBef>
        <a:buNone/>
        <a:defRPr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samuelchukwuemeka.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youtube.com/playlist?action_edit=1&amp;list=PLjyyswMG9g9AvCtD4ts6afKpSa-QVbHe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customXml" Target="../ink/ink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6.emf"/><Relationship Id="rId4" Type="http://schemas.openxmlformats.org/officeDocument/2006/relationships/customXml" Target="../ink/ink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16.emf"/><Relationship Id="rId4" Type="http://schemas.openxmlformats.org/officeDocument/2006/relationships/customXml" Target="../ink/ink3.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ctrTitle"/>
          </p:nvPr>
        </p:nvSpPr>
        <p:spPr>
          <a:xfrm>
            <a:off x="381000" y="457200"/>
            <a:ext cx="8382000" cy="1447800"/>
          </a:xfrm>
        </p:spPr>
        <p:txBody>
          <a:bodyPr>
            <a:normAutofit/>
          </a:bodyPr>
          <a:lstStyle/>
          <a:p>
            <a:r>
              <a:rPr lang="en-US" dirty="0" smtClean="0">
                <a:solidFill>
                  <a:schemeClr val="accent1">
                    <a:lumMod val="75000"/>
                  </a:schemeClr>
                </a:solidFill>
              </a:rPr>
              <a:t>Permutations (Perm) and combinations</a:t>
            </a:r>
            <a:r>
              <a:rPr lang="en-US" sz="3600" dirty="0">
                <a:solidFill>
                  <a:schemeClr val="accent1">
                    <a:lumMod val="75000"/>
                  </a:schemeClr>
                </a:solidFill>
              </a:rPr>
              <a:t> </a:t>
            </a:r>
            <a:r>
              <a:rPr lang="en-US" sz="3600" dirty="0" smtClean="0">
                <a:solidFill>
                  <a:schemeClr val="accent1">
                    <a:lumMod val="75000"/>
                  </a:schemeClr>
                </a:solidFill>
              </a:rPr>
              <a:t>(comb) – part </a:t>
            </a:r>
            <a:r>
              <a:rPr lang="en-US" sz="3600" dirty="0" smtClean="0">
                <a:solidFill>
                  <a:schemeClr val="accent1">
                    <a:lumMod val="75000"/>
                  </a:schemeClr>
                </a:solidFill>
              </a:rPr>
              <a:t>2</a:t>
            </a:r>
            <a:endParaRPr lang="en-US" dirty="0">
              <a:solidFill>
                <a:schemeClr val="accent1">
                  <a:lumMod val="75000"/>
                </a:schemeClr>
              </a:solidFill>
            </a:endParaRPr>
          </a:p>
        </p:txBody>
      </p:sp>
      <p:sp>
        <p:nvSpPr>
          <p:cNvPr id="3" name="Rectangle 2"/>
          <p:cNvSpPr>
            <a:spLocks noGrp="1"/>
          </p:cNvSpPr>
          <p:nvPr>
            <p:ph type="subTitle" idx="1"/>
          </p:nvPr>
        </p:nvSpPr>
        <p:spPr/>
        <p:txBody>
          <a:bodyPr>
            <a:normAutofit fontScale="85000" lnSpcReduction="20000"/>
          </a:bodyPr>
          <a:lstStyle/>
          <a:p>
            <a:r>
              <a:rPr lang="en-US" dirty="0" smtClean="0"/>
              <a:t>Instructor:   </a:t>
            </a:r>
            <a:r>
              <a:rPr lang="en-US" sz="2800" dirty="0" smtClean="0"/>
              <a:t>Samuel </a:t>
            </a:r>
            <a:r>
              <a:rPr lang="en-US" sz="2800" dirty="0" err="1" smtClean="0"/>
              <a:t>Chukwuemeka</a:t>
            </a:r>
            <a:r>
              <a:rPr lang="en-US" sz="2800" dirty="0" smtClean="0"/>
              <a:t> </a:t>
            </a:r>
            <a:r>
              <a:rPr lang="en-US" sz="2100" dirty="0" smtClean="0"/>
              <a:t>B.Eng., A.A.T, M.Ed., M.S</a:t>
            </a:r>
            <a:r>
              <a:rPr lang="en-US" dirty="0" smtClean="0"/>
              <a:t/>
            </a:r>
            <a:br>
              <a:rPr lang="en-US" dirty="0" smtClean="0"/>
            </a:br>
            <a:r>
              <a:rPr lang="en-US" dirty="0" smtClean="0"/>
              <a:t>“The Joy of a Teacher is the Success of his Students.” - SC</a:t>
            </a:r>
          </a:p>
        </p:txBody>
      </p:sp>
      <p:sp>
        <p:nvSpPr>
          <p:cNvPr id="4" name="TextBox 3"/>
          <p:cNvSpPr txBox="1"/>
          <p:nvPr/>
        </p:nvSpPr>
        <p:spPr>
          <a:xfrm>
            <a:off x="457200" y="5334000"/>
            <a:ext cx="8153400" cy="523220"/>
          </a:xfrm>
          <a:prstGeom prst="rect">
            <a:avLst/>
          </a:prstGeom>
          <a:noFill/>
        </p:spPr>
        <p:txBody>
          <a:bodyPr wrap="square" rtlCol="0">
            <a:spAutoFit/>
          </a:bodyPr>
          <a:lstStyle/>
          <a:p>
            <a:pPr algn="ctr"/>
            <a:r>
              <a:rPr lang="en-US" sz="2800" b="1" dirty="0" smtClean="0">
                <a:solidFill>
                  <a:srgbClr val="FF0000"/>
                </a:solidFill>
                <a:latin typeface="Bell MT" panose="02020503060305020303" pitchFamily="18" charset="0"/>
                <a:hlinkClick r:id="rId3"/>
              </a:rPr>
              <a:t>www.samuelchukwuemeka.com</a:t>
            </a:r>
            <a:endParaRPr lang="en-US" sz="2800" b="1" dirty="0">
              <a:solidFill>
                <a:srgbClr val="FF0000"/>
              </a:solidFill>
              <a:latin typeface="Bell MT" panose="02020503060305020303"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smtClean="0"/>
              <a:t>Objectives</a:t>
            </a:r>
            <a:endParaRPr lang="en-US" dirty="0"/>
          </a:p>
        </p:txBody>
      </p:sp>
      <p:sp>
        <p:nvSpPr>
          <p:cNvPr id="3" name="Rectangle 2"/>
          <p:cNvSpPr>
            <a:spLocks noGrp="1"/>
          </p:cNvSpPr>
          <p:nvPr>
            <p:ph sz="quarter" idx="1"/>
          </p:nvPr>
        </p:nvSpPr>
        <p:spPr/>
        <p:txBody>
          <a:bodyPr/>
          <a:lstStyle/>
          <a:p>
            <a:pPr>
              <a:buFont typeface="Wingdings" pitchFamily="2" charset="2"/>
              <a:buChar char="Ø"/>
            </a:pPr>
            <a:r>
              <a:rPr lang="en-US" dirty="0" smtClean="0">
                <a:latin typeface="Bell MT" panose="02020503060305020303" pitchFamily="18" charset="0"/>
              </a:rPr>
              <a:t>Students will</a:t>
            </a:r>
          </a:p>
          <a:p>
            <a:pPr lvl="1">
              <a:buFont typeface="Wingdings" pitchFamily="2" charset="2"/>
              <a:buChar char="Ø"/>
            </a:pPr>
            <a:r>
              <a:rPr lang="en-US" dirty="0" smtClean="0">
                <a:latin typeface="Bell MT" panose="02020503060305020303" pitchFamily="18" charset="0"/>
              </a:rPr>
              <a:t>Determine the number of permutations of items</a:t>
            </a:r>
          </a:p>
          <a:p>
            <a:pPr lvl="1">
              <a:buFont typeface="Wingdings" pitchFamily="2" charset="2"/>
              <a:buChar char="Ø"/>
            </a:pPr>
            <a:r>
              <a:rPr lang="en-US" dirty="0" smtClean="0">
                <a:latin typeface="Bell MT" panose="02020503060305020303" pitchFamily="18" charset="0"/>
              </a:rPr>
              <a:t>Determine the number of permutations of duplicate items.</a:t>
            </a:r>
          </a:p>
          <a:p>
            <a:pPr lvl="1">
              <a:buFont typeface="Wingdings" pitchFamily="2" charset="2"/>
              <a:buChar char="Ø"/>
            </a:pPr>
            <a:r>
              <a:rPr lang="en-US" dirty="0" smtClean="0">
                <a:latin typeface="Bell MT" panose="02020503060305020303" pitchFamily="18" charset="0"/>
              </a:rPr>
              <a:t>Determine the number of permutations of the total items taking some items at a item.</a:t>
            </a:r>
          </a:p>
          <a:p>
            <a:pPr lvl="1">
              <a:buFont typeface="Wingdings" pitchFamily="2" charset="2"/>
              <a:buChar char="Ø"/>
            </a:pPr>
            <a:r>
              <a:rPr lang="en-US" dirty="0" smtClean="0">
                <a:latin typeface="Bell MT" panose="02020503060305020303" pitchFamily="18" charset="0"/>
              </a:rPr>
              <a:t>Determine the number of combinations of the total items taking some items at a time. </a:t>
            </a:r>
          </a:p>
          <a:p>
            <a:pPr marL="365760" lvl="1" indent="0">
              <a:buNone/>
            </a:pPr>
            <a:r>
              <a:rPr lang="en-US" b="1" dirty="0" smtClean="0">
                <a:solidFill>
                  <a:srgbClr val="002060"/>
                </a:solidFill>
                <a:latin typeface="Bell MT" panose="02020503060305020303" pitchFamily="18" charset="0"/>
                <a:hlinkClick r:id="rId3"/>
              </a:rPr>
              <a:t>Pre-requisite Videos</a:t>
            </a:r>
            <a:endParaRPr lang="en-US" b="1" dirty="0" smtClean="0">
              <a:solidFill>
                <a:srgbClr val="002060"/>
              </a:solidFill>
              <a:latin typeface="Bell MT" panose="02020503060305020303" pitchFamily="18" charset="0"/>
            </a:endParaRPr>
          </a:p>
        </p:txBody>
      </p:sp>
      <mc:AlternateContent xmlns:mc="http://schemas.openxmlformats.org/markup-compatibility/2006" xmlns:p14="http://schemas.microsoft.com/office/powerpoint/2010/main">
        <mc:Choice Requires="p14">
          <p:contentPart p14:bwMode="auto" r:id="rId4">
            <p14:nvContentPartPr>
              <p14:cNvPr id="6" name="Ink 5"/>
              <p14:cNvContentPartPr/>
              <p14:nvPr/>
            </p14:nvContentPartPr>
            <p14:xfrm>
              <a:off x="2438280" y="2184480"/>
              <a:ext cx="5874120" cy="3054600"/>
            </p14:xfrm>
          </p:contentPart>
        </mc:Choice>
        <mc:Fallback xmlns="">
          <p:pic>
            <p:nvPicPr>
              <p:cNvPr id="6" name="Ink 5"/>
              <p:cNvPicPr/>
              <p:nvPr/>
            </p:nvPicPr>
            <p:blipFill>
              <a:blip r:embed="rId5"/>
              <a:stretch>
                <a:fillRect/>
              </a:stretch>
            </p:blipFill>
            <p:spPr>
              <a:xfrm>
                <a:off x="2428920" y="2175120"/>
                <a:ext cx="5892840" cy="3073320"/>
              </a:xfrm>
              <a:prstGeom prst="rect">
                <a:avLst/>
              </a:prstGeom>
            </p:spPr>
          </p:pic>
        </mc:Fallback>
      </mc:AlternateContent>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smtClean="0"/>
              <a:t>Question 1</a:t>
            </a:r>
            <a:endParaRPr lang="en-US" dirty="0"/>
          </a:p>
        </p:txBody>
      </p:sp>
      <p:sp>
        <p:nvSpPr>
          <p:cNvPr id="3" name="Rectangle 2"/>
          <p:cNvSpPr>
            <a:spLocks noGrp="1"/>
          </p:cNvSpPr>
          <p:nvPr>
            <p:ph sz="quarter" idx="1"/>
          </p:nvPr>
        </p:nvSpPr>
        <p:spPr>
          <a:xfrm>
            <a:off x="609600" y="1752600"/>
            <a:ext cx="3886200" cy="4572000"/>
          </a:xfrm>
          <a:ln w="19050" cmpd="dbl">
            <a:solidFill>
              <a:schemeClr val="accent2">
                <a:lumMod val="75000"/>
              </a:schemeClr>
            </a:solidFill>
          </a:ln>
        </p:spPr>
        <p:txBody>
          <a:bodyPr>
            <a:normAutofit lnSpcReduction="10000"/>
          </a:bodyPr>
          <a:lstStyle/>
          <a:p>
            <a:pPr>
              <a:buFont typeface="Wingdings" pitchFamily="2" charset="2"/>
              <a:buChar char="Ø"/>
            </a:pPr>
            <a:r>
              <a:rPr lang="en-US" dirty="0" smtClean="0">
                <a:latin typeface="Bell MT" panose="02020503060305020303" pitchFamily="18" charset="0"/>
              </a:rPr>
              <a:t>In how many ways can seven people line up at Register 3 in Walmart to check out?</a:t>
            </a:r>
          </a:p>
          <a:p>
            <a:pPr>
              <a:buFont typeface="Wingdings" pitchFamily="2" charset="2"/>
              <a:buChar char="Ø"/>
            </a:pPr>
            <a:r>
              <a:rPr lang="en-US" dirty="0" smtClean="0">
                <a:latin typeface="Bell MT" panose="02020503060305020303" pitchFamily="18" charset="0"/>
              </a:rPr>
              <a:t>This is a case of Permutation.</a:t>
            </a:r>
          </a:p>
          <a:p>
            <a:pPr>
              <a:buFont typeface="Wingdings" pitchFamily="2" charset="2"/>
              <a:buChar char="Ø"/>
            </a:pPr>
            <a:r>
              <a:rPr lang="en-US" dirty="0" smtClean="0">
                <a:latin typeface="Bell MT" panose="02020503060305020303" pitchFamily="18" charset="0"/>
              </a:rPr>
              <a:t>This is also a case of Fundamental Counting Principle </a:t>
            </a:r>
          </a:p>
        </p:txBody>
      </p:sp>
      <p:sp>
        <p:nvSpPr>
          <p:cNvPr id="9" name="Content Placeholder 8"/>
          <p:cNvSpPr>
            <a:spLocks noGrp="1"/>
          </p:cNvSpPr>
          <p:nvPr>
            <p:ph sz="quarter" idx="2"/>
          </p:nvPr>
        </p:nvSpPr>
        <p:spPr>
          <a:xfrm>
            <a:off x="4495800" y="1752600"/>
            <a:ext cx="4235301" cy="4572000"/>
          </a:xfrm>
          <a:ln w="12700" cmpd="dbl">
            <a:solidFill>
              <a:schemeClr val="accent2">
                <a:lumMod val="75000"/>
              </a:schemeClr>
            </a:solidFill>
          </a:ln>
        </p:spPr>
        <p:txBody>
          <a:bodyPr>
            <a:normAutofit lnSpcReduction="10000"/>
          </a:bodyPr>
          <a:lstStyle/>
          <a:p>
            <a:pPr>
              <a:buFont typeface="Wingdings" pitchFamily="2" charset="2"/>
              <a:buChar char="Ø"/>
            </a:pPr>
            <a:r>
              <a:rPr lang="en-US" sz="3200" u="sng" dirty="0" smtClean="0">
                <a:latin typeface="Baskerville Old Face" panose="02020602080505020303" pitchFamily="18" charset="0"/>
              </a:rPr>
              <a:t>Solution </a:t>
            </a:r>
          </a:p>
          <a:p>
            <a:pPr>
              <a:buFont typeface="Wingdings" pitchFamily="2" charset="2"/>
              <a:buChar char="Ø"/>
            </a:pPr>
            <a:r>
              <a:rPr lang="en-US" sz="6100" dirty="0" smtClean="0">
                <a:latin typeface="Baskerville Old Face" panose="02020602080505020303" pitchFamily="18" charset="0"/>
              </a:rPr>
              <a:t>Number of ways = 7! = 5040 ways.</a:t>
            </a:r>
            <a:endParaRPr lang="en-US" sz="6100" b="0" dirty="0" smtClean="0">
              <a:latin typeface="Baskerville Old Face" panose="02020602080505020303" pitchFamily="18" charset="0"/>
            </a:endParaRPr>
          </a:p>
          <a:p>
            <a:pPr>
              <a:buFont typeface="Wingdings" pitchFamily="2" charset="2"/>
              <a:buChar char="Ø"/>
            </a:pPr>
            <a:endParaRPr lang="en-US" dirty="0" smtClean="0"/>
          </a:p>
          <a:p>
            <a:pPr>
              <a:buFont typeface="Wingdings" pitchFamily="2" charset="2"/>
              <a:buChar char="Ø"/>
            </a:pPr>
            <a:endParaRPr lang="en-US" dirty="0"/>
          </a:p>
          <a:p>
            <a:pPr>
              <a:buFont typeface="Wingdings" pitchFamily="2" charset="2"/>
              <a:buChar char="Ø"/>
            </a:pPr>
            <a:endParaRPr lang="en-US" dirty="0" smtClean="0"/>
          </a:p>
          <a:p>
            <a:pPr marL="0" indent="0">
              <a:buNone/>
            </a:pPr>
            <a:endParaRPr lang="en-US" dirty="0" smtClean="0"/>
          </a:p>
          <a:p>
            <a:endParaRPr lang="en-US" dirty="0"/>
          </a:p>
        </p:txBody>
      </p:sp>
    </p:spTree>
    <p:extLst>
      <p:ext uri="{BB962C8B-B14F-4D97-AF65-F5344CB8AC3E}">
        <p14:creationId xmlns:p14="http://schemas.microsoft.com/office/powerpoint/2010/main" val="700867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animEffect transition="in" filter="fade">
                                      <p:cBhvr>
                                        <p:cTn id="21" dur="1000"/>
                                        <p:tgtEl>
                                          <p:spTgt spid="9">
                                            <p:txEl>
                                              <p:pRg st="1" end="1"/>
                                            </p:txEl>
                                          </p:spTgt>
                                        </p:tgtEl>
                                      </p:cBhvr>
                                    </p:animEffect>
                                    <p:anim calcmode="lin" valueType="num">
                                      <p:cBhvr>
                                        <p:cTn id="22"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smtClean="0"/>
              <a:t>Question 2</a:t>
            </a:r>
            <a:endParaRPr lang="en-US" dirty="0"/>
          </a:p>
        </p:txBody>
      </p:sp>
      <p:sp>
        <p:nvSpPr>
          <p:cNvPr id="3" name="Rectangle 2"/>
          <p:cNvSpPr>
            <a:spLocks noGrp="1"/>
          </p:cNvSpPr>
          <p:nvPr>
            <p:ph sz="quarter" idx="1"/>
          </p:nvPr>
        </p:nvSpPr>
        <p:spPr>
          <a:xfrm>
            <a:off x="609600" y="1752600"/>
            <a:ext cx="3886200" cy="4572000"/>
          </a:xfrm>
          <a:ln w="19050" cmpd="dbl">
            <a:solidFill>
              <a:schemeClr val="accent2">
                <a:lumMod val="75000"/>
              </a:schemeClr>
            </a:solidFill>
          </a:ln>
        </p:spPr>
        <p:txBody>
          <a:bodyPr>
            <a:normAutofit lnSpcReduction="10000"/>
          </a:bodyPr>
          <a:lstStyle/>
          <a:p>
            <a:pPr>
              <a:buFont typeface="Wingdings" pitchFamily="2" charset="2"/>
              <a:buChar char="Ø"/>
            </a:pPr>
            <a:r>
              <a:rPr lang="en-US" sz="3600" dirty="0" smtClean="0">
                <a:latin typeface="Bell MT" panose="02020503060305020303" pitchFamily="18" charset="0"/>
              </a:rPr>
              <a:t>Find the number of permutations of the word, “SAMUEL”</a:t>
            </a:r>
          </a:p>
          <a:p>
            <a:pPr>
              <a:buFont typeface="Wingdings" pitchFamily="2" charset="2"/>
              <a:buChar char="Ø"/>
            </a:pPr>
            <a:endParaRPr lang="en-US" sz="3600" dirty="0" smtClean="0">
              <a:latin typeface="Bell MT" panose="02020503060305020303" pitchFamily="18" charset="0"/>
            </a:endParaRPr>
          </a:p>
          <a:p>
            <a:pPr>
              <a:buFont typeface="Wingdings" pitchFamily="2" charset="2"/>
              <a:buChar char="Ø"/>
            </a:pPr>
            <a:r>
              <a:rPr lang="en-US" sz="3600" dirty="0" smtClean="0">
                <a:latin typeface="Bell MT" panose="02020503060305020303" pitchFamily="18" charset="0"/>
              </a:rPr>
              <a:t>This is a case of Permutation</a:t>
            </a:r>
          </a:p>
        </p:txBody>
      </p:sp>
      <p:sp>
        <p:nvSpPr>
          <p:cNvPr id="9" name="Content Placeholder 8"/>
          <p:cNvSpPr>
            <a:spLocks noGrp="1"/>
          </p:cNvSpPr>
          <p:nvPr>
            <p:ph sz="quarter" idx="2"/>
          </p:nvPr>
        </p:nvSpPr>
        <p:spPr>
          <a:xfrm>
            <a:off x="4495800" y="1752600"/>
            <a:ext cx="4235301" cy="4572000"/>
          </a:xfrm>
          <a:ln w="12700" cmpd="dbl">
            <a:solidFill>
              <a:schemeClr val="accent2">
                <a:lumMod val="75000"/>
              </a:schemeClr>
            </a:solidFill>
          </a:ln>
        </p:spPr>
        <p:txBody>
          <a:bodyPr>
            <a:normAutofit lnSpcReduction="10000"/>
          </a:bodyPr>
          <a:lstStyle/>
          <a:p>
            <a:pPr>
              <a:buFont typeface="Wingdings" pitchFamily="2" charset="2"/>
              <a:buChar char="Ø"/>
            </a:pPr>
            <a:r>
              <a:rPr lang="en-US" sz="3200" u="sng" dirty="0" smtClean="0">
                <a:latin typeface="Baskerville Old Face" panose="02020602080505020303" pitchFamily="18" charset="0"/>
              </a:rPr>
              <a:t>Solution </a:t>
            </a:r>
          </a:p>
          <a:p>
            <a:pPr lvl="0">
              <a:buClr>
                <a:srgbClr val="FEB80A"/>
              </a:buClr>
              <a:buFont typeface="Wingdings" pitchFamily="2" charset="2"/>
              <a:buChar char="Ø"/>
            </a:pPr>
            <a:r>
              <a:rPr lang="en-US" sz="7000" dirty="0">
                <a:solidFill>
                  <a:prstClr val="black"/>
                </a:solidFill>
                <a:latin typeface="Baskerville Old Face" panose="02020602080505020303" pitchFamily="18" charset="0"/>
              </a:rPr>
              <a:t>Number of ways = </a:t>
            </a:r>
            <a:r>
              <a:rPr lang="en-US" sz="7000" dirty="0" smtClean="0">
                <a:solidFill>
                  <a:prstClr val="black"/>
                </a:solidFill>
                <a:latin typeface="Baskerville Old Face" panose="02020602080505020303" pitchFamily="18" charset="0"/>
              </a:rPr>
              <a:t>6! </a:t>
            </a:r>
            <a:r>
              <a:rPr lang="en-US" sz="7000" dirty="0">
                <a:solidFill>
                  <a:prstClr val="black"/>
                </a:solidFill>
                <a:latin typeface="Baskerville Old Face" panose="02020602080505020303" pitchFamily="18" charset="0"/>
              </a:rPr>
              <a:t>= </a:t>
            </a:r>
            <a:r>
              <a:rPr lang="en-US" sz="7000" dirty="0" smtClean="0">
                <a:solidFill>
                  <a:prstClr val="black"/>
                </a:solidFill>
                <a:latin typeface="Baskerville Old Face" panose="02020602080505020303" pitchFamily="18" charset="0"/>
              </a:rPr>
              <a:t>720 </a:t>
            </a:r>
            <a:r>
              <a:rPr lang="en-US" sz="7000" dirty="0">
                <a:solidFill>
                  <a:prstClr val="black"/>
                </a:solidFill>
                <a:latin typeface="Baskerville Old Face" panose="02020602080505020303" pitchFamily="18" charset="0"/>
              </a:rPr>
              <a:t>ways.</a:t>
            </a:r>
          </a:p>
          <a:p>
            <a:pPr>
              <a:buFont typeface="Wingdings" pitchFamily="2" charset="2"/>
              <a:buChar char="Ø"/>
            </a:pPr>
            <a:endParaRPr lang="en-US" dirty="0" smtClean="0"/>
          </a:p>
          <a:p>
            <a:pPr>
              <a:buFont typeface="Wingdings" pitchFamily="2" charset="2"/>
              <a:buChar char="Ø"/>
            </a:pPr>
            <a:endParaRPr lang="en-US" dirty="0"/>
          </a:p>
          <a:p>
            <a:pPr>
              <a:buFont typeface="Wingdings" pitchFamily="2" charset="2"/>
              <a:buChar char="Ø"/>
            </a:pPr>
            <a:endParaRPr lang="en-US" dirty="0" smtClean="0"/>
          </a:p>
          <a:p>
            <a:pPr marL="0" indent="0">
              <a:buNone/>
            </a:pPr>
            <a:endParaRPr lang="en-US" dirty="0" smtClean="0"/>
          </a:p>
          <a:p>
            <a:endParaRPr lang="en-US" dirty="0"/>
          </a:p>
        </p:txBody>
      </p:sp>
    </p:spTree>
    <p:extLst>
      <p:ext uri="{BB962C8B-B14F-4D97-AF65-F5344CB8AC3E}">
        <p14:creationId xmlns:p14="http://schemas.microsoft.com/office/powerpoint/2010/main" val="3720490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smtClean="0"/>
              <a:t>Question 3</a:t>
            </a:r>
            <a:endParaRPr lang="en-US" dirty="0"/>
          </a:p>
        </p:txBody>
      </p:sp>
      <p:sp>
        <p:nvSpPr>
          <p:cNvPr id="3" name="Rectangle 2"/>
          <p:cNvSpPr>
            <a:spLocks noGrp="1"/>
          </p:cNvSpPr>
          <p:nvPr>
            <p:ph sz="quarter" idx="1"/>
          </p:nvPr>
        </p:nvSpPr>
        <p:spPr>
          <a:xfrm>
            <a:off x="609600" y="1752600"/>
            <a:ext cx="3886200" cy="4572000"/>
          </a:xfrm>
          <a:ln w="19050" cmpd="dbl">
            <a:solidFill>
              <a:schemeClr val="accent2">
                <a:lumMod val="75000"/>
              </a:schemeClr>
            </a:solidFill>
          </a:ln>
        </p:spPr>
        <p:txBody>
          <a:bodyPr>
            <a:normAutofit fontScale="70000" lnSpcReduction="20000"/>
          </a:bodyPr>
          <a:lstStyle/>
          <a:p>
            <a:pPr lvl="0">
              <a:buClr>
                <a:srgbClr val="FEB80A"/>
              </a:buClr>
              <a:buFont typeface="Wingdings" pitchFamily="2" charset="2"/>
              <a:buChar char="Ø"/>
            </a:pPr>
            <a:r>
              <a:rPr lang="en-US" sz="4000" dirty="0">
                <a:solidFill>
                  <a:prstClr val="black"/>
                </a:solidFill>
                <a:latin typeface="Bell MT" panose="02020503060305020303" pitchFamily="18" charset="0"/>
              </a:rPr>
              <a:t>Find the number of permutations of the word, </a:t>
            </a:r>
            <a:r>
              <a:rPr lang="en-US" sz="4000" dirty="0" smtClean="0">
                <a:solidFill>
                  <a:prstClr val="black"/>
                </a:solidFill>
                <a:latin typeface="Bell MT" panose="02020503060305020303" pitchFamily="18" charset="0"/>
              </a:rPr>
              <a:t>“CHUKWUEMEKA”</a:t>
            </a:r>
            <a:endParaRPr lang="en-US" sz="4000" dirty="0">
              <a:solidFill>
                <a:prstClr val="black"/>
              </a:solidFill>
              <a:latin typeface="Bell MT" panose="02020503060305020303" pitchFamily="18" charset="0"/>
            </a:endParaRPr>
          </a:p>
          <a:p>
            <a:pPr lvl="0">
              <a:buClr>
                <a:srgbClr val="FEB80A"/>
              </a:buClr>
              <a:buFont typeface="Wingdings" pitchFamily="2" charset="2"/>
              <a:buChar char="Ø"/>
            </a:pPr>
            <a:endParaRPr lang="en-US" sz="4000" dirty="0">
              <a:solidFill>
                <a:prstClr val="black"/>
              </a:solidFill>
              <a:latin typeface="Bell MT" panose="02020503060305020303" pitchFamily="18" charset="0"/>
            </a:endParaRPr>
          </a:p>
          <a:p>
            <a:pPr lvl="0">
              <a:buClr>
                <a:srgbClr val="FEB80A"/>
              </a:buClr>
              <a:buFont typeface="Wingdings" pitchFamily="2" charset="2"/>
              <a:buChar char="Ø"/>
            </a:pPr>
            <a:r>
              <a:rPr lang="en-US" sz="4000" dirty="0">
                <a:solidFill>
                  <a:prstClr val="black"/>
                </a:solidFill>
                <a:latin typeface="Bell MT" panose="02020503060305020303" pitchFamily="18" charset="0"/>
              </a:rPr>
              <a:t>This is a case of </a:t>
            </a:r>
            <a:r>
              <a:rPr lang="en-US" sz="4000" dirty="0" smtClean="0">
                <a:solidFill>
                  <a:prstClr val="black"/>
                </a:solidFill>
                <a:latin typeface="Bell MT" panose="02020503060305020303" pitchFamily="18" charset="0"/>
              </a:rPr>
              <a:t>Permutation of Duplicates or Permutation of Indistinguishable Items or Permutation with Repetition</a:t>
            </a:r>
            <a:r>
              <a:rPr lang="en-US" sz="3000" dirty="0" smtClean="0">
                <a:solidFill>
                  <a:prstClr val="black"/>
                </a:solidFill>
                <a:latin typeface="Bell MT" panose="02020503060305020303" pitchFamily="18" charset="0"/>
              </a:rPr>
              <a:t>.</a:t>
            </a:r>
            <a:endParaRPr lang="en-US" sz="3000" dirty="0">
              <a:solidFill>
                <a:prstClr val="black"/>
              </a:solidFill>
              <a:latin typeface="Bell MT" panose="02020503060305020303" pitchFamily="18" charset="0"/>
            </a:endParaRPr>
          </a:p>
        </p:txBody>
      </p:sp>
      <mc:AlternateContent xmlns:mc="http://schemas.openxmlformats.org/markup-compatibility/2006" xmlns:a14="http://schemas.microsoft.com/office/drawing/2010/main">
        <mc:Choice Requires="a14">
          <p:sp>
            <p:nvSpPr>
              <p:cNvPr id="9" name="Content Placeholder 8"/>
              <p:cNvSpPr>
                <a:spLocks noGrp="1"/>
              </p:cNvSpPr>
              <p:nvPr>
                <p:ph sz="quarter" idx="2"/>
              </p:nvPr>
            </p:nvSpPr>
            <p:spPr>
              <a:xfrm>
                <a:off x="4495800" y="1752600"/>
                <a:ext cx="4235301" cy="4572000"/>
              </a:xfrm>
              <a:ln w="12700" cmpd="dbl">
                <a:solidFill>
                  <a:schemeClr val="accent2">
                    <a:lumMod val="75000"/>
                  </a:schemeClr>
                </a:solidFill>
              </a:ln>
            </p:spPr>
            <p:txBody>
              <a:bodyPr>
                <a:normAutofit fontScale="70000" lnSpcReduction="20000"/>
              </a:bodyPr>
              <a:lstStyle/>
              <a:p>
                <a:pPr>
                  <a:buFont typeface="Wingdings" pitchFamily="2" charset="2"/>
                  <a:buChar char="Ø"/>
                </a:pPr>
                <a:r>
                  <a:rPr lang="en-US" sz="3200" u="sng" dirty="0" smtClean="0">
                    <a:latin typeface="Baskerville Old Face" panose="02020602080505020303" pitchFamily="18" charset="0"/>
                  </a:rPr>
                  <a:t>Solution </a:t>
                </a:r>
              </a:p>
              <a:p>
                <a:pPr>
                  <a:lnSpc>
                    <a:spcPct val="170000"/>
                  </a:lnSpc>
                  <a:buFont typeface="Wingdings" pitchFamily="2" charset="2"/>
                  <a:buChar char="Ø"/>
                </a:pPr>
                <a:r>
                  <a:rPr lang="en-US" sz="5700" dirty="0" smtClean="0">
                    <a:latin typeface="Baskerville Old Face" panose="02020602080505020303" pitchFamily="18" charset="0"/>
                  </a:rPr>
                  <a:t>Number of ways =</a:t>
                </a:r>
              </a:p>
              <a:p>
                <a:pPr>
                  <a:lnSpc>
                    <a:spcPct val="170000"/>
                  </a:lnSpc>
                  <a:buFont typeface="Wingdings" pitchFamily="2" charset="2"/>
                  <a:buChar char="Ø"/>
                </a:pPr>
                <a14:m>
                  <m:oMath xmlns:m="http://schemas.openxmlformats.org/officeDocument/2006/math">
                    <m:f>
                      <m:fPr>
                        <m:ctrlPr>
                          <a:rPr lang="en-US" sz="5700" b="0" i="1" smtClean="0">
                            <a:latin typeface="Cambria Math"/>
                          </a:rPr>
                        </m:ctrlPr>
                      </m:fPr>
                      <m:num>
                        <m:r>
                          <a:rPr lang="en-US" sz="5700" b="0" i="1" smtClean="0">
                            <a:latin typeface="Cambria Math"/>
                          </a:rPr>
                          <m:t>11!</m:t>
                        </m:r>
                      </m:num>
                      <m:den>
                        <m:r>
                          <a:rPr lang="en-US" sz="5700" b="0" i="1" smtClean="0">
                            <a:latin typeface="Cambria Math"/>
                          </a:rPr>
                          <m:t>2!∗2!∗2!</m:t>
                        </m:r>
                      </m:den>
                    </m:f>
                  </m:oMath>
                </a14:m>
                <a:r>
                  <a:rPr lang="en-US" sz="5700" b="0" dirty="0" smtClean="0">
                    <a:latin typeface="Baskerville Old Face" panose="02020602080505020303" pitchFamily="18" charset="0"/>
                  </a:rPr>
                  <a:t> =</a:t>
                </a:r>
              </a:p>
              <a:p>
                <a:pPr>
                  <a:lnSpc>
                    <a:spcPct val="170000"/>
                  </a:lnSpc>
                  <a:buFont typeface="Wingdings" pitchFamily="2" charset="2"/>
                  <a:buChar char="Ø"/>
                </a:pPr>
                <a:r>
                  <a:rPr lang="en-US" sz="5700" dirty="0" smtClean="0">
                    <a:latin typeface="Baskerville Old Face" panose="02020602080505020303" pitchFamily="18" charset="0"/>
                  </a:rPr>
                  <a:t>4989600 ways</a:t>
                </a:r>
                <a:endParaRPr lang="en-US" sz="5700" b="0" dirty="0" smtClean="0">
                  <a:latin typeface="Baskerville Old Face" panose="02020602080505020303" pitchFamily="18" charset="0"/>
                </a:endParaRPr>
              </a:p>
              <a:p>
                <a:pPr>
                  <a:buFont typeface="Wingdings" pitchFamily="2" charset="2"/>
                  <a:buChar char="Ø"/>
                </a:pPr>
                <a:endParaRPr lang="en-US" dirty="0" smtClean="0"/>
              </a:p>
              <a:p>
                <a:pPr>
                  <a:buFont typeface="Wingdings" pitchFamily="2" charset="2"/>
                  <a:buChar char="Ø"/>
                </a:pPr>
                <a:endParaRPr lang="en-US" dirty="0"/>
              </a:p>
              <a:p>
                <a:pPr>
                  <a:buFont typeface="Wingdings" pitchFamily="2" charset="2"/>
                  <a:buChar char="Ø"/>
                </a:pPr>
                <a:endParaRPr lang="en-US" dirty="0" smtClean="0"/>
              </a:p>
              <a:p>
                <a:pPr marL="0" indent="0">
                  <a:buNone/>
                </a:pPr>
                <a:endParaRPr lang="en-US" dirty="0" smtClean="0"/>
              </a:p>
              <a:p>
                <a:endParaRPr lang="en-US" dirty="0"/>
              </a:p>
            </p:txBody>
          </p:sp>
        </mc:Choice>
        <mc:Fallback xmlns="">
          <p:sp>
            <p:nvSpPr>
              <p:cNvPr id="9" name="Content Placeholder 8"/>
              <p:cNvSpPr>
                <a:spLocks noGrp="1" noRot="1" noChangeAspect="1" noMove="1" noResize="1" noEditPoints="1" noAdjustHandles="1" noChangeArrowheads="1" noChangeShapeType="1" noTextEdit="1"/>
              </p:cNvSpPr>
              <p:nvPr>
                <p:ph sz="quarter" idx="2"/>
              </p:nvPr>
            </p:nvSpPr>
            <p:spPr>
              <a:xfrm>
                <a:off x="4495800" y="1752600"/>
                <a:ext cx="4235301" cy="4572000"/>
              </a:xfrm>
              <a:blipFill rotWithShape="1">
                <a:blip r:embed="rId3"/>
                <a:stretch>
                  <a:fillRect l="-1868" t="-1995" r="-3736"/>
                </a:stretch>
              </a:blipFill>
              <a:ln w="12700" cmpd="dbl">
                <a:solidFill>
                  <a:schemeClr val="accent2">
                    <a:lumMod val="7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3048237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fade">
                                      <p:cBhvr>
                                        <p:cTn id="19" dur="1000"/>
                                        <p:tgtEl>
                                          <p:spTgt spid="9">
                                            <p:txEl>
                                              <p:pRg st="2" end="2"/>
                                            </p:txEl>
                                          </p:spTgt>
                                        </p:tgtEl>
                                      </p:cBhvr>
                                    </p:animEffect>
                                    <p:anim calcmode="lin" valueType="num">
                                      <p:cBhvr>
                                        <p:cTn id="20"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animEffect transition="in" filter="fade">
                                      <p:cBhvr>
                                        <p:cTn id="24" dur="1000"/>
                                        <p:tgtEl>
                                          <p:spTgt spid="9">
                                            <p:txEl>
                                              <p:pRg st="3" end="3"/>
                                            </p:txEl>
                                          </p:spTgt>
                                        </p:tgtEl>
                                      </p:cBhvr>
                                    </p:animEffect>
                                    <p:anim calcmode="lin" valueType="num">
                                      <p:cBhvr>
                                        <p:cTn id="2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smtClean="0"/>
              <a:t>Question 4</a:t>
            </a:r>
            <a:endParaRPr lang="en-US" dirty="0"/>
          </a:p>
        </p:txBody>
      </p:sp>
      <p:sp>
        <p:nvSpPr>
          <p:cNvPr id="3" name="Rectangle 2"/>
          <p:cNvSpPr>
            <a:spLocks noGrp="1"/>
          </p:cNvSpPr>
          <p:nvPr>
            <p:ph sz="quarter" idx="1"/>
          </p:nvPr>
        </p:nvSpPr>
        <p:spPr>
          <a:xfrm>
            <a:off x="609600" y="1752600"/>
            <a:ext cx="3886200" cy="4572000"/>
          </a:xfrm>
          <a:ln w="19050" cmpd="dbl">
            <a:solidFill>
              <a:schemeClr val="accent2">
                <a:lumMod val="75000"/>
              </a:schemeClr>
            </a:solidFill>
          </a:ln>
        </p:spPr>
        <p:txBody>
          <a:bodyPr>
            <a:noAutofit/>
          </a:bodyPr>
          <a:lstStyle/>
          <a:p>
            <a:pPr lvl="0">
              <a:buClr>
                <a:srgbClr val="FEB80A"/>
              </a:buClr>
              <a:buFont typeface="Wingdings" pitchFamily="2" charset="2"/>
              <a:buChar char="Ø"/>
            </a:pPr>
            <a:r>
              <a:rPr lang="en-US" sz="3200" dirty="0" smtClean="0">
                <a:solidFill>
                  <a:prstClr val="black"/>
                </a:solidFill>
                <a:latin typeface="Bell MT" panose="02020503060305020303" pitchFamily="18" charset="0"/>
              </a:rPr>
              <a:t>In how many ways can the digits in the number 345237573 be arranged?</a:t>
            </a:r>
            <a:endParaRPr lang="en-US" sz="3200" dirty="0">
              <a:solidFill>
                <a:prstClr val="black"/>
              </a:solidFill>
              <a:latin typeface="Bell MT" panose="02020503060305020303" pitchFamily="18" charset="0"/>
            </a:endParaRPr>
          </a:p>
          <a:p>
            <a:pPr lvl="0">
              <a:buClr>
                <a:srgbClr val="FEB80A"/>
              </a:buClr>
              <a:buFont typeface="Wingdings" pitchFamily="2" charset="2"/>
              <a:buChar char="Ø"/>
            </a:pPr>
            <a:endParaRPr lang="en-US" sz="3200" dirty="0">
              <a:solidFill>
                <a:prstClr val="black"/>
              </a:solidFill>
              <a:latin typeface="Bell MT" panose="02020503060305020303" pitchFamily="18" charset="0"/>
            </a:endParaRPr>
          </a:p>
          <a:p>
            <a:pPr lvl="0">
              <a:buClr>
                <a:srgbClr val="FEB80A"/>
              </a:buClr>
              <a:buFont typeface="Wingdings" pitchFamily="2" charset="2"/>
              <a:buChar char="Ø"/>
            </a:pPr>
            <a:r>
              <a:rPr lang="en-US" sz="3200" dirty="0">
                <a:solidFill>
                  <a:prstClr val="black"/>
                </a:solidFill>
                <a:latin typeface="Bell MT" panose="02020503060305020303" pitchFamily="18" charset="0"/>
              </a:rPr>
              <a:t>This is a case of </a:t>
            </a:r>
            <a:r>
              <a:rPr lang="en-US" sz="3200" dirty="0" smtClean="0">
                <a:solidFill>
                  <a:prstClr val="black"/>
                </a:solidFill>
                <a:latin typeface="Bell MT" panose="02020503060305020303" pitchFamily="18" charset="0"/>
              </a:rPr>
              <a:t>Permutation of Duplicates.</a:t>
            </a:r>
            <a:endParaRPr lang="en-US" sz="3200" dirty="0">
              <a:solidFill>
                <a:prstClr val="black"/>
              </a:solidFill>
              <a:latin typeface="Bell MT" panose="02020503060305020303" pitchFamily="18" charset="0"/>
            </a:endParaRPr>
          </a:p>
        </p:txBody>
      </p:sp>
      <mc:AlternateContent xmlns:mc="http://schemas.openxmlformats.org/markup-compatibility/2006" xmlns:a14="http://schemas.microsoft.com/office/drawing/2010/main">
        <mc:Choice Requires="a14">
          <p:sp>
            <p:nvSpPr>
              <p:cNvPr id="9" name="Content Placeholder 8"/>
              <p:cNvSpPr>
                <a:spLocks noGrp="1"/>
              </p:cNvSpPr>
              <p:nvPr>
                <p:ph sz="quarter" idx="2"/>
              </p:nvPr>
            </p:nvSpPr>
            <p:spPr>
              <a:xfrm>
                <a:off x="4495800" y="1752600"/>
                <a:ext cx="4235301" cy="4572000"/>
              </a:xfrm>
              <a:ln w="12700" cmpd="dbl">
                <a:solidFill>
                  <a:schemeClr val="accent2">
                    <a:lumMod val="75000"/>
                  </a:schemeClr>
                </a:solidFill>
              </a:ln>
            </p:spPr>
            <p:txBody>
              <a:bodyPr>
                <a:normAutofit fontScale="70000" lnSpcReduction="20000"/>
              </a:bodyPr>
              <a:lstStyle/>
              <a:p>
                <a:pPr>
                  <a:buFont typeface="Wingdings" pitchFamily="2" charset="2"/>
                  <a:buChar char="Ø"/>
                </a:pPr>
                <a:r>
                  <a:rPr lang="en-US" sz="3200" u="sng" dirty="0" smtClean="0">
                    <a:latin typeface="Baskerville Old Face" panose="02020602080505020303" pitchFamily="18" charset="0"/>
                  </a:rPr>
                  <a:t>Solution </a:t>
                </a:r>
              </a:p>
              <a:p>
                <a:pPr>
                  <a:lnSpc>
                    <a:spcPct val="170000"/>
                  </a:lnSpc>
                  <a:buFont typeface="Wingdings" pitchFamily="2" charset="2"/>
                  <a:buChar char="Ø"/>
                </a:pPr>
                <a:r>
                  <a:rPr lang="en-US" sz="5700" dirty="0" smtClean="0">
                    <a:latin typeface="Baskerville Old Face" panose="02020602080505020303" pitchFamily="18" charset="0"/>
                  </a:rPr>
                  <a:t>Number of ways =</a:t>
                </a:r>
              </a:p>
              <a:p>
                <a:pPr>
                  <a:lnSpc>
                    <a:spcPct val="170000"/>
                  </a:lnSpc>
                  <a:buFont typeface="Wingdings" pitchFamily="2" charset="2"/>
                  <a:buChar char="Ø"/>
                </a:pPr>
                <a14:m>
                  <m:oMath xmlns:m="http://schemas.openxmlformats.org/officeDocument/2006/math">
                    <m:f>
                      <m:fPr>
                        <m:ctrlPr>
                          <a:rPr lang="en-US" sz="5700" b="0" i="1" smtClean="0">
                            <a:latin typeface="Cambria Math"/>
                          </a:rPr>
                        </m:ctrlPr>
                      </m:fPr>
                      <m:num>
                        <m:r>
                          <a:rPr lang="en-US" sz="5700" b="0" i="1" smtClean="0">
                            <a:latin typeface="Cambria Math"/>
                          </a:rPr>
                          <m:t>9!</m:t>
                        </m:r>
                      </m:num>
                      <m:den>
                        <m:r>
                          <a:rPr lang="en-US" sz="5700" b="0" i="1" smtClean="0">
                            <a:latin typeface="Cambria Math"/>
                          </a:rPr>
                          <m:t>3!∗2!∗2!</m:t>
                        </m:r>
                      </m:den>
                    </m:f>
                  </m:oMath>
                </a14:m>
                <a:r>
                  <a:rPr lang="en-US" sz="5700" b="0" dirty="0" smtClean="0">
                    <a:latin typeface="Baskerville Old Face" panose="02020602080505020303" pitchFamily="18" charset="0"/>
                  </a:rPr>
                  <a:t> =</a:t>
                </a:r>
              </a:p>
              <a:p>
                <a:pPr>
                  <a:lnSpc>
                    <a:spcPct val="170000"/>
                  </a:lnSpc>
                  <a:buFont typeface="Wingdings" pitchFamily="2" charset="2"/>
                  <a:buChar char="Ø"/>
                </a:pPr>
                <a:r>
                  <a:rPr lang="en-US" sz="5700" dirty="0" smtClean="0">
                    <a:latin typeface="Baskerville Old Face" panose="02020602080505020303" pitchFamily="18" charset="0"/>
                  </a:rPr>
                  <a:t>15120 ways</a:t>
                </a:r>
                <a:endParaRPr lang="en-US" sz="5700" b="0" dirty="0" smtClean="0">
                  <a:latin typeface="Baskerville Old Face" panose="02020602080505020303" pitchFamily="18" charset="0"/>
                </a:endParaRPr>
              </a:p>
              <a:p>
                <a:pPr>
                  <a:buFont typeface="Wingdings" pitchFamily="2" charset="2"/>
                  <a:buChar char="Ø"/>
                </a:pPr>
                <a:endParaRPr lang="en-US" dirty="0" smtClean="0"/>
              </a:p>
              <a:p>
                <a:pPr>
                  <a:buFont typeface="Wingdings" pitchFamily="2" charset="2"/>
                  <a:buChar char="Ø"/>
                </a:pPr>
                <a:endParaRPr lang="en-US" dirty="0"/>
              </a:p>
              <a:p>
                <a:pPr>
                  <a:buFont typeface="Wingdings" pitchFamily="2" charset="2"/>
                  <a:buChar char="Ø"/>
                </a:pPr>
                <a:endParaRPr lang="en-US" dirty="0" smtClean="0"/>
              </a:p>
              <a:p>
                <a:pPr marL="0" indent="0">
                  <a:buNone/>
                </a:pPr>
                <a:endParaRPr lang="en-US" dirty="0" smtClean="0"/>
              </a:p>
              <a:p>
                <a:endParaRPr lang="en-US" dirty="0"/>
              </a:p>
            </p:txBody>
          </p:sp>
        </mc:Choice>
        <mc:Fallback xmlns="">
          <p:sp>
            <p:nvSpPr>
              <p:cNvPr id="9" name="Content Placeholder 8"/>
              <p:cNvSpPr>
                <a:spLocks noGrp="1" noRot="1" noChangeAspect="1" noMove="1" noResize="1" noEditPoints="1" noAdjustHandles="1" noChangeArrowheads="1" noChangeShapeType="1" noTextEdit="1"/>
              </p:cNvSpPr>
              <p:nvPr>
                <p:ph sz="quarter" idx="2"/>
              </p:nvPr>
            </p:nvSpPr>
            <p:spPr>
              <a:xfrm>
                <a:off x="4495800" y="1752600"/>
                <a:ext cx="4235301" cy="4572000"/>
              </a:xfrm>
              <a:blipFill rotWithShape="1">
                <a:blip r:embed="rId3"/>
                <a:stretch>
                  <a:fillRect l="-1868" t="-1995" r="-3736"/>
                </a:stretch>
              </a:blipFill>
              <a:ln w="12700" cmpd="dbl">
                <a:solidFill>
                  <a:schemeClr val="accent2">
                    <a:lumMod val="7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19826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fade">
                                      <p:cBhvr>
                                        <p:cTn id="19" dur="1000"/>
                                        <p:tgtEl>
                                          <p:spTgt spid="9">
                                            <p:txEl>
                                              <p:pRg st="2" end="2"/>
                                            </p:txEl>
                                          </p:spTgt>
                                        </p:tgtEl>
                                      </p:cBhvr>
                                    </p:animEffect>
                                    <p:anim calcmode="lin" valueType="num">
                                      <p:cBhvr>
                                        <p:cTn id="20"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animEffect transition="in" filter="fade">
                                      <p:cBhvr>
                                        <p:cTn id="24" dur="1000"/>
                                        <p:tgtEl>
                                          <p:spTgt spid="9">
                                            <p:txEl>
                                              <p:pRg st="3" end="3"/>
                                            </p:txEl>
                                          </p:spTgt>
                                        </p:tgtEl>
                                      </p:cBhvr>
                                    </p:animEffect>
                                    <p:anim calcmode="lin" valueType="num">
                                      <p:cBhvr>
                                        <p:cTn id="2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smtClean="0"/>
              <a:t>Question 5</a:t>
            </a:r>
            <a:endParaRPr lang="en-US" dirty="0"/>
          </a:p>
        </p:txBody>
      </p:sp>
      <p:sp>
        <p:nvSpPr>
          <p:cNvPr id="3" name="Rectangle 2"/>
          <p:cNvSpPr>
            <a:spLocks noGrp="1"/>
          </p:cNvSpPr>
          <p:nvPr>
            <p:ph sz="quarter" idx="1"/>
          </p:nvPr>
        </p:nvSpPr>
        <p:spPr>
          <a:xfrm>
            <a:off x="609600" y="1752600"/>
            <a:ext cx="3886200" cy="4572000"/>
          </a:xfrm>
          <a:ln w="19050" cmpd="dbl">
            <a:solidFill>
              <a:schemeClr val="accent2">
                <a:lumMod val="75000"/>
              </a:schemeClr>
            </a:solidFill>
          </a:ln>
        </p:spPr>
        <p:txBody>
          <a:bodyPr>
            <a:noAutofit/>
          </a:bodyPr>
          <a:lstStyle/>
          <a:p>
            <a:pPr>
              <a:buFont typeface="Wingdings" pitchFamily="2" charset="2"/>
              <a:buChar char="Ø"/>
            </a:pPr>
            <a:r>
              <a:rPr lang="en-US" sz="3200" dirty="0" smtClean="0">
                <a:latin typeface="Bell MT" panose="02020503060305020303" pitchFamily="18" charset="0"/>
              </a:rPr>
              <a:t>In how many ways can four people boarding a bus be seated if the bus has seven vacant seats?</a:t>
            </a:r>
          </a:p>
          <a:p>
            <a:pPr>
              <a:buFont typeface="Wingdings" pitchFamily="2" charset="2"/>
              <a:buChar char="Ø"/>
            </a:pPr>
            <a:endParaRPr lang="en-US" sz="3200" dirty="0" smtClean="0">
              <a:latin typeface="Bell MT" panose="02020503060305020303" pitchFamily="18" charset="0"/>
            </a:endParaRPr>
          </a:p>
          <a:p>
            <a:pPr>
              <a:buFont typeface="Wingdings" pitchFamily="2" charset="2"/>
              <a:buChar char="Ø"/>
            </a:pPr>
            <a:r>
              <a:rPr lang="en-US" sz="3200" dirty="0" smtClean="0">
                <a:latin typeface="Bell MT" panose="02020503060305020303" pitchFamily="18" charset="0"/>
              </a:rPr>
              <a:t>This is a case of Permutation </a:t>
            </a:r>
          </a:p>
        </p:txBody>
      </p:sp>
      <mc:AlternateContent xmlns:mc="http://schemas.openxmlformats.org/markup-compatibility/2006" xmlns:a14="http://schemas.microsoft.com/office/drawing/2010/main">
        <mc:Choice Requires="a14">
          <p:sp>
            <p:nvSpPr>
              <p:cNvPr id="9" name="Content Placeholder 8"/>
              <p:cNvSpPr>
                <a:spLocks noGrp="1"/>
              </p:cNvSpPr>
              <p:nvPr>
                <p:ph sz="quarter" idx="2"/>
              </p:nvPr>
            </p:nvSpPr>
            <p:spPr>
              <a:xfrm>
                <a:off x="4495800" y="1752600"/>
                <a:ext cx="4235301" cy="4572000"/>
              </a:xfrm>
              <a:ln w="12700" cmpd="dbl">
                <a:solidFill>
                  <a:schemeClr val="accent2">
                    <a:lumMod val="75000"/>
                  </a:schemeClr>
                </a:solidFill>
              </a:ln>
            </p:spPr>
            <p:txBody>
              <a:bodyPr>
                <a:normAutofit fontScale="92500" lnSpcReduction="20000"/>
              </a:bodyPr>
              <a:lstStyle/>
              <a:p>
                <a:pPr>
                  <a:buFont typeface="Wingdings" pitchFamily="2" charset="2"/>
                  <a:buChar char="Ø"/>
                </a:pPr>
                <a:r>
                  <a:rPr lang="en-US" sz="3200" u="sng" dirty="0" smtClean="0">
                    <a:latin typeface="Baskerville Old Face" panose="02020602080505020303" pitchFamily="18" charset="0"/>
                  </a:rPr>
                  <a:t>Solution </a:t>
                </a:r>
              </a:p>
              <a:p>
                <a:pPr>
                  <a:lnSpc>
                    <a:spcPct val="150000"/>
                  </a:lnSpc>
                  <a:buFont typeface="Wingdings" pitchFamily="2" charset="2"/>
                  <a:buChar char="Ø"/>
                </a:pPr>
                <a:r>
                  <a:rPr lang="en-US" sz="3200" dirty="0" smtClean="0">
                    <a:latin typeface="Baskerville Old Face" panose="02020602080505020303" pitchFamily="18" charset="0"/>
                  </a:rPr>
                  <a:t>Number of ways =    P(7, 4) =</a:t>
                </a:r>
              </a:p>
              <a:p>
                <a:pPr>
                  <a:lnSpc>
                    <a:spcPct val="150000"/>
                  </a:lnSpc>
                  <a:buFont typeface="Wingdings" pitchFamily="2" charset="2"/>
                  <a:buChar char="Ø"/>
                </a:pPr>
                <a14:m>
                  <m:oMath xmlns:m="http://schemas.openxmlformats.org/officeDocument/2006/math">
                    <m:f>
                      <m:fPr>
                        <m:ctrlPr>
                          <a:rPr lang="en-US" sz="3200" b="0" i="1" smtClean="0">
                            <a:latin typeface="Cambria Math"/>
                          </a:rPr>
                        </m:ctrlPr>
                      </m:fPr>
                      <m:num>
                        <m:r>
                          <a:rPr lang="en-US" sz="3200" b="0" i="1" smtClean="0">
                            <a:latin typeface="Cambria Math"/>
                          </a:rPr>
                          <m:t>7!</m:t>
                        </m:r>
                      </m:num>
                      <m:den>
                        <m:d>
                          <m:dPr>
                            <m:ctrlPr>
                              <a:rPr lang="en-US" sz="3200" b="0" i="1" smtClean="0">
                                <a:latin typeface="Cambria Math"/>
                              </a:rPr>
                            </m:ctrlPr>
                          </m:dPr>
                          <m:e>
                            <m:r>
                              <a:rPr lang="en-US" sz="3200" b="0" i="1" smtClean="0">
                                <a:latin typeface="Cambria Math"/>
                              </a:rPr>
                              <m:t>7−4</m:t>
                            </m:r>
                          </m:e>
                        </m:d>
                        <m:r>
                          <a:rPr lang="en-US" sz="3200" b="0" i="1" smtClean="0">
                            <a:latin typeface="Cambria Math"/>
                          </a:rPr>
                          <m:t>!</m:t>
                        </m:r>
                      </m:den>
                    </m:f>
                  </m:oMath>
                </a14:m>
                <a:r>
                  <a:rPr lang="en-US" sz="3200" b="0" dirty="0" smtClean="0">
                    <a:latin typeface="Baskerville Old Face" panose="02020602080505020303" pitchFamily="18" charset="0"/>
                  </a:rPr>
                  <a:t> =</a:t>
                </a:r>
              </a:p>
              <a:p>
                <a:pPr>
                  <a:lnSpc>
                    <a:spcPct val="150000"/>
                  </a:lnSpc>
                  <a:buFont typeface="Wingdings" pitchFamily="2" charset="2"/>
                  <a:buChar char="Ø"/>
                </a:pPr>
                <a14:m>
                  <m:oMath xmlns:m="http://schemas.openxmlformats.org/officeDocument/2006/math">
                    <m:f>
                      <m:fPr>
                        <m:ctrlPr>
                          <a:rPr lang="en-US" sz="3200" i="1">
                            <a:solidFill>
                              <a:prstClr val="black"/>
                            </a:solidFill>
                            <a:latin typeface="Cambria Math"/>
                          </a:rPr>
                        </m:ctrlPr>
                      </m:fPr>
                      <m:num>
                        <m:r>
                          <a:rPr lang="en-US" sz="3200" b="0" i="1" smtClean="0">
                            <a:solidFill>
                              <a:prstClr val="black"/>
                            </a:solidFill>
                            <a:latin typeface="Cambria Math"/>
                          </a:rPr>
                          <m:t>7</m:t>
                        </m:r>
                        <m:r>
                          <a:rPr lang="en-US" sz="3200" i="1">
                            <a:solidFill>
                              <a:prstClr val="black"/>
                            </a:solidFill>
                            <a:latin typeface="Cambria Math"/>
                          </a:rPr>
                          <m:t>!</m:t>
                        </m:r>
                      </m:num>
                      <m:den>
                        <m:r>
                          <a:rPr lang="en-US" sz="3200" b="0" i="1" smtClean="0">
                            <a:solidFill>
                              <a:prstClr val="black"/>
                            </a:solidFill>
                            <a:latin typeface="Cambria Math"/>
                          </a:rPr>
                          <m:t>3</m:t>
                        </m:r>
                        <m:r>
                          <a:rPr lang="en-US" sz="3200" i="1">
                            <a:solidFill>
                              <a:prstClr val="black"/>
                            </a:solidFill>
                            <a:latin typeface="Cambria Math"/>
                          </a:rPr>
                          <m:t>!</m:t>
                        </m:r>
                      </m:den>
                    </m:f>
                  </m:oMath>
                </a14:m>
                <a:r>
                  <a:rPr lang="en-US" sz="3200" b="0" dirty="0" smtClean="0">
                    <a:latin typeface="Baskerville Old Face" panose="02020602080505020303" pitchFamily="18" charset="0"/>
                  </a:rPr>
                  <a:t> =</a:t>
                </a:r>
              </a:p>
              <a:p>
                <a:pPr>
                  <a:lnSpc>
                    <a:spcPct val="150000"/>
                  </a:lnSpc>
                  <a:buFont typeface="Wingdings" pitchFamily="2" charset="2"/>
                  <a:buChar char="Ø"/>
                </a:pPr>
                <a:r>
                  <a:rPr lang="en-US" sz="3200" dirty="0" smtClean="0">
                    <a:latin typeface="Baskerville Old Face" panose="02020602080505020303" pitchFamily="18" charset="0"/>
                  </a:rPr>
                  <a:t>840 ways</a:t>
                </a:r>
                <a:endParaRPr lang="en-US" sz="3200" b="0" dirty="0" smtClean="0">
                  <a:latin typeface="Baskerville Old Face" panose="02020602080505020303" pitchFamily="18" charset="0"/>
                </a:endParaRPr>
              </a:p>
              <a:p>
                <a:pPr>
                  <a:buFont typeface="Wingdings" pitchFamily="2" charset="2"/>
                  <a:buChar char="Ø"/>
                </a:pPr>
                <a:endParaRPr lang="en-US" dirty="0" smtClean="0"/>
              </a:p>
              <a:p>
                <a:pPr>
                  <a:buFont typeface="Wingdings" pitchFamily="2" charset="2"/>
                  <a:buChar char="Ø"/>
                </a:pPr>
                <a:endParaRPr lang="en-US" dirty="0"/>
              </a:p>
              <a:p>
                <a:pPr>
                  <a:buFont typeface="Wingdings" pitchFamily="2" charset="2"/>
                  <a:buChar char="Ø"/>
                </a:pPr>
                <a:endParaRPr lang="en-US" dirty="0" smtClean="0"/>
              </a:p>
              <a:p>
                <a:pPr marL="0" indent="0">
                  <a:buNone/>
                </a:pPr>
                <a:endParaRPr lang="en-US" dirty="0" smtClean="0"/>
              </a:p>
              <a:p>
                <a:endParaRPr lang="en-US" dirty="0"/>
              </a:p>
            </p:txBody>
          </p:sp>
        </mc:Choice>
        <mc:Fallback xmlns="">
          <p:sp>
            <p:nvSpPr>
              <p:cNvPr id="9" name="Content Placeholder 8"/>
              <p:cNvSpPr>
                <a:spLocks noGrp="1" noRot="1" noChangeAspect="1" noMove="1" noResize="1" noEditPoints="1" noAdjustHandles="1" noChangeArrowheads="1" noChangeShapeType="1" noTextEdit="1"/>
              </p:cNvSpPr>
              <p:nvPr>
                <p:ph sz="quarter" idx="2"/>
              </p:nvPr>
            </p:nvSpPr>
            <p:spPr>
              <a:xfrm>
                <a:off x="4495800" y="1752600"/>
                <a:ext cx="4235301" cy="4572000"/>
              </a:xfrm>
              <a:blipFill rotWithShape="1">
                <a:blip r:embed="rId3"/>
                <a:stretch>
                  <a:fillRect l="-862" t="-3324"/>
                </a:stretch>
              </a:blipFill>
              <a:ln w="12700" cmpd="dbl">
                <a:solidFill>
                  <a:schemeClr val="accent2">
                    <a:lumMod val="7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1092817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fade">
                                      <p:cBhvr>
                                        <p:cTn id="19" dur="1000"/>
                                        <p:tgtEl>
                                          <p:spTgt spid="9">
                                            <p:txEl>
                                              <p:pRg st="2" end="2"/>
                                            </p:txEl>
                                          </p:spTgt>
                                        </p:tgtEl>
                                      </p:cBhvr>
                                    </p:animEffect>
                                    <p:anim calcmode="lin" valueType="num">
                                      <p:cBhvr>
                                        <p:cTn id="20"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animEffect transition="in" filter="fade">
                                      <p:cBhvr>
                                        <p:cTn id="24" dur="1000"/>
                                        <p:tgtEl>
                                          <p:spTgt spid="9">
                                            <p:txEl>
                                              <p:pRg st="3" end="3"/>
                                            </p:txEl>
                                          </p:spTgt>
                                        </p:tgtEl>
                                      </p:cBhvr>
                                    </p:animEffect>
                                    <p:anim calcmode="lin" valueType="num">
                                      <p:cBhvr>
                                        <p:cTn id="2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xEl>
                                              <p:pRg st="4" end="4"/>
                                            </p:txEl>
                                          </p:spTgt>
                                        </p:tgtEl>
                                        <p:attrNameLst>
                                          <p:attrName>style.visibility</p:attrName>
                                        </p:attrNameLst>
                                      </p:cBhvr>
                                      <p:to>
                                        <p:strVal val="visible"/>
                                      </p:to>
                                    </p:set>
                                    <p:animEffect transition="in" filter="fade">
                                      <p:cBhvr>
                                        <p:cTn id="29" dur="1000"/>
                                        <p:tgtEl>
                                          <p:spTgt spid="9">
                                            <p:txEl>
                                              <p:pRg st="4" end="4"/>
                                            </p:txEl>
                                          </p:spTgt>
                                        </p:tgtEl>
                                      </p:cBhvr>
                                    </p:animEffect>
                                    <p:anim calcmode="lin" valueType="num">
                                      <p:cBhvr>
                                        <p:cTn id="30"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smtClean="0"/>
              <a:t>Question 6</a:t>
            </a:r>
            <a:endParaRPr lang="en-US" dirty="0"/>
          </a:p>
        </p:txBody>
      </p:sp>
      <p:sp>
        <p:nvSpPr>
          <p:cNvPr id="3" name="Rectangle 2"/>
          <p:cNvSpPr>
            <a:spLocks noGrp="1"/>
          </p:cNvSpPr>
          <p:nvPr>
            <p:ph sz="quarter" idx="1"/>
          </p:nvPr>
        </p:nvSpPr>
        <p:spPr>
          <a:xfrm>
            <a:off x="609600" y="1752600"/>
            <a:ext cx="3886200" cy="4572000"/>
          </a:xfrm>
          <a:ln w="19050" cmpd="dbl">
            <a:solidFill>
              <a:schemeClr val="accent2">
                <a:lumMod val="75000"/>
              </a:schemeClr>
            </a:solidFill>
          </a:ln>
        </p:spPr>
        <p:txBody>
          <a:bodyPr>
            <a:noAutofit/>
          </a:bodyPr>
          <a:lstStyle/>
          <a:p>
            <a:pPr>
              <a:buFont typeface="Wingdings" pitchFamily="2" charset="2"/>
              <a:buChar char="Ø"/>
            </a:pPr>
            <a:r>
              <a:rPr lang="en-US" sz="2400" dirty="0" smtClean="0">
                <a:latin typeface="Bell MT" panose="02020503060305020303" pitchFamily="18" charset="0"/>
              </a:rPr>
              <a:t>Thirty people purchase raffle tickets. Three winning tickets are selected at random. In how many different ways can the prizes be awarded if the first prize is $5000, the second prize is $3000, and the third prize is $1000?</a:t>
            </a:r>
          </a:p>
          <a:p>
            <a:pPr>
              <a:buFont typeface="Wingdings" pitchFamily="2" charset="2"/>
              <a:buChar char="Ø"/>
            </a:pPr>
            <a:endParaRPr lang="en-US" sz="2400" dirty="0" smtClean="0">
              <a:latin typeface="Bell MT" panose="02020503060305020303" pitchFamily="18" charset="0"/>
            </a:endParaRPr>
          </a:p>
          <a:p>
            <a:pPr>
              <a:buFont typeface="Wingdings" pitchFamily="2" charset="2"/>
              <a:buChar char="Ø"/>
            </a:pPr>
            <a:r>
              <a:rPr lang="en-US" sz="2400" dirty="0" smtClean="0">
                <a:latin typeface="Bell MT" panose="02020503060305020303" pitchFamily="18" charset="0"/>
              </a:rPr>
              <a:t>This is a case of Permutation </a:t>
            </a:r>
          </a:p>
        </p:txBody>
      </p:sp>
      <mc:AlternateContent xmlns:mc="http://schemas.openxmlformats.org/markup-compatibility/2006" xmlns:a14="http://schemas.microsoft.com/office/drawing/2010/main">
        <mc:Choice Requires="a14">
          <p:sp>
            <p:nvSpPr>
              <p:cNvPr id="9" name="Content Placeholder 8"/>
              <p:cNvSpPr>
                <a:spLocks noGrp="1"/>
              </p:cNvSpPr>
              <p:nvPr>
                <p:ph sz="quarter" idx="2"/>
              </p:nvPr>
            </p:nvSpPr>
            <p:spPr>
              <a:xfrm>
                <a:off x="4495800" y="1752600"/>
                <a:ext cx="4235301" cy="4572000"/>
              </a:xfrm>
              <a:ln w="12700" cmpd="dbl">
                <a:solidFill>
                  <a:schemeClr val="accent2">
                    <a:lumMod val="75000"/>
                  </a:schemeClr>
                </a:solidFill>
              </a:ln>
            </p:spPr>
            <p:txBody>
              <a:bodyPr>
                <a:normAutofit fontScale="92500" lnSpcReduction="20000"/>
              </a:bodyPr>
              <a:lstStyle/>
              <a:p>
                <a:pPr>
                  <a:buFont typeface="Wingdings" pitchFamily="2" charset="2"/>
                  <a:buChar char="Ø"/>
                </a:pPr>
                <a:r>
                  <a:rPr lang="en-US" sz="3200" u="sng" dirty="0" smtClean="0">
                    <a:latin typeface="Baskerville Old Face" panose="02020602080505020303" pitchFamily="18" charset="0"/>
                  </a:rPr>
                  <a:t>Solution </a:t>
                </a:r>
              </a:p>
              <a:p>
                <a:pPr>
                  <a:lnSpc>
                    <a:spcPct val="150000"/>
                  </a:lnSpc>
                  <a:buFont typeface="Wingdings" pitchFamily="2" charset="2"/>
                  <a:buChar char="Ø"/>
                </a:pPr>
                <a:r>
                  <a:rPr lang="en-US" sz="3200" dirty="0" smtClean="0">
                    <a:latin typeface="Baskerville Old Face" panose="02020602080505020303" pitchFamily="18" charset="0"/>
                  </a:rPr>
                  <a:t>Number of ways =    P(30, 3) =</a:t>
                </a:r>
              </a:p>
              <a:p>
                <a:pPr>
                  <a:lnSpc>
                    <a:spcPct val="150000"/>
                  </a:lnSpc>
                  <a:buFont typeface="Wingdings" pitchFamily="2" charset="2"/>
                  <a:buChar char="Ø"/>
                </a:pPr>
                <a14:m>
                  <m:oMath xmlns:m="http://schemas.openxmlformats.org/officeDocument/2006/math">
                    <m:f>
                      <m:fPr>
                        <m:ctrlPr>
                          <a:rPr lang="en-US" sz="3200" b="0" i="1" smtClean="0">
                            <a:latin typeface="Cambria Math"/>
                          </a:rPr>
                        </m:ctrlPr>
                      </m:fPr>
                      <m:num>
                        <m:r>
                          <a:rPr lang="en-US" sz="3200" b="0" i="1" smtClean="0">
                            <a:latin typeface="Cambria Math"/>
                          </a:rPr>
                          <m:t>30!</m:t>
                        </m:r>
                      </m:num>
                      <m:den>
                        <m:d>
                          <m:dPr>
                            <m:ctrlPr>
                              <a:rPr lang="en-US" sz="3200" b="0" i="1" smtClean="0">
                                <a:latin typeface="Cambria Math"/>
                              </a:rPr>
                            </m:ctrlPr>
                          </m:dPr>
                          <m:e>
                            <m:r>
                              <a:rPr lang="en-US" sz="3200" b="0" i="1" smtClean="0">
                                <a:latin typeface="Cambria Math"/>
                              </a:rPr>
                              <m:t>30−3</m:t>
                            </m:r>
                          </m:e>
                        </m:d>
                        <m:r>
                          <a:rPr lang="en-US" sz="3200" b="0" i="1" smtClean="0">
                            <a:latin typeface="Cambria Math"/>
                          </a:rPr>
                          <m:t>!</m:t>
                        </m:r>
                      </m:den>
                    </m:f>
                  </m:oMath>
                </a14:m>
                <a:r>
                  <a:rPr lang="en-US" sz="3200" b="0" dirty="0" smtClean="0">
                    <a:latin typeface="Baskerville Old Face" panose="02020602080505020303" pitchFamily="18" charset="0"/>
                  </a:rPr>
                  <a:t> =</a:t>
                </a:r>
              </a:p>
              <a:p>
                <a:pPr>
                  <a:lnSpc>
                    <a:spcPct val="150000"/>
                  </a:lnSpc>
                  <a:buFont typeface="Wingdings" pitchFamily="2" charset="2"/>
                  <a:buChar char="Ø"/>
                </a:pPr>
                <a14:m>
                  <m:oMath xmlns:m="http://schemas.openxmlformats.org/officeDocument/2006/math">
                    <m:f>
                      <m:fPr>
                        <m:ctrlPr>
                          <a:rPr lang="en-US" sz="3200" i="1">
                            <a:solidFill>
                              <a:prstClr val="black"/>
                            </a:solidFill>
                            <a:latin typeface="Cambria Math"/>
                          </a:rPr>
                        </m:ctrlPr>
                      </m:fPr>
                      <m:num>
                        <m:r>
                          <a:rPr lang="en-US" sz="3200" b="0" i="1" smtClean="0">
                            <a:solidFill>
                              <a:prstClr val="black"/>
                            </a:solidFill>
                            <a:latin typeface="Cambria Math"/>
                          </a:rPr>
                          <m:t>30</m:t>
                        </m:r>
                        <m:r>
                          <a:rPr lang="en-US" sz="3200" i="1">
                            <a:solidFill>
                              <a:prstClr val="black"/>
                            </a:solidFill>
                            <a:latin typeface="Cambria Math"/>
                          </a:rPr>
                          <m:t>!</m:t>
                        </m:r>
                      </m:num>
                      <m:den>
                        <m:r>
                          <a:rPr lang="en-US" sz="3200" b="0" i="1" smtClean="0">
                            <a:solidFill>
                              <a:prstClr val="black"/>
                            </a:solidFill>
                            <a:latin typeface="Cambria Math"/>
                          </a:rPr>
                          <m:t>27</m:t>
                        </m:r>
                        <m:r>
                          <a:rPr lang="en-US" sz="3200" i="1">
                            <a:solidFill>
                              <a:prstClr val="black"/>
                            </a:solidFill>
                            <a:latin typeface="Cambria Math"/>
                          </a:rPr>
                          <m:t>!</m:t>
                        </m:r>
                      </m:den>
                    </m:f>
                  </m:oMath>
                </a14:m>
                <a:r>
                  <a:rPr lang="en-US" sz="3200" b="0" dirty="0" smtClean="0">
                    <a:latin typeface="Baskerville Old Face" panose="02020602080505020303" pitchFamily="18" charset="0"/>
                  </a:rPr>
                  <a:t> =</a:t>
                </a:r>
              </a:p>
              <a:p>
                <a:pPr>
                  <a:lnSpc>
                    <a:spcPct val="150000"/>
                  </a:lnSpc>
                  <a:buFont typeface="Wingdings" pitchFamily="2" charset="2"/>
                  <a:buChar char="Ø"/>
                </a:pPr>
                <a:r>
                  <a:rPr lang="en-US" sz="3200" dirty="0" smtClean="0">
                    <a:latin typeface="Baskerville Old Face" panose="02020602080505020303" pitchFamily="18" charset="0"/>
                  </a:rPr>
                  <a:t>24360 ways</a:t>
                </a:r>
                <a:endParaRPr lang="en-US" sz="3200" b="0" dirty="0" smtClean="0">
                  <a:latin typeface="Baskerville Old Face" panose="02020602080505020303" pitchFamily="18" charset="0"/>
                </a:endParaRPr>
              </a:p>
              <a:p>
                <a:pPr>
                  <a:buFont typeface="Wingdings" pitchFamily="2" charset="2"/>
                  <a:buChar char="Ø"/>
                </a:pPr>
                <a:endParaRPr lang="en-US" dirty="0" smtClean="0"/>
              </a:p>
              <a:p>
                <a:pPr>
                  <a:buFont typeface="Wingdings" pitchFamily="2" charset="2"/>
                  <a:buChar char="Ø"/>
                </a:pPr>
                <a:endParaRPr lang="en-US" dirty="0"/>
              </a:p>
              <a:p>
                <a:pPr>
                  <a:buFont typeface="Wingdings" pitchFamily="2" charset="2"/>
                  <a:buChar char="Ø"/>
                </a:pPr>
                <a:endParaRPr lang="en-US" dirty="0" smtClean="0"/>
              </a:p>
              <a:p>
                <a:pPr marL="0" indent="0">
                  <a:buNone/>
                </a:pPr>
                <a:endParaRPr lang="en-US" dirty="0" smtClean="0"/>
              </a:p>
              <a:p>
                <a:endParaRPr lang="en-US" dirty="0"/>
              </a:p>
            </p:txBody>
          </p:sp>
        </mc:Choice>
        <mc:Fallback xmlns="">
          <p:sp>
            <p:nvSpPr>
              <p:cNvPr id="9" name="Content Placeholder 8"/>
              <p:cNvSpPr>
                <a:spLocks noGrp="1" noRot="1" noChangeAspect="1" noMove="1" noResize="1" noEditPoints="1" noAdjustHandles="1" noChangeArrowheads="1" noChangeShapeType="1" noTextEdit="1"/>
              </p:cNvSpPr>
              <p:nvPr>
                <p:ph sz="quarter" idx="2"/>
              </p:nvPr>
            </p:nvSpPr>
            <p:spPr>
              <a:xfrm>
                <a:off x="4495800" y="1752600"/>
                <a:ext cx="4235301" cy="4572000"/>
              </a:xfrm>
              <a:blipFill rotWithShape="1">
                <a:blip r:embed="rId3"/>
                <a:stretch>
                  <a:fillRect l="-862" t="-3324"/>
                </a:stretch>
              </a:blipFill>
              <a:ln w="12700" cmpd="dbl">
                <a:solidFill>
                  <a:schemeClr val="accent2">
                    <a:lumMod val="7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3687616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fade">
                                      <p:cBhvr>
                                        <p:cTn id="19" dur="1000"/>
                                        <p:tgtEl>
                                          <p:spTgt spid="9">
                                            <p:txEl>
                                              <p:pRg st="2" end="2"/>
                                            </p:txEl>
                                          </p:spTgt>
                                        </p:tgtEl>
                                      </p:cBhvr>
                                    </p:animEffect>
                                    <p:anim calcmode="lin" valueType="num">
                                      <p:cBhvr>
                                        <p:cTn id="20"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animEffect transition="in" filter="fade">
                                      <p:cBhvr>
                                        <p:cTn id="24" dur="1000"/>
                                        <p:tgtEl>
                                          <p:spTgt spid="9">
                                            <p:txEl>
                                              <p:pRg st="3" end="3"/>
                                            </p:txEl>
                                          </p:spTgt>
                                        </p:tgtEl>
                                      </p:cBhvr>
                                    </p:animEffect>
                                    <p:anim calcmode="lin" valueType="num">
                                      <p:cBhvr>
                                        <p:cTn id="2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xEl>
                                              <p:pRg st="4" end="4"/>
                                            </p:txEl>
                                          </p:spTgt>
                                        </p:tgtEl>
                                        <p:attrNameLst>
                                          <p:attrName>style.visibility</p:attrName>
                                        </p:attrNameLst>
                                      </p:cBhvr>
                                      <p:to>
                                        <p:strVal val="visible"/>
                                      </p:to>
                                    </p:set>
                                    <p:animEffect transition="in" filter="fade">
                                      <p:cBhvr>
                                        <p:cTn id="29" dur="1000"/>
                                        <p:tgtEl>
                                          <p:spTgt spid="9">
                                            <p:txEl>
                                              <p:pRg st="4" end="4"/>
                                            </p:txEl>
                                          </p:spTgt>
                                        </p:tgtEl>
                                      </p:cBhvr>
                                    </p:animEffect>
                                    <p:anim calcmode="lin" valueType="num">
                                      <p:cBhvr>
                                        <p:cTn id="30"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smtClean="0"/>
              <a:t>Question </a:t>
            </a:r>
            <a:r>
              <a:rPr lang="en-US" dirty="0"/>
              <a:t>7</a:t>
            </a:r>
          </a:p>
        </p:txBody>
      </p:sp>
      <p:sp>
        <p:nvSpPr>
          <p:cNvPr id="3" name="Rectangle 2"/>
          <p:cNvSpPr>
            <a:spLocks noGrp="1"/>
          </p:cNvSpPr>
          <p:nvPr>
            <p:ph sz="quarter" idx="1"/>
          </p:nvPr>
        </p:nvSpPr>
        <p:spPr>
          <a:xfrm>
            <a:off x="609600" y="1752600"/>
            <a:ext cx="3886200" cy="4572000"/>
          </a:xfrm>
          <a:ln w="19050" cmpd="dbl">
            <a:solidFill>
              <a:schemeClr val="accent2">
                <a:lumMod val="75000"/>
              </a:schemeClr>
            </a:solidFill>
          </a:ln>
        </p:spPr>
        <p:txBody>
          <a:bodyPr>
            <a:noAutofit/>
          </a:bodyPr>
          <a:lstStyle/>
          <a:p>
            <a:pPr>
              <a:buFont typeface="Wingdings" pitchFamily="2" charset="2"/>
              <a:buChar char="Ø"/>
            </a:pPr>
            <a:r>
              <a:rPr lang="en-US" sz="2600" dirty="0" smtClean="0">
                <a:latin typeface="Bell MT" panose="02020503060305020303" pitchFamily="18" charset="0"/>
              </a:rPr>
              <a:t>Thirty people purchase raffle tickets. Three winning tickets are selected at random. In how many different ways can the prizes be awarded if each prize is $1000?</a:t>
            </a:r>
          </a:p>
          <a:p>
            <a:pPr>
              <a:buFont typeface="Wingdings" pitchFamily="2" charset="2"/>
              <a:buChar char="Ø"/>
            </a:pPr>
            <a:endParaRPr lang="en-US" sz="2600" dirty="0" smtClean="0">
              <a:latin typeface="Bell MT" panose="02020503060305020303" pitchFamily="18" charset="0"/>
            </a:endParaRPr>
          </a:p>
          <a:p>
            <a:pPr>
              <a:buFont typeface="Wingdings" pitchFamily="2" charset="2"/>
              <a:buChar char="Ø"/>
            </a:pPr>
            <a:r>
              <a:rPr lang="en-US" sz="2600" dirty="0" smtClean="0">
                <a:latin typeface="Bell MT" panose="02020503060305020303" pitchFamily="18" charset="0"/>
              </a:rPr>
              <a:t>This is a case of Combination </a:t>
            </a:r>
          </a:p>
        </p:txBody>
      </p:sp>
      <mc:AlternateContent xmlns:mc="http://schemas.openxmlformats.org/markup-compatibility/2006" xmlns:a14="http://schemas.microsoft.com/office/drawing/2010/main">
        <mc:Choice Requires="a14">
          <p:sp>
            <p:nvSpPr>
              <p:cNvPr id="9" name="Content Placeholder 8"/>
              <p:cNvSpPr>
                <a:spLocks noGrp="1"/>
              </p:cNvSpPr>
              <p:nvPr>
                <p:ph sz="quarter" idx="2"/>
              </p:nvPr>
            </p:nvSpPr>
            <p:spPr>
              <a:xfrm>
                <a:off x="4495800" y="1752600"/>
                <a:ext cx="4235301" cy="4572000"/>
              </a:xfrm>
              <a:ln w="12700" cmpd="dbl">
                <a:solidFill>
                  <a:schemeClr val="accent2">
                    <a:lumMod val="75000"/>
                  </a:schemeClr>
                </a:solidFill>
              </a:ln>
            </p:spPr>
            <p:txBody>
              <a:bodyPr>
                <a:normAutofit fontScale="92500" lnSpcReduction="20000"/>
              </a:bodyPr>
              <a:lstStyle/>
              <a:p>
                <a:pPr>
                  <a:buFont typeface="Wingdings" pitchFamily="2" charset="2"/>
                  <a:buChar char="Ø"/>
                </a:pPr>
                <a:r>
                  <a:rPr lang="en-US" sz="3200" u="sng" dirty="0" smtClean="0">
                    <a:latin typeface="Baskerville Old Face" panose="02020602080505020303" pitchFamily="18" charset="0"/>
                  </a:rPr>
                  <a:t>Solution </a:t>
                </a:r>
              </a:p>
              <a:p>
                <a:pPr>
                  <a:lnSpc>
                    <a:spcPct val="150000"/>
                  </a:lnSpc>
                  <a:buFont typeface="Wingdings" pitchFamily="2" charset="2"/>
                  <a:buChar char="Ø"/>
                </a:pPr>
                <a:r>
                  <a:rPr lang="en-US" sz="3200" dirty="0" smtClean="0">
                    <a:latin typeface="Baskerville Old Face" panose="02020602080505020303" pitchFamily="18" charset="0"/>
                  </a:rPr>
                  <a:t>Number of ways =    </a:t>
                </a:r>
                <a:r>
                  <a:rPr lang="en-US" sz="3200" dirty="0">
                    <a:latin typeface="Baskerville Old Face" panose="02020602080505020303" pitchFamily="18" charset="0"/>
                  </a:rPr>
                  <a:t>C</a:t>
                </a:r>
                <a:r>
                  <a:rPr lang="en-US" sz="3200" dirty="0" smtClean="0">
                    <a:latin typeface="Baskerville Old Face" panose="02020602080505020303" pitchFamily="18" charset="0"/>
                  </a:rPr>
                  <a:t>(30, 3) =</a:t>
                </a:r>
              </a:p>
              <a:p>
                <a:pPr>
                  <a:lnSpc>
                    <a:spcPct val="150000"/>
                  </a:lnSpc>
                  <a:buFont typeface="Wingdings" pitchFamily="2" charset="2"/>
                  <a:buChar char="Ø"/>
                </a:pPr>
                <a14:m>
                  <m:oMath xmlns:m="http://schemas.openxmlformats.org/officeDocument/2006/math">
                    <m:f>
                      <m:fPr>
                        <m:ctrlPr>
                          <a:rPr lang="en-US" sz="3200" b="0" i="1" smtClean="0">
                            <a:latin typeface="Cambria Math"/>
                          </a:rPr>
                        </m:ctrlPr>
                      </m:fPr>
                      <m:num>
                        <m:r>
                          <a:rPr lang="en-US" sz="3200" b="0" i="1" smtClean="0">
                            <a:latin typeface="Cambria Math"/>
                          </a:rPr>
                          <m:t>30!</m:t>
                        </m:r>
                      </m:num>
                      <m:den>
                        <m:d>
                          <m:dPr>
                            <m:ctrlPr>
                              <a:rPr lang="en-US" sz="3200" b="0" i="1" smtClean="0">
                                <a:latin typeface="Cambria Math"/>
                              </a:rPr>
                            </m:ctrlPr>
                          </m:dPr>
                          <m:e>
                            <m:r>
                              <a:rPr lang="en-US" sz="3200" b="0" i="1" smtClean="0">
                                <a:latin typeface="Cambria Math"/>
                              </a:rPr>
                              <m:t>30−3</m:t>
                            </m:r>
                          </m:e>
                        </m:d>
                        <m:r>
                          <a:rPr lang="en-US" sz="3200" b="0" i="1" smtClean="0">
                            <a:latin typeface="Cambria Math"/>
                          </a:rPr>
                          <m:t>!∗3!</m:t>
                        </m:r>
                      </m:den>
                    </m:f>
                  </m:oMath>
                </a14:m>
                <a:r>
                  <a:rPr lang="en-US" sz="3200" b="0" dirty="0" smtClean="0">
                    <a:latin typeface="Baskerville Old Face" panose="02020602080505020303" pitchFamily="18" charset="0"/>
                  </a:rPr>
                  <a:t> =</a:t>
                </a:r>
              </a:p>
              <a:p>
                <a:pPr>
                  <a:lnSpc>
                    <a:spcPct val="150000"/>
                  </a:lnSpc>
                  <a:buFont typeface="Wingdings" pitchFamily="2" charset="2"/>
                  <a:buChar char="Ø"/>
                </a:pPr>
                <a14:m>
                  <m:oMath xmlns:m="http://schemas.openxmlformats.org/officeDocument/2006/math">
                    <m:f>
                      <m:fPr>
                        <m:ctrlPr>
                          <a:rPr lang="en-US" sz="3200" i="1">
                            <a:solidFill>
                              <a:prstClr val="black"/>
                            </a:solidFill>
                            <a:latin typeface="Cambria Math"/>
                          </a:rPr>
                        </m:ctrlPr>
                      </m:fPr>
                      <m:num>
                        <m:r>
                          <a:rPr lang="en-US" sz="3200" b="0" i="1" smtClean="0">
                            <a:solidFill>
                              <a:prstClr val="black"/>
                            </a:solidFill>
                            <a:latin typeface="Cambria Math"/>
                          </a:rPr>
                          <m:t>30</m:t>
                        </m:r>
                        <m:r>
                          <a:rPr lang="en-US" sz="3200" i="1">
                            <a:solidFill>
                              <a:prstClr val="black"/>
                            </a:solidFill>
                            <a:latin typeface="Cambria Math"/>
                          </a:rPr>
                          <m:t>!</m:t>
                        </m:r>
                      </m:num>
                      <m:den>
                        <m:r>
                          <a:rPr lang="en-US" sz="3200" b="0" i="1" smtClean="0">
                            <a:solidFill>
                              <a:prstClr val="black"/>
                            </a:solidFill>
                            <a:latin typeface="Cambria Math"/>
                          </a:rPr>
                          <m:t>27!∗3</m:t>
                        </m:r>
                        <m:r>
                          <a:rPr lang="en-US" sz="3200" i="1">
                            <a:solidFill>
                              <a:prstClr val="black"/>
                            </a:solidFill>
                            <a:latin typeface="Cambria Math"/>
                          </a:rPr>
                          <m:t>!</m:t>
                        </m:r>
                      </m:den>
                    </m:f>
                  </m:oMath>
                </a14:m>
                <a:r>
                  <a:rPr lang="en-US" sz="3200" b="0" dirty="0" smtClean="0">
                    <a:latin typeface="Baskerville Old Face" panose="02020602080505020303" pitchFamily="18" charset="0"/>
                  </a:rPr>
                  <a:t> =</a:t>
                </a:r>
              </a:p>
              <a:p>
                <a:pPr>
                  <a:lnSpc>
                    <a:spcPct val="150000"/>
                  </a:lnSpc>
                  <a:buFont typeface="Wingdings" pitchFamily="2" charset="2"/>
                  <a:buChar char="Ø"/>
                </a:pPr>
                <a:r>
                  <a:rPr lang="en-US" sz="3200" dirty="0" smtClean="0">
                    <a:latin typeface="Baskerville Old Face" panose="02020602080505020303" pitchFamily="18" charset="0"/>
                  </a:rPr>
                  <a:t>4060 ways</a:t>
                </a:r>
                <a:endParaRPr lang="en-US" sz="3200" b="0" dirty="0" smtClean="0">
                  <a:latin typeface="Baskerville Old Face" panose="02020602080505020303" pitchFamily="18" charset="0"/>
                </a:endParaRPr>
              </a:p>
              <a:p>
                <a:pPr>
                  <a:buFont typeface="Wingdings" pitchFamily="2" charset="2"/>
                  <a:buChar char="Ø"/>
                </a:pPr>
                <a:endParaRPr lang="en-US" dirty="0" smtClean="0"/>
              </a:p>
              <a:p>
                <a:pPr>
                  <a:buFont typeface="Wingdings" pitchFamily="2" charset="2"/>
                  <a:buChar char="Ø"/>
                </a:pPr>
                <a:endParaRPr lang="en-US" dirty="0"/>
              </a:p>
              <a:p>
                <a:pPr>
                  <a:buFont typeface="Wingdings" pitchFamily="2" charset="2"/>
                  <a:buChar char="Ø"/>
                </a:pPr>
                <a:endParaRPr lang="en-US" dirty="0" smtClean="0"/>
              </a:p>
              <a:p>
                <a:pPr marL="0" indent="0">
                  <a:buNone/>
                </a:pPr>
                <a:endParaRPr lang="en-US" dirty="0" smtClean="0"/>
              </a:p>
              <a:p>
                <a:endParaRPr lang="en-US" dirty="0"/>
              </a:p>
            </p:txBody>
          </p:sp>
        </mc:Choice>
        <mc:Fallback xmlns="">
          <p:sp>
            <p:nvSpPr>
              <p:cNvPr id="9" name="Content Placeholder 8"/>
              <p:cNvSpPr>
                <a:spLocks noGrp="1" noRot="1" noChangeAspect="1" noMove="1" noResize="1" noEditPoints="1" noAdjustHandles="1" noChangeArrowheads="1" noChangeShapeType="1" noTextEdit="1"/>
              </p:cNvSpPr>
              <p:nvPr>
                <p:ph sz="quarter" idx="2"/>
              </p:nvPr>
            </p:nvSpPr>
            <p:spPr>
              <a:xfrm>
                <a:off x="4495800" y="1752600"/>
                <a:ext cx="4235301" cy="4572000"/>
              </a:xfrm>
              <a:blipFill rotWithShape="1">
                <a:blip r:embed="rId3"/>
                <a:stretch>
                  <a:fillRect l="-862" t="-3324"/>
                </a:stretch>
              </a:blipFill>
              <a:ln w="12700" cmpd="dbl">
                <a:solidFill>
                  <a:schemeClr val="accent2">
                    <a:lumMod val="7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1771798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fade">
                                      <p:cBhvr>
                                        <p:cTn id="19" dur="1000"/>
                                        <p:tgtEl>
                                          <p:spTgt spid="9">
                                            <p:txEl>
                                              <p:pRg st="2" end="2"/>
                                            </p:txEl>
                                          </p:spTgt>
                                        </p:tgtEl>
                                      </p:cBhvr>
                                    </p:animEffect>
                                    <p:anim calcmode="lin" valueType="num">
                                      <p:cBhvr>
                                        <p:cTn id="20"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animEffect transition="in" filter="fade">
                                      <p:cBhvr>
                                        <p:cTn id="24" dur="1000"/>
                                        <p:tgtEl>
                                          <p:spTgt spid="9">
                                            <p:txEl>
                                              <p:pRg st="3" end="3"/>
                                            </p:txEl>
                                          </p:spTgt>
                                        </p:tgtEl>
                                      </p:cBhvr>
                                    </p:animEffect>
                                    <p:anim calcmode="lin" valueType="num">
                                      <p:cBhvr>
                                        <p:cTn id="2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xEl>
                                              <p:pRg st="4" end="4"/>
                                            </p:txEl>
                                          </p:spTgt>
                                        </p:tgtEl>
                                        <p:attrNameLst>
                                          <p:attrName>style.visibility</p:attrName>
                                        </p:attrNameLst>
                                      </p:cBhvr>
                                      <p:to>
                                        <p:strVal val="visible"/>
                                      </p:to>
                                    </p:set>
                                    <p:animEffect transition="in" filter="fade">
                                      <p:cBhvr>
                                        <p:cTn id="29" dur="1000"/>
                                        <p:tgtEl>
                                          <p:spTgt spid="9">
                                            <p:txEl>
                                              <p:pRg st="4" end="4"/>
                                            </p:txEl>
                                          </p:spTgt>
                                        </p:tgtEl>
                                      </p:cBhvr>
                                    </p:animEffect>
                                    <p:anim calcmode="lin" valueType="num">
                                      <p:cBhvr>
                                        <p:cTn id="30"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smtClean="0"/>
              <a:t>Question 8</a:t>
            </a:r>
            <a:endParaRPr lang="en-US" dirty="0"/>
          </a:p>
        </p:txBody>
      </p:sp>
      <p:sp>
        <p:nvSpPr>
          <p:cNvPr id="3" name="Rectangle 2"/>
          <p:cNvSpPr>
            <a:spLocks noGrp="1"/>
          </p:cNvSpPr>
          <p:nvPr>
            <p:ph sz="quarter" idx="1"/>
          </p:nvPr>
        </p:nvSpPr>
        <p:spPr>
          <a:xfrm>
            <a:off x="609600" y="1752600"/>
            <a:ext cx="3886200" cy="4572000"/>
          </a:xfrm>
          <a:ln w="19050" cmpd="dbl">
            <a:solidFill>
              <a:schemeClr val="accent2">
                <a:lumMod val="75000"/>
              </a:schemeClr>
            </a:solidFill>
          </a:ln>
        </p:spPr>
        <p:txBody>
          <a:bodyPr>
            <a:noAutofit/>
          </a:bodyPr>
          <a:lstStyle/>
          <a:p>
            <a:pPr>
              <a:buFont typeface="Wingdings" pitchFamily="2" charset="2"/>
              <a:buChar char="Ø"/>
            </a:pPr>
            <a:r>
              <a:rPr lang="en-US" sz="3200" dirty="0" smtClean="0">
                <a:latin typeface="Bell MT" panose="02020503060305020303" pitchFamily="18" charset="0"/>
              </a:rPr>
              <a:t>In how many different ways can a committee of 12 be chosen from a group of 21 politicians ?</a:t>
            </a:r>
          </a:p>
          <a:p>
            <a:pPr>
              <a:buFont typeface="Wingdings" pitchFamily="2" charset="2"/>
              <a:buChar char="Ø"/>
            </a:pPr>
            <a:endParaRPr lang="en-US" sz="3200" dirty="0" smtClean="0">
              <a:latin typeface="Bell MT" panose="02020503060305020303" pitchFamily="18" charset="0"/>
            </a:endParaRPr>
          </a:p>
          <a:p>
            <a:pPr>
              <a:buFont typeface="Wingdings" pitchFamily="2" charset="2"/>
              <a:buChar char="Ø"/>
            </a:pPr>
            <a:r>
              <a:rPr lang="en-US" sz="3200" dirty="0" smtClean="0">
                <a:latin typeface="Bell MT" panose="02020503060305020303" pitchFamily="18" charset="0"/>
              </a:rPr>
              <a:t>This is a case of Combination </a:t>
            </a:r>
          </a:p>
        </p:txBody>
      </p:sp>
      <mc:AlternateContent xmlns:mc="http://schemas.openxmlformats.org/markup-compatibility/2006" xmlns:a14="http://schemas.microsoft.com/office/drawing/2010/main">
        <mc:Choice Requires="a14">
          <p:sp>
            <p:nvSpPr>
              <p:cNvPr id="9" name="Content Placeholder 8"/>
              <p:cNvSpPr>
                <a:spLocks noGrp="1"/>
              </p:cNvSpPr>
              <p:nvPr>
                <p:ph sz="quarter" idx="2"/>
              </p:nvPr>
            </p:nvSpPr>
            <p:spPr>
              <a:xfrm>
                <a:off x="4495800" y="1752600"/>
                <a:ext cx="4235301" cy="4572000"/>
              </a:xfrm>
              <a:ln w="12700" cmpd="dbl">
                <a:solidFill>
                  <a:schemeClr val="accent2">
                    <a:lumMod val="75000"/>
                  </a:schemeClr>
                </a:solidFill>
              </a:ln>
            </p:spPr>
            <p:txBody>
              <a:bodyPr>
                <a:normAutofit fontScale="85000" lnSpcReduction="20000"/>
              </a:bodyPr>
              <a:lstStyle/>
              <a:p>
                <a:pPr>
                  <a:buFont typeface="Wingdings" pitchFamily="2" charset="2"/>
                  <a:buChar char="Ø"/>
                </a:pPr>
                <a:r>
                  <a:rPr lang="en-US" sz="3600" u="sng" dirty="0" smtClean="0">
                    <a:latin typeface="Baskerville Old Face" panose="02020602080505020303" pitchFamily="18" charset="0"/>
                  </a:rPr>
                  <a:t>Solution </a:t>
                </a:r>
              </a:p>
              <a:p>
                <a:pPr>
                  <a:lnSpc>
                    <a:spcPct val="150000"/>
                  </a:lnSpc>
                  <a:buFont typeface="Wingdings" pitchFamily="2" charset="2"/>
                  <a:buChar char="Ø"/>
                </a:pPr>
                <a:r>
                  <a:rPr lang="en-US" sz="3600" dirty="0" smtClean="0">
                    <a:latin typeface="Baskerville Old Face" panose="02020602080505020303" pitchFamily="18" charset="0"/>
                  </a:rPr>
                  <a:t>Number of ways = C(21, 12) =</a:t>
                </a:r>
              </a:p>
              <a:p>
                <a:pPr>
                  <a:lnSpc>
                    <a:spcPct val="150000"/>
                  </a:lnSpc>
                  <a:buFont typeface="Wingdings" pitchFamily="2" charset="2"/>
                  <a:buChar char="Ø"/>
                </a:pPr>
                <a14:m>
                  <m:oMath xmlns:m="http://schemas.openxmlformats.org/officeDocument/2006/math">
                    <m:f>
                      <m:fPr>
                        <m:ctrlPr>
                          <a:rPr lang="en-US" sz="3600" b="0" i="1" smtClean="0">
                            <a:latin typeface="Cambria Math"/>
                          </a:rPr>
                        </m:ctrlPr>
                      </m:fPr>
                      <m:num>
                        <m:r>
                          <a:rPr lang="en-US" sz="3600" b="0" i="1" smtClean="0">
                            <a:latin typeface="Cambria Math"/>
                          </a:rPr>
                          <m:t>21!</m:t>
                        </m:r>
                      </m:num>
                      <m:den>
                        <m:d>
                          <m:dPr>
                            <m:ctrlPr>
                              <a:rPr lang="en-US" sz="3600" b="0" i="1" smtClean="0">
                                <a:latin typeface="Cambria Math"/>
                              </a:rPr>
                            </m:ctrlPr>
                          </m:dPr>
                          <m:e>
                            <m:r>
                              <a:rPr lang="en-US" sz="3600" b="0" i="1" smtClean="0">
                                <a:latin typeface="Cambria Math"/>
                              </a:rPr>
                              <m:t>21−12</m:t>
                            </m:r>
                          </m:e>
                        </m:d>
                        <m:r>
                          <a:rPr lang="en-US" sz="3600" b="0" i="1" smtClean="0">
                            <a:latin typeface="Cambria Math"/>
                          </a:rPr>
                          <m:t>!∗12!</m:t>
                        </m:r>
                      </m:den>
                    </m:f>
                  </m:oMath>
                </a14:m>
                <a:r>
                  <a:rPr lang="en-US" sz="3600" b="0" dirty="0" smtClean="0">
                    <a:latin typeface="Baskerville Old Face" panose="02020602080505020303" pitchFamily="18" charset="0"/>
                  </a:rPr>
                  <a:t> =</a:t>
                </a:r>
              </a:p>
              <a:p>
                <a:pPr>
                  <a:lnSpc>
                    <a:spcPct val="150000"/>
                  </a:lnSpc>
                  <a:buFont typeface="Wingdings" pitchFamily="2" charset="2"/>
                  <a:buChar char="Ø"/>
                </a:pPr>
                <a14:m>
                  <m:oMath xmlns:m="http://schemas.openxmlformats.org/officeDocument/2006/math">
                    <m:f>
                      <m:fPr>
                        <m:ctrlPr>
                          <a:rPr lang="en-US" sz="3600" i="1">
                            <a:solidFill>
                              <a:prstClr val="black"/>
                            </a:solidFill>
                            <a:latin typeface="Cambria Math"/>
                          </a:rPr>
                        </m:ctrlPr>
                      </m:fPr>
                      <m:num>
                        <m:r>
                          <a:rPr lang="en-US" sz="3600" b="0" i="1" smtClean="0">
                            <a:solidFill>
                              <a:prstClr val="black"/>
                            </a:solidFill>
                            <a:latin typeface="Cambria Math"/>
                          </a:rPr>
                          <m:t>21</m:t>
                        </m:r>
                        <m:r>
                          <a:rPr lang="en-US" sz="3600" i="1">
                            <a:solidFill>
                              <a:prstClr val="black"/>
                            </a:solidFill>
                            <a:latin typeface="Cambria Math"/>
                          </a:rPr>
                          <m:t>!</m:t>
                        </m:r>
                      </m:num>
                      <m:den>
                        <m:r>
                          <a:rPr lang="en-US" sz="3600" b="0" i="1" smtClean="0">
                            <a:solidFill>
                              <a:prstClr val="black"/>
                            </a:solidFill>
                            <a:latin typeface="Cambria Math"/>
                          </a:rPr>
                          <m:t>9</m:t>
                        </m:r>
                        <m:r>
                          <a:rPr lang="en-US" sz="3600" i="1">
                            <a:solidFill>
                              <a:prstClr val="black"/>
                            </a:solidFill>
                            <a:latin typeface="Cambria Math"/>
                          </a:rPr>
                          <m:t>!∗12!</m:t>
                        </m:r>
                      </m:den>
                    </m:f>
                  </m:oMath>
                </a14:m>
                <a:r>
                  <a:rPr lang="en-US" sz="3600" b="0" dirty="0" smtClean="0">
                    <a:latin typeface="Baskerville Old Face" panose="02020602080505020303" pitchFamily="18" charset="0"/>
                  </a:rPr>
                  <a:t> =</a:t>
                </a:r>
              </a:p>
              <a:p>
                <a:pPr>
                  <a:lnSpc>
                    <a:spcPct val="150000"/>
                  </a:lnSpc>
                  <a:buFont typeface="Wingdings" pitchFamily="2" charset="2"/>
                  <a:buChar char="Ø"/>
                </a:pPr>
                <a:r>
                  <a:rPr lang="en-US" sz="3600" dirty="0" smtClean="0">
                    <a:latin typeface="Baskerville Old Face" panose="02020602080505020303" pitchFamily="18" charset="0"/>
                  </a:rPr>
                  <a:t>293930 ways</a:t>
                </a:r>
                <a:endParaRPr lang="en-US" sz="3600" b="0" dirty="0" smtClean="0">
                  <a:latin typeface="Baskerville Old Face" panose="02020602080505020303" pitchFamily="18" charset="0"/>
                </a:endParaRPr>
              </a:p>
              <a:p>
                <a:pPr>
                  <a:buFont typeface="Wingdings" pitchFamily="2" charset="2"/>
                  <a:buChar char="Ø"/>
                </a:pPr>
                <a:endParaRPr lang="en-US" dirty="0" smtClean="0"/>
              </a:p>
              <a:p>
                <a:pPr>
                  <a:buFont typeface="Wingdings" pitchFamily="2" charset="2"/>
                  <a:buChar char="Ø"/>
                </a:pPr>
                <a:endParaRPr lang="en-US" dirty="0"/>
              </a:p>
              <a:p>
                <a:pPr>
                  <a:buFont typeface="Wingdings" pitchFamily="2" charset="2"/>
                  <a:buChar char="Ø"/>
                </a:pPr>
                <a:endParaRPr lang="en-US" dirty="0" smtClean="0"/>
              </a:p>
              <a:p>
                <a:pPr marL="0" indent="0">
                  <a:buNone/>
                </a:pPr>
                <a:endParaRPr lang="en-US" dirty="0" smtClean="0"/>
              </a:p>
              <a:p>
                <a:endParaRPr lang="en-US" dirty="0"/>
              </a:p>
            </p:txBody>
          </p:sp>
        </mc:Choice>
        <mc:Fallback xmlns="">
          <p:sp>
            <p:nvSpPr>
              <p:cNvPr id="9" name="Content Placeholder 8"/>
              <p:cNvSpPr>
                <a:spLocks noGrp="1" noRot="1" noChangeAspect="1" noMove="1" noResize="1" noEditPoints="1" noAdjustHandles="1" noChangeArrowheads="1" noChangeShapeType="1" noTextEdit="1"/>
              </p:cNvSpPr>
              <p:nvPr>
                <p:ph sz="quarter" idx="2"/>
              </p:nvPr>
            </p:nvSpPr>
            <p:spPr>
              <a:xfrm>
                <a:off x="4495800" y="1752600"/>
                <a:ext cx="4235301" cy="4572000"/>
              </a:xfrm>
              <a:blipFill rotWithShape="1">
                <a:blip r:embed="rId3"/>
                <a:stretch>
                  <a:fillRect l="-862" t="-3191" b="-1463"/>
                </a:stretch>
              </a:blipFill>
              <a:ln w="12700" cmpd="dbl">
                <a:solidFill>
                  <a:schemeClr val="accent2">
                    <a:lumMod val="7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2365698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fade">
                                      <p:cBhvr>
                                        <p:cTn id="19" dur="1000"/>
                                        <p:tgtEl>
                                          <p:spTgt spid="9">
                                            <p:txEl>
                                              <p:pRg st="2" end="2"/>
                                            </p:txEl>
                                          </p:spTgt>
                                        </p:tgtEl>
                                      </p:cBhvr>
                                    </p:animEffect>
                                    <p:anim calcmode="lin" valueType="num">
                                      <p:cBhvr>
                                        <p:cTn id="20"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animEffect transition="in" filter="fade">
                                      <p:cBhvr>
                                        <p:cTn id="24" dur="1000"/>
                                        <p:tgtEl>
                                          <p:spTgt spid="9">
                                            <p:txEl>
                                              <p:pRg st="3" end="3"/>
                                            </p:txEl>
                                          </p:spTgt>
                                        </p:tgtEl>
                                      </p:cBhvr>
                                    </p:animEffect>
                                    <p:anim calcmode="lin" valueType="num">
                                      <p:cBhvr>
                                        <p:cTn id="2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xEl>
                                              <p:pRg st="4" end="4"/>
                                            </p:txEl>
                                          </p:spTgt>
                                        </p:tgtEl>
                                        <p:attrNameLst>
                                          <p:attrName>style.visibility</p:attrName>
                                        </p:attrNameLst>
                                      </p:cBhvr>
                                      <p:to>
                                        <p:strVal val="visible"/>
                                      </p:to>
                                    </p:set>
                                    <p:animEffect transition="in" filter="fade">
                                      <p:cBhvr>
                                        <p:cTn id="29" dur="1000"/>
                                        <p:tgtEl>
                                          <p:spTgt spid="9">
                                            <p:txEl>
                                              <p:pRg st="4" end="4"/>
                                            </p:txEl>
                                          </p:spTgt>
                                        </p:tgtEl>
                                      </p:cBhvr>
                                    </p:animEffect>
                                    <p:anim calcmode="lin" valueType="num">
                                      <p:cBhvr>
                                        <p:cTn id="30"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smtClean="0"/>
              <a:t>Question 9</a:t>
            </a:r>
            <a:endParaRPr lang="en-US" dirty="0"/>
          </a:p>
        </p:txBody>
      </p:sp>
      <p:sp>
        <p:nvSpPr>
          <p:cNvPr id="3" name="Rectangle 2"/>
          <p:cNvSpPr>
            <a:spLocks noGrp="1"/>
          </p:cNvSpPr>
          <p:nvPr>
            <p:ph sz="quarter" idx="1"/>
          </p:nvPr>
        </p:nvSpPr>
        <p:spPr>
          <a:xfrm>
            <a:off x="609600" y="1752600"/>
            <a:ext cx="3886200" cy="4572000"/>
          </a:xfrm>
          <a:ln w="19050" cmpd="dbl">
            <a:solidFill>
              <a:schemeClr val="accent2">
                <a:lumMod val="75000"/>
              </a:schemeClr>
            </a:solidFill>
          </a:ln>
        </p:spPr>
        <p:txBody>
          <a:bodyPr>
            <a:noAutofit/>
          </a:bodyPr>
          <a:lstStyle/>
          <a:p>
            <a:pPr>
              <a:buFont typeface="Wingdings" pitchFamily="2" charset="2"/>
              <a:buChar char="Ø"/>
            </a:pPr>
            <a:r>
              <a:rPr lang="en-US" sz="2800" dirty="0" smtClean="0">
                <a:latin typeface="Bell MT" panose="02020503060305020303" pitchFamily="18" charset="0"/>
              </a:rPr>
              <a:t>In how many different ways can a committee of 12 be chosen from a group of 16 Republicans and 5 Democrats?</a:t>
            </a:r>
          </a:p>
          <a:p>
            <a:pPr>
              <a:buFont typeface="Wingdings" pitchFamily="2" charset="2"/>
              <a:buChar char="Ø"/>
            </a:pPr>
            <a:endParaRPr lang="en-US" sz="2800" dirty="0" smtClean="0">
              <a:latin typeface="Bell MT" panose="02020503060305020303" pitchFamily="18" charset="0"/>
            </a:endParaRPr>
          </a:p>
          <a:p>
            <a:pPr>
              <a:buFont typeface="Wingdings" pitchFamily="2" charset="2"/>
              <a:buChar char="Ø"/>
            </a:pPr>
            <a:r>
              <a:rPr lang="en-US" sz="2800" dirty="0" smtClean="0">
                <a:latin typeface="Bell MT" panose="02020503060305020303" pitchFamily="18" charset="0"/>
              </a:rPr>
              <a:t>This is a case of Combination </a:t>
            </a:r>
          </a:p>
        </p:txBody>
      </p:sp>
      <mc:AlternateContent xmlns:mc="http://schemas.openxmlformats.org/markup-compatibility/2006" xmlns:a14="http://schemas.microsoft.com/office/drawing/2010/main">
        <mc:Choice Requires="a14">
          <p:sp>
            <p:nvSpPr>
              <p:cNvPr id="9" name="Content Placeholder 8"/>
              <p:cNvSpPr>
                <a:spLocks noGrp="1"/>
              </p:cNvSpPr>
              <p:nvPr>
                <p:ph sz="quarter" idx="2"/>
              </p:nvPr>
            </p:nvSpPr>
            <p:spPr>
              <a:xfrm>
                <a:off x="4495800" y="1752600"/>
                <a:ext cx="4235301" cy="4572000"/>
              </a:xfrm>
              <a:ln w="12700" cmpd="dbl">
                <a:solidFill>
                  <a:schemeClr val="accent2">
                    <a:lumMod val="75000"/>
                  </a:schemeClr>
                </a:solidFill>
              </a:ln>
            </p:spPr>
            <p:txBody>
              <a:bodyPr>
                <a:normAutofit fontScale="85000" lnSpcReduction="20000"/>
              </a:bodyPr>
              <a:lstStyle/>
              <a:p>
                <a:pPr>
                  <a:buFont typeface="Wingdings" pitchFamily="2" charset="2"/>
                  <a:buChar char="Ø"/>
                </a:pPr>
                <a:r>
                  <a:rPr lang="en-US" sz="3600" u="sng" dirty="0" smtClean="0">
                    <a:latin typeface="Baskerville Old Face" panose="02020602080505020303" pitchFamily="18" charset="0"/>
                  </a:rPr>
                  <a:t>Solution </a:t>
                </a:r>
              </a:p>
              <a:p>
                <a:pPr>
                  <a:lnSpc>
                    <a:spcPct val="150000"/>
                  </a:lnSpc>
                  <a:buFont typeface="Wingdings" pitchFamily="2" charset="2"/>
                  <a:buChar char="Ø"/>
                </a:pPr>
                <a:r>
                  <a:rPr lang="en-US" sz="3600" dirty="0" smtClean="0">
                    <a:latin typeface="Baskerville Old Face" panose="02020602080505020303" pitchFamily="18" charset="0"/>
                  </a:rPr>
                  <a:t>Number of ways = C(21, 12) =</a:t>
                </a:r>
              </a:p>
              <a:p>
                <a:pPr>
                  <a:lnSpc>
                    <a:spcPct val="150000"/>
                  </a:lnSpc>
                  <a:buFont typeface="Wingdings" pitchFamily="2" charset="2"/>
                  <a:buChar char="Ø"/>
                </a:pPr>
                <a14:m>
                  <m:oMath xmlns:m="http://schemas.openxmlformats.org/officeDocument/2006/math">
                    <m:f>
                      <m:fPr>
                        <m:ctrlPr>
                          <a:rPr lang="en-US" sz="3600" b="0" i="1" smtClean="0">
                            <a:latin typeface="Cambria Math"/>
                          </a:rPr>
                        </m:ctrlPr>
                      </m:fPr>
                      <m:num>
                        <m:r>
                          <a:rPr lang="en-US" sz="3600" b="0" i="1" smtClean="0">
                            <a:latin typeface="Cambria Math"/>
                          </a:rPr>
                          <m:t>21!</m:t>
                        </m:r>
                      </m:num>
                      <m:den>
                        <m:d>
                          <m:dPr>
                            <m:ctrlPr>
                              <a:rPr lang="en-US" sz="3600" b="0" i="1" smtClean="0">
                                <a:latin typeface="Cambria Math"/>
                              </a:rPr>
                            </m:ctrlPr>
                          </m:dPr>
                          <m:e>
                            <m:r>
                              <a:rPr lang="en-US" sz="3600" b="0" i="1" smtClean="0">
                                <a:latin typeface="Cambria Math"/>
                              </a:rPr>
                              <m:t>21−12</m:t>
                            </m:r>
                          </m:e>
                        </m:d>
                        <m:r>
                          <a:rPr lang="en-US" sz="3600" b="0" i="1" smtClean="0">
                            <a:latin typeface="Cambria Math"/>
                          </a:rPr>
                          <m:t>!∗12!</m:t>
                        </m:r>
                      </m:den>
                    </m:f>
                  </m:oMath>
                </a14:m>
                <a:r>
                  <a:rPr lang="en-US" sz="3600" b="0" dirty="0" smtClean="0">
                    <a:latin typeface="Baskerville Old Face" panose="02020602080505020303" pitchFamily="18" charset="0"/>
                  </a:rPr>
                  <a:t> =</a:t>
                </a:r>
              </a:p>
              <a:p>
                <a:pPr>
                  <a:lnSpc>
                    <a:spcPct val="150000"/>
                  </a:lnSpc>
                  <a:buFont typeface="Wingdings" pitchFamily="2" charset="2"/>
                  <a:buChar char="Ø"/>
                </a:pPr>
                <a14:m>
                  <m:oMath xmlns:m="http://schemas.openxmlformats.org/officeDocument/2006/math">
                    <m:f>
                      <m:fPr>
                        <m:ctrlPr>
                          <a:rPr lang="en-US" sz="3600" i="1">
                            <a:solidFill>
                              <a:prstClr val="black"/>
                            </a:solidFill>
                            <a:latin typeface="Cambria Math"/>
                          </a:rPr>
                        </m:ctrlPr>
                      </m:fPr>
                      <m:num>
                        <m:r>
                          <a:rPr lang="en-US" sz="3600" b="0" i="1" smtClean="0">
                            <a:solidFill>
                              <a:prstClr val="black"/>
                            </a:solidFill>
                            <a:latin typeface="Cambria Math"/>
                          </a:rPr>
                          <m:t>21</m:t>
                        </m:r>
                        <m:r>
                          <a:rPr lang="en-US" sz="3600" i="1">
                            <a:solidFill>
                              <a:prstClr val="black"/>
                            </a:solidFill>
                            <a:latin typeface="Cambria Math"/>
                          </a:rPr>
                          <m:t>!</m:t>
                        </m:r>
                      </m:num>
                      <m:den>
                        <m:r>
                          <a:rPr lang="en-US" sz="3600" b="0" i="1" smtClean="0">
                            <a:solidFill>
                              <a:prstClr val="black"/>
                            </a:solidFill>
                            <a:latin typeface="Cambria Math"/>
                          </a:rPr>
                          <m:t>9</m:t>
                        </m:r>
                        <m:r>
                          <a:rPr lang="en-US" sz="3600" i="1">
                            <a:solidFill>
                              <a:prstClr val="black"/>
                            </a:solidFill>
                            <a:latin typeface="Cambria Math"/>
                          </a:rPr>
                          <m:t>!∗12!</m:t>
                        </m:r>
                      </m:den>
                    </m:f>
                  </m:oMath>
                </a14:m>
                <a:r>
                  <a:rPr lang="en-US" sz="3600" b="0" dirty="0" smtClean="0">
                    <a:latin typeface="Baskerville Old Face" panose="02020602080505020303" pitchFamily="18" charset="0"/>
                  </a:rPr>
                  <a:t> =</a:t>
                </a:r>
              </a:p>
              <a:p>
                <a:pPr>
                  <a:lnSpc>
                    <a:spcPct val="150000"/>
                  </a:lnSpc>
                  <a:buFont typeface="Wingdings" pitchFamily="2" charset="2"/>
                  <a:buChar char="Ø"/>
                </a:pPr>
                <a:r>
                  <a:rPr lang="en-US" sz="3600" dirty="0" smtClean="0">
                    <a:latin typeface="Baskerville Old Face" panose="02020602080505020303" pitchFamily="18" charset="0"/>
                  </a:rPr>
                  <a:t>293930 ways</a:t>
                </a:r>
                <a:endParaRPr lang="en-US" sz="3600" b="0" dirty="0" smtClean="0">
                  <a:latin typeface="Baskerville Old Face" panose="02020602080505020303" pitchFamily="18" charset="0"/>
                </a:endParaRPr>
              </a:p>
              <a:p>
                <a:pPr>
                  <a:buFont typeface="Wingdings" pitchFamily="2" charset="2"/>
                  <a:buChar char="Ø"/>
                </a:pPr>
                <a:endParaRPr lang="en-US" dirty="0" smtClean="0"/>
              </a:p>
              <a:p>
                <a:pPr>
                  <a:buFont typeface="Wingdings" pitchFamily="2" charset="2"/>
                  <a:buChar char="Ø"/>
                </a:pPr>
                <a:endParaRPr lang="en-US" dirty="0"/>
              </a:p>
              <a:p>
                <a:pPr>
                  <a:buFont typeface="Wingdings" pitchFamily="2" charset="2"/>
                  <a:buChar char="Ø"/>
                </a:pPr>
                <a:endParaRPr lang="en-US" dirty="0" smtClean="0"/>
              </a:p>
              <a:p>
                <a:pPr marL="0" indent="0">
                  <a:buNone/>
                </a:pPr>
                <a:endParaRPr lang="en-US" dirty="0" smtClean="0"/>
              </a:p>
              <a:p>
                <a:endParaRPr lang="en-US" dirty="0"/>
              </a:p>
            </p:txBody>
          </p:sp>
        </mc:Choice>
        <mc:Fallback xmlns="">
          <p:sp>
            <p:nvSpPr>
              <p:cNvPr id="9" name="Content Placeholder 8"/>
              <p:cNvSpPr>
                <a:spLocks noGrp="1" noRot="1" noChangeAspect="1" noMove="1" noResize="1" noEditPoints="1" noAdjustHandles="1" noChangeArrowheads="1" noChangeShapeType="1" noTextEdit="1"/>
              </p:cNvSpPr>
              <p:nvPr>
                <p:ph sz="quarter" idx="2"/>
              </p:nvPr>
            </p:nvSpPr>
            <p:spPr>
              <a:xfrm>
                <a:off x="4495800" y="1752600"/>
                <a:ext cx="4235301" cy="4572000"/>
              </a:xfrm>
              <a:blipFill rotWithShape="1">
                <a:blip r:embed="rId3"/>
                <a:stretch>
                  <a:fillRect l="-862" t="-3191" b="-1463"/>
                </a:stretch>
              </a:blipFill>
              <a:ln w="12700" cmpd="dbl">
                <a:solidFill>
                  <a:schemeClr val="accent2">
                    <a:lumMod val="7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3014282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fade">
                                      <p:cBhvr>
                                        <p:cTn id="19" dur="1000"/>
                                        <p:tgtEl>
                                          <p:spTgt spid="9">
                                            <p:txEl>
                                              <p:pRg st="2" end="2"/>
                                            </p:txEl>
                                          </p:spTgt>
                                        </p:tgtEl>
                                      </p:cBhvr>
                                    </p:animEffect>
                                    <p:anim calcmode="lin" valueType="num">
                                      <p:cBhvr>
                                        <p:cTn id="20"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animEffect transition="in" filter="fade">
                                      <p:cBhvr>
                                        <p:cTn id="24" dur="1000"/>
                                        <p:tgtEl>
                                          <p:spTgt spid="9">
                                            <p:txEl>
                                              <p:pRg st="3" end="3"/>
                                            </p:txEl>
                                          </p:spTgt>
                                        </p:tgtEl>
                                      </p:cBhvr>
                                    </p:animEffect>
                                    <p:anim calcmode="lin" valueType="num">
                                      <p:cBhvr>
                                        <p:cTn id="2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xEl>
                                              <p:pRg st="4" end="4"/>
                                            </p:txEl>
                                          </p:spTgt>
                                        </p:tgtEl>
                                        <p:attrNameLst>
                                          <p:attrName>style.visibility</p:attrName>
                                        </p:attrNameLst>
                                      </p:cBhvr>
                                      <p:to>
                                        <p:strVal val="visible"/>
                                      </p:to>
                                    </p:set>
                                    <p:animEffect transition="in" filter="fade">
                                      <p:cBhvr>
                                        <p:cTn id="29" dur="1000"/>
                                        <p:tgtEl>
                                          <p:spTgt spid="9">
                                            <p:txEl>
                                              <p:pRg st="4" end="4"/>
                                            </p:txEl>
                                          </p:spTgt>
                                        </p:tgtEl>
                                      </p:cBhvr>
                                    </p:animEffect>
                                    <p:anim calcmode="lin" valueType="num">
                                      <p:cBhvr>
                                        <p:cTn id="30"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smtClean="0"/>
              <a:t>Question 10</a:t>
            </a:r>
            <a:endParaRPr lang="en-US" dirty="0"/>
          </a:p>
        </p:txBody>
      </p:sp>
      <p:sp>
        <p:nvSpPr>
          <p:cNvPr id="3" name="Rectangle 2"/>
          <p:cNvSpPr>
            <a:spLocks noGrp="1"/>
          </p:cNvSpPr>
          <p:nvPr>
            <p:ph sz="quarter" idx="1"/>
          </p:nvPr>
        </p:nvSpPr>
        <p:spPr>
          <a:xfrm>
            <a:off x="609600" y="1752600"/>
            <a:ext cx="3886200" cy="4572000"/>
          </a:xfrm>
          <a:ln w="19050" cmpd="dbl">
            <a:solidFill>
              <a:schemeClr val="accent2">
                <a:lumMod val="75000"/>
              </a:schemeClr>
            </a:solidFill>
          </a:ln>
        </p:spPr>
        <p:txBody>
          <a:bodyPr>
            <a:noAutofit/>
          </a:bodyPr>
          <a:lstStyle/>
          <a:p>
            <a:pPr>
              <a:buFont typeface="Wingdings" pitchFamily="2" charset="2"/>
              <a:buChar char="Ø"/>
            </a:pPr>
            <a:r>
              <a:rPr lang="en-US" sz="2800" dirty="0" smtClean="0">
                <a:latin typeface="Bell MT" panose="02020503060305020303" pitchFamily="18" charset="0"/>
              </a:rPr>
              <a:t>In how many different ways can a committee of 12 Republicans and 2 Democrats be chosen from a group of 16 Republicans and 5 Democrats?</a:t>
            </a:r>
          </a:p>
          <a:p>
            <a:pPr>
              <a:buFont typeface="Wingdings" pitchFamily="2" charset="2"/>
              <a:buChar char="Ø"/>
            </a:pPr>
            <a:endParaRPr lang="en-US" sz="2800" dirty="0" smtClean="0">
              <a:latin typeface="Bell MT" panose="02020503060305020303" pitchFamily="18" charset="0"/>
            </a:endParaRPr>
          </a:p>
          <a:p>
            <a:pPr>
              <a:buFont typeface="Wingdings" pitchFamily="2" charset="2"/>
              <a:buChar char="Ø"/>
            </a:pPr>
            <a:r>
              <a:rPr lang="en-US" sz="2800" dirty="0" smtClean="0">
                <a:latin typeface="Bell MT" panose="02020503060305020303" pitchFamily="18" charset="0"/>
              </a:rPr>
              <a:t>This is a case of Combination </a:t>
            </a:r>
          </a:p>
        </p:txBody>
      </p:sp>
      <mc:AlternateContent xmlns:mc="http://schemas.openxmlformats.org/markup-compatibility/2006" xmlns:a14="http://schemas.microsoft.com/office/drawing/2010/main">
        <mc:Choice Requires="a14">
          <p:sp>
            <p:nvSpPr>
              <p:cNvPr id="9" name="Content Placeholder 8"/>
              <p:cNvSpPr>
                <a:spLocks noGrp="1"/>
              </p:cNvSpPr>
              <p:nvPr>
                <p:ph sz="quarter" idx="2"/>
              </p:nvPr>
            </p:nvSpPr>
            <p:spPr>
              <a:xfrm>
                <a:off x="4495800" y="1752600"/>
                <a:ext cx="4235301" cy="4572000"/>
              </a:xfrm>
              <a:ln w="12700" cmpd="dbl">
                <a:solidFill>
                  <a:schemeClr val="accent2">
                    <a:lumMod val="75000"/>
                  </a:schemeClr>
                </a:solidFill>
              </a:ln>
            </p:spPr>
            <p:txBody>
              <a:bodyPr>
                <a:normAutofit fontScale="77500" lnSpcReduction="20000"/>
              </a:bodyPr>
              <a:lstStyle/>
              <a:p>
                <a:pPr>
                  <a:buFont typeface="Wingdings" pitchFamily="2" charset="2"/>
                  <a:buChar char="Ø"/>
                </a:pPr>
                <a:r>
                  <a:rPr lang="en-US" sz="3200" u="sng" dirty="0" smtClean="0">
                    <a:latin typeface="Baskerville Old Face" panose="02020602080505020303" pitchFamily="18" charset="0"/>
                  </a:rPr>
                  <a:t>Solution </a:t>
                </a:r>
              </a:p>
              <a:p>
                <a:pPr>
                  <a:lnSpc>
                    <a:spcPct val="160000"/>
                  </a:lnSpc>
                  <a:buFont typeface="Wingdings" pitchFamily="2" charset="2"/>
                  <a:buChar char="Ø"/>
                </a:pPr>
                <a:r>
                  <a:rPr lang="en-US" sz="3200" dirty="0" smtClean="0">
                    <a:latin typeface="Baskerville Old Face" panose="02020602080505020303" pitchFamily="18" charset="0"/>
                  </a:rPr>
                  <a:t>Number of ways =           C(16, 12) * C(5, 2) =</a:t>
                </a:r>
              </a:p>
              <a:p>
                <a:pPr>
                  <a:lnSpc>
                    <a:spcPct val="160000"/>
                  </a:lnSpc>
                  <a:buFont typeface="Wingdings" pitchFamily="2" charset="2"/>
                  <a:buChar char="Ø"/>
                </a:pPr>
                <a14:m>
                  <m:oMath xmlns:m="http://schemas.openxmlformats.org/officeDocument/2006/math">
                    <m:f>
                      <m:fPr>
                        <m:ctrlPr>
                          <a:rPr lang="en-US" sz="3200" b="0" i="1" smtClean="0">
                            <a:latin typeface="Cambria Math"/>
                          </a:rPr>
                        </m:ctrlPr>
                      </m:fPr>
                      <m:num>
                        <m:r>
                          <a:rPr lang="en-US" sz="3200" b="0" i="1" smtClean="0">
                            <a:latin typeface="Cambria Math"/>
                          </a:rPr>
                          <m:t>16!</m:t>
                        </m:r>
                      </m:num>
                      <m:den>
                        <m:d>
                          <m:dPr>
                            <m:ctrlPr>
                              <a:rPr lang="en-US" sz="3200" b="0" i="1" smtClean="0">
                                <a:latin typeface="Cambria Math"/>
                              </a:rPr>
                            </m:ctrlPr>
                          </m:dPr>
                          <m:e>
                            <m:r>
                              <a:rPr lang="en-US" sz="3200" b="0" i="1" smtClean="0">
                                <a:latin typeface="Cambria Math"/>
                              </a:rPr>
                              <m:t>16−12</m:t>
                            </m:r>
                          </m:e>
                        </m:d>
                        <m:r>
                          <a:rPr lang="en-US" sz="3200" b="0" i="1" smtClean="0">
                            <a:latin typeface="Cambria Math"/>
                          </a:rPr>
                          <m:t>!∗12!</m:t>
                        </m:r>
                      </m:den>
                    </m:f>
                    <m:r>
                      <a:rPr lang="en-US" sz="3200" b="0" i="1" smtClean="0">
                        <a:latin typeface="Cambria Math"/>
                      </a:rPr>
                      <m:t>∗</m:t>
                    </m:r>
                    <m:f>
                      <m:fPr>
                        <m:ctrlPr>
                          <a:rPr lang="en-US" sz="3200" i="1">
                            <a:latin typeface="Cambria Math"/>
                          </a:rPr>
                        </m:ctrlPr>
                      </m:fPr>
                      <m:num>
                        <m:r>
                          <a:rPr lang="en-US" sz="3200" b="0" i="1" smtClean="0">
                            <a:latin typeface="Cambria Math"/>
                          </a:rPr>
                          <m:t>5</m:t>
                        </m:r>
                        <m:r>
                          <a:rPr lang="en-US" sz="3200" i="1">
                            <a:latin typeface="Cambria Math"/>
                          </a:rPr>
                          <m:t>!</m:t>
                        </m:r>
                      </m:num>
                      <m:den>
                        <m:d>
                          <m:dPr>
                            <m:ctrlPr>
                              <a:rPr lang="en-US" sz="3200" i="1">
                                <a:latin typeface="Cambria Math"/>
                              </a:rPr>
                            </m:ctrlPr>
                          </m:dPr>
                          <m:e>
                            <m:r>
                              <a:rPr lang="en-US" sz="3200" b="0" i="1" smtClean="0">
                                <a:latin typeface="Cambria Math"/>
                              </a:rPr>
                              <m:t>5</m:t>
                            </m:r>
                            <m:r>
                              <a:rPr lang="en-US" sz="3200" i="1">
                                <a:latin typeface="Cambria Math"/>
                              </a:rPr>
                              <m:t>−2</m:t>
                            </m:r>
                          </m:e>
                        </m:d>
                        <m:r>
                          <a:rPr lang="en-US" sz="3200" i="1">
                            <a:latin typeface="Cambria Math"/>
                          </a:rPr>
                          <m:t>!∗</m:t>
                        </m:r>
                        <m:r>
                          <a:rPr lang="en-US" sz="3200" b="0" i="1" smtClean="0">
                            <a:latin typeface="Cambria Math"/>
                          </a:rPr>
                          <m:t>2</m:t>
                        </m:r>
                        <m:r>
                          <a:rPr lang="en-US" sz="3200" i="1">
                            <a:latin typeface="Cambria Math"/>
                          </a:rPr>
                          <m:t>!</m:t>
                        </m:r>
                      </m:den>
                    </m:f>
                  </m:oMath>
                </a14:m>
                <a:r>
                  <a:rPr lang="en-US" sz="3200" b="0" dirty="0" smtClean="0">
                    <a:latin typeface="Baskerville Old Face" panose="02020602080505020303" pitchFamily="18" charset="0"/>
                  </a:rPr>
                  <a:t> = </a:t>
                </a:r>
              </a:p>
              <a:p>
                <a:pPr>
                  <a:lnSpc>
                    <a:spcPct val="160000"/>
                  </a:lnSpc>
                  <a:buFont typeface="Wingdings" pitchFamily="2" charset="2"/>
                  <a:buChar char="Ø"/>
                </a:pPr>
                <a14:m>
                  <m:oMath xmlns:m="http://schemas.openxmlformats.org/officeDocument/2006/math">
                    <m:f>
                      <m:fPr>
                        <m:ctrlPr>
                          <a:rPr lang="en-US" sz="3200" i="1">
                            <a:solidFill>
                              <a:prstClr val="black"/>
                            </a:solidFill>
                            <a:latin typeface="Cambria Math"/>
                          </a:rPr>
                        </m:ctrlPr>
                      </m:fPr>
                      <m:num>
                        <m:r>
                          <a:rPr lang="en-US" sz="3200" b="0" i="1" smtClean="0">
                            <a:solidFill>
                              <a:prstClr val="black"/>
                            </a:solidFill>
                            <a:latin typeface="Cambria Math"/>
                          </a:rPr>
                          <m:t>16</m:t>
                        </m:r>
                        <m:r>
                          <a:rPr lang="en-US" sz="3200" i="1">
                            <a:solidFill>
                              <a:prstClr val="black"/>
                            </a:solidFill>
                            <a:latin typeface="Cambria Math"/>
                          </a:rPr>
                          <m:t>!</m:t>
                        </m:r>
                      </m:num>
                      <m:den>
                        <m:r>
                          <a:rPr lang="en-US" sz="3200" b="0" i="1" smtClean="0">
                            <a:solidFill>
                              <a:prstClr val="black"/>
                            </a:solidFill>
                            <a:latin typeface="Cambria Math"/>
                          </a:rPr>
                          <m:t>4</m:t>
                        </m:r>
                        <m:r>
                          <a:rPr lang="en-US" sz="3200" i="1">
                            <a:solidFill>
                              <a:prstClr val="black"/>
                            </a:solidFill>
                            <a:latin typeface="Cambria Math"/>
                          </a:rPr>
                          <m:t>!∗12!</m:t>
                        </m:r>
                      </m:den>
                    </m:f>
                    <m:r>
                      <a:rPr lang="en-US" sz="3200" i="1">
                        <a:solidFill>
                          <a:prstClr val="black"/>
                        </a:solidFill>
                        <a:latin typeface="Cambria Math"/>
                      </a:rPr>
                      <m:t>∗</m:t>
                    </m:r>
                    <m:f>
                      <m:fPr>
                        <m:ctrlPr>
                          <a:rPr lang="en-US" sz="3200" i="1">
                            <a:solidFill>
                              <a:prstClr val="black"/>
                            </a:solidFill>
                            <a:latin typeface="Cambria Math"/>
                          </a:rPr>
                        </m:ctrlPr>
                      </m:fPr>
                      <m:num>
                        <m:r>
                          <a:rPr lang="en-US" sz="3200" b="0" i="1" smtClean="0">
                            <a:solidFill>
                              <a:prstClr val="black"/>
                            </a:solidFill>
                            <a:latin typeface="Cambria Math"/>
                          </a:rPr>
                          <m:t>5</m:t>
                        </m:r>
                        <m:r>
                          <a:rPr lang="en-US" sz="3200" i="1">
                            <a:solidFill>
                              <a:prstClr val="black"/>
                            </a:solidFill>
                            <a:latin typeface="Cambria Math"/>
                          </a:rPr>
                          <m:t>!</m:t>
                        </m:r>
                      </m:num>
                      <m:den>
                        <m:r>
                          <a:rPr lang="en-US" sz="3200" b="0" i="1" smtClean="0">
                            <a:solidFill>
                              <a:prstClr val="black"/>
                            </a:solidFill>
                            <a:latin typeface="Cambria Math"/>
                          </a:rPr>
                          <m:t>3</m:t>
                        </m:r>
                        <m:r>
                          <a:rPr lang="en-US" sz="3200" i="1">
                            <a:solidFill>
                              <a:prstClr val="black"/>
                            </a:solidFill>
                            <a:latin typeface="Cambria Math"/>
                          </a:rPr>
                          <m:t>!∗2!</m:t>
                        </m:r>
                      </m:den>
                    </m:f>
                  </m:oMath>
                </a14:m>
                <a:r>
                  <a:rPr lang="en-US" sz="3200" b="0" dirty="0" smtClean="0">
                    <a:latin typeface="Baskerville Old Face" panose="02020602080505020303" pitchFamily="18" charset="0"/>
                  </a:rPr>
                  <a:t> =</a:t>
                </a:r>
              </a:p>
              <a:p>
                <a:pPr>
                  <a:lnSpc>
                    <a:spcPct val="160000"/>
                  </a:lnSpc>
                  <a:buFont typeface="Wingdings" pitchFamily="2" charset="2"/>
                  <a:buChar char="Ø"/>
                </a:pPr>
                <a:r>
                  <a:rPr lang="en-US" sz="3200" dirty="0" smtClean="0">
                    <a:latin typeface="Baskerville Old Face" panose="02020602080505020303" pitchFamily="18" charset="0"/>
                  </a:rPr>
                  <a:t>182</a:t>
                </a:r>
                <a:r>
                  <a:rPr lang="en-US" sz="3200" b="0" dirty="0" smtClean="0">
                    <a:latin typeface="Baskerville Old Face" panose="02020602080505020303" pitchFamily="18" charset="0"/>
                  </a:rPr>
                  <a:t>0 * 10 =</a:t>
                </a:r>
              </a:p>
              <a:p>
                <a:pPr>
                  <a:lnSpc>
                    <a:spcPct val="160000"/>
                  </a:lnSpc>
                  <a:buFont typeface="Wingdings" pitchFamily="2" charset="2"/>
                  <a:buChar char="Ø"/>
                </a:pPr>
                <a:r>
                  <a:rPr lang="en-US" sz="3200" dirty="0" smtClean="0">
                    <a:latin typeface="Baskerville Old Face" panose="02020602080505020303" pitchFamily="18" charset="0"/>
                  </a:rPr>
                  <a:t>18200 ways</a:t>
                </a:r>
                <a:endParaRPr lang="en-US" sz="3200" b="0" dirty="0" smtClean="0">
                  <a:latin typeface="Baskerville Old Face" panose="02020602080505020303" pitchFamily="18" charset="0"/>
                </a:endParaRPr>
              </a:p>
              <a:p>
                <a:pPr>
                  <a:buFont typeface="Wingdings" pitchFamily="2" charset="2"/>
                  <a:buChar char="Ø"/>
                </a:pPr>
                <a:endParaRPr lang="en-US" dirty="0" smtClean="0"/>
              </a:p>
              <a:p>
                <a:pPr>
                  <a:buFont typeface="Wingdings" pitchFamily="2" charset="2"/>
                  <a:buChar char="Ø"/>
                </a:pPr>
                <a:endParaRPr lang="en-US" dirty="0"/>
              </a:p>
              <a:p>
                <a:pPr>
                  <a:buFont typeface="Wingdings" pitchFamily="2" charset="2"/>
                  <a:buChar char="Ø"/>
                </a:pPr>
                <a:endParaRPr lang="en-US" dirty="0" smtClean="0"/>
              </a:p>
              <a:p>
                <a:pPr marL="0" indent="0">
                  <a:buNone/>
                </a:pPr>
                <a:endParaRPr lang="en-US" dirty="0" smtClean="0"/>
              </a:p>
              <a:p>
                <a:endParaRPr lang="en-US" dirty="0"/>
              </a:p>
            </p:txBody>
          </p:sp>
        </mc:Choice>
        <mc:Fallback xmlns="">
          <p:sp>
            <p:nvSpPr>
              <p:cNvPr id="9" name="Content Placeholder 8"/>
              <p:cNvSpPr>
                <a:spLocks noGrp="1" noRot="1" noChangeAspect="1" noMove="1" noResize="1" noEditPoints="1" noAdjustHandles="1" noChangeArrowheads="1" noChangeShapeType="1" noTextEdit="1"/>
              </p:cNvSpPr>
              <p:nvPr>
                <p:ph sz="quarter" idx="2"/>
              </p:nvPr>
            </p:nvSpPr>
            <p:spPr>
              <a:xfrm>
                <a:off x="4495800" y="1752600"/>
                <a:ext cx="4235301" cy="4572000"/>
              </a:xfrm>
              <a:blipFill rotWithShape="1">
                <a:blip r:embed="rId3"/>
                <a:stretch>
                  <a:fillRect l="-287" t="-2261" b="-1729"/>
                </a:stretch>
              </a:blipFill>
              <a:ln w="12700" cmpd="dbl">
                <a:solidFill>
                  <a:schemeClr val="accent2">
                    <a:lumMod val="7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2139742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fade">
                                      <p:cBhvr>
                                        <p:cTn id="19" dur="1000"/>
                                        <p:tgtEl>
                                          <p:spTgt spid="9">
                                            <p:txEl>
                                              <p:pRg st="2" end="2"/>
                                            </p:txEl>
                                          </p:spTgt>
                                        </p:tgtEl>
                                      </p:cBhvr>
                                    </p:animEffect>
                                    <p:anim calcmode="lin" valueType="num">
                                      <p:cBhvr>
                                        <p:cTn id="20"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animEffect transition="in" filter="fade">
                                      <p:cBhvr>
                                        <p:cTn id="24" dur="1000"/>
                                        <p:tgtEl>
                                          <p:spTgt spid="9">
                                            <p:txEl>
                                              <p:pRg st="3" end="3"/>
                                            </p:txEl>
                                          </p:spTgt>
                                        </p:tgtEl>
                                      </p:cBhvr>
                                    </p:animEffect>
                                    <p:anim calcmode="lin" valueType="num">
                                      <p:cBhvr>
                                        <p:cTn id="2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xEl>
                                              <p:pRg st="4" end="4"/>
                                            </p:txEl>
                                          </p:spTgt>
                                        </p:tgtEl>
                                        <p:attrNameLst>
                                          <p:attrName>style.visibility</p:attrName>
                                        </p:attrNameLst>
                                      </p:cBhvr>
                                      <p:to>
                                        <p:strVal val="visible"/>
                                      </p:to>
                                    </p:set>
                                    <p:animEffect transition="in" filter="fade">
                                      <p:cBhvr>
                                        <p:cTn id="29" dur="1000"/>
                                        <p:tgtEl>
                                          <p:spTgt spid="9">
                                            <p:txEl>
                                              <p:pRg st="4" end="4"/>
                                            </p:txEl>
                                          </p:spTgt>
                                        </p:tgtEl>
                                      </p:cBhvr>
                                    </p:animEffect>
                                    <p:anim calcmode="lin" valueType="num">
                                      <p:cBhvr>
                                        <p:cTn id="30"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9">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9">
                                            <p:txEl>
                                              <p:pRg st="5" end="5"/>
                                            </p:txEl>
                                          </p:spTgt>
                                        </p:tgtEl>
                                        <p:attrNameLst>
                                          <p:attrName>style.visibility</p:attrName>
                                        </p:attrNameLst>
                                      </p:cBhvr>
                                      <p:to>
                                        <p:strVal val="visible"/>
                                      </p:to>
                                    </p:set>
                                    <p:animEffect transition="in" filter="fade">
                                      <p:cBhvr>
                                        <p:cTn id="34" dur="1000"/>
                                        <p:tgtEl>
                                          <p:spTgt spid="9">
                                            <p:txEl>
                                              <p:pRg st="5" end="5"/>
                                            </p:txEl>
                                          </p:spTgt>
                                        </p:tgtEl>
                                      </p:cBhvr>
                                    </p:animEffect>
                                    <p:anim calcmode="lin" valueType="num">
                                      <p:cBhvr>
                                        <p:cTn id="35"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smtClean="0"/>
              <a:t>Question 11</a:t>
            </a:r>
            <a:endParaRPr lang="en-US" dirty="0"/>
          </a:p>
        </p:txBody>
      </p:sp>
      <p:sp>
        <p:nvSpPr>
          <p:cNvPr id="3" name="Rectangle 2"/>
          <p:cNvSpPr>
            <a:spLocks noGrp="1"/>
          </p:cNvSpPr>
          <p:nvPr>
            <p:ph sz="quarter" idx="1"/>
          </p:nvPr>
        </p:nvSpPr>
        <p:spPr>
          <a:xfrm>
            <a:off x="609600" y="1752600"/>
            <a:ext cx="3886200" cy="4572000"/>
          </a:xfrm>
          <a:ln w="19050" cmpd="dbl">
            <a:solidFill>
              <a:schemeClr val="accent2">
                <a:lumMod val="75000"/>
              </a:schemeClr>
            </a:solidFill>
          </a:ln>
        </p:spPr>
        <p:txBody>
          <a:bodyPr>
            <a:noAutofit/>
          </a:bodyPr>
          <a:lstStyle/>
          <a:p>
            <a:pPr>
              <a:buFont typeface="Wingdings" pitchFamily="2" charset="2"/>
              <a:buChar char="Ø"/>
            </a:pPr>
            <a:r>
              <a:rPr lang="en-US" sz="2800" dirty="0" smtClean="0">
                <a:latin typeface="Bell MT" panose="02020503060305020303" pitchFamily="18" charset="0"/>
              </a:rPr>
              <a:t>In how many different ways can a committee of 12 Republicans and 2 Democrats be chosen from a group of 21 prospective candidates?</a:t>
            </a:r>
          </a:p>
          <a:p>
            <a:pPr>
              <a:buFont typeface="Wingdings" pitchFamily="2" charset="2"/>
              <a:buChar char="Ø"/>
            </a:pPr>
            <a:endParaRPr lang="en-US" sz="2800" dirty="0" smtClean="0">
              <a:latin typeface="Bell MT" panose="02020503060305020303" pitchFamily="18" charset="0"/>
            </a:endParaRPr>
          </a:p>
          <a:p>
            <a:pPr>
              <a:buFont typeface="Wingdings" pitchFamily="2" charset="2"/>
              <a:buChar char="Ø"/>
            </a:pPr>
            <a:r>
              <a:rPr lang="en-US" sz="2800" dirty="0" smtClean="0">
                <a:latin typeface="Bell MT" panose="02020503060305020303" pitchFamily="18" charset="0"/>
              </a:rPr>
              <a:t>This is a case of Combination </a:t>
            </a:r>
          </a:p>
        </p:txBody>
      </p:sp>
      <mc:AlternateContent xmlns:mc="http://schemas.openxmlformats.org/markup-compatibility/2006" xmlns:a14="http://schemas.microsoft.com/office/drawing/2010/main">
        <mc:Choice Requires="a14">
          <p:sp>
            <p:nvSpPr>
              <p:cNvPr id="9" name="Content Placeholder 8"/>
              <p:cNvSpPr>
                <a:spLocks noGrp="1"/>
              </p:cNvSpPr>
              <p:nvPr>
                <p:ph sz="quarter" idx="2"/>
              </p:nvPr>
            </p:nvSpPr>
            <p:spPr>
              <a:xfrm>
                <a:off x="4495800" y="1752600"/>
                <a:ext cx="4235301" cy="4572000"/>
              </a:xfrm>
              <a:ln w="12700" cmpd="dbl">
                <a:solidFill>
                  <a:schemeClr val="accent2">
                    <a:lumMod val="75000"/>
                  </a:schemeClr>
                </a:solidFill>
              </a:ln>
            </p:spPr>
            <p:txBody>
              <a:bodyPr>
                <a:normAutofit fontScale="77500" lnSpcReduction="20000"/>
              </a:bodyPr>
              <a:lstStyle/>
              <a:p>
                <a:pPr>
                  <a:buFont typeface="Wingdings" pitchFamily="2" charset="2"/>
                  <a:buChar char="Ø"/>
                </a:pPr>
                <a:r>
                  <a:rPr lang="en-US" sz="3200" u="sng" dirty="0" smtClean="0">
                    <a:latin typeface="Baskerville Old Face" panose="02020602080505020303" pitchFamily="18" charset="0"/>
                  </a:rPr>
                  <a:t>1</a:t>
                </a:r>
                <a:r>
                  <a:rPr lang="en-US" sz="3200" u="sng" baseline="30000" dirty="0" smtClean="0">
                    <a:latin typeface="Baskerville Old Face" panose="02020602080505020303" pitchFamily="18" charset="0"/>
                  </a:rPr>
                  <a:t>st</a:t>
                </a:r>
                <a:r>
                  <a:rPr lang="en-US" sz="3200" u="sng" dirty="0" smtClean="0">
                    <a:latin typeface="Baskerville Old Face" panose="02020602080505020303" pitchFamily="18" charset="0"/>
                  </a:rPr>
                  <a:t> Method</a:t>
                </a:r>
              </a:p>
              <a:p>
                <a:pPr>
                  <a:lnSpc>
                    <a:spcPct val="160000"/>
                  </a:lnSpc>
                  <a:buFont typeface="Wingdings" pitchFamily="2" charset="2"/>
                  <a:buChar char="Ø"/>
                </a:pPr>
                <a:r>
                  <a:rPr lang="en-US" sz="3200" dirty="0" smtClean="0">
                    <a:latin typeface="Baskerville Old Face" panose="02020602080505020303" pitchFamily="18" charset="0"/>
                  </a:rPr>
                  <a:t>Number of ways =           C(21, 12) * C(9, 2) =</a:t>
                </a:r>
              </a:p>
              <a:p>
                <a:pPr>
                  <a:lnSpc>
                    <a:spcPct val="160000"/>
                  </a:lnSpc>
                  <a:buFont typeface="Wingdings" pitchFamily="2" charset="2"/>
                  <a:buChar char="Ø"/>
                </a:pPr>
                <a14:m>
                  <m:oMath xmlns:m="http://schemas.openxmlformats.org/officeDocument/2006/math">
                    <m:f>
                      <m:fPr>
                        <m:ctrlPr>
                          <a:rPr lang="en-US" sz="3200" b="0" i="1" smtClean="0">
                            <a:latin typeface="Cambria Math"/>
                          </a:rPr>
                        </m:ctrlPr>
                      </m:fPr>
                      <m:num>
                        <m:r>
                          <a:rPr lang="en-US" sz="3200" b="0" i="1" smtClean="0">
                            <a:latin typeface="Cambria Math"/>
                          </a:rPr>
                          <m:t>21!</m:t>
                        </m:r>
                      </m:num>
                      <m:den>
                        <m:d>
                          <m:dPr>
                            <m:ctrlPr>
                              <a:rPr lang="en-US" sz="3200" b="0" i="1" smtClean="0">
                                <a:latin typeface="Cambria Math"/>
                              </a:rPr>
                            </m:ctrlPr>
                          </m:dPr>
                          <m:e>
                            <m:r>
                              <a:rPr lang="en-US" sz="3200" b="0" i="1" smtClean="0">
                                <a:latin typeface="Cambria Math"/>
                              </a:rPr>
                              <m:t>21−12</m:t>
                            </m:r>
                          </m:e>
                        </m:d>
                        <m:r>
                          <a:rPr lang="en-US" sz="3200" b="0" i="1" smtClean="0">
                            <a:latin typeface="Cambria Math"/>
                          </a:rPr>
                          <m:t>!∗12!</m:t>
                        </m:r>
                      </m:den>
                    </m:f>
                    <m:r>
                      <a:rPr lang="en-US" sz="3200" b="0" i="1" smtClean="0">
                        <a:latin typeface="Cambria Math"/>
                      </a:rPr>
                      <m:t>∗</m:t>
                    </m:r>
                    <m:f>
                      <m:fPr>
                        <m:ctrlPr>
                          <a:rPr lang="en-US" sz="3200" i="1">
                            <a:latin typeface="Cambria Math"/>
                          </a:rPr>
                        </m:ctrlPr>
                      </m:fPr>
                      <m:num>
                        <m:r>
                          <a:rPr lang="en-US" sz="3200" b="0" i="1" smtClean="0">
                            <a:latin typeface="Cambria Math"/>
                          </a:rPr>
                          <m:t>9</m:t>
                        </m:r>
                        <m:r>
                          <a:rPr lang="en-US" sz="3200" i="1">
                            <a:latin typeface="Cambria Math"/>
                          </a:rPr>
                          <m:t>!</m:t>
                        </m:r>
                      </m:num>
                      <m:den>
                        <m:d>
                          <m:dPr>
                            <m:ctrlPr>
                              <a:rPr lang="en-US" sz="3200" i="1">
                                <a:latin typeface="Cambria Math"/>
                              </a:rPr>
                            </m:ctrlPr>
                          </m:dPr>
                          <m:e>
                            <m:r>
                              <a:rPr lang="en-US" sz="3200" b="0" i="1" smtClean="0">
                                <a:latin typeface="Cambria Math"/>
                              </a:rPr>
                              <m:t>9</m:t>
                            </m:r>
                            <m:r>
                              <a:rPr lang="en-US" sz="3200" i="1">
                                <a:latin typeface="Cambria Math"/>
                              </a:rPr>
                              <m:t>−2</m:t>
                            </m:r>
                          </m:e>
                        </m:d>
                        <m:r>
                          <a:rPr lang="en-US" sz="3200" i="1">
                            <a:latin typeface="Cambria Math"/>
                          </a:rPr>
                          <m:t>!∗</m:t>
                        </m:r>
                        <m:r>
                          <a:rPr lang="en-US" sz="3200" b="0" i="1" smtClean="0">
                            <a:latin typeface="Cambria Math"/>
                          </a:rPr>
                          <m:t>2</m:t>
                        </m:r>
                        <m:r>
                          <a:rPr lang="en-US" sz="3200" i="1">
                            <a:latin typeface="Cambria Math"/>
                          </a:rPr>
                          <m:t>!</m:t>
                        </m:r>
                      </m:den>
                    </m:f>
                  </m:oMath>
                </a14:m>
                <a:r>
                  <a:rPr lang="en-US" sz="3200" b="0" dirty="0" smtClean="0">
                    <a:latin typeface="Baskerville Old Face" panose="02020602080505020303" pitchFamily="18" charset="0"/>
                  </a:rPr>
                  <a:t> =</a:t>
                </a:r>
              </a:p>
              <a:p>
                <a:pPr>
                  <a:lnSpc>
                    <a:spcPct val="160000"/>
                  </a:lnSpc>
                  <a:buFont typeface="Wingdings" pitchFamily="2" charset="2"/>
                  <a:buChar char="Ø"/>
                </a:pPr>
                <a14:m>
                  <m:oMath xmlns:m="http://schemas.openxmlformats.org/officeDocument/2006/math">
                    <m:f>
                      <m:fPr>
                        <m:ctrlPr>
                          <a:rPr lang="en-US" sz="3200" i="1">
                            <a:solidFill>
                              <a:prstClr val="black"/>
                            </a:solidFill>
                            <a:latin typeface="Cambria Math"/>
                          </a:rPr>
                        </m:ctrlPr>
                      </m:fPr>
                      <m:num>
                        <m:r>
                          <a:rPr lang="en-US" sz="3200" i="1">
                            <a:solidFill>
                              <a:prstClr val="black"/>
                            </a:solidFill>
                            <a:latin typeface="Cambria Math"/>
                          </a:rPr>
                          <m:t>21!</m:t>
                        </m:r>
                      </m:num>
                      <m:den>
                        <m:r>
                          <a:rPr lang="en-US" sz="3200" b="0" i="1" smtClean="0">
                            <a:solidFill>
                              <a:prstClr val="black"/>
                            </a:solidFill>
                            <a:latin typeface="Cambria Math"/>
                          </a:rPr>
                          <m:t>9</m:t>
                        </m:r>
                        <m:r>
                          <a:rPr lang="en-US" sz="3200" i="1">
                            <a:solidFill>
                              <a:prstClr val="black"/>
                            </a:solidFill>
                            <a:latin typeface="Cambria Math"/>
                          </a:rPr>
                          <m:t>!∗12!</m:t>
                        </m:r>
                      </m:den>
                    </m:f>
                    <m:r>
                      <a:rPr lang="en-US" sz="3200" i="1">
                        <a:solidFill>
                          <a:prstClr val="black"/>
                        </a:solidFill>
                        <a:latin typeface="Cambria Math"/>
                      </a:rPr>
                      <m:t>∗</m:t>
                    </m:r>
                    <m:f>
                      <m:fPr>
                        <m:ctrlPr>
                          <a:rPr lang="en-US" sz="3200" i="1">
                            <a:solidFill>
                              <a:prstClr val="black"/>
                            </a:solidFill>
                            <a:latin typeface="Cambria Math"/>
                          </a:rPr>
                        </m:ctrlPr>
                      </m:fPr>
                      <m:num>
                        <m:r>
                          <a:rPr lang="en-US" sz="3200" b="0" i="1" smtClean="0">
                            <a:solidFill>
                              <a:prstClr val="black"/>
                            </a:solidFill>
                            <a:latin typeface="Cambria Math"/>
                          </a:rPr>
                          <m:t>9</m:t>
                        </m:r>
                        <m:r>
                          <a:rPr lang="en-US" sz="3200" i="1">
                            <a:solidFill>
                              <a:prstClr val="black"/>
                            </a:solidFill>
                            <a:latin typeface="Cambria Math"/>
                          </a:rPr>
                          <m:t>!</m:t>
                        </m:r>
                      </m:num>
                      <m:den>
                        <m:r>
                          <a:rPr lang="en-US" sz="3200" b="0" i="1" smtClean="0">
                            <a:solidFill>
                              <a:prstClr val="black"/>
                            </a:solidFill>
                            <a:latin typeface="Cambria Math"/>
                          </a:rPr>
                          <m:t>7</m:t>
                        </m:r>
                        <m:r>
                          <a:rPr lang="en-US" sz="3200" i="1">
                            <a:solidFill>
                              <a:prstClr val="black"/>
                            </a:solidFill>
                            <a:latin typeface="Cambria Math"/>
                          </a:rPr>
                          <m:t>!∗2!</m:t>
                        </m:r>
                      </m:den>
                    </m:f>
                  </m:oMath>
                </a14:m>
                <a:r>
                  <a:rPr lang="en-US" sz="3200" b="0" dirty="0" smtClean="0">
                    <a:latin typeface="Baskerville Old Face" panose="02020602080505020303" pitchFamily="18" charset="0"/>
                  </a:rPr>
                  <a:t> =</a:t>
                </a:r>
              </a:p>
              <a:p>
                <a:pPr>
                  <a:lnSpc>
                    <a:spcPct val="160000"/>
                  </a:lnSpc>
                  <a:buFont typeface="Wingdings" pitchFamily="2" charset="2"/>
                  <a:buChar char="Ø"/>
                </a:pPr>
                <a:r>
                  <a:rPr lang="en-US" sz="3200" b="0" dirty="0" smtClean="0">
                    <a:latin typeface="Baskerville Old Face" panose="02020602080505020303" pitchFamily="18" charset="0"/>
                  </a:rPr>
                  <a:t>293930 * 36 =</a:t>
                </a:r>
              </a:p>
              <a:p>
                <a:pPr>
                  <a:lnSpc>
                    <a:spcPct val="160000"/>
                  </a:lnSpc>
                  <a:buFont typeface="Wingdings" pitchFamily="2" charset="2"/>
                  <a:buChar char="Ø"/>
                </a:pPr>
                <a:r>
                  <a:rPr lang="en-US" sz="3200" dirty="0" smtClean="0">
                    <a:latin typeface="Baskerville Old Face" panose="02020602080505020303" pitchFamily="18" charset="0"/>
                  </a:rPr>
                  <a:t>10581480 ways</a:t>
                </a:r>
                <a:endParaRPr lang="en-US" sz="3200" b="0" dirty="0" smtClean="0">
                  <a:latin typeface="Baskerville Old Face" panose="02020602080505020303" pitchFamily="18" charset="0"/>
                </a:endParaRPr>
              </a:p>
              <a:p>
                <a:pPr>
                  <a:buFont typeface="Wingdings" pitchFamily="2" charset="2"/>
                  <a:buChar char="Ø"/>
                </a:pPr>
                <a:endParaRPr lang="en-US" dirty="0" smtClean="0"/>
              </a:p>
              <a:p>
                <a:pPr>
                  <a:buFont typeface="Wingdings" pitchFamily="2" charset="2"/>
                  <a:buChar char="Ø"/>
                </a:pPr>
                <a:endParaRPr lang="en-US" dirty="0"/>
              </a:p>
              <a:p>
                <a:pPr>
                  <a:buFont typeface="Wingdings" pitchFamily="2" charset="2"/>
                  <a:buChar char="Ø"/>
                </a:pPr>
                <a:endParaRPr lang="en-US" dirty="0" smtClean="0"/>
              </a:p>
              <a:p>
                <a:pPr marL="0" indent="0">
                  <a:buNone/>
                </a:pPr>
                <a:endParaRPr lang="en-US" dirty="0" smtClean="0"/>
              </a:p>
              <a:p>
                <a:endParaRPr lang="en-US" dirty="0"/>
              </a:p>
            </p:txBody>
          </p:sp>
        </mc:Choice>
        <mc:Fallback xmlns="">
          <p:sp>
            <p:nvSpPr>
              <p:cNvPr id="9" name="Content Placeholder 8"/>
              <p:cNvSpPr>
                <a:spLocks noGrp="1" noRot="1" noChangeAspect="1" noMove="1" noResize="1" noEditPoints="1" noAdjustHandles="1" noChangeArrowheads="1" noChangeShapeType="1" noTextEdit="1"/>
              </p:cNvSpPr>
              <p:nvPr>
                <p:ph sz="quarter" idx="2"/>
              </p:nvPr>
            </p:nvSpPr>
            <p:spPr>
              <a:xfrm>
                <a:off x="4495800" y="1752600"/>
                <a:ext cx="4235301" cy="4572000"/>
              </a:xfrm>
              <a:blipFill rotWithShape="1">
                <a:blip r:embed="rId3"/>
                <a:stretch>
                  <a:fillRect l="-287" t="-2261" b="-1729"/>
                </a:stretch>
              </a:blipFill>
              <a:ln w="12700" cmpd="dbl">
                <a:solidFill>
                  <a:schemeClr val="accent2">
                    <a:lumMod val="7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3268219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fade">
                                      <p:cBhvr>
                                        <p:cTn id="19" dur="1000"/>
                                        <p:tgtEl>
                                          <p:spTgt spid="9">
                                            <p:txEl>
                                              <p:pRg st="2" end="2"/>
                                            </p:txEl>
                                          </p:spTgt>
                                        </p:tgtEl>
                                      </p:cBhvr>
                                    </p:animEffect>
                                    <p:anim calcmode="lin" valueType="num">
                                      <p:cBhvr>
                                        <p:cTn id="20"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animEffect transition="in" filter="fade">
                                      <p:cBhvr>
                                        <p:cTn id="24" dur="1000"/>
                                        <p:tgtEl>
                                          <p:spTgt spid="9">
                                            <p:txEl>
                                              <p:pRg st="3" end="3"/>
                                            </p:txEl>
                                          </p:spTgt>
                                        </p:tgtEl>
                                      </p:cBhvr>
                                    </p:animEffect>
                                    <p:anim calcmode="lin" valueType="num">
                                      <p:cBhvr>
                                        <p:cTn id="2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xEl>
                                              <p:pRg st="4" end="4"/>
                                            </p:txEl>
                                          </p:spTgt>
                                        </p:tgtEl>
                                        <p:attrNameLst>
                                          <p:attrName>style.visibility</p:attrName>
                                        </p:attrNameLst>
                                      </p:cBhvr>
                                      <p:to>
                                        <p:strVal val="visible"/>
                                      </p:to>
                                    </p:set>
                                    <p:animEffect transition="in" filter="fade">
                                      <p:cBhvr>
                                        <p:cTn id="29" dur="1000"/>
                                        <p:tgtEl>
                                          <p:spTgt spid="9">
                                            <p:txEl>
                                              <p:pRg st="4" end="4"/>
                                            </p:txEl>
                                          </p:spTgt>
                                        </p:tgtEl>
                                      </p:cBhvr>
                                    </p:animEffect>
                                    <p:anim calcmode="lin" valueType="num">
                                      <p:cBhvr>
                                        <p:cTn id="30"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9">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9">
                                            <p:txEl>
                                              <p:pRg st="5" end="5"/>
                                            </p:txEl>
                                          </p:spTgt>
                                        </p:tgtEl>
                                        <p:attrNameLst>
                                          <p:attrName>style.visibility</p:attrName>
                                        </p:attrNameLst>
                                      </p:cBhvr>
                                      <p:to>
                                        <p:strVal val="visible"/>
                                      </p:to>
                                    </p:set>
                                    <p:animEffect transition="in" filter="fade">
                                      <p:cBhvr>
                                        <p:cTn id="34" dur="1000"/>
                                        <p:tgtEl>
                                          <p:spTgt spid="9">
                                            <p:txEl>
                                              <p:pRg st="5" end="5"/>
                                            </p:txEl>
                                          </p:spTgt>
                                        </p:tgtEl>
                                      </p:cBhvr>
                                    </p:animEffect>
                                    <p:anim calcmode="lin" valueType="num">
                                      <p:cBhvr>
                                        <p:cTn id="35"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smtClean="0"/>
              <a:t>Question 11 (2</a:t>
            </a:r>
            <a:r>
              <a:rPr lang="en-US" baseline="30000" dirty="0" smtClean="0"/>
              <a:t>nd</a:t>
            </a:r>
            <a:r>
              <a:rPr lang="en-US" dirty="0" smtClean="0"/>
              <a:t> Method)</a:t>
            </a:r>
            <a:endParaRPr lang="en-US" dirty="0"/>
          </a:p>
        </p:txBody>
      </p:sp>
      <p:sp>
        <p:nvSpPr>
          <p:cNvPr id="3" name="Rectangle 2"/>
          <p:cNvSpPr>
            <a:spLocks noGrp="1"/>
          </p:cNvSpPr>
          <p:nvPr>
            <p:ph sz="quarter" idx="1"/>
          </p:nvPr>
        </p:nvSpPr>
        <p:spPr>
          <a:xfrm>
            <a:off x="609600" y="1752600"/>
            <a:ext cx="3886200" cy="4572000"/>
          </a:xfrm>
          <a:ln w="19050" cmpd="dbl">
            <a:solidFill>
              <a:schemeClr val="accent2">
                <a:lumMod val="75000"/>
              </a:schemeClr>
            </a:solidFill>
          </a:ln>
        </p:spPr>
        <p:txBody>
          <a:bodyPr>
            <a:noAutofit/>
          </a:bodyPr>
          <a:lstStyle/>
          <a:p>
            <a:pPr>
              <a:buFont typeface="Wingdings" pitchFamily="2" charset="2"/>
              <a:buChar char="Ø"/>
            </a:pPr>
            <a:r>
              <a:rPr lang="en-US" sz="2800" dirty="0" smtClean="0">
                <a:latin typeface="Bell MT" panose="02020503060305020303" pitchFamily="18" charset="0"/>
              </a:rPr>
              <a:t>In how many different ways can a committee of 12 Republicans and 2 Democrats be chosen from a group of 21 prospective candidates?</a:t>
            </a:r>
          </a:p>
          <a:p>
            <a:pPr>
              <a:buFont typeface="Wingdings" pitchFamily="2" charset="2"/>
              <a:buChar char="Ø"/>
            </a:pPr>
            <a:endParaRPr lang="en-US" sz="2800" dirty="0" smtClean="0">
              <a:latin typeface="Bell MT" panose="02020503060305020303" pitchFamily="18" charset="0"/>
            </a:endParaRPr>
          </a:p>
          <a:p>
            <a:pPr>
              <a:buFont typeface="Wingdings" pitchFamily="2" charset="2"/>
              <a:buChar char="Ø"/>
            </a:pPr>
            <a:r>
              <a:rPr lang="en-US" sz="2800" dirty="0" smtClean="0">
                <a:latin typeface="Bell MT" panose="02020503060305020303" pitchFamily="18" charset="0"/>
              </a:rPr>
              <a:t>This is a case of Combination </a:t>
            </a:r>
          </a:p>
        </p:txBody>
      </p:sp>
      <mc:AlternateContent xmlns:mc="http://schemas.openxmlformats.org/markup-compatibility/2006" xmlns:a14="http://schemas.microsoft.com/office/drawing/2010/main">
        <mc:Choice Requires="a14">
          <p:sp>
            <p:nvSpPr>
              <p:cNvPr id="9" name="Content Placeholder 8"/>
              <p:cNvSpPr>
                <a:spLocks noGrp="1"/>
              </p:cNvSpPr>
              <p:nvPr>
                <p:ph sz="quarter" idx="2"/>
              </p:nvPr>
            </p:nvSpPr>
            <p:spPr>
              <a:xfrm>
                <a:off x="4495800" y="1752600"/>
                <a:ext cx="4235301" cy="4572000"/>
              </a:xfrm>
              <a:ln w="12700" cmpd="dbl">
                <a:solidFill>
                  <a:schemeClr val="accent2">
                    <a:lumMod val="75000"/>
                  </a:schemeClr>
                </a:solidFill>
              </a:ln>
            </p:spPr>
            <p:txBody>
              <a:bodyPr>
                <a:normAutofit fontScale="77500" lnSpcReduction="20000"/>
              </a:bodyPr>
              <a:lstStyle/>
              <a:p>
                <a:pPr>
                  <a:buFont typeface="Wingdings" pitchFamily="2" charset="2"/>
                  <a:buChar char="Ø"/>
                </a:pPr>
                <a:r>
                  <a:rPr lang="en-US" sz="3200" u="sng" dirty="0" smtClean="0">
                    <a:latin typeface="Baskerville Old Face" panose="02020602080505020303" pitchFamily="18" charset="0"/>
                  </a:rPr>
                  <a:t>2</a:t>
                </a:r>
                <a:r>
                  <a:rPr lang="en-US" sz="3200" u="sng" baseline="30000" dirty="0" smtClean="0">
                    <a:latin typeface="Baskerville Old Face" panose="02020602080505020303" pitchFamily="18" charset="0"/>
                  </a:rPr>
                  <a:t>nd</a:t>
                </a:r>
                <a:r>
                  <a:rPr lang="en-US" sz="3200" u="sng" dirty="0" smtClean="0">
                    <a:latin typeface="Baskerville Old Face" panose="02020602080505020303" pitchFamily="18" charset="0"/>
                  </a:rPr>
                  <a:t> Method</a:t>
                </a:r>
              </a:p>
              <a:p>
                <a:pPr>
                  <a:lnSpc>
                    <a:spcPct val="160000"/>
                  </a:lnSpc>
                  <a:buFont typeface="Wingdings" pitchFamily="2" charset="2"/>
                  <a:buChar char="Ø"/>
                </a:pPr>
                <a:r>
                  <a:rPr lang="en-US" sz="3200" dirty="0" smtClean="0">
                    <a:latin typeface="Baskerville Old Face" panose="02020602080505020303" pitchFamily="18" charset="0"/>
                  </a:rPr>
                  <a:t>Number of ways =           C(21, </a:t>
                </a:r>
                <a:r>
                  <a:rPr lang="en-US" sz="3200" dirty="0">
                    <a:latin typeface="Baskerville Old Face" panose="02020602080505020303" pitchFamily="18" charset="0"/>
                  </a:rPr>
                  <a:t>2</a:t>
                </a:r>
                <a:r>
                  <a:rPr lang="en-US" sz="3200" dirty="0" smtClean="0">
                    <a:latin typeface="Baskerville Old Face" panose="02020602080505020303" pitchFamily="18" charset="0"/>
                  </a:rPr>
                  <a:t>) * C(19, 12) =</a:t>
                </a:r>
              </a:p>
              <a:p>
                <a:pPr>
                  <a:lnSpc>
                    <a:spcPct val="160000"/>
                  </a:lnSpc>
                  <a:buFont typeface="Wingdings" pitchFamily="2" charset="2"/>
                  <a:buChar char="Ø"/>
                </a:pPr>
                <a14:m>
                  <m:oMath xmlns:m="http://schemas.openxmlformats.org/officeDocument/2006/math">
                    <m:f>
                      <m:fPr>
                        <m:ctrlPr>
                          <a:rPr lang="en-US" sz="3200" b="0" i="1" smtClean="0">
                            <a:latin typeface="Cambria Math"/>
                          </a:rPr>
                        </m:ctrlPr>
                      </m:fPr>
                      <m:num>
                        <m:r>
                          <a:rPr lang="en-US" sz="3200" b="0" i="1" smtClean="0">
                            <a:latin typeface="Cambria Math"/>
                          </a:rPr>
                          <m:t>21!</m:t>
                        </m:r>
                      </m:num>
                      <m:den>
                        <m:d>
                          <m:dPr>
                            <m:ctrlPr>
                              <a:rPr lang="en-US" sz="3200" b="0" i="1" smtClean="0">
                                <a:latin typeface="Cambria Math"/>
                              </a:rPr>
                            </m:ctrlPr>
                          </m:dPr>
                          <m:e>
                            <m:r>
                              <a:rPr lang="en-US" sz="3200" b="0" i="1" smtClean="0">
                                <a:latin typeface="Cambria Math"/>
                              </a:rPr>
                              <m:t>21−2</m:t>
                            </m:r>
                          </m:e>
                        </m:d>
                        <m:r>
                          <a:rPr lang="en-US" sz="3200" b="0" i="1" smtClean="0">
                            <a:latin typeface="Cambria Math"/>
                          </a:rPr>
                          <m:t>!∗2!</m:t>
                        </m:r>
                      </m:den>
                    </m:f>
                    <m:r>
                      <a:rPr lang="en-US" sz="3200" b="0" i="1" smtClean="0">
                        <a:latin typeface="Cambria Math"/>
                      </a:rPr>
                      <m:t>∗</m:t>
                    </m:r>
                    <m:f>
                      <m:fPr>
                        <m:ctrlPr>
                          <a:rPr lang="en-US" sz="3200" i="1">
                            <a:latin typeface="Cambria Math"/>
                          </a:rPr>
                        </m:ctrlPr>
                      </m:fPr>
                      <m:num>
                        <m:r>
                          <a:rPr lang="en-US" sz="3200" b="0" i="1" smtClean="0">
                            <a:latin typeface="Cambria Math"/>
                          </a:rPr>
                          <m:t>19</m:t>
                        </m:r>
                        <m:r>
                          <a:rPr lang="en-US" sz="3200" i="1">
                            <a:latin typeface="Cambria Math"/>
                          </a:rPr>
                          <m:t>!</m:t>
                        </m:r>
                      </m:num>
                      <m:den>
                        <m:d>
                          <m:dPr>
                            <m:ctrlPr>
                              <a:rPr lang="en-US" sz="3200" i="1">
                                <a:latin typeface="Cambria Math"/>
                              </a:rPr>
                            </m:ctrlPr>
                          </m:dPr>
                          <m:e>
                            <m:r>
                              <a:rPr lang="en-US" sz="3200" b="0" i="1" smtClean="0">
                                <a:latin typeface="Cambria Math"/>
                              </a:rPr>
                              <m:t>19</m:t>
                            </m:r>
                            <m:r>
                              <a:rPr lang="en-US" sz="3200" i="1">
                                <a:latin typeface="Cambria Math"/>
                              </a:rPr>
                              <m:t>−</m:t>
                            </m:r>
                            <m:r>
                              <a:rPr lang="en-US" sz="3200" b="0" i="1" smtClean="0">
                                <a:latin typeface="Cambria Math"/>
                              </a:rPr>
                              <m:t>1</m:t>
                            </m:r>
                            <m:r>
                              <a:rPr lang="en-US" sz="3200" i="1">
                                <a:latin typeface="Cambria Math"/>
                              </a:rPr>
                              <m:t>2</m:t>
                            </m:r>
                          </m:e>
                        </m:d>
                        <m:r>
                          <a:rPr lang="en-US" sz="3200" i="1">
                            <a:latin typeface="Cambria Math"/>
                          </a:rPr>
                          <m:t>!∗</m:t>
                        </m:r>
                        <m:r>
                          <a:rPr lang="en-US" sz="3200" b="0" i="1" smtClean="0">
                            <a:latin typeface="Cambria Math"/>
                          </a:rPr>
                          <m:t>12</m:t>
                        </m:r>
                        <m:r>
                          <a:rPr lang="en-US" sz="3200" i="1">
                            <a:latin typeface="Cambria Math"/>
                          </a:rPr>
                          <m:t>!</m:t>
                        </m:r>
                      </m:den>
                    </m:f>
                  </m:oMath>
                </a14:m>
                <a:r>
                  <a:rPr lang="en-US" sz="3200" b="0" dirty="0" smtClean="0">
                    <a:latin typeface="Baskerville Old Face" panose="02020602080505020303" pitchFamily="18" charset="0"/>
                  </a:rPr>
                  <a:t> =</a:t>
                </a:r>
              </a:p>
              <a:p>
                <a:pPr>
                  <a:lnSpc>
                    <a:spcPct val="160000"/>
                  </a:lnSpc>
                  <a:buFont typeface="Wingdings" pitchFamily="2" charset="2"/>
                  <a:buChar char="Ø"/>
                </a:pPr>
                <a14:m>
                  <m:oMath xmlns:m="http://schemas.openxmlformats.org/officeDocument/2006/math">
                    <m:f>
                      <m:fPr>
                        <m:ctrlPr>
                          <a:rPr lang="en-US" sz="3200" i="1">
                            <a:solidFill>
                              <a:prstClr val="black"/>
                            </a:solidFill>
                            <a:latin typeface="Cambria Math"/>
                          </a:rPr>
                        </m:ctrlPr>
                      </m:fPr>
                      <m:num>
                        <m:r>
                          <a:rPr lang="en-US" sz="3200" i="1">
                            <a:solidFill>
                              <a:prstClr val="black"/>
                            </a:solidFill>
                            <a:latin typeface="Cambria Math"/>
                          </a:rPr>
                          <m:t>21!</m:t>
                        </m:r>
                      </m:num>
                      <m:den>
                        <m:r>
                          <a:rPr lang="en-US" sz="3200" b="0" i="1" smtClean="0">
                            <a:solidFill>
                              <a:prstClr val="black"/>
                            </a:solidFill>
                            <a:latin typeface="Cambria Math"/>
                          </a:rPr>
                          <m:t>19</m:t>
                        </m:r>
                        <m:r>
                          <a:rPr lang="en-US" sz="3200" i="1">
                            <a:solidFill>
                              <a:prstClr val="black"/>
                            </a:solidFill>
                            <a:latin typeface="Cambria Math"/>
                          </a:rPr>
                          <m:t>!∗2!</m:t>
                        </m:r>
                      </m:den>
                    </m:f>
                    <m:r>
                      <a:rPr lang="en-US" sz="3200" i="1">
                        <a:solidFill>
                          <a:prstClr val="black"/>
                        </a:solidFill>
                        <a:latin typeface="Cambria Math"/>
                      </a:rPr>
                      <m:t>∗</m:t>
                    </m:r>
                    <m:f>
                      <m:fPr>
                        <m:ctrlPr>
                          <a:rPr lang="en-US" sz="3200" i="1">
                            <a:solidFill>
                              <a:prstClr val="black"/>
                            </a:solidFill>
                            <a:latin typeface="Cambria Math"/>
                          </a:rPr>
                        </m:ctrlPr>
                      </m:fPr>
                      <m:num>
                        <m:r>
                          <a:rPr lang="en-US" sz="3200" b="0" i="1" smtClean="0">
                            <a:solidFill>
                              <a:prstClr val="black"/>
                            </a:solidFill>
                            <a:latin typeface="Cambria Math"/>
                          </a:rPr>
                          <m:t>19</m:t>
                        </m:r>
                        <m:r>
                          <a:rPr lang="en-US" sz="3200" i="1">
                            <a:solidFill>
                              <a:prstClr val="black"/>
                            </a:solidFill>
                            <a:latin typeface="Cambria Math"/>
                          </a:rPr>
                          <m:t>!</m:t>
                        </m:r>
                      </m:num>
                      <m:den>
                        <m:r>
                          <a:rPr lang="en-US" sz="3200" b="0" i="1" smtClean="0">
                            <a:solidFill>
                              <a:prstClr val="black"/>
                            </a:solidFill>
                            <a:latin typeface="Cambria Math"/>
                          </a:rPr>
                          <m:t>7</m:t>
                        </m:r>
                        <m:r>
                          <a:rPr lang="en-US" sz="3200" i="1">
                            <a:solidFill>
                              <a:prstClr val="black"/>
                            </a:solidFill>
                            <a:latin typeface="Cambria Math"/>
                          </a:rPr>
                          <m:t>!∗</m:t>
                        </m:r>
                        <m:r>
                          <a:rPr lang="en-US" sz="3200" b="0" i="1" smtClean="0">
                            <a:solidFill>
                              <a:prstClr val="black"/>
                            </a:solidFill>
                            <a:latin typeface="Cambria Math"/>
                          </a:rPr>
                          <m:t>1</m:t>
                        </m:r>
                        <m:r>
                          <a:rPr lang="en-US" sz="3200" i="1">
                            <a:solidFill>
                              <a:prstClr val="black"/>
                            </a:solidFill>
                            <a:latin typeface="Cambria Math"/>
                          </a:rPr>
                          <m:t>2!</m:t>
                        </m:r>
                      </m:den>
                    </m:f>
                  </m:oMath>
                </a14:m>
                <a:r>
                  <a:rPr lang="en-US" sz="3200" b="0" dirty="0" smtClean="0">
                    <a:latin typeface="Baskerville Old Face" panose="02020602080505020303" pitchFamily="18" charset="0"/>
                  </a:rPr>
                  <a:t> =</a:t>
                </a:r>
              </a:p>
              <a:p>
                <a:pPr>
                  <a:lnSpc>
                    <a:spcPct val="160000"/>
                  </a:lnSpc>
                  <a:buFont typeface="Wingdings" pitchFamily="2" charset="2"/>
                  <a:buChar char="Ø"/>
                </a:pPr>
                <a:r>
                  <a:rPr lang="en-US" sz="3200" b="0" dirty="0" smtClean="0">
                    <a:latin typeface="Baskerville Old Face" panose="02020602080505020303" pitchFamily="18" charset="0"/>
                  </a:rPr>
                  <a:t>210 * 50388 =</a:t>
                </a:r>
              </a:p>
              <a:p>
                <a:pPr>
                  <a:lnSpc>
                    <a:spcPct val="160000"/>
                  </a:lnSpc>
                  <a:buFont typeface="Wingdings" pitchFamily="2" charset="2"/>
                  <a:buChar char="Ø"/>
                </a:pPr>
                <a:r>
                  <a:rPr lang="en-US" sz="3200" dirty="0" smtClean="0">
                    <a:latin typeface="Baskerville Old Face" panose="02020602080505020303" pitchFamily="18" charset="0"/>
                  </a:rPr>
                  <a:t>10581480 ways</a:t>
                </a:r>
                <a:endParaRPr lang="en-US" sz="3200" b="0" dirty="0" smtClean="0">
                  <a:latin typeface="Baskerville Old Face" panose="02020602080505020303" pitchFamily="18" charset="0"/>
                </a:endParaRPr>
              </a:p>
              <a:p>
                <a:pPr>
                  <a:buFont typeface="Wingdings" pitchFamily="2" charset="2"/>
                  <a:buChar char="Ø"/>
                </a:pPr>
                <a:endParaRPr lang="en-US" dirty="0" smtClean="0"/>
              </a:p>
              <a:p>
                <a:pPr>
                  <a:buFont typeface="Wingdings" pitchFamily="2" charset="2"/>
                  <a:buChar char="Ø"/>
                </a:pPr>
                <a:endParaRPr lang="en-US" dirty="0"/>
              </a:p>
              <a:p>
                <a:pPr>
                  <a:buFont typeface="Wingdings" pitchFamily="2" charset="2"/>
                  <a:buChar char="Ø"/>
                </a:pPr>
                <a:endParaRPr lang="en-US" dirty="0" smtClean="0"/>
              </a:p>
              <a:p>
                <a:pPr marL="0" indent="0">
                  <a:buNone/>
                </a:pPr>
                <a:endParaRPr lang="en-US" dirty="0" smtClean="0"/>
              </a:p>
              <a:p>
                <a:endParaRPr lang="en-US" dirty="0"/>
              </a:p>
            </p:txBody>
          </p:sp>
        </mc:Choice>
        <mc:Fallback xmlns="">
          <p:sp>
            <p:nvSpPr>
              <p:cNvPr id="9" name="Content Placeholder 8"/>
              <p:cNvSpPr>
                <a:spLocks noGrp="1" noRot="1" noChangeAspect="1" noMove="1" noResize="1" noEditPoints="1" noAdjustHandles="1" noChangeArrowheads="1" noChangeShapeType="1" noTextEdit="1"/>
              </p:cNvSpPr>
              <p:nvPr>
                <p:ph sz="quarter" idx="2"/>
              </p:nvPr>
            </p:nvSpPr>
            <p:spPr>
              <a:xfrm>
                <a:off x="4495800" y="1752600"/>
                <a:ext cx="4235301" cy="4572000"/>
              </a:xfrm>
              <a:blipFill rotWithShape="1">
                <a:blip r:embed="rId3"/>
                <a:stretch>
                  <a:fillRect l="-287" t="-2261" b="-1729"/>
                </a:stretch>
              </a:blipFill>
              <a:ln w="12700" cmpd="dbl">
                <a:solidFill>
                  <a:schemeClr val="accent2">
                    <a:lumMod val="75000"/>
                  </a:schemeClr>
                </a:solidFill>
              </a:ln>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4" name="Ink 3"/>
              <p14:cNvContentPartPr/>
              <p14:nvPr/>
            </p14:nvContentPartPr>
            <p14:xfrm>
              <a:off x="6603840" y="158760"/>
              <a:ext cx="1587960" cy="711720"/>
            </p14:xfrm>
          </p:contentPart>
        </mc:Choice>
        <mc:Fallback xmlns="">
          <p:pic>
            <p:nvPicPr>
              <p:cNvPr id="4" name="Ink 3"/>
              <p:cNvPicPr/>
              <p:nvPr/>
            </p:nvPicPr>
            <p:blipFill>
              <a:blip r:embed="rId5"/>
              <a:stretch>
                <a:fillRect/>
              </a:stretch>
            </p:blipFill>
            <p:spPr>
              <a:xfrm>
                <a:off x="6594480" y="149400"/>
                <a:ext cx="1606680" cy="730440"/>
              </a:xfrm>
              <a:prstGeom prst="rect">
                <a:avLst/>
              </a:prstGeom>
            </p:spPr>
          </p:pic>
        </mc:Fallback>
      </mc:AlternateContent>
    </p:spTree>
    <p:extLst>
      <p:ext uri="{BB962C8B-B14F-4D97-AF65-F5344CB8AC3E}">
        <p14:creationId xmlns:p14="http://schemas.microsoft.com/office/powerpoint/2010/main" val="3405347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fade">
                                      <p:cBhvr>
                                        <p:cTn id="19" dur="1000"/>
                                        <p:tgtEl>
                                          <p:spTgt spid="9">
                                            <p:txEl>
                                              <p:pRg st="2" end="2"/>
                                            </p:txEl>
                                          </p:spTgt>
                                        </p:tgtEl>
                                      </p:cBhvr>
                                    </p:animEffect>
                                    <p:anim calcmode="lin" valueType="num">
                                      <p:cBhvr>
                                        <p:cTn id="20"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animEffect transition="in" filter="fade">
                                      <p:cBhvr>
                                        <p:cTn id="24" dur="1000"/>
                                        <p:tgtEl>
                                          <p:spTgt spid="9">
                                            <p:txEl>
                                              <p:pRg st="3" end="3"/>
                                            </p:txEl>
                                          </p:spTgt>
                                        </p:tgtEl>
                                      </p:cBhvr>
                                    </p:animEffect>
                                    <p:anim calcmode="lin" valueType="num">
                                      <p:cBhvr>
                                        <p:cTn id="2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xEl>
                                              <p:pRg st="4" end="4"/>
                                            </p:txEl>
                                          </p:spTgt>
                                        </p:tgtEl>
                                        <p:attrNameLst>
                                          <p:attrName>style.visibility</p:attrName>
                                        </p:attrNameLst>
                                      </p:cBhvr>
                                      <p:to>
                                        <p:strVal val="visible"/>
                                      </p:to>
                                    </p:set>
                                    <p:animEffect transition="in" filter="fade">
                                      <p:cBhvr>
                                        <p:cTn id="29" dur="1000"/>
                                        <p:tgtEl>
                                          <p:spTgt spid="9">
                                            <p:txEl>
                                              <p:pRg st="4" end="4"/>
                                            </p:txEl>
                                          </p:spTgt>
                                        </p:tgtEl>
                                      </p:cBhvr>
                                    </p:animEffect>
                                    <p:anim calcmode="lin" valueType="num">
                                      <p:cBhvr>
                                        <p:cTn id="30"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9">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9">
                                            <p:txEl>
                                              <p:pRg st="5" end="5"/>
                                            </p:txEl>
                                          </p:spTgt>
                                        </p:tgtEl>
                                        <p:attrNameLst>
                                          <p:attrName>style.visibility</p:attrName>
                                        </p:attrNameLst>
                                      </p:cBhvr>
                                      <p:to>
                                        <p:strVal val="visible"/>
                                      </p:to>
                                    </p:set>
                                    <p:animEffect transition="in" filter="fade">
                                      <p:cBhvr>
                                        <p:cTn id="34" dur="1000"/>
                                        <p:tgtEl>
                                          <p:spTgt spid="9">
                                            <p:txEl>
                                              <p:pRg st="5" end="5"/>
                                            </p:txEl>
                                          </p:spTgt>
                                        </p:tgtEl>
                                      </p:cBhvr>
                                    </p:animEffect>
                                    <p:anim calcmode="lin" valueType="num">
                                      <p:cBhvr>
                                        <p:cTn id="35"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smtClean="0"/>
              <a:t>Question 12</a:t>
            </a:r>
            <a:endParaRPr lang="en-US" dirty="0"/>
          </a:p>
        </p:txBody>
      </p:sp>
      <p:sp>
        <p:nvSpPr>
          <p:cNvPr id="3" name="Rectangle 2"/>
          <p:cNvSpPr>
            <a:spLocks noGrp="1"/>
          </p:cNvSpPr>
          <p:nvPr>
            <p:ph sz="quarter" idx="1"/>
          </p:nvPr>
        </p:nvSpPr>
        <p:spPr>
          <a:xfrm>
            <a:off x="609600" y="1752600"/>
            <a:ext cx="3886200" cy="4572000"/>
          </a:xfrm>
          <a:ln w="19050" cmpd="dbl">
            <a:solidFill>
              <a:schemeClr val="accent2">
                <a:lumMod val="75000"/>
              </a:schemeClr>
            </a:solidFill>
          </a:ln>
        </p:spPr>
        <p:txBody>
          <a:bodyPr>
            <a:normAutofit fontScale="92500" lnSpcReduction="10000"/>
          </a:bodyPr>
          <a:lstStyle/>
          <a:p>
            <a:pPr>
              <a:buFont typeface="Wingdings" pitchFamily="2" charset="2"/>
              <a:buChar char="Ø"/>
            </a:pPr>
            <a:r>
              <a:rPr lang="en-US" dirty="0" smtClean="0">
                <a:latin typeface="Bell MT" panose="02020503060305020303" pitchFamily="18" charset="0"/>
              </a:rPr>
              <a:t>How many different signals can be made by hoisting three yellow flags, four green flags, and two red flags on a ship’s mast at the same time?</a:t>
            </a:r>
          </a:p>
          <a:p>
            <a:pPr>
              <a:buFont typeface="Wingdings" pitchFamily="2" charset="2"/>
              <a:buChar char="Ø"/>
            </a:pPr>
            <a:endParaRPr lang="en-US" dirty="0" smtClean="0">
              <a:latin typeface="Bell MT" panose="02020503060305020303" pitchFamily="18" charset="0"/>
            </a:endParaRPr>
          </a:p>
          <a:p>
            <a:pPr>
              <a:buFont typeface="Wingdings" pitchFamily="2" charset="2"/>
              <a:buChar char="Ø"/>
            </a:pPr>
            <a:r>
              <a:rPr lang="en-US" dirty="0" smtClean="0">
                <a:latin typeface="Bell MT" panose="02020503060305020303" pitchFamily="18" charset="0"/>
              </a:rPr>
              <a:t>This is a case of Permutation of Duplicates</a:t>
            </a:r>
          </a:p>
        </p:txBody>
      </p:sp>
      <mc:AlternateContent xmlns:mc="http://schemas.openxmlformats.org/markup-compatibility/2006" xmlns:a14="http://schemas.microsoft.com/office/drawing/2010/main">
        <mc:Choice Requires="a14">
          <p:sp>
            <p:nvSpPr>
              <p:cNvPr id="9" name="Content Placeholder 8"/>
              <p:cNvSpPr>
                <a:spLocks noGrp="1"/>
              </p:cNvSpPr>
              <p:nvPr>
                <p:ph sz="quarter" idx="2"/>
              </p:nvPr>
            </p:nvSpPr>
            <p:spPr>
              <a:xfrm>
                <a:off x="4495800" y="1752600"/>
                <a:ext cx="4235301" cy="4572000"/>
              </a:xfrm>
              <a:ln w="12700" cmpd="dbl">
                <a:solidFill>
                  <a:schemeClr val="accent2">
                    <a:lumMod val="75000"/>
                  </a:schemeClr>
                </a:solidFill>
              </a:ln>
            </p:spPr>
            <p:txBody>
              <a:bodyPr>
                <a:normAutofit fontScale="92500" lnSpcReduction="10000"/>
              </a:bodyPr>
              <a:lstStyle/>
              <a:p>
                <a:pPr lvl="0">
                  <a:buClr>
                    <a:srgbClr val="FEB80A"/>
                  </a:buClr>
                  <a:buFont typeface="Wingdings" pitchFamily="2" charset="2"/>
                  <a:buChar char="Ø"/>
                </a:pPr>
                <a:r>
                  <a:rPr lang="en-US" sz="2400" u="sng" dirty="0" smtClean="0">
                    <a:solidFill>
                      <a:prstClr val="black"/>
                    </a:solidFill>
                    <a:latin typeface="Baskerville Old Face" panose="02020602080505020303" pitchFamily="18" charset="0"/>
                  </a:rPr>
                  <a:t>Solution </a:t>
                </a:r>
              </a:p>
              <a:p>
                <a:pPr lvl="0">
                  <a:lnSpc>
                    <a:spcPct val="170000"/>
                  </a:lnSpc>
                  <a:buClr>
                    <a:srgbClr val="FEB80A"/>
                  </a:buClr>
                  <a:buFont typeface="Wingdings" pitchFamily="2" charset="2"/>
                  <a:buChar char="Ø"/>
                </a:pPr>
                <a:r>
                  <a:rPr lang="en-US" sz="4300" dirty="0">
                    <a:solidFill>
                      <a:prstClr val="black"/>
                    </a:solidFill>
                    <a:latin typeface="Baskerville Old Face" panose="02020602080505020303" pitchFamily="18" charset="0"/>
                  </a:rPr>
                  <a:t>Number of ways =</a:t>
                </a:r>
              </a:p>
              <a:p>
                <a:pPr lvl="0">
                  <a:lnSpc>
                    <a:spcPct val="170000"/>
                  </a:lnSpc>
                  <a:buClr>
                    <a:srgbClr val="FEB80A"/>
                  </a:buClr>
                  <a:buFont typeface="Wingdings" pitchFamily="2" charset="2"/>
                  <a:buChar char="Ø"/>
                </a:pPr>
                <a14:m>
                  <m:oMath xmlns:m="http://schemas.openxmlformats.org/officeDocument/2006/math">
                    <m:f>
                      <m:fPr>
                        <m:ctrlPr>
                          <a:rPr lang="en-US" sz="4300" i="1">
                            <a:solidFill>
                              <a:prstClr val="black"/>
                            </a:solidFill>
                            <a:latin typeface="Cambria Math"/>
                          </a:rPr>
                        </m:ctrlPr>
                      </m:fPr>
                      <m:num>
                        <m:r>
                          <a:rPr lang="en-US" sz="4300" b="0" i="1" smtClean="0">
                            <a:solidFill>
                              <a:prstClr val="black"/>
                            </a:solidFill>
                            <a:latin typeface="Cambria Math"/>
                          </a:rPr>
                          <m:t>9</m:t>
                        </m:r>
                        <m:r>
                          <a:rPr lang="en-US" sz="4300" i="1">
                            <a:solidFill>
                              <a:prstClr val="black"/>
                            </a:solidFill>
                            <a:latin typeface="Cambria Math"/>
                          </a:rPr>
                          <m:t>!</m:t>
                        </m:r>
                      </m:num>
                      <m:den>
                        <m:r>
                          <a:rPr lang="en-US" sz="4300" b="0" i="1" smtClean="0">
                            <a:solidFill>
                              <a:prstClr val="black"/>
                            </a:solidFill>
                            <a:latin typeface="Cambria Math"/>
                          </a:rPr>
                          <m:t>3</m:t>
                        </m:r>
                        <m:r>
                          <a:rPr lang="en-US" sz="4300" i="1">
                            <a:solidFill>
                              <a:prstClr val="black"/>
                            </a:solidFill>
                            <a:latin typeface="Cambria Math"/>
                          </a:rPr>
                          <m:t>!∗</m:t>
                        </m:r>
                        <m:r>
                          <a:rPr lang="en-US" sz="4300" b="0" i="1" smtClean="0">
                            <a:solidFill>
                              <a:prstClr val="black"/>
                            </a:solidFill>
                            <a:latin typeface="Cambria Math"/>
                          </a:rPr>
                          <m:t>4</m:t>
                        </m:r>
                        <m:r>
                          <a:rPr lang="en-US" sz="4300" i="1">
                            <a:solidFill>
                              <a:prstClr val="black"/>
                            </a:solidFill>
                            <a:latin typeface="Cambria Math"/>
                          </a:rPr>
                          <m:t>!∗2!</m:t>
                        </m:r>
                      </m:den>
                    </m:f>
                  </m:oMath>
                </a14:m>
                <a:r>
                  <a:rPr lang="en-US" sz="4300" dirty="0">
                    <a:solidFill>
                      <a:prstClr val="black"/>
                    </a:solidFill>
                    <a:latin typeface="Baskerville Old Face" panose="02020602080505020303" pitchFamily="18" charset="0"/>
                  </a:rPr>
                  <a:t> =</a:t>
                </a:r>
              </a:p>
              <a:p>
                <a:pPr lvl="0">
                  <a:lnSpc>
                    <a:spcPct val="170000"/>
                  </a:lnSpc>
                  <a:buClr>
                    <a:srgbClr val="FEB80A"/>
                  </a:buClr>
                  <a:buFont typeface="Wingdings" pitchFamily="2" charset="2"/>
                  <a:buChar char="Ø"/>
                </a:pPr>
                <a:r>
                  <a:rPr lang="en-US" sz="4300" dirty="0" smtClean="0">
                    <a:solidFill>
                      <a:prstClr val="black"/>
                    </a:solidFill>
                    <a:latin typeface="Baskerville Old Face" panose="02020602080505020303" pitchFamily="18" charset="0"/>
                  </a:rPr>
                  <a:t>1260 </a:t>
                </a:r>
                <a:r>
                  <a:rPr lang="en-US" sz="4300" dirty="0">
                    <a:solidFill>
                      <a:prstClr val="black"/>
                    </a:solidFill>
                    <a:latin typeface="Baskerville Old Face" panose="02020602080505020303" pitchFamily="18" charset="0"/>
                  </a:rPr>
                  <a:t>ways</a:t>
                </a:r>
              </a:p>
              <a:p>
                <a:pPr>
                  <a:buFont typeface="Wingdings" pitchFamily="2" charset="2"/>
                  <a:buChar char="Ø"/>
                </a:pPr>
                <a:endParaRPr lang="en-US" dirty="0" smtClean="0"/>
              </a:p>
              <a:p>
                <a:pPr>
                  <a:buFont typeface="Wingdings" pitchFamily="2" charset="2"/>
                  <a:buChar char="Ø"/>
                </a:pPr>
                <a:endParaRPr lang="en-US" dirty="0"/>
              </a:p>
              <a:p>
                <a:pPr>
                  <a:buFont typeface="Wingdings" pitchFamily="2" charset="2"/>
                  <a:buChar char="Ø"/>
                </a:pPr>
                <a:endParaRPr lang="en-US" dirty="0" smtClean="0"/>
              </a:p>
              <a:p>
                <a:pPr marL="0" indent="0">
                  <a:buNone/>
                </a:pPr>
                <a:endParaRPr lang="en-US" dirty="0" smtClean="0"/>
              </a:p>
              <a:p>
                <a:endParaRPr lang="en-US" dirty="0"/>
              </a:p>
            </p:txBody>
          </p:sp>
        </mc:Choice>
        <mc:Fallback xmlns="">
          <p:sp>
            <p:nvSpPr>
              <p:cNvPr id="9" name="Content Placeholder 8"/>
              <p:cNvSpPr>
                <a:spLocks noGrp="1" noRot="1" noChangeAspect="1" noMove="1" noResize="1" noEditPoints="1" noAdjustHandles="1" noChangeArrowheads="1" noChangeShapeType="1" noTextEdit="1"/>
              </p:cNvSpPr>
              <p:nvPr>
                <p:ph sz="quarter" idx="2"/>
              </p:nvPr>
            </p:nvSpPr>
            <p:spPr>
              <a:xfrm>
                <a:off x="4495800" y="1752600"/>
                <a:ext cx="4235301" cy="4572000"/>
              </a:xfrm>
              <a:blipFill rotWithShape="1">
                <a:blip r:embed="rId3"/>
                <a:stretch>
                  <a:fillRect l="-1868" t="-1463" r="-3736"/>
                </a:stretch>
              </a:blipFill>
              <a:ln w="12700" cmpd="dbl">
                <a:solidFill>
                  <a:schemeClr val="accent2">
                    <a:lumMod val="7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2393487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fade">
                                      <p:cBhvr>
                                        <p:cTn id="19" dur="1000"/>
                                        <p:tgtEl>
                                          <p:spTgt spid="9">
                                            <p:txEl>
                                              <p:pRg st="2" end="2"/>
                                            </p:txEl>
                                          </p:spTgt>
                                        </p:tgtEl>
                                      </p:cBhvr>
                                    </p:animEffect>
                                    <p:anim calcmode="lin" valueType="num">
                                      <p:cBhvr>
                                        <p:cTn id="20"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animEffect transition="in" filter="fade">
                                      <p:cBhvr>
                                        <p:cTn id="24" dur="1000"/>
                                        <p:tgtEl>
                                          <p:spTgt spid="9">
                                            <p:txEl>
                                              <p:pRg st="3" end="3"/>
                                            </p:txEl>
                                          </p:spTgt>
                                        </p:tgtEl>
                                      </p:cBhvr>
                                    </p:animEffect>
                                    <p:anim calcmode="lin" valueType="num">
                                      <p:cBhvr>
                                        <p:cTn id="2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smtClean="0"/>
              <a:t>Question 13</a:t>
            </a:r>
            <a:endParaRPr lang="en-US" dirty="0"/>
          </a:p>
        </p:txBody>
      </p:sp>
      <p:sp>
        <p:nvSpPr>
          <p:cNvPr id="3" name="Rectangle 2"/>
          <p:cNvSpPr>
            <a:spLocks noGrp="1"/>
          </p:cNvSpPr>
          <p:nvPr>
            <p:ph sz="quarter" idx="1"/>
          </p:nvPr>
        </p:nvSpPr>
        <p:spPr>
          <a:xfrm>
            <a:off x="609600" y="1752600"/>
            <a:ext cx="3886200" cy="4572000"/>
          </a:xfrm>
          <a:ln w="19050" cmpd="dbl">
            <a:solidFill>
              <a:schemeClr val="accent2">
                <a:lumMod val="75000"/>
              </a:schemeClr>
            </a:solidFill>
          </a:ln>
        </p:spPr>
        <p:txBody>
          <a:bodyPr>
            <a:normAutofit fontScale="92500" lnSpcReduction="20000"/>
          </a:bodyPr>
          <a:lstStyle/>
          <a:p>
            <a:pPr>
              <a:buFont typeface="Wingdings" pitchFamily="2" charset="2"/>
              <a:buChar char="Ø"/>
            </a:pPr>
            <a:r>
              <a:rPr lang="en-US" dirty="0" smtClean="0">
                <a:latin typeface="Bell MT" panose="02020503060305020303" pitchFamily="18" charset="0"/>
              </a:rPr>
              <a:t>Gold Star Realty received 12 inquiries from prospective home buyers. In how many ways can the inquiries be directed to any three of the firm’s real estate agents if each agent handles four inquiries?</a:t>
            </a:r>
          </a:p>
          <a:p>
            <a:pPr>
              <a:buFont typeface="Wingdings" pitchFamily="2" charset="2"/>
              <a:buChar char="Ø"/>
            </a:pPr>
            <a:endParaRPr lang="en-US" dirty="0" smtClean="0">
              <a:latin typeface="Bell MT" panose="02020503060305020303" pitchFamily="18" charset="0"/>
            </a:endParaRPr>
          </a:p>
          <a:p>
            <a:pPr>
              <a:buFont typeface="Wingdings" pitchFamily="2" charset="2"/>
              <a:buChar char="Ø"/>
            </a:pPr>
            <a:r>
              <a:rPr lang="en-US" dirty="0" smtClean="0">
                <a:latin typeface="Bell MT" panose="02020503060305020303" pitchFamily="18" charset="0"/>
              </a:rPr>
              <a:t>This is a case of Permutation of Duplicates</a:t>
            </a:r>
          </a:p>
        </p:txBody>
      </p:sp>
      <mc:AlternateContent xmlns:mc="http://schemas.openxmlformats.org/markup-compatibility/2006" xmlns:a14="http://schemas.microsoft.com/office/drawing/2010/main">
        <mc:Choice Requires="a14">
          <p:sp>
            <p:nvSpPr>
              <p:cNvPr id="9" name="Content Placeholder 8"/>
              <p:cNvSpPr>
                <a:spLocks noGrp="1"/>
              </p:cNvSpPr>
              <p:nvPr>
                <p:ph sz="quarter" idx="2"/>
              </p:nvPr>
            </p:nvSpPr>
            <p:spPr>
              <a:xfrm>
                <a:off x="4495800" y="1752600"/>
                <a:ext cx="4235301" cy="4572000"/>
              </a:xfrm>
              <a:ln w="12700" cmpd="dbl">
                <a:solidFill>
                  <a:schemeClr val="accent2">
                    <a:lumMod val="75000"/>
                  </a:schemeClr>
                </a:solidFill>
              </a:ln>
            </p:spPr>
            <p:txBody>
              <a:bodyPr>
                <a:normAutofit fontScale="92500" lnSpcReduction="20000"/>
              </a:bodyPr>
              <a:lstStyle/>
              <a:p>
                <a:pPr lvl="0">
                  <a:buClr>
                    <a:srgbClr val="FEB80A"/>
                  </a:buClr>
                  <a:buFont typeface="Wingdings" pitchFamily="2" charset="2"/>
                  <a:buChar char="Ø"/>
                </a:pPr>
                <a:r>
                  <a:rPr lang="en-US" sz="2400" u="sng" dirty="0" smtClean="0">
                    <a:solidFill>
                      <a:prstClr val="black"/>
                    </a:solidFill>
                    <a:latin typeface="Baskerville Old Face" panose="02020602080505020303" pitchFamily="18" charset="0"/>
                  </a:rPr>
                  <a:t>Solution </a:t>
                </a:r>
              </a:p>
              <a:p>
                <a:pPr lvl="0">
                  <a:lnSpc>
                    <a:spcPct val="170000"/>
                  </a:lnSpc>
                  <a:buClr>
                    <a:srgbClr val="FEB80A"/>
                  </a:buClr>
                  <a:buFont typeface="Wingdings" pitchFamily="2" charset="2"/>
                  <a:buChar char="Ø"/>
                </a:pPr>
                <a:r>
                  <a:rPr lang="en-US" sz="4300" dirty="0">
                    <a:solidFill>
                      <a:prstClr val="black"/>
                    </a:solidFill>
                    <a:latin typeface="Baskerville Old Face" panose="02020602080505020303" pitchFamily="18" charset="0"/>
                  </a:rPr>
                  <a:t>Number of ways =</a:t>
                </a:r>
              </a:p>
              <a:p>
                <a:pPr lvl="0">
                  <a:lnSpc>
                    <a:spcPct val="170000"/>
                  </a:lnSpc>
                  <a:buClr>
                    <a:srgbClr val="FEB80A"/>
                  </a:buClr>
                  <a:buFont typeface="Wingdings" pitchFamily="2" charset="2"/>
                  <a:buChar char="Ø"/>
                </a:pPr>
                <a14:m>
                  <m:oMath xmlns:m="http://schemas.openxmlformats.org/officeDocument/2006/math">
                    <m:f>
                      <m:fPr>
                        <m:ctrlPr>
                          <a:rPr lang="en-US" sz="4300" i="1">
                            <a:solidFill>
                              <a:prstClr val="black"/>
                            </a:solidFill>
                            <a:latin typeface="Cambria Math"/>
                          </a:rPr>
                        </m:ctrlPr>
                      </m:fPr>
                      <m:num>
                        <m:r>
                          <a:rPr lang="en-US" sz="4300" b="0" i="1" smtClean="0">
                            <a:solidFill>
                              <a:prstClr val="black"/>
                            </a:solidFill>
                            <a:latin typeface="Cambria Math"/>
                          </a:rPr>
                          <m:t>12</m:t>
                        </m:r>
                        <m:r>
                          <a:rPr lang="en-US" sz="4300" i="1">
                            <a:solidFill>
                              <a:prstClr val="black"/>
                            </a:solidFill>
                            <a:latin typeface="Cambria Math"/>
                          </a:rPr>
                          <m:t>!</m:t>
                        </m:r>
                      </m:num>
                      <m:den>
                        <m:r>
                          <a:rPr lang="en-US" sz="4300" b="0" i="1" smtClean="0">
                            <a:solidFill>
                              <a:prstClr val="black"/>
                            </a:solidFill>
                            <a:latin typeface="Cambria Math"/>
                          </a:rPr>
                          <m:t>4</m:t>
                        </m:r>
                        <m:r>
                          <a:rPr lang="en-US" sz="4300" i="1">
                            <a:solidFill>
                              <a:prstClr val="black"/>
                            </a:solidFill>
                            <a:latin typeface="Cambria Math"/>
                          </a:rPr>
                          <m:t>!∗</m:t>
                        </m:r>
                        <m:r>
                          <a:rPr lang="en-US" sz="4300" b="0" i="1" smtClean="0">
                            <a:solidFill>
                              <a:prstClr val="black"/>
                            </a:solidFill>
                            <a:latin typeface="Cambria Math"/>
                          </a:rPr>
                          <m:t>4</m:t>
                        </m:r>
                        <m:r>
                          <a:rPr lang="en-US" sz="4300" i="1">
                            <a:solidFill>
                              <a:prstClr val="black"/>
                            </a:solidFill>
                            <a:latin typeface="Cambria Math"/>
                          </a:rPr>
                          <m:t>!∗</m:t>
                        </m:r>
                        <m:r>
                          <a:rPr lang="en-US" sz="4300" b="0" i="1" smtClean="0">
                            <a:solidFill>
                              <a:prstClr val="black"/>
                            </a:solidFill>
                            <a:latin typeface="Cambria Math"/>
                          </a:rPr>
                          <m:t>4</m:t>
                        </m:r>
                        <m:r>
                          <a:rPr lang="en-US" sz="4300" i="1">
                            <a:solidFill>
                              <a:prstClr val="black"/>
                            </a:solidFill>
                            <a:latin typeface="Cambria Math"/>
                          </a:rPr>
                          <m:t>!</m:t>
                        </m:r>
                      </m:den>
                    </m:f>
                  </m:oMath>
                </a14:m>
                <a:r>
                  <a:rPr lang="en-US" sz="4300" dirty="0">
                    <a:solidFill>
                      <a:prstClr val="black"/>
                    </a:solidFill>
                    <a:latin typeface="Baskerville Old Face" panose="02020602080505020303" pitchFamily="18" charset="0"/>
                  </a:rPr>
                  <a:t> =</a:t>
                </a:r>
              </a:p>
              <a:p>
                <a:pPr lvl="0">
                  <a:lnSpc>
                    <a:spcPct val="170000"/>
                  </a:lnSpc>
                  <a:buClr>
                    <a:srgbClr val="FEB80A"/>
                  </a:buClr>
                  <a:buFont typeface="Wingdings" pitchFamily="2" charset="2"/>
                  <a:buChar char="Ø"/>
                </a:pPr>
                <a:r>
                  <a:rPr lang="en-US" sz="4300" dirty="0" smtClean="0">
                    <a:solidFill>
                      <a:prstClr val="black"/>
                    </a:solidFill>
                    <a:latin typeface="Baskerville Old Face" panose="02020602080505020303" pitchFamily="18" charset="0"/>
                  </a:rPr>
                  <a:t>34650 </a:t>
                </a:r>
                <a:r>
                  <a:rPr lang="en-US" sz="4300" dirty="0">
                    <a:solidFill>
                      <a:prstClr val="black"/>
                    </a:solidFill>
                    <a:latin typeface="Baskerville Old Face" panose="02020602080505020303" pitchFamily="18" charset="0"/>
                  </a:rPr>
                  <a:t>ways</a:t>
                </a:r>
              </a:p>
              <a:p>
                <a:pPr>
                  <a:buFont typeface="Wingdings" pitchFamily="2" charset="2"/>
                  <a:buChar char="Ø"/>
                </a:pPr>
                <a:endParaRPr lang="en-US" dirty="0" smtClean="0"/>
              </a:p>
              <a:p>
                <a:pPr>
                  <a:buFont typeface="Wingdings" pitchFamily="2" charset="2"/>
                  <a:buChar char="Ø"/>
                </a:pPr>
                <a:endParaRPr lang="en-US" dirty="0"/>
              </a:p>
              <a:p>
                <a:pPr>
                  <a:buFont typeface="Wingdings" pitchFamily="2" charset="2"/>
                  <a:buChar char="Ø"/>
                </a:pPr>
                <a:endParaRPr lang="en-US" dirty="0" smtClean="0"/>
              </a:p>
              <a:p>
                <a:pPr marL="0" indent="0">
                  <a:buNone/>
                </a:pPr>
                <a:endParaRPr lang="en-US" dirty="0" smtClean="0"/>
              </a:p>
              <a:p>
                <a:endParaRPr lang="en-US" dirty="0"/>
              </a:p>
            </p:txBody>
          </p:sp>
        </mc:Choice>
        <mc:Fallback xmlns="">
          <p:sp>
            <p:nvSpPr>
              <p:cNvPr id="9" name="Content Placeholder 8"/>
              <p:cNvSpPr>
                <a:spLocks noGrp="1" noRot="1" noChangeAspect="1" noMove="1" noResize="1" noEditPoints="1" noAdjustHandles="1" noChangeArrowheads="1" noChangeShapeType="1" noTextEdit="1"/>
              </p:cNvSpPr>
              <p:nvPr>
                <p:ph sz="quarter" idx="2"/>
              </p:nvPr>
            </p:nvSpPr>
            <p:spPr>
              <a:xfrm>
                <a:off x="4495800" y="1752600"/>
                <a:ext cx="4235301" cy="4572000"/>
              </a:xfrm>
              <a:blipFill rotWithShape="1">
                <a:blip r:embed="rId3"/>
                <a:stretch>
                  <a:fillRect l="-1868" t="-1995" r="-3736"/>
                </a:stretch>
              </a:blipFill>
              <a:ln w="12700" cmpd="dbl">
                <a:solidFill>
                  <a:schemeClr val="accent2">
                    <a:lumMod val="7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346213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fade">
                                      <p:cBhvr>
                                        <p:cTn id="19" dur="1000"/>
                                        <p:tgtEl>
                                          <p:spTgt spid="9">
                                            <p:txEl>
                                              <p:pRg st="2" end="2"/>
                                            </p:txEl>
                                          </p:spTgt>
                                        </p:tgtEl>
                                      </p:cBhvr>
                                    </p:animEffect>
                                    <p:anim calcmode="lin" valueType="num">
                                      <p:cBhvr>
                                        <p:cTn id="20"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animEffect transition="in" filter="fade">
                                      <p:cBhvr>
                                        <p:cTn id="24" dur="1000"/>
                                        <p:tgtEl>
                                          <p:spTgt spid="9">
                                            <p:txEl>
                                              <p:pRg st="3" end="3"/>
                                            </p:txEl>
                                          </p:spTgt>
                                        </p:tgtEl>
                                      </p:cBhvr>
                                    </p:animEffect>
                                    <p:anim calcmode="lin" valueType="num">
                                      <p:cBhvr>
                                        <p:cTn id="2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smtClean="0"/>
              <a:t>Question 14</a:t>
            </a:r>
            <a:endParaRPr lang="en-US" dirty="0"/>
          </a:p>
        </p:txBody>
      </p:sp>
      <p:sp>
        <p:nvSpPr>
          <p:cNvPr id="3" name="Rectangle 2"/>
          <p:cNvSpPr>
            <a:spLocks noGrp="1"/>
          </p:cNvSpPr>
          <p:nvPr>
            <p:ph sz="quarter" idx="1"/>
          </p:nvPr>
        </p:nvSpPr>
        <p:spPr>
          <a:xfrm>
            <a:off x="609600" y="1752600"/>
            <a:ext cx="3886200" cy="4572000"/>
          </a:xfrm>
          <a:ln w="19050" cmpd="dbl">
            <a:solidFill>
              <a:schemeClr val="accent2">
                <a:lumMod val="75000"/>
              </a:schemeClr>
            </a:solidFill>
          </a:ln>
        </p:spPr>
        <p:txBody>
          <a:bodyPr>
            <a:normAutofit fontScale="92500" lnSpcReduction="20000"/>
          </a:bodyPr>
          <a:lstStyle/>
          <a:p>
            <a:pPr>
              <a:buFont typeface="Wingdings" pitchFamily="2" charset="2"/>
              <a:buChar char="Ø"/>
            </a:pPr>
            <a:r>
              <a:rPr lang="en-US" dirty="0" err="1" smtClean="0">
                <a:latin typeface="Bell MT" panose="02020503060305020303" pitchFamily="18" charset="0"/>
              </a:rPr>
              <a:t>Samdom</a:t>
            </a:r>
            <a:r>
              <a:rPr lang="en-US" dirty="0" smtClean="0">
                <a:latin typeface="Bell MT" panose="02020503060305020303" pitchFamily="18" charset="0"/>
              </a:rPr>
              <a:t> City employs 15 police officers: 7 of which patrol in cars; 6 of which patrol in bikes; and 2 of which do station duties. How many different job configurations are there? </a:t>
            </a:r>
          </a:p>
          <a:p>
            <a:pPr>
              <a:buFont typeface="Wingdings" pitchFamily="2" charset="2"/>
              <a:buChar char="Ø"/>
            </a:pPr>
            <a:endParaRPr lang="en-US" dirty="0" smtClean="0">
              <a:latin typeface="Bell MT" panose="02020503060305020303" pitchFamily="18" charset="0"/>
            </a:endParaRPr>
          </a:p>
          <a:p>
            <a:pPr>
              <a:buFont typeface="Wingdings" pitchFamily="2" charset="2"/>
              <a:buChar char="Ø"/>
            </a:pPr>
            <a:r>
              <a:rPr lang="en-US" dirty="0" smtClean="0">
                <a:latin typeface="Bell MT" panose="02020503060305020303" pitchFamily="18" charset="0"/>
              </a:rPr>
              <a:t>This is a case of Permutation of Duplicates</a:t>
            </a:r>
          </a:p>
        </p:txBody>
      </p:sp>
      <mc:AlternateContent xmlns:mc="http://schemas.openxmlformats.org/markup-compatibility/2006" xmlns:a14="http://schemas.microsoft.com/office/drawing/2010/main">
        <mc:Choice Requires="a14">
          <p:sp>
            <p:nvSpPr>
              <p:cNvPr id="9" name="Content Placeholder 8"/>
              <p:cNvSpPr>
                <a:spLocks noGrp="1"/>
              </p:cNvSpPr>
              <p:nvPr>
                <p:ph sz="quarter" idx="2"/>
              </p:nvPr>
            </p:nvSpPr>
            <p:spPr>
              <a:xfrm>
                <a:off x="4495800" y="1752600"/>
                <a:ext cx="4235301" cy="4572000"/>
              </a:xfrm>
              <a:ln w="12700" cmpd="dbl">
                <a:solidFill>
                  <a:schemeClr val="accent2">
                    <a:lumMod val="75000"/>
                  </a:schemeClr>
                </a:solidFill>
              </a:ln>
            </p:spPr>
            <p:txBody>
              <a:bodyPr>
                <a:normAutofit fontScale="92500" lnSpcReduction="20000"/>
              </a:bodyPr>
              <a:lstStyle/>
              <a:p>
                <a:pPr lvl="0">
                  <a:buClr>
                    <a:srgbClr val="FEB80A"/>
                  </a:buClr>
                  <a:buFont typeface="Wingdings" pitchFamily="2" charset="2"/>
                  <a:buChar char="Ø"/>
                </a:pPr>
                <a:r>
                  <a:rPr lang="en-US" sz="2400" u="sng" dirty="0" smtClean="0">
                    <a:solidFill>
                      <a:prstClr val="black"/>
                    </a:solidFill>
                    <a:latin typeface="Baskerville Old Face" panose="02020602080505020303" pitchFamily="18" charset="0"/>
                  </a:rPr>
                  <a:t>Solution </a:t>
                </a:r>
              </a:p>
              <a:p>
                <a:pPr lvl="0">
                  <a:lnSpc>
                    <a:spcPct val="170000"/>
                  </a:lnSpc>
                  <a:buClr>
                    <a:srgbClr val="FEB80A"/>
                  </a:buClr>
                  <a:buFont typeface="Wingdings" pitchFamily="2" charset="2"/>
                  <a:buChar char="Ø"/>
                </a:pPr>
                <a:r>
                  <a:rPr lang="en-US" sz="4300" dirty="0">
                    <a:solidFill>
                      <a:prstClr val="black"/>
                    </a:solidFill>
                    <a:latin typeface="Baskerville Old Face" panose="02020602080505020303" pitchFamily="18" charset="0"/>
                  </a:rPr>
                  <a:t>Number of ways =</a:t>
                </a:r>
              </a:p>
              <a:p>
                <a:pPr lvl="0">
                  <a:lnSpc>
                    <a:spcPct val="170000"/>
                  </a:lnSpc>
                  <a:buClr>
                    <a:srgbClr val="FEB80A"/>
                  </a:buClr>
                  <a:buFont typeface="Wingdings" pitchFamily="2" charset="2"/>
                  <a:buChar char="Ø"/>
                </a:pPr>
                <a14:m>
                  <m:oMath xmlns:m="http://schemas.openxmlformats.org/officeDocument/2006/math">
                    <m:f>
                      <m:fPr>
                        <m:ctrlPr>
                          <a:rPr lang="en-US" sz="4300" i="1">
                            <a:solidFill>
                              <a:prstClr val="black"/>
                            </a:solidFill>
                            <a:latin typeface="Cambria Math"/>
                          </a:rPr>
                        </m:ctrlPr>
                      </m:fPr>
                      <m:num>
                        <m:r>
                          <a:rPr lang="en-US" sz="4300" b="0" i="1" smtClean="0">
                            <a:solidFill>
                              <a:prstClr val="black"/>
                            </a:solidFill>
                            <a:latin typeface="Cambria Math"/>
                          </a:rPr>
                          <m:t>15</m:t>
                        </m:r>
                        <m:r>
                          <a:rPr lang="en-US" sz="4300" i="1">
                            <a:solidFill>
                              <a:prstClr val="black"/>
                            </a:solidFill>
                            <a:latin typeface="Cambria Math"/>
                          </a:rPr>
                          <m:t>!</m:t>
                        </m:r>
                      </m:num>
                      <m:den>
                        <m:r>
                          <a:rPr lang="en-US" sz="4300" b="0" i="1" smtClean="0">
                            <a:solidFill>
                              <a:prstClr val="black"/>
                            </a:solidFill>
                            <a:latin typeface="Cambria Math"/>
                          </a:rPr>
                          <m:t>7</m:t>
                        </m:r>
                        <m:r>
                          <a:rPr lang="en-US" sz="4300" i="1">
                            <a:solidFill>
                              <a:prstClr val="black"/>
                            </a:solidFill>
                            <a:latin typeface="Cambria Math"/>
                          </a:rPr>
                          <m:t>!∗</m:t>
                        </m:r>
                        <m:r>
                          <a:rPr lang="en-US" sz="4300" b="0" i="1" smtClean="0">
                            <a:solidFill>
                              <a:prstClr val="black"/>
                            </a:solidFill>
                            <a:latin typeface="Cambria Math"/>
                          </a:rPr>
                          <m:t>6</m:t>
                        </m:r>
                        <m:r>
                          <a:rPr lang="en-US" sz="4300" i="1">
                            <a:solidFill>
                              <a:prstClr val="black"/>
                            </a:solidFill>
                            <a:latin typeface="Cambria Math"/>
                          </a:rPr>
                          <m:t>!∗</m:t>
                        </m:r>
                        <m:r>
                          <a:rPr lang="en-US" sz="4300" b="0" i="1" smtClean="0">
                            <a:solidFill>
                              <a:prstClr val="black"/>
                            </a:solidFill>
                            <a:latin typeface="Cambria Math"/>
                          </a:rPr>
                          <m:t>2</m:t>
                        </m:r>
                        <m:r>
                          <a:rPr lang="en-US" sz="4300" i="1">
                            <a:solidFill>
                              <a:prstClr val="black"/>
                            </a:solidFill>
                            <a:latin typeface="Cambria Math"/>
                          </a:rPr>
                          <m:t>!</m:t>
                        </m:r>
                      </m:den>
                    </m:f>
                  </m:oMath>
                </a14:m>
                <a:r>
                  <a:rPr lang="en-US" sz="4300" dirty="0">
                    <a:solidFill>
                      <a:prstClr val="black"/>
                    </a:solidFill>
                    <a:latin typeface="Baskerville Old Face" panose="02020602080505020303" pitchFamily="18" charset="0"/>
                  </a:rPr>
                  <a:t> =</a:t>
                </a:r>
              </a:p>
              <a:p>
                <a:pPr lvl="0">
                  <a:lnSpc>
                    <a:spcPct val="170000"/>
                  </a:lnSpc>
                  <a:buClr>
                    <a:srgbClr val="FEB80A"/>
                  </a:buClr>
                  <a:buFont typeface="Wingdings" pitchFamily="2" charset="2"/>
                  <a:buChar char="Ø"/>
                </a:pPr>
                <a:r>
                  <a:rPr lang="en-US" sz="4300" dirty="0" smtClean="0">
                    <a:solidFill>
                      <a:prstClr val="black"/>
                    </a:solidFill>
                    <a:latin typeface="Baskerville Old Face" panose="02020602080505020303" pitchFamily="18" charset="0"/>
                  </a:rPr>
                  <a:t>180180 </a:t>
                </a:r>
                <a:r>
                  <a:rPr lang="en-US" sz="4300" dirty="0">
                    <a:solidFill>
                      <a:prstClr val="black"/>
                    </a:solidFill>
                    <a:latin typeface="Baskerville Old Face" panose="02020602080505020303" pitchFamily="18" charset="0"/>
                  </a:rPr>
                  <a:t>ways</a:t>
                </a:r>
              </a:p>
              <a:p>
                <a:pPr>
                  <a:buFont typeface="Wingdings" pitchFamily="2" charset="2"/>
                  <a:buChar char="Ø"/>
                </a:pPr>
                <a:endParaRPr lang="en-US" dirty="0" smtClean="0"/>
              </a:p>
              <a:p>
                <a:pPr>
                  <a:buFont typeface="Wingdings" pitchFamily="2" charset="2"/>
                  <a:buChar char="Ø"/>
                </a:pPr>
                <a:endParaRPr lang="en-US" dirty="0"/>
              </a:p>
              <a:p>
                <a:pPr>
                  <a:buFont typeface="Wingdings" pitchFamily="2" charset="2"/>
                  <a:buChar char="Ø"/>
                </a:pPr>
                <a:endParaRPr lang="en-US" dirty="0" smtClean="0"/>
              </a:p>
              <a:p>
                <a:pPr marL="0" indent="0">
                  <a:buNone/>
                </a:pPr>
                <a:endParaRPr lang="en-US" dirty="0" smtClean="0"/>
              </a:p>
              <a:p>
                <a:endParaRPr lang="en-US" dirty="0"/>
              </a:p>
            </p:txBody>
          </p:sp>
        </mc:Choice>
        <mc:Fallback xmlns="">
          <p:sp>
            <p:nvSpPr>
              <p:cNvPr id="9" name="Content Placeholder 8"/>
              <p:cNvSpPr>
                <a:spLocks noGrp="1" noRot="1" noChangeAspect="1" noMove="1" noResize="1" noEditPoints="1" noAdjustHandles="1" noChangeArrowheads="1" noChangeShapeType="1" noTextEdit="1"/>
              </p:cNvSpPr>
              <p:nvPr>
                <p:ph sz="quarter" idx="2"/>
              </p:nvPr>
            </p:nvSpPr>
            <p:spPr>
              <a:xfrm>
                <a:off x="4495800" y="1752600"/>
                <a:ext cx="4235301" cy="4572000"/>
              </a:xfrm>
              <a:blipFill rotWithShape="1">
                <a:blip r:embed="rId3"/>
                <a:stretch>
                  <a:fillRect l="-1868" t="-1995" r="-3736"/>
                </a:stretch>
              </a:blipFill>
              <a:ln w="12700" cmpd="dbl">
                <a:solidFill>
                  <a:schemeClr val="accent2">
                    <a:lumMod val="7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2755305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fade">
                                      <p:cBhvr>
                                        <p:cTn id="19" dur="1000"/>
                                        <p:tgtEl>
                                          <p:spTgt spid="9">
                                            <p:txEl>
                                              <p:pRg st="2" end="2"/>
                                            </p:txEl>
                                          </p:spTgt>
                                        </p:tgtEl>
                                      </p:cBhvr>
                                    </p:animEffect>
                                    <p:anim calcmode="lin" valueType="num">
                                      <p:cBhvr>
                                        <p:cTn id="20"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animEffect transition="in" filter="fade">
                                      <p:cBhvr>
                                        <p:cTn id="24" dur="1000"/>
                                        <p:tgtEl>
                                          <p:spTgt spid="9">
                                            <p:txEl>
                                              <p:pRg st="3" end="3"/>
                                            </p:txEl>
                                          </p:spTgt>
                                        </p:tgtEl>
                                      </p:cBhvr>
                                    </p:animEffect>
                                    <p:anim calcmode="lin" valueType="num">
                                      <p:cBhvr>
                                        <p:cTn id="2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smtClean="0"/>
              <a:t>Question 15</a:t>
            </a:r>
            <a:endParaRPr lang="en-US" dirty="0"/>
          </a:p>
        </p:txBody>
      </p:sp>
      <p:sp>
        <p:nvSpPr>
          <p:cNvPr id="3" name="Rectangle 2"/>
          <p:cNvSpPr>
            <a:spLocks noGrp="1"/>
          </p:cNvSpPr>
          <p:nvPr>
            <p:ph sz="quarter" idx="1"/>
          </p:nvPr>
        </p:nvSpPr>
        <p:spPr>
          <a:xfrm>
            <a:off x="609600" y="1752600"/>
            <a:ext cx="3886200" cy="4572000"/>
          </a:xfrm>
          <a:ln w="19050" cmpd="dbl">
            <a:solidFill>
              <a:schemeClr val="accent2">
                <a:lumMod val="75000"/>
              </a:schemeClr>
            </a:solidFill>
          </a:ln>
        </p:spPr>
        <p:txBody>
          <a:bodyPr>
            <a:normAutofit fontScale="77500" lnSpcReduction="20000"/>
          </a:bodyPr>
          <a:lstStyle/>
          <a:p>
            <a:pPr>
              <a:buFont typeface="Wingdings" pitchFamily="2" charset="2"/>
              <a:buChar char="Ø"/>
            </a:pPr>
            <a:r>
              <a:rPr lang="en-US" dirty="0" smtClean="0">
                <a:latin typeface="Bell MT" panose="02020503060305020303" pitchFamily="18" charset="0"/>
              </a:rPr>
              <a:t>Mr. C usually gives 20 questions covering all the sections of a topic. His students must answer only 10 correctly which includes a minimum number of questions from each section. Assume they must answer only 2 questions from 5 questions in each section asked; how many ways can they answer the 10 questions? </a:t>
            </a:r>
          </a:p>
          <a:p>
            <a:pPr>
              <a:buFont typeface="Wingdings" pitchFamily="2" charset="2"/>
              <a:buChar char="Ø"/>
            </a:pPr>
            <a:endParaRPr lang="en-US" dirty="0" smtClean="0">
              <a:latin typeface="Bell MT" panose="02020503060305020303" pitchFamily="18" charset="0"/>
            </a:endParaRPr>
          </a:p>
          <a:p>
            <a:pPr>
              <a:buFont typeface="Wingdings" pitchFamily="2" charset="2"/>
              <a:buChar char="Ø"/>
            </a:pPr>
            <a:r>
              <a:rPr lang="en-US" dirty="0" smtClean="0">
                <a:latin typeface="Bell MT" panose="02020503060305020303" pitchFamily="18" charset="0"/>
              </a:rPr>
              <a:t>This is a case of Combination </a:t>
            </a:r>
          </a:p>
        </p:txBody>
      </p:sp>
      <mc:AlternateContent xmlns:mc="http://schemas.openxmlformats.org/markup-compatibility/2006" xmlns:a14="http://schemas.microsoft.com/office/drawing/2010/main">
        <mc:Choice Requires="a14">
          <p:sp>
            <p:nvSpPr>
              <p:cNvPr id="9" name="Content Placeholder 8"/>
              <p:cNvSpPr>
                <a:spLocks noGrp="1"/>
              </p:cNvSpPr>
              <p:nvPr>
                <p:ph sz="quarter" idx="2"/>
              </p:nvPr>
            </p:nvSpPr>
            <p:spPr>
              <a:xfrm>
                <a:off x="4495800" y="1752600"/>
                <a:ext cx="4235301" cy="4572000"/>
              </a:xfrm>
              <a:ln w="12700" cmpd="dbl">
                <a:solidFill>
                  <a:schemeClr val="accent2">
                    <a:lumMod val="75000"/>
                  </a:schemeClr>
                </a:solidFill>
              </a:ln>
            </p:spPr>
            <p:txBody>
              <a:bodyPr>
                <a:normAutofit fontScale="77500" lnSpcReduction="20000"/>
              </a:bodyPr>
              <a:lstStyle/>
              <a:p>
                <a:pPr lvl="0">
                  <a:buClr>
                    <a:srgbClr val="FEB80A"/>
                  </a:buClr>
                  <a:buFont typeface="Wingdings" pitchFamily="2" charset="2"/>
                  <a:buChar char="Ø"/>
                </a:pPr>
                <a:r>
                  <a:rPr lang="en-US" sz="3200" u="sng" dirty="0" smtClean="0">
                    <a:solidFill>
                      <a:prstClr val="black"/>
                    </a:solidFill>
                    <a:latin typeface="Baskerville Old Face" panose="02020602080505020303" pitchFamily="18" charset="0"/>
                  </a:rPr>
                  <a:t>Solution </a:t>
                </a:r>
              </a:p>
              <a:p>
                <a:pPr lvl="0">
                  <a:lnSpc>
                    <a:spcPct val="160000"/>
                  </a:lnSpc>
                  <a:buClr>
                    <a:srgbClr val="FEB80A"/>
                  </a:buClr>
                  <a:buFont typeface="Wingdings" pitchFamily="2" charset="2"/>
                  <a:buChar char="Ø"/>
                </a:pPr>
                <a:r>
                  <a:rPr lang="en-US" sz="3200" dirty="0">
                    <a:solidFill>
                      <a:prstClr val="black"/>
                    </a:solidFill>
                    <a:latin typeface="Baskerville Old Face" panose="02020602080505020303" pitchFamily="18" charset="0"/>
                  </a:rPr>
                  <a:t>Number of ways =           </a:t>
                </a:r>
                <a:r>
                  <a:rPr lang="en-US" sz="3200" dirty="0" smtClean="0">
                    <a:solidFill>
                      <a:prstClr val="black"/>
                    </a:solidFill>
                    <a:latin typeface="Baskerville Old Face" panose="02020602080505020303" pitchFamily="18" charset="0"/>
                  </a:rPr>
                  <a:t>  C(5, 2</a:t>
                </a:r>
                <a:r>
                  <a:rPr lang="en-US" sz="3200" dirty="0">
                    <a:solidFill>
                      <a:prstClr val="black"/>
                    </a:solidFill>
                    <a:latin typeface="Baskerville Old Face" panose="02020602080505020303" pitchFamily="18" charset="0"/>
                  </a:rPr>
                  <a:t>) * </a:t>
                </a:r>
                <a:r>
                  <a:rPr lang="en-US" sz="3200" dirty="0" smtClean="0">
                    <a:solidFill>
                      <a:prstClr val="black"/>
                    </a:solidFill>
                    <a:latin typeface="Baskerville Old Face" panose="02020602080505020303" pitchFamily="18" charset="0"/>
                  </a:rPr>
                  <a:t>C(15, 8) </a:t>
                </a:r>
                <a:r>
                  <a:rPr lang="en-US" sz="3200" dirty="0">
                    <a:solidFill>
                      <a:prstClr val="black"/>
                    </a:solidFill>
                    <a:latin typeface="Baskerville Old Face" panose="02020602080505020303" pitchFamily="18" charset="0"/>
                  </a:rPr>
                  <a:t>=</a:t>
                </a:r>
              </a:p>
              <a:p>
                <a:pPr lvl="0">
                  <a:lnSpc>
                    <a:spcPct val="160000"/>
                  </a:lnSpc>
                  <a:buClr>
                    <a:srgbClr val="FEB80A"/>
                  </a:buClr>
                  <a:buFont typeface="Wingdings" pitchFamily="2" charset="2"/>
                  <a:buChar char="Ø"/>
                </a:pPr>
                <a14:m>
                  <m:oMath xmlns:m="http://schemas.openxmlformats.org/officeDocument/2006/math">
                    <m:f>
                      <m:fPr>
                        <m:ctrlPr>
                          <a:rPr lang="en-US" sz="3200" i="1">
                            <a:solidFill>
                              <a:prstClr val="black"/>
                            </a:solidFill>
                            <a:latin typeface="Cambria Math"/>
                          </a:rPr>
                        </m:ctrlPr>
                      </m:fPr>
                      <m:num>
                        <m:r>
                          <a:rPr lang="en-US" sz="3200" b="0" i="1" smtClean="0">
                            <a:solidFill>
                              <a:prstClr val="black"/>
                            </a:solidFill>
                            <a:latin typeface="Cambria Math"/>
                          </a:rPr>
                          <m:t>5</m:t>
                        </m:r>
                        <m:r>
                          <a:rPr lang="en-US" sz="3200" i="1">
                            <a:solidFill>
                              <a:prstClr val="black"/>
                            </a:solidFill>
                            <a:latin typeface="Cambria Math"/>
                          </a:rPr>
                          <m:t>!</m:t>
                        </m:r>
                      </m:num>
                      <m:den>
                        <m:d>
                          <m:dPr>
                            <m:ctrlPr>
                              <a:rPr lang="en-US" sz="3200" i="1">
                                <a:solidFill>
                                  <a:prstClr val="black"/>
                                </a:solidFill>
                                <a:latin typeface="Cambria Math"/>
                              </a:rPr>
                            </m:ctrlPr>
                          </m:dPr>
                          <m:e>
                            <m:r>
                              <a:rPr lang="en-US" sz="3200" b="0" i="1" smtClean="0">
                                <a:solidFill>
                                  <a:prstClr val="black"/>
                                </a:solidFill>
                                <a:latin typeface="Cambria Math"/>
                              </a:rPr>
                              <m:t>5</m:t>
                            </m:r>
                            <m:r>
                              <a:rPr lang="en-US" sz="3200" i="1">
                                <a:solidFill>
                                  <a:prstClr val="black"/>
                                </a:solidFill>
                                <a:latin typeface="Cambria Math"/>
                              </a:rPr>
                              <m:t>−2</m:t>
                            </m:r>
                          </m:e>
                        </m:d>
                        <m:r>
                          <a:rPr lang="en-US" sz="3200" i="1">
                            <a:solidFill>
                              <a:prstClr val="black"/>
                            </a:solidFill>
                            <a:latin typeface="Cambria Math"/>
                          </a:rPr>
                          <m:t>!∗2!</m:t>
                        </m:r>
                      </m:den>
                    </m:f>
                    <m:r>
                      <a:rPr lang="en-US" sz="3200" i="1">
                        <a:solidFill>
                          <a:prstClr val="black"/>
                        </a:solidFill>
                        <a:latin typeface="Cambria Math"/>
                      </a:rPr>
                      <m:t>∗</m:t>
                    </m:r>
                    <m:f>
                      <m:fPr>
                        <m:ctrlPr>
                          <a:rPr lang="en-US" sz="3200" i="1">
                            <a:solidFill>
                              <a:prstClr val="black"/>
                            </a:solidFill>
                            <a:latin typeface="Cambria Math"/>
                          </a:rPr>
                        </m:ctrlPr>
                      </m:fPr>
                      <m:num>
                        <m:r>
                          <a:rPr lang="en-US" sz="3200" b="0" i="1" smtClean="0">
                            <a:solidFill>
                              <a:prstClr val="black"/>
                            </a:solidFill>
                            <a:latin typeface="Cambria Math"/>
                          </a:rPr>
                          <m:t>1</m:t>
                        </m:r>
                        <m:r>
                          <a:rPr lang="en-US" sz="3200" i="1">
                            <a:solidFill>
                              <a:prstClr val="black"/>
                            </a:solidFill>
                            <a:latin typeface="Cambria Math"/>
                          </a:rPr>
                          <m:t>5!</m:t>
                        </m:r>
                      </m:num>
                      <m:den>
                        <m:d>
                          <m:dPr>
                            <m:ctrlPr>
                              <a:rPr lang="en-US" sz="3200" i="1">
                                <a:solidFill>
                                  <a:prstClr val="black"/>
                                </a:solidFill>
                                <a:latin typeface="Cambria Math"/>
                              </a:rPr>
                            </m:ctrlPr>
                          </m:dPr>
                          <m:e>
                            <m:r>
                              <a:rPr lang="en-US" sz="3200" b="0" i="1" smtClean="0">
                                <a:solidFill>
                                  <a:prstClr val="black"/>
                                </a:solidFill>
                                <a:latin typeface="Cambria Math"/>
                              </a:rPr>
                              <m:t>1</m:t>
                            </m:r>
                            <m:r>
                              <a:rPr lang="en-US" sz="3200" i="1">
                                <a:solidFill>
                                  <a:prstClr val="black"/>
                                </a:solidFill>
                                <a:latin typeface="Cambria Math"/>
                              </a:rPr>
                              <m:t>5−</m:t>
                            </m:r>
                            <m:r>
                              <a:rPr lang="en-US" sz="3200" b="0" i="1" smtClean="0">
                                <a:solidFill>
                                  <a:prstClr val="black"/>
                                </a:solidFill>
                                <a:latin typeface="Cambria Math"/>
                              </a:rPr>
                              <m:t>8</m:t>
                            </m:r>
                          </m:e>
                        </m:d>
                        <m:r>
                          <a:rPr lang="en-US" sz="3200" i="1">
                            <a:solidFill>
                              <a:prstClr val="black"/>
                            </a:solidFill>
                            <a:latin typeface="Cambria Math"/>
                          </a:rPr>
                          <m:t>!∗</m:t>
                        </m:r>
                        <m:r>
                          <a:rPr lang="en-US" sz="3200" b="0" i="1" smtClean="0">
                            <a:solidFill>
                              <a:prstClr val="black"/>
                            </a:solidFill>
                            <a:latin typeface="Cambria Math"/>
                          </a:rPr>
                          <m:t>8</m:t>
                        </m:r>
                        <m:r>
                          <a:rPr lang="en-US" sz="3200" i="1">
                            <a:solidFill>
                              <a:prstClr val="black"/>
                            </a:solidFill>
                            <a:latin typeface="Cambria Math"/>
                          </a:rPr>
                          <m:t>!</m:t>
                        </m:r>
                      </m:den>
                    </m:f>
                  </m:oMath>
                </a14:m>
                <a:r>
                  <a:rPr lang="en-US" sz="3200" dirty="0">
                    <a:solidFill>
                      <a:prstClr val="black"/>
                    </a:solidFill>
                    <a:latin typeface="Baskerville Old Face" panose="02020602080505020303" pitchFamily="18" charset="0"/>
                  </a:rPr>
                  <a:t> = </a:t>
                </a:r>
              </a:p>
              <a:p>
                <a:pPr lvl="0">
                  <a:lnSpc>
                    <a:spcPct val="160000"/>
                  </a:lnSpc>
                  <a:buClr>
                    <a:srgbClr val="FEB80A"/>
                  </a:buClr>
                  <a:buFont typeface="Wingdings" pitchFamily="2" charset="2"/>
                  <a:buChar char="Ø"/>
                </a:pPr>
                <a14:m>
                  <m:oMath xmlns:m="http://schemas.openxmlformats.org/officeDocument/2006/math">
                    <m:f>
                      <m:fPr>
                        <m:ctrlPr>
                          <a:rPr lang="en-US" sz="3200" i="1">
                            <a:solidFill>
                              <a:prstClr val="black"/>
                            </a:solidFill>
                            <a:latin typeface="Cambria Math"/>
                          </a:rPr>
                        </m:ctrlPr>
                      </m:fPr>
                      <m:num>
                        <m:r>
                          <a:rPr lang="en-US" sz="3200" b="0" i="1" smtClean="0">
                            <a:solidFill>
                              <a:prstClr val="black"/>
                            </a:solidFill>
                            <a:latin typeface="Cambria Math"/>
                          </a:rPr>
                          <m:t>5</m:t>
                        </m:r>
                        <m:r>
                          <a:rPr lang="en-US" sz="3200" i="1">
                            <a:solidFill>
                              <a:prstClr val="black"/>
                            </a:solidFill>
                            <a:latin typeface="Cambria Math"/>
                          </a:rPr>
                          <m:t>!</m:t>
                        </m:r>
                      </m:num>
                      <m:den>
                        <m:r>
                          <a:rPr lang="en-US" sz="3200" b="0" i="1" smtClean="0">
                            <a:solidFill>
                              <a:prstClr val="black"/>
                            </a:solidFill>
                            <a:latin typeface="Cambria Math"/>
                          </a:rPr>
                          <m:t>3</m:t>
                        </m:r>
                        <m:r>
                          <a:rPr lang="en-US" sz="3200" i="1">
                            <a:solidFill>
                              <a:prstClr val="black"/>
                            </a:solidFill>
                            <a:latin typeface="Cambria Math"/>
                          </a:rPr>
                          <m:t>!∗2!</m:t>
                        </m:r>
                      </m:den>
                    </m:f>
                    <m:r>
                      <a:rPr lang="en-US" sz="3200" i="1">
                        <a:solidFill>
                          <a:prstClr val="black"/>
                        </a:solidFill>
                        <a:latin typeface="Cambria Math"/>
                      </a:rPr>
                      <m:t>∗</m:t>
                    </m:r>
                    <m:f>
                      <m:fPr>
                        <m:ctrlPr>
                          <a:rPr lang="en-US" sz="3200" i="1">
                            <a:solidFill>
                              <a:prstClr val="black"/>
                            </a:solidFill>
                            <a:latin typeface="Cambria Math"/>
                          </a:rPr>
                        </m:ctrlPr>
                      </m:fPr>
                      <m:num>
                        <m:r>
                          <a:rPr lang="en-US" sz="3200" b="0" i="1" smtClean="0">
                            <a:solidFill>
                              <a:prstClr val="black"/>
                            </a:solidFill>
                            <a:latin typeface="Cambria Math"/>
                          </a:rPr>
                          <m:t>1</m:t>
                        </m:r>
                        <m:r>
                          <a:rPr lang="en-US" sz="3200" i="1">
                            <a:solidFill>
                              <a:prstClr val="black"/>
                            </a:solidFill>
                            <a:latin typeface="Cambria Math"/>
                          </a:rPr>
                          <m:t>5!</m:t>
                        </m:r>
                      </m:num>
                      <m:den>
                        <m:r>
                          <a:rPr lang="en-US" sz="3200" b="0" i="1" smtClean="0">
                            <a:solidFill>
                              <a:prstClr val="black"/>
                            </a:solidFill>
                            <a:latin typeface="Cambria Math"/>
                          </a:rPr>
                          <m:t>7</m:t>
                        </m:r>
                        <m:r>
                          <a:rPr lang="en-US" sz="3200" i="1">
                            <a:solidFill>
                              <a:prstClr val="black"/>
                            </a:solidFill>
                            <a:latin typeface="Cambria Math"/>
                          </a:rPr>
                          <m:t>!∗</m:t>
                        </m:r>
                        <m:r>
                          <a:rPr lang="en-US" sz="3200" b="0" i="1" smtClean="0">
                            <a:solidFill>
                              <a:prstClr val="black"/>
                            </a:solidFill>
                            <a:latin typeface="Cambria Math"/>
                          </a:rPr>
                          <m:t>8</m:t>
                        </m:r>
                        <m:r>
                          <a:rPr lang="en-US" sz="3200" i="1">
                            <a:solidFill>
                              <a:prstClr val="black"/>
                            </a:solidFill>
                            <a:latin typeface="Cambria Math"/>
                          </a:rPr>
                          <m:t>!</m:t>
                        </m:r>
                      </m:den>
                    </m:f>
                  </m:oMath>
                </a14:m>
                <a:r>
                  <a:rPr lang="en-US" sz="3200" dirty="0">
                    <a:solidFill>
                      <a:prstClr val="black"/>
                    </a:solidFill>
                    <a:latin typeface="Baskerville Old Face" panose="02020602080505020303" pitchFamily="18" charset="0"/>
                  </a:rPr>
                  <a:t> =</a:t>
                </a:r>
              </a:p>
              <a:p>
                <a:pPr lvl="0">
                  <a:lnSpc>
                    <a:spcPct val="160000"/>
                  </a:lnSpc>
                  <a:buClr>
                    <a:srgbClr val="FEB80A"/>
                  </a:buClr>
                  <a:buFont typeface="Wingdings" pitchFamily="2" charset="2"/>
                  <a:buChar char="Ø"/>
                </a:pPr>
                <a:r>
                  <a:rPr lang="en-US" sz="3200" dirty="0" smtClean="0">
                    <a:solidFill>
                      <a:prstClr val="black"/>
                    </a:solidFill>
                    <a:latin typeface="Baskerville Old Face" panose="02020602080505020303" pitchFamily="18" charset="0"/>
                  </a:rPr>
                  <a:t>10 </a:t>
                </a:r>
                <a:r>
                  <a:rPr lang="en-US" sz="3200" dirty="0">
                    <a:solidFill>
                      <a:prstClr val="black"/>
                    </a:solidFill>
                    <a:latin typeface="Baskerville Old Face" panose="02020602080505020303" pitchFamily="18" charset="0"/>
                  </a:rPr>
                  <a:t>* </a:t>
                </a:r>
                <a:r>
                  <a:rPr lang="en-US" sz="3200" dirty="0" smtClean="0">
                    <a:solidFill>
                      <a:prstClr val="black"/>
                    </a:solidFill>
                    <a:latin typeface="Baskerville Old Face" panose="02020602080505020303" pitchFamily="18" charset="0"/>
                  </a:rPr>
                  <a:t>6435 </a:t>
                </a:r>
                <a:r>
                  <a:rPr lang="en-US" sz="3200" dirty="0">
                    <a:solidFill>
                      <a:prstClr val="black"/>
                    </a:solidFill>
                    <a:latin typeface="Baskerville Old Face" panose="02020602080505020303" pitchFamily="18" charset="0"/>
                  </a:rPr>
                  <a:t>=</a:t>
                </a:r>
              </a:p>
              <a:p>
                <a:pPr lvl="0">
                  <a:lnSpc>
                    <a:spcPct val="160000"/>
                  </a:lnSpc>
                  <a:buClr>
                    <a:srgbClr val="FEB80A"/>
                  </a:buClr>
                  <a:buFont typeface="Wingdings" pitchFamily="2" charset="2"/>
                  <a:buChar char="Ø"/>
                </a:pPr>
                <a:r>
                  <a:rPr lang="en-US" sz="3200" dirty="0" smtClean="0">
                    <a:solidFill>
                      <a:prstClr val="black"/>
                    </a:solidFill>
                    <a:latin typeface="Baskerville Old Face" panose="02020602080505020303" pitchFamily="18" charset="0"/>
                  </a:rPr>
                  <a:t>64350 </a:t>
                </a:r>
                <a:r>
                  <a:rPr lang="en-US" sz="3200" dirty="0">
                    <a:solidFill>
                      <a:prstClr val="black"/>
                    </a:solidFill>
                    <a:latin typeface="Baskerville Old Face" panose="02020602080505020303" pitchFamily="18" charset="0"/>
                  </a:rPr>
                  <a:t>ways</a:t>
                </a:r>
              </a:p>
              <a:p>
                <a:pPr>
                  <a:buFont typeface="Wingdings" pitchFamily="2" charset="2"/>
                  <a:buChar char="Ø"/>
                </a:pPr>
                <a:endParaRPr lang="en-US" dirty="0" smtClean="0"/>
              </a:p>
              <a:p>
                <a:pPr>
                  <a:buFont typeface="Wingdings" pitchFamily="2" charset="2"/>
                  <a:buChar char="Ø"/>
                </a:pPr>
                <a:endParaRPr lang="en-US" dirty="0"/>
              </a:p>
              <a:p>
                <a:pPr>
                  <a:buFont typeface="Wingdings" pitchFamily="2" charset="2"/>
                  <a:buChar char="Ø"/>
                </a:pPr>
                <a:endParaRPr lang="en-US" dirty="0" smtClean="0"/>
              </a:p>
              <a:p>
                <a:pPr marL="0" indent="0">
                  <a:buNone/>
                </a:pPr>
                <a:endParaRPr lang="en-US" dirty="0" smtClean="0"/>
              </a:p>
              <a:p>
                <a:endParaRPr lang="en-US" dirty="0"/>
              </a:p>
            </p:txBody>
          </p:sp>
        </mc:Choice>
        <mc:Fallback xmlns="">
          <p:sp>
            <p:nvSpPr>
              <p:cNvPr id="9" name="Content Placeholder 8"/>
              <p:cNvSpPr>
                <a:spLocks noGrp="1" noRot="1" noChangeAspect="1" noMove="1" noResize="1" noEditPoints="1" noAdjustHandles="1" noChangeArrowheads="1" noChangeShapeType="1" noTextEdit="1"/>
              </p:cNvSpPr>
              <p:nvPr>
                <p:ph sz="quarter" idx="2"/>
              </p:nvPr>
            </p:nvSpPr>
            <p:spPr>
              <a:xfrm>
                <a:off x="4495800" y="1752600"/>
                <a:ext cx="4235301" cy="4572000"/>
              </a:xfrm>
              <a:blipFill rotWithShape="1">
                <a:blip r:embed="rId3"/>
                <a:stretch>
                  <a:fillRect l="-287" t="-2261" b="-1729"/>
                </a:stretch>
              </a:blipFill>
              <a:ln w="12700" cmpd="dbl">
                <a:solidFill>
                  <a:schemeClr val="accent2">
                    <a:lumMod val="7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3083575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fade">
                                      <p:cBhvr>
                                        <p:cTn id="19" dur="1000"/>
                                        <p:tgtEl>
                                          <p:spTgt spid="9">
                                            <p:txEl>
                                              <p:pRg st="2" end="2"/>
                                            </p:txEl>
                                          </p:spTgt>
                                        </p:tgtEl>
                                      </p:cBhvr>
                                    </p:animEffect>
                                    <p:anim calcmode="lin" valueType="num">
                                      <p:cBhvr>
                                        <p:cTn id="20"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animEffect transition="in" filter="fade">
                                      <p:cBhvr>
                                        <p:cTn id="24" dur="1000"/>
                                        <p:tgtEl>
                                          <p:spTgt spid="9">
                                            <p:txEl>
                                              <p:pRg st="3" end="3"/>
                                            </p:txEl>
                                          </p:spTgt>
                                        </p:tgtEl>
                                      </p:cBhvr>
                                    </p:animEffect>
                                    <p:anim calcmode="lin" valueType="num">
                                      <p:cBhvr>
                                        <p:cTn id="2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xEl>
                                              <p:pRg st="4" end="4"/>
                                            </p:txEl>
                                          </p:spTgt>
                                        </p:tgtEl>
                                        <p:attrNameLst>
                                          <p:attrName>style.visibility</p:attrName>
                                        </p:attrNameLst>
                                      </p:cBhvr>
                                      <p:to>
                                        <p:strVal val="visible"/>
                                      </p:to>
                                    </p:set>
                                    <p:animEffect transition="in" filter="fade">
                                      <p:cBhvr>
                                        <p:cTn id="29" dur="1000"/>
                                        <p:tgtEl>
                                          <p:spTgt spid="9">
                                            <p:txEl>
                                              <p:pRg st="4" end="4"/>
                                            </p:txEl>
                                          </p:spTgt>
                                        </p:tgtEl>
                                      </p:cBhvr>
                                    </p:animEffect>
                                    <p:anim calcmode="lin" valueType="num">
                                      <p:cBhvr>
                                        <p:cTn id="30"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9">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9">
                                            <p:txEl>
                                              <p:pRg st="5" end="5"/>
                                            </p:txEl>
                                          </p:spTgt>
                                        </p:tgtEl>
                                        <p:attrNameLst>
                                          <p:attrName>style.visibility</p:attrName>
                                        </p:attrNameLst>
                                      </p:cBhvr>
                                      <p:to>
                                        <p:strVal val="visible"/>
                                      </p:to>
                                    </p:set>
                                    <p:animEffect transition="in" filter="fade">
                                      <p:cBhvr>
                                        <p:cTn id="34" dur="1000"/>
                                        <p:tgtEl>
                                          <p:spTgt spid="9">
                                            <p:txEl>
                                              <p:pRg st="5" end="5"/>
                                            </p:txEl>
                                          </p:spTgt>
                                        </p:tgtEl>
                                      </p:cBhvr>
                                    </p:animEffect>
                                    <p:anim calcmode="lin" valueType="num">
                                      <p:cBhvr>
                                        <p:cTn id="35"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smtClean="0"/>
              <a:t>Question 16</a:t>
            </a:r>
            <a:endParaRPr lang="en-US" dirty="0"/>
          </a:p>
        </p:txBody>
      </p:sp>
      <p:sp>
        <p:nvSpPr>
          <p:cNvPr id="3" name="Rectangle 2"/>
          <p:cNvSpPr>
            <a:spLocks noGrp="1"/>
          </p:cNvSpPr>
          <p:nvPr>
            <p:ph sz="quarter" idx="1"/>
          </p:nvPr>
        </p:nvSpPr>
        <p:spPr>
          <a:xfrm>
            <a:off x="609600" y="1752600"/>
            <a:ext cx="3886200" cy="4572000"/>
          </a:xfrm>
          <a:ln w="19050" cmpd="dbl">
            <a:solidFill>
              <a:schemeClr val="accent2">
                <a:lumMod val="75000"/>
              </a:schemeClr>
            </a:solidFill>
          </a:ln>
        </p:spPr>
        <p:txBody>
          <a:bodyPr>
            <a:noAutofit/>
          </a:bodyPr>
          <a:lstStyle/>
          <a:p>
            <a:pPr>
              <a:buFont typeface="Wingdings" pitchFamily="2" charset="2"/>
              <a:buChar char="Ø"/>
            </a:pPr>
            <a:r>
              <a:rPr lang="en-US" sz="2400" dirty="0" smtClean="0">
                <a:latin typeface="Bell MT" panose="02020503060305020303" pitchFamily="18" charset="0"/>
              </a:rPr>
              <a:t>A CIS major must select 3 of 4 mathematics courses, 2 of 4 business courses, 5 of 9 elective courses, and either 1 of 5 history courses or 1 of 3 social science courses. How many different curricula are available for the student?      </a:t>
            </a:r>
          </a:p>
          <a:p>
            <a:pPr>
              <a:buFont typeface="Wingdings" pitchFamily="2" charset="2"/>
              <a:buChar char="Ø"/>
            </a:pPr>
            <a:endParaRPr lang="en-US" sz="2400" dirty="0" smtClean="0">
              <a:latin typeface="Bell MT" panose="02020503060305020303" pitchFamily="18" charset="0"/>
            </a:endParaRPr>
          </a:p>
          <a:p>
            <a:pPr>
              <a:buFont typeface="Wingdings" pitchFamily="2" charset="2"/>
              <a:buChar char="Ø"/>
            </a:pPr>
            <a:r>
              <a:rPr lang="en-US" sz="2400" dirty="0" smtClean="0">
                <a:latin typeface="Bell MT" panose="02020503060305020303" pitchFamily="18" charset="0"/>
              </a:rPr>
              <a:t>This is a case of Combination </a:t>
            </a:r>
          </a:p>
        </p:txBody>
      </p:sp>
      <mc:AlternateContent xmlns:mc="http://schemas.openxmlformats.org/markup-compatibility/2006" xmlns:a14="http://schemas.microsoft.com/office/drawing/2010/main">
        <mc:Choice Requires="a14">
          <p:sp>
            <p:nvSpPr>
              <p:cNvPr id="9" name="Content Placeholder 8"/>
              <p:cNvSpPr>
                <a:spLocks noGrp="1"/>
              </p:cNvSpPr>
              <p:nvPr>
                <p:ph sz="quarter" idx="2"/>
              </p:nvPr>
            </p:nvSpPr>
            <p:spPr>
              <a:xfrm>
                <a:off x="4495800" y="1752600"/>
                <a:ext cx="4235301" cy="4572000"/>
              </a:xfrm>
              <a:ln w="12700" cmpd="dbl">
                <a:solidFill>
                  <a:schemeClr val="accent2">
                    <a:lumMod val="75000"/>
                  </a:schemeClr>
                </a:solidFill>
              </a:ln>
            </p:spPr>
            <p:txBody>
              <a:bodyPr>
                <a:normAutofit fontScale="62500" lnSpcReduction="20000"/>
              </a:bodyPr>
              <a:lstStyle/>
              <a:p>
                <a:pPr lvl="0">
                  <a:buClr>
                    <a:srgbClr val="FEB80A"/>
                  </a:buClr>
                  <a:buFont typeface="Wingdings" pitchFamily="2" charset="2"/>
                  <a:buChar char="Ø"/>
                </a:pPr>
                <a:r>
                  <a:rPr lang="en-US" sz="3200" u="sng" dirty="0" smtClean="0">
                    <a:solidFill>
                      <a:prstClr val="black"/>
                    </a:solidFill>
                    <a:latin typeface="Baskerville Old Face" panose="02020602080505020303" pitchFamily="18" charset="0"/>
                  </a:rPr>
                  <a:t>Solution </a:t>
                </a:r>
              </a:p>
              <a:p>
                <a:pPr lvl="0">
                  <a:lnSpc>
                    <a:spcPct val="160000"/>
                  </a:lnSpc>
                  <a:buClr>
                    <a:srgbClr val="FEB80A"/>
                  </a:buClr>
                  <a:buFont typeface="Wingdings" pitchFamily="2" charset="2"/>
                  <a:buChar char="Ø"/>
                </a:pPr>
                <a:r>
                  <a:rPr lang="en-US" sz="3200" dirty="0">
                    <a:solidFill>
                      <a:prstClr val="black"/>
                    </a:solidFill>
                    <a:latin typeface="Baskerville Old Face" panose="02020602080505020303" pitchFamily="18" charset="0"/>
                  </a:rPr>
                  <a:t>Number of ways </a:t>
                </a:r>
                <a:r>
                  <a:rPr lang="en-US" sz="3200" dirty="0" smtClean="0">
                    <a:solidFill>
                      <a:prstClr val="black"/>
                    </a:solidFill>
                    <a:latin typeface="Baskerville Old Face" panose="02020602080505020303" pitchFamily="18" charset="0"/>
                  </a:rPr>
                  <a:t>= C(4, 3) * C(4, 2) * C(9, 5) * [C(5, 1</a:t>
                </a:r>
                <a:r>
                  <a:rPr lang="en-US" sz="3200" smtClean="0">
                    <a:solidFill>
                      <a:prstClr val="black"/>
                    </a:solidFill>
                    <a:latin typeface="Baskerville Old Face" panose="02020602080505020303" pitchFamily="18" charset="0"/>
                  </a:rPr>
                  <a:t>) + </a:t>
                </a:r>
                <a:r>
                  <a:rPr lang="en-US" sz="3200" dirty="0" smtClean="0">
                    <a:solidFill>
                      <a:prstClr val="black"/>
                    </a:solidFill>
                    <a:latin typeface="Baskerville Old Face" panose="02020602080505020303" pitchFamily="18" charset="0"/>
                  </a:rPr>
                  <a:t>C(3, 1)] </a:t>
                </a:r>
                <a:r>
                  <a:rPr lang="en-US" sz="3200" dirty="0">
                    <a:solidFill>
                      <a:prstClr val="black"/>
                    </a:solidFill>
                    <a:latin typeface="Baskerville Old Face" panose="02020602080505020303" pitchFamily="18" charset="0"/>
                  </a:rPr>
                  <a:t>=</a:t>
                </a:r>
              </a:p>
              <a:p>
                <a:pPr lvl="0">
                  <a:lnSpc>
                    <a:spcPct val="160000"/>
                  </a:lnSpc>
                  <a:buClr>
                    <a:srgbClr val="FEB80A"/>
                  </a:buClr>
                  <a:buFont typeface="Wingdings" pitchFamily="2" charset="2"/>
                  <a:buChar char="Ø"/>
                </a:pPr>
                <a14:m>
                  <m:oMath xmlns:m="http://schemas.openxmlformats.org/officeDocument/2006/math">
                    <m:f>
                      <m:fPr>
                        <m:ctrlPr>
                          <a:rPr lang="en-US" sz="3200" i="1">
                            <a:solidFill>
                              <a:prstClr val="black"/>
                            </a:solidFill>
                            <a:latin typeface="Cambria Math"/>
                          </a:rPr>
                        </m:ctrlPr>
                      </m:fPr>
                      <m:num>
                        <m:r>
                          <a:rPr lang="en-US" sz="3200" b="0" i="1" smtClean="0">
                            <a:solidFill>
                              <a:prstClr val="black"/>
                            </a:solidFill>
                            <a:latin typeface="Cambria Math"/>
                          </a:rPr>
                          <m:t>4</m:t>
                        </m:r>
                        <m:r>
                          <a:rPr lang="en-US" sz="3200" i="1">
                            <a:solidFill>
                              <a:prstClr val="black"/>
                            </a:solidFill>
                            <a:latin typeface="Cambria Math"/>
                          </a:rPr>
                          <m:t>!</m:t>
                        </m:r>
                      </m:num>
                      <m:den>
                        <m:d>
                          <m:dPr>
                            <m:ctrlPr>
                              <a:rPr lang="en-US" sz="3200" i="1">
                                <a:solidFill>
                                  <a:prstClr val="black"/>
                                </a:solidFill>
                                <a:latin typeface="Cambria Math"/>
                              </a:rPr>
                            </m:ctrlPr>
                          </m:dPr>
                          <m:e>
                            <m:r>
                              <a:rPr lang="en-US" sz="3200" b="0" i="1" smtClean="0">
                                <a:solidFill>
                                  <a:prstClr val="black"/>
                                </a:solidFill>
                                <a:latin typeface="Cambria Math"/>
                              </a:rPr>
                              <m:t>4</m:t>
                            </m:r>
                            <m:r>
                              <a:rPr lang="en-US" sz="3200" i="1">
                                <a:solidFill>
                                  <a:prstClr val="black"/>
                                </a:solidFill>
                                <a:latin typeface="Cambria Math"/>
                              </a:rPr>
                              <m:t>−</m:t>
                            </m:r>
                            <m:r>
                              <a:rPr lang="en-US" sz="3200" b="0" i="1" smtClean="0">
                                <a:solidFill>
                                  <a:prstClr val="black"/>
                                </a:solidFill>
                                <a:latin typeface="Cambria Math"/>
                              </a:rPr>
                              <m:t>3</m:t>
                            </m:r>
                          </m:e>
                        </m:d>
                        <m:r>
                          <a:rPr lang="en-US" sz="3200" i="1">
                            <a:solidFill>
                              <a:prstClr val="black"/>
                            </a:solidFill>
                            <a:latin typeface="Cambria Math"/>
                          </a:rPr>
                          <m:t>!∗</m:t>
                        </m:r>
                        <m:r>
                          <a:rPr lang="en-US" sz="3200" b="0" i="1" smtClean="0">
                            <a:solidFill>
                              <a:prstClr val="black"/>
                            </a:solidFill>
                            <a:latin typeface="Cambria Math"/>
                          </a:rPr>
                          <m:t>3</m:t>
                        </m:r>
                        <m:r>
                          <a:rPr lang="en-US" sz="3200" i="1">
                            <a:solidFill>
                              <a:prstClr val="black"/>
                            </a:solidFill>
                            <a:latin typeface="Cambria Math"/>
                          </a:rPr>
                          <m:t>!</m:t>
                        </m:r>
                      </m:den>
                    </m:f>
                    <m:r>
                      <a:rPr lang="en-US" sz="3200" i="1">
                        <a:solidFill>
                          <a:prstClr val="black"/>
                        </a:solidFill>
                        <a:latin typeface="Cambria Math"/>
                      </a:rPr>
                      <m:t>∗</m:t>
                    </m:r>
                    <m:f>
                      <m:fPr>
                        <m:ctrlPr>
                          <a:rPr lang="en-US" sz="3200" i="1">
                            <a:solidFill>
                              <a:prstClr val="black"/>
                            </a:solidFill>
                            <a:latin typeface="Cambria Math"/>
                          </a:rPr>
                        </m:ctrlPr>
                      </m:fPr>
                      <m:num>
                        <m:r>
                          <a:rPr lang="en-US" sz="3200" b="0" i="1" smtClean="0">
                            <a:solidFill>
                              <a:prstClr val="black"/>
                            </a:solidFill>
                            <a:latin typeface="Cambria Math"/>
                          </a:rPr>
                          <m:t>4</m:t>
                        </m:r>
                        <m:r>
                          <a:rPr lang="en-US" sz="3200" i="1">
                            <a:solidFill>
                              <a:prstClr val="black"/>
                            </a:solidFill>
                            <a:latin typeface="Cambria Math"/>
                          </a:rPr>
                          <m:t>!</m:t>
                        </m:r>
                      </m:num>
                      <m:den>
                        <m:d>
                          <m:dPr>
                            <m:ctrlPr>
                              <a:rPr lang="en-US" sz="3200" i="1">
                                <a:solidFill>
                                  <a:prstClr val="black"/>
                                </a:solidFill>
                                <a:latin typeface="Cambria Math"/>
                              </a:rPr>
                            </m:ctrlPr>
                          </m:dPr>
                          <m:e>
                            <m:r>
                              <a:rPr lang="en-US" sz="3200" b="0" i="1" smtClean="0">
                                <a:solidFill>
                                  <a:prstClr val="black"/>
                                </a:solidFill>
                                <a:latin typeface="Cambria Math"/>
                              </a:rPr>
                              <m:t>4</m:t>
                            </m:r>
                            <m:r>
                              <a:rPr lang="en-US" sz="3200" i="1">
                                <a:solidFill>
                                  <a:prstClr val="black"/>
                                </a:solidFill>
                                <a:latin typeface="Cambria Math"/>
                              </a:rPr>
                              <m:t>−</m:t>
                            </m:r>
                            <m:r>
                              <a:rPr lang="en-US" sz="3200" b="0" i="1" smtClean="0">
                                <a:solidFill>
                                  <a:prstClr val="black"/>
                                </a:solidFill>
                                <a:latin typeface="Cambria Math"/>
                              </a:rPr>
                              <m:t>2</m:t>
                            </m:r>
                          </m:e>
                        </m:d>
                        <m:r>
                          <a:rPr lang="en-US" sz="3200" i="1">
                            <a:solidFill>
                              <a:prstClr val="black"/>
                            </a:solidFill>
                            <a:latin typeface="Cambria Math"/>
                          </a:rPr>
                          <m:t>!∗</m:t>
                        </m:r>
                        <m:r>
                          <a:rPr lang="en-US" sz="3200" b="0" i="1" smtClean="0">
                            <a:solidFill>
                              <a:prstClr val="black"/>
                            </a:solidFill>
                            <a:latin typeface="Cambria Math"/>
                          </a:rPr>
                          <m:t>2</m:t>
                        </m:r>
                        <m:r>
                          <a:rPr lang="en-US" sz="3200" i="1">
                            <a:solidFill>
                              <a:prstClr val="black"/>
                            </a:solidFill>
                            <a:latin typeface="Cambria Math"/>
                          </a:rPr>
                          <m:t>!</m:t>
                        </m:r>
                      </m:den>
                    </m:f>
                    <m:r>
                      <a:rPr lang="en-US" sz="3200" b="0" i="1" smtClean="0">
                        <a:solidFill>
                          <a:prstClr val="black"/>
                        </a:solidFill>
                        <a:latin typeface="Cambria Math"/>
                      </a:rPr>
                      <m:t>∗</m:t>
                    </m:r>
                    <m:f>
                      <m:fPr>
                        <m:ctrlPr>
                          <a:rPr lang="en-US" sz="3200" i="1">
                            <a:solidFill>
                              <a:prstClr val="black"/>
                            </a:solidFill>
                            <a:latin typeface="Cambria Math"/>
                          </a:rPr>
                        </m:ctrlPr>
                      </m:fPr>
                      <m:num>
                        <m:r>
                          <a:rPr lang="en-US" sz="3200" b="0" i="1" smtClean="0">
                            <a:solidFill>
                              <a:prstClr val="black"/>
                            </a:solidFill>
                            <a:latin typeface="Cambria Math"/>
                          </a:rPr>
                          <m:t>9</m:t>
                        </m:r>
                        <m:r>
                          <a:rPr lang="en-US" sz="3200" i="1">
                            <a:solidFill>
                              <a:prstClr val="black"/>
                            </a:solidFill>
                            <a:latin typeface="Cambria Math"/>
                          </a:rPr>
                          <m:t>!</m:t>
                        </m:r>
                      </m:num>
                      <m:den>
                        <m:d>
                          <m:dPr>
                            <m:ctrlPr>
                              <a:rPr lang="en-US" sz="3200" i="1">
                                <a:solidFill>
                                  <a:prstClr val="black"/>
                                </a:solidFill>
                                <a:latin typeface="Cambria Math"/>
                              </a:rPr>
                            </m:ctrlPr>
                          </m:dPr>
                          <m:e>
                            <m:r>
                              <a:rPr lang="en-US" sz="3200" b="0" i="1" smtClean="0">
                                <a:solidFill>
                                  <a:prstClr val="black"/>
                                </a:solidFill>
                                <a:latin typeface="Cambria Math"/>
                              </a:rPr>
                              <m:t>9</m:t>
                            </m:r>
                            <m:r>
                              <a:rPr lang="en-US" sz="3200" i="1">
                                <a:solidFill>
                                  <a:prstClr val="black"/>
                                </a:solidFill>
                                <a:latin typeface="Cambria Math"/>
                              </a:rPr>
                              <m:t>−</m:t>
                            </m:r>
                            <m:r>
                              <a:rPr lang="en-US" sz="3200" b="0" i="1" smtClean="0">
                                <a:solidFill>
                                  <a:prstClr val="black"/>
                                </a:solidFill>
                                <a:latin typeface="Cambria Math"/>
                              </a:rPr>
                              <m:t>5</m:t>
                            </m:r>
                          </m:e>
                        </m:d>
                        <m:r>
                          <a:rPr lang="en-US" sz="3200" i="1">
                            <a:solidFill>
                              <a:prstClr val="black"/>
                            </a:solidFill>
                            <a:latin typeface="Cambria Math"/>
                          </a:rPr>
                          <m:t>!∗</m:t>
                        </m:r>
                        <m:r>
                          <a:rPr lang="en-US" sz="3200" b="0" i="1" smtClean="0">
                            <a:solidFill>
                              <a:prstClr val="black"/>
                            </a:solidFill>
                            <a:latin typeface="Cambria Math"/>
                          </a:rPr>
                          <m:t>5</m:t>
                        </m:r>
                        <m:r>
                          <a:rPr lang="en-US" sz="3200" i="1">
                            <a:solidFill>
                              <a:prstClr val="black"/>
                            </a:solidFill>
                            <a:latin typeface="Cambria Math"/>
                          </a:rPr>
                          <m:t>!</m:t>
                        </m:r>
                      </m:den>
                    </m:f>
                    <m:r>
                      <a:rPr lang="en-US" sz="3200" i="1">
                        <a:solidFill>
                          <a:prstClr val="black"/>
                        </a:solidFill>
                        <a:latin typeface="Cambria Math"/>
                      </a:rPr>
                      <m:t>∗</m:t>
                    </m:r>
                    <m:r>
                      <a:rPr lang="en-US" sz="3200" b="0" i="1" smtClean="0">
                        <a:solidFill>
                          <a:prstClr val="black"/>
                        </a:solidFill>
                        <a:latin typeface="Cambria Math"/>
                      </a:rPr>
                      <m:t>[</m:t>
                    </m:r>
                    <m:f>
                      <m:fPr>
                        <m:ctrlPr>
                          <a:rPr lang="en-US" sz="3200" i="1">
                            <a:solidFill>
                              <a:prstClr val="black"/>
                            </a:solidFill>
                            <a:latin typeface="Cambria Math"/>
                          </a:rPr>
                        </m:ctrlPr>
                      </m:fPr>
                      <m:num>
                        <m:r>
                          <a:rPr lang="en-US" sz="3200" b="0" i="1" smtClean="0">
                            <a:solidFill>
                              <a:prstClr val="black"/>
                            </a:solidFill>
                            <a:latin typeface="Cambria Math"/>
                          </a:rPr>
                          <m:t>5</m:t>
                        </m:r>
                        <m:r>
                          <a:rPr lang="en-US" sz="3200" i="1">
                            <a:solidFill>
                              <a:prstClr val="black"/>
                            </a:solidFill>
                            <a:latin typeface="Cambria Math"/>
                          </a:rPr>
                          <m:t>!</m:t>
                        </m:r>
                      </m:num>
                      <m:den>
                        <m:d>
                          <m:dPr>
                            <m:ctrlPr>
                              <a:rPr lang="en-US" sz="3200" i="1">
                                <a:solidFill>
                                  <a:prstClr val="black"/>
                                </a:solidFill>
                                <a:latin typeface="Cambria Math"/>
                              </a:rPr>
                            </m:ctrlPr>
                          </m:dPr>
                          <m:e>
                            <m:r>
                              <a:rPr lang="en-US" sz="3200" b="0" i="1" smtClean="0">
                                <a:solidFill>
                                  <a:prstClr val="black"/>
                                </a:solidFill>
                                <a:latin typeface="Cambria Math"/>
                              </a:rPr>
                              <m:t>5</m:t>
                            </m:r>
                            <m:r>
                              <a:rPr lang="en-US" sz="3200" i="1">
                                <a:solidFill>
                                  <a:prstClr val="black"/>
                                </a:solidFill>
                                <a:latin typeface="Cambria Math"/>
                              </a:rPr>
                              <m:t>−</m:t>
                            </m:r>
                            <m:r>
                              <a:rPr lang="en-US" sz="3200" b="0" i="1" smtClean="0">
                                <a:solidFill>
                                  <a:prstClr val="black"/>
                                </a:solidFill>
                                <a:latin typeface="Cambria Math"/>
                              </a:rPr>
                              <m:t>1</m:t>
                            </m:r>
                          </m:e>
                        </m:d>
                        <m:r>
                          <a:rPr lang="en-US" sz="3200" i="1">
                            <a:solidFill>
                              <a:prstClr val="black"/>
                            </a:solidFill>
                            <a:latin typeface="Cambria Math"/>
                          </a:rPr>
                          <m:t>!∗</m:t>
                        </m:r>
                        <m:r>
                          <a:rPr lang="en-US" sz="3200" b="0" i="1" smtClean="0">
                            <a:solidFill>
                              <a:prstClr val="black"/>
                            </a:solidFill>
                            <a:latin typeface="Cambria Math"/>
                          </a:rPr>
                          <m:t>1</m:t>
                        </m:r>
                        <m:r>
                          <a:rPr lang="en-US" sz="3200" i="1">
                            <a:solidFill>
                              <a:prstClr val="black"/>
                            </a:solidFill>
                            <a:latin typeface="Cambria Math"/>
                          </a:rPr>
                          <m:t>!</m:t>
                        </m:r>
                      </m:den>
                    </m:f>
                    <m:r>
                      <a:rPr lang="en-US" sz="3200" b="0" i="1" smtClean="0">
                        <a:solidFill>
                          <a:prstClr val="black"/>
                        </a:solidFill>
                        <a:latin typeface="Cambria Math"/>
                      </a:rPr>
                      <m:t>+</m:t>
                    </m:r>
                    <m:f>
                      <m:fPr>
                        <m:ctrlPr>
                          <a:rPr lang="en-US" sz="3200" i="1">
                            <a:solidFill>
                              <a:prstClr val="black"/>
                            </a:solidFill>
                            <a:latin typeface="Cambria Math"/>
                          </a:rPr>
                        </m:ctrlPr>
                      </m:fPr>
                      <m:num>
                        <m:r>
                          <a:rPr lang="en-US" sz="3200" b="0" i="1" smtClean="0">
                            <a:solidFill>
                              <a:prstClr val="black"/>
                            </a:solidFill>
                            <a:latin typeface="Cambria Math"/>
                          </a:rPr>
                          <m:t>3</m:t>
                        </m:r>
                        <m:r>
                          <a:rPr lang="en-US" sz="3200" i="1">
                            <a:solidFill>
                              <a:prstClr val="black"/>
                            </a:solidFill>
                            <a:latin typeface="Cambria Math"/>
                          </a:rPr>
                          <m:t>!</m:t>
                        </m:r>
                      </m:num>
                      <m:den>
                        <m:d>
                          <m:dPr>
                            <m:ctrlPr>
                              <a:rPr lang="en-US" sz="3200" i="1">
                                <a:solidFill>
                                  <a:prstClr val="black"/>
                                </a:solidFill>
                                <a:latin typeface="Cambria Math"/>
                              </a:rPr>
                            </m:ctrlPr>
                          </m:dPr>
                          <m:e>
                            <m:r>
                              <a:rPr lang="en-US" sz="3200" b="0" i="1" smtClean="0">
                                <a:solidFill>
                                  <a:prstClr val="black"/>
                                </a:solidFill>
                                <a:latin typeface="Cambria Math"/>
                              </a:rPr>
                              <m:t>3</m:t>
                            </m:r>
                            <m:r>
                              <a:rPr lang="en-US" sz="3200" i="1">
                                <a:solidFill>
                                  <a:prstClr val="black"/>
                                </a:solidFill>
                                <a:latin typeface="Cambria Math"/>
                              </a:rPr>
                              <m:t>−</m:t>
                            </m:r>
                            <m:r>
                              <a:rPr lang="en-US" sz="3200" b="0" i="1" smtClean="0">
                                <a:solidFill>
                                  <a:prstClr val="black"/>
                                </a:solidFill>
                                <a:latin typeface="Cambria Math"/>
                              </a:rPr>
                              <m:t>1</m:t>
                            </m:r>
                          </m:e>
                        </m:d>
                        <m:r>
                          <a:rPr lang="en-US" sz="3200" i="1">
                            <a:solidFill>
                              <a:prstClr val="black"/>
                            </a:solidFill>
                            <a:latin typeface="Cambria Math"/>
                          </a:rPr>
                          <m:t>!∗</m:t>
                        </m:r>
                        <m:r>
                          <a:rPr lang="en-US" sz="3200" b="0" i="1" smtClean="0">
                            <a:solidFill>
                              <a:prstClr val="black"/>
                            </a:solidFill>
                            <a:latin typeface="Cambria Math"/>
                          </a:rPr>
                          <m:t>1</m:t>
                        </m:r>
                        <m:r>
                          <a:rPr lang="en-US" sz="3200" i="1">
                            <a:solidFill>
                              <a:prstClr val="black"/>
                            </a:solidFill>
                            <a:latin typeface="Cambria Math"/>
                          </a:rPr>
                          <m:t>!</m:t>
                        </m:r>
                      </m:den>
                    </m:f>
                    <m:r>
                      <a:rPr lang="en-US" sz="3200" b="0" i="1" smtClean="0">
                        <a:solidFill>
                          <a:prstClr val="black"/>
                        </a:solidFill>
                        <a:latin typeface="Cambria Math"/>
                      </a:rPr>
                      <m:t>]</m:t>
                    </m:r>
                  </m:oMath>
                </a14:m>
                <a:r>
                  <a:rPr lang="en-US" sz="3200" dirty="0" smtClean="0">
                    <a:solidFill>
                      <a:prstClr val="black"/>
                    </a:solidFill>
                    <a:latin typeface="Baskerville Old Face" panose="02020602080505020303" pitchFamily="18" charset="0"/>
                  </a:rPr>
                  <a:t>  = </a:t>
                </a:r>
                <a:endParaRPr lang="en-US" sz="3200" dirty="0">
                  <a:solidFill>
                    <a:prstClr val="black"/>
                  </a:solidFill>
                  <a:latin typeface="Baskerville Old Face" panose="02020602080505020303" pitchFamily="18" charset="0"/>
                </a:endParaRPr>
              </a:p>
              <a:p>
                <a:pPr lvl="0">
                  <a:lnSpc>
                    <a:spcPct val="160000"/>
                  </a:lnSpc>
                  <a:buClr>
                    <a:srgbClr val="FEB80A"/>
                  </a:buClr>
                  <a:buFont typeface="Wingdings" pitchFamily="2" charset="2"/>
                  <a:buChar char="Ø"/>
                </a:pPr>
                <a14:m>
                  <m:oMath xmlns:m="http://schemas.openxmlformats.org/officeDocument/2006/math">
                    <m:f>
                      <m:fPr>
                        <m:ctrlPr>
                          <a:rPr lang="en-US" sz="3200" i="1">
                            <a:solidFill>
                              <a:prstClr val="black"/>
                            </a:solidFill>
                            <a:latin typeface="Cambria Math"/>
                          </a:rPr>
                        </m:ctrlPr>
                      </m:fPr>
                      <m:num>
                        <m:r>
                          <a:rPr lang="en-US" sz="3200" b="0" i="1" smtClean="0">
                            <a:solidFill>
                              <a:prstClr val="black"/>
                            </a:solidFill>
                            <a:latin typeface="Cambria Math"/>
                          </a:rPr>
                          <m:t>4</m:t>
                        </m:r>
                        <m:r>
                          <a:rPr lang="en-US" sz="3200" i="1">
                            <a:solidFill>
                              <a:prstClr val="black"/>
                            </a:solidFill>
                            <a:latin typeface="Cambria Math"/>
                          </a:rPr>
                          <m:t>!</m:t>
                        </m:r>
                      </m:num>
                      <m:den>
                        <m:r>
                          <a:rPr lang="en-US" sz="3200" b="0" i="1" smtClean="0">
                            <a:solidFill>
                              <a:prstClr val="black"/>
                            </a:solidFill>
                            <a:latin typeface="Cambria Math"/>
                          </a:rPr>
                          <m:t>1</m:t>
                        </m:r>
                        <m:r>
                          <a:rPr lang="en-US" sz="3200" i="1">
                            <a:solidFill>
                              <a:prstClr val="black"/>
                            </a:solidFill>
                            <a:latin typeface="Cambria Math"/>
                          </a:rPr>
                          <m:t>!∗</m:t>
                        </m:r>
                        <m:r>
                          <a:rPr lang="en-US" sz="3200" b="0" i="1" smtClean="0">
                            <a:solidFill>
                              <a:prstClr val="black"/>
                            </a:solidFill>
                            <a:latin typeface="Cambria Math"/>
                          </a:rPr>
                          <m:t>3</m:t>
                        </m:r>
                        <m:r>
                          <a:rPr lang="en-US" sz="3200" i="1">
                            <a:solidFill>
                              <a:prstClr val="black"/>
                            </a:solidFill>
                            <a:latin typeface="Cambria Math"/>
                          </a:rPr>
                          <m:t>!</m:t>
                        </m:r>
                      </m:den>
                    </m:f>
                    <m:r>
                      <a:rPr lang="en-US" sz="3200" i="1">
                        <a:solidFill>
                          <a:prstClr val="black"/>
                        </a:solidFill>
                        <a:latin typeface="Cambria Math"/>
                      </a:rPr>
                      <m:t>∗</m:t>
                    </m:r>
                    <m:f>
                      <m:fPr>
                        <m:ctrlPr>
                          <a:rPr lang="en-US" sz="3200" i="1">
                            <a:solidFill>
                              <a:prstClr val="black"/>
                            </a:solidFill>
                            <a:latin typeface="Cambria Math"/>
                          </a:rPr>
                        </m:ctrlPr>
                      </m:fPr>
                      <m:num>
                        <m:r>
                          <a:rPr lang="en-US" sz="3200" b="0" i="1" smtClean="0">
                            <a:solidFill>
                              <a:prstClr val="black"/>
                            </a:solidFill>
                            <a:latin typeface="Cambria Math"/>
                          </a:rPr>
                          <m:t>4</m:t>
                        </m:r>
                        <m:r>
                          <a:rPr lang="en-US" sz="3200" i="1">
                            <a:solidFill>
                              <a:prstClr val="black"/>
                            </a:solidFill>
                            <a:latin typeface="Cambria Math"/>
                          </a:rPr>
                          <m:t>!</m:t>
                        </m:r>
                      </m:num>
                      <m:den>
                        <m:r>
                          <a:rPr lang="en-US" sz="3200" b="0" i="1" smtClean="0">
                            <a:solidFill>
                              <a:prstClr val="black"/>
                            </a:solidFill>
                            <a:latin typeface="Cambria Math"/>
                          </a:rPr>
                          <m:t>2</m:t>
                        </m:r>
                        <m:r>
                          <a:rPr lang="en-US" sz="3200" i="1">
                            <a:solidFill>
                              <a:prstClr val="black"/>
                            </a:solidFill>
                            <a:latin typeface="Cambria Math"/>
                          </a:rPr>
                          <m:t>!∗</m:t>
                        </m:r>
                        <m:r>
                          <a:rPr lang="en-US" sz="3200" b="0" i="1" smtClean="0">
                            <a:solidFill>
                              <a:prstClr val="black"/>
                            </a:solidFill>
                            <a:latin typeface="Cambria Math"/>
                          </a:rPr>
                          <m:t>2</m:t>
                        </m:r>
                        <m:r>
                          <a:rPr lang="en-US" sz="3200" i="1">
                            <a:solidFill>
                              <a:prstClr val="black"/>
                            </a:solidFill>
                            <a:latin typeface="Cambria Math"/>
                          </a:rPr>
                          <m:t>!</m:t>
                        </m:r>
                      </m:den>
                    </m:f>
                    <m:r>
                      <a:rPr lang="en-US" sz="3200" b="0" i="1" smtClean="0">
                        <a:solidFill>
                          <a:prstClr val="black"/>
                        </a:solidFill>
                        <a:latin typeface="Cambria Math"/>
                      </a:rPr>
                      <m:t>∗</m:t>
                    </m:r>
                    <m:f>
                      <m:fPr>
                        <m:ctrlPr>
                          <a:rPr lang="en-US" sz="3200" i="1">
                            <a:solidFill>
                              <a:prstClr val="black"/>
                            </a:solidFill>
                            <a:latin typeface="Cambria Math"/>
                          </a:rPr>
                        </m:ctrlPr>
                      </m:fPr>
                      <m:num>
                        <m:r>
                          <a:rPr lang="en-US" sz="3200" b="0" i="1" smtClean="0">
                            <a:solidFill>
                              <a:prstClr val="black"/>
                            </a:solidFill>
                            <a:latin typeface="Cambria Math"/>
                          </a:rPr>
                          <m:t>9</m:t>
                        </m:r>
                        <m:r>
                          <a:rPr lang="en-US" sz="3200" i="1">
                            <a:solidFill>
                              <a:prstClr val="black"/>
                            </a:solidFill>
                            <a:latin typeface="Cambria Math"/>
                          </a:rPr>
                          <m:t>!</m:t>
                        </m:r>
                      </m:num>
                      <m:den>
                        <m:r>
                          <a:rPr lang="en-US" sz="3200" b="0" i="1" smtClean="0">
                            <a:solidFill>
                              <a:prstClr val="black"/>
                            </a:solidFill>
                            <a:latin typeface="Cambria Math"/>
                          </a:rPr>
                          <m:t>4</m:t>
                        </m:r>
                        <m:r>
                          <a:rPr lang="en-US" sz="3200" i="1">
                            <a:solidFill>
                              <a:prstClr val="black"/>
                            </a:solidFill>
                            <a:latin typeface="Cambria Math"/>
                          </a:rPr>
                          <m:t>!∗</m:t>
                        </m:r>
                        <m:r>
                          <a:rPr lang="en-US" sz="3200" b="0" i="1" smtClean="0">
                            <a:solidFill>
                              <a:prstClr val="black"/>
                            </a:solidFill>
                            <a:latin typeface="Cambria Math"/>
                          </a:rPr>
                          <m:t>5</m:t>
                        </m:r>
                        <m:r>
                          <a:rPr lang="en-US" sz="3200" i="1">
                            <a:solidFill>
                              <a:prstClr val="black"/>
                            </a:solidFill>
                            <a:latin typeface="Cambria Math"/>
                          </a:rPr>
                          <m:t>!</m:t>
                        </m:r>
                      </m:den>
                    </m:f>
                    <m:r>
                      <a:rPr lang="en-US" sz="3200" i="1">
                        <a:solidFill>
                          <a:prstClr val="black"/>
                        </a:solidFill>
                        <a:latin typeface="Cambria Math"/>
                      </a:rPr>
                      <m:t>∗</m:t>
                    </m:r>
                    <m:r>
                      <a:rPr lang="en-US" sz="3200" b="0" i="1" smtClean="0">
                        <a:solidFill>
                          <a:prstClr val="black"/>
                        </a:solidFill>
                        <a:latin typeface="Cambria Math"/>
                      </a:rPr>
                      <m:t>(</m:t>
                    </m:r>
                    <m:f>
                      <m:fPr>
                        <m:ctrlPr>
                          <a:rPr lang="en-US" sz="3200" i="1">
                            <a:solidFill>
                              <a:prstClr val="black"/>
                            </a:solidFill>
                            <a:latin typeface="Cambria Math"/>
                          </a:rPr>
                        </m:ctrlPr>
                      </m:fPr>
                      <m:num>
                        <m:r>
                          <a:rPr lang="en-US" sz="3200" b="0" i="1" smtClean="0">
                            <a:solidFill>
                              <a:prstClr val="black"/>
                            </a:solidFill>
                            <a:latin typeface="Cambria Math"/>
                          </a:rPr>
                          <m:t>5</m:t>
                        </m:r>
                        <m:r>
                          <a:rPr lang="en-US" sz="3200" i="1">
                            <a:solidFill>
                              <a:prstClr val="black"/>
                            </a:solidFill>
                            <a:latin typeface="Cambria Math"/>
                          </a:rPr>
                          <m:t>!</m:t>
                        </m:r>
                      </m:num>
                      <m:den>
                        <m:r>
                          <a:rPr lang="en-US" sz="3200" b="0" i="1" smtClean="0">
                            <a:solidFill>
                              <a:prstClr val="black"/>
                            </a:solidFill>
                            <a:latin typeface="Cambria Math"/>
                          </a:rPr>
                          <m:t>4</m:t>
                        </m:r>
                        <m:r>
                          <a:rPr lang="en-US" sz="3200" i="1">
                            <a:solidFill>
                              <a:prstClr val="black"/>
                            </a:solidFill>
                            <a:latin typeface="Cambria Math"/>
                          </a:rPr>
                          <m:t>!∗</m:t>
                        </m:r>
                        <m:r>
                          <a:rPr lang="en-US" sz="3200" b="0" i="1" smtClean="0">
                            <a:solidFill>
                              <a:prstClr val="black"/>
                            </a:solidFill>
                            <a:latin typeface="Cambria Math"/>
                          </a:rPr>
                          <m:t>1</m:t>
                        </m:r>
                        <m:r>
                          <a:rPr lang="en-US" sz="3200" i="1">
                            <a:solidFill>
                              <a:prstClr val="black"/>
                            </a:solidFill>
                            <a:latin typeface="Cambria Math"/>
                          </a:rPr>
                          <m:t>!</m:t>
                        </m:r>
                      </m:den>
                    </m:f>
                    <m:r>
                      <a:rPr lang="en-US" sz="3200" b="0" i="1" smtClean="0">
                        <a:solidFill>
                          <a:prstClr val="black"/>
                        </a:solidFill>
                        <a:latin typeface="Cambria Math"/>
                      </a:rPr>
                      <m:t>+</m:t>
                    </m:r>
                    <m:f>
                      <m:fPr>
                        <m:ctrlPr>
                          <a:rPr lang="en-US" sz="3200" i="1">
                            <a:solidFill>
                              <a:prstClr val="black"/>
                            </a:solidFill>
                            <a:latin typeface="Cambria Math"/>
                          </a:rPr>
                        </m:ctrlPr>
                      </m:fPr>
                      <m:num>
                        <m:r>
                          <a:rPr lang="en-US" sz="3200" b="0" i="1" smtClean="0">
                            <a:solidFill>
                              <a:prstClr val="black"/>
                            </a:solidFill>
                            <a:latin typeface="Cambria Math"/>
                          </a:rPr>
                          <m:t>3</m:t>
                        </m:r>
                        <m:r>
                          <a:rPr lang="en-US" sz="3200" i="1">
                            <a:solidFill>
                              <a:prstClr val="black"/>
                            </a:solidFill>
                            <a:latin typeface="Cambria Math"/>
                          </a:rPr>
                          <m:t>!</m:t>
                        </m:r>
                      </m:num>
                      <m:den>
                        <m:r>
                          <a:rPr lang="en-US" sz="3200" i="1">
                            <a:solidFill>
                              <a:prstClr val="black"/>
                            </a:solidFill>
                            <a:latin typeface="Cambria Math"/>
                          </a:rPr>
                          <m:t>2!∗</m:t>
                        </m:r>
                        <m:r>
                          <a:rPr lang="en-US" sz="3200" b="0" i="1" smtClean="0">
                            <a:solidFill>
                              <a:prstClr val="black"/>
                            </a:solidFill>
                            <a:latin typeface="Cambria Math"/>
                          </a:rPr>
                          <m:t>1</m:t>
                        </m:r>
                        <m:r>
                          <a:rPr lang="en-US" sz="3200" i="1">
                            <a:solidFill>
                              <a:prstClr val="black"/>
                            </a:solidFill>
                            <a:latin typeface="Cambria Math"/>
                          </a:rPr>
                          <m:t>!</m:t>
                        </m:r>
                      </m:den>
                    </m:f>
                  </m:oMath>
                </a14:m>
                <a:r>
                  <a:rPr lang="en-US" sz="3200" dirty="0" smtClean="0">
                    <a:solidFill>
                      <a:prstClr val="black"/>
                    </a:solidFill>
                    <a:latin typeface="Baskerville Old Face" panose="02020602080505020303" pitchFamily="18" charset="0"/>
                  </a:rPr>
                  <a:t>) </a:t>
                </a:r>
                <a:r>
                  <a:rPr lang="en-US" sz="3200" dirty="0">
                    <a:solidFill>
                      <a:prstClr val="black"/>
                    </a:solidFill>
                    <a:latin typeface="Baskerville Old Face" panose="02020602080505020303" pitchFamily="18" charset="0"/>
                  </a:rPr>
                  <a:t>=</a:t>
                </a:r>
              </a:p>
              <a:p>
                <a:pPr lvl="0">
                  <a:lnSpc>
                    <a:spcPct val="160000"/>
                  </a:lnSpc>
                  <a:buClr>
                    <a:srgbClr val="FEB80A"/>
                  </a:buClr>
                  <a:buFont typeface="Wingdings" pitchFamily="2" charset="2"/>
                  <a:buChar char="Ø"/>
                </a:pPr>
                <a:r>
                  <a:rPr lang="en-US" sz="3200" dirty="0" smtClean="0">
                    <a:solidFill>
                      <a:prstClr val="black"/>
                    </a:solidFill>
                    <a:latin typeface="Baskerville Old Face" panose="02020602080505020303" pitchFamily="18" charset="0"/>
                  </a:rPr>
                  <a:t>4 * 6 * 126 * (5 + 3) = </a:t>
                </a:r>
                <a:endParaRPr lang="en-US" sz="3200" dirty="0">
                  <a:solidFill>
                    <a:prstClr val="black"/>
                  </a:solidFill>
                  <a:latin typeface="Baskerville Old Face" panose="02020602080505020303" pitchFamily="18" charset="0"/>
                </a:endParaRPr>
              </a:p>
              <a:p>
                <a:pPr lvl="0">
                  <a:lnSpc>
                    <a:spcPct val="160000"/>
                  </a:lnSpc>
                  <a:buClr>
                    <a:srgbClr val="FEB80A"/>
                  </a:buClr>
                  <a:buFont typeface="Wingdings" pitchFamily="2" charset="2"/>
                  <a:buChar char="Ø"/>
                </a:pPr>
                <a:r>
                  <a:rPr lang="en-US" sz="3200" dirty="0" smtClean="0">
                    <a:solidFill>
                      <a:prstClr val="black"/>
                    </a:solidFill>
                    <a:latin typeface="Baskerville Old Face" panose="02020602080505020303" pitchFamily="18" charset="0"/>
                  </a:rPr>
                  <a:t>24192 </a:t>
                </a:r>
                <a:r>
                  <a:rPr lang="en-US" sz="3200" dirty="0">
                    <a:solidFill>
                      <a:prstClr val="black"/>
                    </a:solidFill>
                    <a:latin typeface="Baskerville Old Face" panose="02020602080505020303" pitchFamily="18" charset="0"/>
                  </a:rPr>
                  <a:t>ways</a:t>
                </a:r>
              </a:p>
              <a:p>
                <a:pPr>
                  <a:buFont typeface="Wingdings" pitchFamily="2" charset="2"/>
                  <a:buChar char="Ø"/>
                </a:pPr>
                <a:endParaRPr lang="en-US" dirty="0" smtClean="0"/>
              </a:p>
              <a:p>
                <a:pPr>
                  <a:buFont typeface="Wingdings" pitchFamily="2" charset="2"/>
                  <a:buChar char="Ø"/>
                </a:pPr>
                <a:endParaRPr lang="en-US" dirty="0"/>
              </a:p>
              <a:p>
                <a:pPr>
                  <a:buFont typeface="Wingdings" pitchFamily="2" charset="2"/>
                  <a:buChar char="Ø"/>
                </a:pPr>
                <a:endParaRPr lang="en-US" dirty="0" smtClean="0"/>
              </a:p>
              <a:p>
                <a:pPr marL="0" indent="0">
                  <a:buNone/>
                </a:pPr>
                <a:endParaRPr lang="en-US" dirty="0" smtClean="0"/>
              </a:p>
              <a:p>
                <a:endParaRPr lang="en-US" dirty="0"/>
              </a:p>
            </p:txBody>
          </p:sp>
        </mc:Choice>
        <mc:Fallback xmlns="">
          <p:sp>
            <p:nvSpPr>
              <p:cNvPr id="9" name="Content Placeholder 8"/>
              <p:cNvSpPr>
                <a:spLocks noGrp="1" noRot="1" noChangeAspect="1" noMove="1" noResize="1" noEditPoints="1" noAdjustHandles="1" noChangeArrowheads="1" noChangeShapeType="1" noTextEdit="1"/>
              </p:cNvSpPr>
              <p:nvPr>
                <p:ph sz="quarter" idx="2"/>
              </p:nvPr>
            </p:nvSpPr>
            <p:spPr>
              <a:xfrm>
                <a:off x="4495800" y="1752600"/>
                <a:ext cx="4235301" cy="4572000"/>
              </a:xfrm>
              <a:blipFill rotWithShape="1">
                <a:blip r:embed="rId3"/>
                <a:stretch>
                  <a:fillRect t="-1729" r="-2874"/>
                </a:stretch>
              </a:blipFill>
              <a:ln w="12700" cmpd="dbl">
                <a:solidFill>
                  <a:schemeClr val="accent2">
                    <a:lumMod val="75000"/>
                  </a:schemeClr>
                </a:solidFill>
              </a:ln>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4" name="Ink 3"/>
              <p14:cNvContentPartPr/>
              <p14:nvPr/>
            </p14:nvContentPartPr>
            <p14:xfrm>
              <a:off x="1816200" y="2692440"/>
              <a:ext cx="3969000" cy="1321200"/>
            </p14:xfrm>
          </p:contentPart>
        </mc:Choice>
        <mc:Fallback xmlns="">
          <p:pic>
            <p:nvPicPr>
              <p:cNvPr id="4" name="Ink 3"/>
              <p:cNvPicPr/>
              <p:nvPr/>
            </p:nvPicPr>
            <p:blipFill>
              <a:blip r:embed="rId5"/>
              <a:stretch>
                <a:fillRect/>
              </a:stretch>
            </p:blipFill>
            <p:spPr>
              <a:xfrm>
                <a:off x="1806840" y="2683080"/>
                <a:ext cx="3987720" cy="1339920"/>
              </a:xfrm>
              <a:prstGeom prst="rect">
                <a:avLst/>
              </a:prstGeom>
            </p:spPr>
          </p:pic>
        </mc:Fallback>
      </mc:AlternateContent>
    </p:spTree>
    <p:extLst>
      <p:ext uri="{BB962C8B-B14F-4D97-AF65-F5344CB8AC3E}">
        <p14:creationId xmlns:p14="http://schemas.microsoft.com/office/powerpoint/2010/main" val="3186404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fade">
                                      <p:cBhvr>
                                        <p:cTn id="19" dur="1000"/>
                                        <p:tgtEl>
                                          <p:spTgt spid="9">
                                            <p:txEl>
                                              <p:pRg st="2" end="2"/>
                                            </p:txEl>
                                          </p:spTgt>
                                        </p:tgtEl>
                                      </p:cBhvr>
                                    </p:animEffect>
                                    <p:anim calcmode="lin" valueType="num">
                                      <p:cBhvr>
                                        <p:cTn id="20"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animEffect transition="in" filter="fade">
                                      <p:cBhvr>
                                        <p:cTn id="24" dur="1000"/>
                                        <p:tgtEl>
                                          <p:spTgt spid="9">
                                            <p:txEl>
                                              <p:pRg st="3" end="3"/>
                                            </p:txEl>
                                          </p:spTgt>
                                        </p:tgtEl>
                                      </p:cBhvr>
                                    </p:animEffect>
                                    <p:anim calcmode="lin" valueType="num">
                                      <p:cBhvr>
                                        <p:cTn id="2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xEl>
                                              <p:pRg st="4" end="4"/>
                                            </p:txEl>
                                          </p:spTgt>
                                        </p:tgtEl>
                                        <p:attrNameLst>
                                          <p:attrName>style.visibility</p:attrName>
                                        </p:attrNameLst>
                                      </p:cBhvr>
                                      <p:to>
                                        <p:strVal val="visible"/>
                                      </p:to>
                                    </p:set>
                                    <p:animEffect transition="in" filter="fade">
                                      <p:cBhvr>
                                        <p:cTn id="29" dur="1000"/>
                                        <p:tgtEl>
                                          <p:spTgt spid="9">
                                            <p:txEl>
                                              <p:pRg st="4" end="4"/>
                                            </p:txEl>
                                          </p:spTgt>
                                        </p:tgtEl>
                                      </p:cBhvr>
                                    </p:animEffect>
                                    <p:anim calcmode="lin" valueType="num">
                                      <p:cBhvr>
                                        <p:cTn id="30"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9">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9">
                                            <p:txEl>
                                              <p:pRg st="5" end="5"/>
                                            </p:txEl>
                                          </p:spTgt>
                                        </p:tgtEl>
                                        <p:attrNameLst>
                                          <p:attrName>style.visibility</p:attrName>
                                        </p:attrNameLst>
                                      </p:cBhvr>
                                      <p:to>
                                        <p:strVal val="visible"/>
                                      </p:to>
                                    </p:set>
                                    <p:animEffect transition="in" filter="fade">
                                      <p:cBhvr>
                                        <p:cTn id="34" dur="1000"/>
                                        <p:tgtEl>
                                          <p:spTgt spid="9">
                                            <p:txEl>
                                              <p:pRg st="5" end="5"/>
                                            </p:txEl>
                                          </p:spTgt>
                                        </p:tgtEl>
                                      </p:cBhvr>
                                    </p:animEffect>
                                    <p:anim calcmode="lin" valueType="num">
                                      <p:cBhvr>
                                        <p:cTn id="35"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smtClean="0"/>
              <a:t>Question 17</a:t>
            </a:r>
            <a:endParaRPr lang="en-US" dirty="0"/>
          </a:p>
        </p:txBody>
      </p:sp>
      <p:sp>
        <p:nvSpPr>
          <p:cNvPr id="3" name="Rectangle 2"/>
          <p:cNvSpPr>
            <a:spLocks noGrp="1"/>
          </p:cNvSpPr>
          <p:nvPr>
            <p:ph sz="quarter" idx="1"/>
          </p:nvPr>
        </p:nvSpPr>
        <p:spPr>
          <a:xfrm>
            <a:off x="609600" y="1752600"/>
            <a:ext cx="3886200" cy="4572000"/>
          </a:xfrm>
          <a:ln w="19050" cmpd="dbl">
            <a:solidFill>
              <a:schemeClr val="accent2">
                <a:lumMod val="75000"/>
              </a:schemeClr>
            </a:solidFill>
          </a:ln>
        </p:spPr>
        <p:txBody>
          <a:bodyPr>
            <a:noAutofit/>
          </a:bodyPr>
          <a:lstStyle/>
          <a:p>
            <a:pPr>
              <a:buFont typeface="Wingdings" pitchFamily="2" charset="2"/>
              <a:buChar char="Ø"/>
            </a:pPr>
            <a:r>
              <a:rPr lang="en-US" sz="2800" dirty="0" smtClean="0">
                <a:latin typeface="Bell MT" panose="02020503060305020303" pitchFamily="18" charset="0"/>
              </a:rPr>
              <a:t>15 applicants applied for 4 open jobs in a company. How many ways can the job be filled if no preference is given to any applicant?      </a:t>
            </a:r>
          </a:p>
          <a:p>
            <a:pPr>
              <a:buFont typeface="Wingdings" pitchFamily="2" charset="2"/>
              <a:buChar char="Ø"/>
            </a:pPr>
            <a:endParaRPr lang="en-US" sz="2800" dirty="0" smtClean="0">
              <a:latin typeface="Bell MT" panose="02020503060305020303" pitchFamily="18" charset="0"/>
            </a:endParaRPr>
          </a:p>
          <a:p>
            <a:pPr>
              <a:buFont typeface="Wingdings" pitchFamily="2" charset="2"/>
              <a:buChar char="Ø"/>
            </a:pPr>
            <a:r>
              <a:rPr lang="en-US" sz="2800" dirty="0" smtClean="0">
                <a:latin typeface="Bell MT" panose="02020503060305020303" pitchFamily="18" charset="0"/>
              </a:rPr>
              <a:t>This is a case of Combination </a:t>
            </a:r>
          </a:p>
        </p:txBody>
      </p:sp>
      <mc:AlternateContent xmlns:mc="http://schemas.openxmlformats.org/markup-compatibility/2006" xmlns:a14="http://schemas.microsoft.com/office/drawing/2010/main">
        <mc:Choice Requires="a14">
          <p:sp>
            <p:nvSpPr>
              <p:cNvPr id="9" name="Content Placeholder 8"/>
              <p:cNvSpPr>
                <a:spLocks noGrp="1"/>
              </p:cNvSpPr>
              <p:nvPr>
                <p:ph sz="quarter" idx="2"/>
              </p:nvPr>
            </p:nvSpPr>
            <p:spPr>
              <a:xfrm>
                <a:off x="4495800" y="1752600"/>
                <a:ext cx="4235301" cy="4572000"/>
              </a:xfrm>
              <a:ln w="12700" cmpd="dbl">
                <a:solidFill>
                  <a:schemeClr val="accent2">
                    <a:lumMod val="75000"/>
                  </a:schemeClr>
                </a:solidFill>
              </a:ln>
            </p:spPr>
            <p:txBody>
              <a:bodyPr>
                <a:normAutofit fontScale="62500" lnSpcReduction="20000"/>
              </a:bodyPr>
              <a:lstStyle/>
              <a:p>
                <a:pPr lvl="0">
                  <a:buClr>
                    <a:srgbClr val="FEB80A"/>
                  </a:buClr>
                  <a:buFont typeface="Wingdings" pitchFamily="2" charset="2"/>
                  <a:buChar char="Ø"/>
                </a:pPr>
                <a:r>
                  <a:rPr lang="en-US" sz="5000" u="sng" dirty="0" smtClean="0">
                    <a:solidFill>
                      <a:prstClr val="black"/>
                    </a:solidFill>
                    <a:latin typeface="Baskerville Old Face" panose="02020602080505020303" pitchFamily="18" charset="0"/>
                  </a:rPr>
                  <a:t>Solution </a:t>
                </a:r>
              </a:p>
              <a:p>
                <a:pPr lvl="0">
                  <a:lnSpc>
                    <a:spcPct val="150000"/>
                  </a:lnSpc>
                  <a:buClr>
                    <a:srgbClr val="FEB80A"/>
                  </a:buClr>
                  <a:buFont typeface="Wingdings" pitchFamily="2" charset="2"/>
                  <a:buChar char="Ø"/>
                </a:pPr>
                <a:r>
                  <a:rPr lang="en-US" sz="5000" dirty="0">
                    <a:solidFill>
                      <a:prstClr val="black"/>
                    </a:solidFill>
                    <a:latin typeface="Baskerville Old Face" panose="02020602080505020303" pitchFamily="18" charset="0"/>
                  </a:rPr>
                  <a:t>Number of ways = </a:t>
                </a:r>
                <a:r>
                  <a:rPr lang="en-US" sz="5000" dirty="0" smtClean="0">
                    <a:solidFill>
                      <a:prstClr val="black"/>
                    </a:solidFill>
                    <a:latin typeface="Baskerville Old Face" panose="02020602080505020303" pitchFamily="18" charset="0"/>
                  </a:rPr>
                  <a:t>C(15, 4) </a:t>
                </a:r>
                <a:r>
                  <a:rPr lang="en-US" sz="5000" dirty="0">
                    <a:solidFill>
                      <a:prstClr val="black"/>
                    </a:solidFill>
                    <a:latin typeface="Baskerville Old Face" panose="02020602080505020303" pitchFamily="18" charset="0"/>
                  </a:rPr>
                  <a:t>=</a:t>
                </a:r>
              </a:p>
              <a:p>
                <a:pPr lvl="0">
                  <a:lnSpc>
                    <a:spcPct val="150000"/>
                  </a:lnSpc>
                  <a:buClr>
                    <a:srgbClr val="FEB80A"/>
                  </a:buClr>
                  <a:buFont typeface="Wingdings" pitchFamily="2" charset="2"/>
                  <a:buChar char="Ø"/>
                </a:pPr>
                <a14:m>
                  <m:oMath xmlns:m="http://schemas.openxmlformats.org/officeDocument/2006/math">
                    <m:f>
                      <m:fPr>
                        <m:ctrlPr>
                          <a:rPr lang="en-US" sz="5000" i="1">
                            <a:solidFill>
                              <a:prstClr val="black"/>
                            </a:solidFill>
                            <a:latin typeface="Cambria Math"/>
                          </a:rPr>
                        </m:ctrlPr>
                      </m:fPr>
                      <m:num>
                        <m:r>
                          <a:rPr lang="en-US" sz="5000" b="0" i="1" smtClean="0">
                            <a:solidFill>
                              <a:prstClr val="black"/>
                            </a:solidFill>
                            <a:latin typeface="Cambria Math"/>
                          </a:rPr>
                          <m:t>15</m:t>
                        </m:r>
                        <m:r>
                          <a:rPr lang="en-US" sz="5000" i="1">
                            <a:solidFill>
                              <a:prstClr val="black"/>
                            </a:solidFill>
                            <a:latin typeface="Cambria Math"/>
                          </a:rPr>
                          <m:t>!</m:t>
                        </m:r>
                      </m:num>
                      <m:den>
                        <m:d>
                          <m:dPr>
                            <m:ctrlPr>
                              <a:rPr lang="en-US" sz="5000" i="1">
                                <a:solidFill>
                                  <a:prstClr val="black"/>
                                </a:solidFill>
                                <a:latin typeface="Cambria Math"/>
                              </a:rPr>
                            </m:ctrlPr>
                          </m:dPr>
                          <m:e>
                            <m:r>
                              <a:rPr lang="en-US" sz="5000" b="0" i="1" smtClean="0">
                                <a:solidFill>
                                  <a:prstClr val="black"/>
                                </a:solidFill>
                                <a:latin typeface="Cambria Math"/>
                              </a:rPr>
                              <m:t>15</m:t>
                            </m:r>
                            <m:r>
                              <a:rPr lang="en-US" sz="5000" i="1">
                                <a:solidFill>
                                  <a:prstClr val="black"/>
                                </a:solidFill>
                                <a:latin typeface="Cambria Math"/>
                              </a:rPr>
                              <m:t>−</m:t>
                            </m:r>
                            <m:r>
                              <a:rPr lang="en-US" sz="5000" b="0" i="1" smtClean="0">
                                <a:solidFill>
                                  <a:prstClr val="black"/>
                                </a:solidFill>
                                <a:latin typeface="Cambria Math"/>
                              </a:rPr>
                              <m:t>4</m:t>
                            </m:r>
                          </m:e>
                        </m:d>
                        <m:r>
                          <a:rPr lang="en-US" sz="5000" i="1">
                            <a:solidFill>
                              <a:prstClr val="black"/>
                            </a:solidFill>
                            <a:latin typeface="Cambria Math"/>
                          </a:rPr>
                          <m:t>!∗</m:t>
                        </m:r>
                        <m:r>
                          <a:rPr lang="en-US" sz="5000" b="0" i="1" smtClean="0">
                            <a:solidFill>
                              <a:prstClr val="black"/>
                            </a:solidFill>
                            <a:latin typeface="Cambria Math"/>
                          </a:rPr>
                          <m:t>4</m:t>
                        </m:r>
                        <m:r>
                          <a:rPr lang="en-US" sz="5000" i="1">
                            <a:solidFill>
                              <a:prstClr val="black"/>
                            </a:solidFill>
                            <a:latin typeface="Cambria Math"/>
                          </a:rPr>
                          <m:t>!</m:t>
                        </m:r>
                      </m:den>
                    </m:f>
                  </m:oMath>
                </a14:m>
                <a:r>
                  <a:rPr lang="en-US" sz="5000" dirty="0">
                    <a:solidFill>
                      <a:prstClr val="black"/>
                    </a:solidFill>
                    <a:latin typeface="Baskerville Old Face" panose="02020602080505020303" pitchFamily="18" charset="0"/>
                  </a:rPr>
                  <a:t> =</a:t>
                </a:r>
              </a:p>
              <a:p>
                <a:pPr lvl="0">
                  <a:lnSpc>
                    <a:spcPct val="150000"/>
                  </a:lnSpc>
                  <a:buClr>
                    <a:srgbClr val="FEB80A"/>
                  </a:buClr>
                  <a:buFont typeface="Wingdings" pitchFamily="2" charset="2"/>
                  <a:buChar char="Ø"/>
                </a:pPr>
                <a14:m>
                  <m:oMath xmlns:m="http://schemas.openxmlformats.org/officeDocument/2006/math">
                    <m:f>
                      <m:fPr>
                        <m:ctrlPr>
                          <a:rPr lang="en-US" sz="5000" i="1">
                            <a:solidFill>
                              <a:prstClr val="black"/>
                            </a:solidFill>
                            <a:latin typeface="Cambria Math"/>
                          </a:rPr>
                        </m:ctrlPr>
                      </m:fPr>
                      <m:num>
                        <m:r>
                          <a:rPr lang="en-US" sz="5000" b="0" i="1" smtClean="0">
                            <a:solidFill>
                              <a:prstClr val="black"/>
                            </a:solidFill>
                            <a:latin typeface="Cambria Math"/>
                          </a:rPr>
                          <m:t>15</m:t>
                        </m:r>
                        <m:r>
                          <a:rPr lang="en-US" sz="5000" i="1">
                            <a:solidFill>
                              <a:prstClr val="black"/>
                            </a:solidFill>
                            <a:latin typeface="Cambria Math"/>
                          </a:rPr>
                          <m:t>!</m:t>
                        </m:r>
                      </m:num>
                      <m:den>
                        <m:r>
                          <a:rPr lang="en-US" sz="5000" b="0" i="1" smtClean="0">
                            <a:solidFill>
                              <a:prstClr val="black"/>
                            </a:solidFill>
                            <a:latin typeface="Cambria Math"/>
                          </a:rPr>
                          <m:t>11</m:t>
                        </m:r>
                        <m:r>
                          <a:rPr lang="en-US" sz="5000" i="1">
                            <a:solidFill>
                              <a:prstClr val="black"/>
                            </a:solidFill>
                            <a:latin typeface="Cambria Math"/>
                          </a:rPr>
                          <m:t>!∗</m:t>
                        </m:r>
                        <m:r>
                          <a:rPr lang="en-US" sz="5000" b="0" i="1" smtClean="0">
                            <a:solidFill>
                              <a:prstClr val="black"/>
                            </a:solidFill>
                            <a:latin typeface="Cambria Math"/>
                          </a:rPr>
                          <m:t>4</m:t>
                        </m:r>
                        <m:r>
                          <a:rPr lang="en-US" sz="5000" i="1">
                            <a:solidFill>
                              <a:prstClr val="black"/>
                            </a:solidFill>
                            <a:latin typeface="Cambria Math"/>
                          </a:rPr>
                          <m:t>!</m:t>
                        </m:r>
                      </m:den>
                    </m:f>
                  </m:oMath>
                </a14:m>
                <a:r>
                  <a:rPr lang="en-US" sz="5000" dirty="0">
                    <a:solidFill>
                      <a:prstClr val="black"/>
                    </a:solidFill>
                    <a:latin typeface="Baskerville Old Face" panose="02020602080505020303" pitchFamily="18" charset="0"/>
                  </a:rPr>
                  <a:t> =</a:t>
                </a:r>
              </a:p>
              <a:p>
                <a:pPr lvl="0">
                  <a:lnSpc>
                    <a:spcPct val="150000"/>
                  </a:lnSpc>
                  <a:buClr>
                    <a:srgbClr val="FEB80A"/>
                  </a:buClr>
                  <a:buFont typeface="Wingdings" pitchFamily="2" charset="2"/>
                  <a:buChar char="Ø"/>
                </a:pPr>
                <a:r>
                  <a:rPr lang="en-US" sz="5000" dirty="0" smtClean="0">
                    <a:solidFill>
                      <a:prstClr val="black"/>
                    </a:solidFill>
                    <a:latin typeface="Baskerville Old Face" panose="02020602080505020303" pitchFamily="18" charset="0"/>
                  </a:rPr>
                  <a:t>1365 </a:t>
                </a:r>
                <a:r>
                  <a:rPr lang="en-US" sz="5000" dirty="0">
                    <a:solidFill>
                      <a:prstClr val="black"/>
                    </a:solidFill>
                    <a:latin typeface="Baskerville Old Face" panose="02020602080505020303" pitchFamily="18" charset="0"/>
                  </a:rPr>
                  <a:t>ways</a:t>
                </a:r>
              </a:p>
              <a:p>
                <a:pPr>
                  <a:buFont typeface="Wingdings" pitchFamily="2" charset="2"/>
                  <a:buChar char="Ø"/>
                </a:pPr>
                <a:endParaRPr lang="en-US" dirty="0" smtClean="0"/>
              </a:p>
              <a:p>
                <a:pPr>
                  <a:buFont typeface="Wingdings" pitchFamily="2" charset="2"/>
                  <a:buChar char="Ø"/>
                </a:pPr>
                <a:endParaRPr lang="en-US" dirty="0"/>
              </a:p>
              <a:p>
                <a:pPr>
                  <a:buFont typeface="Wingdings" pitchFamily="2" charset="2"/>
                  <a:buChar char="Ø"/>
                </a:pPr>
                <a:endParaRPr lang="en-US" dirty="0" smtClean="0"/>
              </a:p>
              <a:p>
                <a:pPr marL="0" indent="0">
                  <a:buNone/>
                </a:pPr>
                <a:endParaRPr lang="en-US" dirty="0" smtClean="0"/>
              </a:p>
              <a:p>
                <a:endParaRPr lang="en-US" dirty="0"/>
              </a:p>
            </p:txBody>
          </p:sp>
        </mc:Choice>
        <mc:Fallback xmlns="">
          <p:sp>
            <p:nvSpPr>
              <p:cNvPr id="9" name="Content Placeholder 8"/>
              <p:cNvSpPr>
                <a:spLocks noGrp="1" noRot="1" noChangeAspect="1" noMove="1" noResize="1" noEditPoints="1" noAdjustHandles="1" noChangeArrowheads="1" noChangeShapeType="1" noTextEdit="1"/>
              </p:cNvSpPr>
              <p:nvPr>
                <p:ph sz="quarter" idx="2"/>
              </p:nvPr>
            </p:nvSpPr>
            <p:spPr>
              <a:xfrm>
                <a:off x="4495800" y="1752600"/>
                <a:ext cx="4235301" cy="4572000"/>
              </a:xfrm>
              <a:blipFill rotWithShape="1">
                <a:blip r:embed="rId3"/>
                <a:stretch>
                  <a:fillRect l="-862" t="-3191" b="-1330"/>
                </a:stretch>
              </a:blipFill>
              <a:ln w="12700" cmpd="dbl">
                <a:solidFill>
                  <a:schemeClr val="accent2">
                    <a:lumMod val="7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8020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fade">
                                      <p:cBhvr>
                                        <p:cTn id="19" dur="1000"/>
                                        <p:tgtEl>
                                          <p:spTgt spid="9">
                                            <p:txEl>
                                              <p:pRg st="2" end="2"/>
                                            </p:txEl>
                                          </p:spTgt>
                                        </p:tgtEl>
                                      </p:cBhvr>
                                    </p:animEffect>
                                    <p:anim calcmode="lin" valueType="num">
                                      <p:cBhvr>
                                        <p:cTn id="20"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animEffect transition="in" filter="fade">
                                      <p:cBhvr>
                                        <p:cTn id="24" dur="1000"/>
                                        <p:tgtEl>
                                          <p:spTgt spid="9">
                                            <p:txEl>
                                              <p:pRg st="3" end="3"/>
                                            </p:txEl>
                                          </p:spTgt>
                                        </p:tgtEl>
                                      </p:cBhvr>
                                    </p:animEffect>
                                    <p:anim calcmode="lin" valueType="num">
                                      <p:cBhvr>
                                        <p:cTn id="2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xEl>
                                              <p:pRg st="4" end="4"/>
                                            </p:txEl>
                                          </p:spTgt>
                                        </p:tgtEl>
                                        <p:attrNameLst>
                                          <p:attrName>style.visibility</p:attrName>
                                        </p:attrNameLst>
                                      </p:cBhvr>
                                      <p:to>
                                        <p:strVal val="visible"/>
                                      </p:to>
                                    </p:set>
                                    <p:animEffect transition="in" filter="fade">
                                      <p:cBhvr>
                                        <p:cTn id="29" dur="1000"/>
                                        <p:tgtEl>
                                          <p:spTgt spid="9">
                                            <p:txEl>
                                              <p:pRg st="4" end="4"/>
                                            </p:txEl>
                                          </p:spTgt>
                                        </p:tgtEl>
                                      </p:cBhvr>
                                    </p:animEffect>
                                    <p:anim calcmode="lin" valueType="num">
                                      <p:cBhvr>
                                        <p:cTn id="30"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smtClean="0"/>
              <a:t>Question 18</a:t>
            </a:r>
            <a:endParaRPr lang="en-US" dirty="0"/>
          </a:p>
        </p:txBody>
      </p:sp>
      <p:sp>
        <p:nvSpPr>
          <p:cNvPr id="3" name="Rectangle 2"/>
          <p:cNvSpPr>
            <a:spLocks noGrp="1"/>
          </p:cNvSpPr>
          <p:nvPr>
            <p:ph sz="quarter" idx="1"/>
          </p:nvPr>
        </p:nvSpPr>
        <p:spPr>
          <a:xfrm>
            <a:off x="609600" y="1752600"/>
            <a:ext cx="3886200" cy="4572000"/>
          </a:xfrm>
          <a:ln w="19050" cmpd="dbl">
            <a:solidFill>
              <a:schemeClr val="accent2">
                <a:lumMod val="75000"/>
              </a:schemeClr>
            </a:solidFill>
          </a:ln>
        </p:spPr>
        <p:txBody>
          <a:bodyPr>
            <a:noAutofit/>
          </a:bodyPr>
          <a:lstStyle/>
          <a:p>
            <a:pPr>
              <a:buFont typeface="Wingdings" pitchFamily="2" charset="2"/>
              <a:buChar char="Ø"/>
            </a:pPr>
            <a:r>
              <a:rPr lang="en-US" sz="2800" dirty="0" smtClean="0">
                <a:latin typeface="Bell MT" panose="02020503060305020303" pitchFamily="18" charset="0"/>
              </a:rPr>
              <a:t>15 applicants applied for 4 open jobs in a company. How many ways can the job be filled if 1 particular applicant must be given a job?      </a:t>
            </a:r>
          </a:p>
          <a:p>
            <a:pPr>
              <a:buFont typeface="Wingdings" pitchFamily="2" charset="2"/>
              <a:buChar char="Ø"/>
            </a:pPr>
            <a:endParaRPr lang="en-US" sz="2800" dirty="0" smtClean="0">
              <a:latin typeface="Bell MT" panose="02020503060305020303" pitchFamily="18" charset="0"/>
            </a:endParaRPr>
          </a:p>
          <a:p>
            <a:pPr>
              <a:buFont typeface="Wingdings" pitchFamily="2" charset="2"/>
              <a:buChar char="Ø"/>
            </a:pPr>
            <a:r>
              <a:rPr lang="en-US" sz="2800" dirty="0" smtClean="0">
                <a:latin typeface="Bell MT" panose="02020503060305020303" pitchFamily="18" charset="0"/>
              </a:rPr>
              <a:t>This is a case of Combination </a:t>
            </a:r>
          </a:p>
        </p:txBody>
      </p:sp>
      <mc:AlternateContent xmlns:mc="http://schemas.openxmlformats.org/markup-compatibility/2006" xmlns:a14="http://schemas.microsoft.com/office/drawing/2010/main">
        <mc:Choice Requires="a14">
          <p:sp>
            <p:nvSpPr>
              <p:cNvPr id="9" name="Content Placeholder 8"/>
              <p:cNvSpPr>
                <a:spLocks noGrp="1"/>
              </p:cNvSpPr>
              <p:nvPr>
                <p:ph sz="quarter" idx="2"/>
              </p:nvPr>
            </p:nvSpPr>
            <p:spPr>
              <a:xfrm>
                <a:off x="4495800" y="1752600"/>
                <a:ext cx="4235301" cy="4572000"/>
              </a:xfrm>
              <a:ln w="12700" cmpd="dbl">
                <a:solidFill>
                  <a:schemeClr val="accent2">
                    <a:lumMod val="75000"/>
                  </a:schemeClr>
                </a:solidFill>
              </a:ln>
            </p:spPr>
            <p:txBody>
              <a:bodyPr>
                <a:normAutofit fontScale="62500" lnSpcReduction="20000"/>
              </a:bodyPr>
              <a:lstStyle/>
              <a:p>
                <a:pPr lvl="0">
                  <a:buClr>
                    <a:srgbClr val="FEB80A"/>
                  </a:buClr>
                  <a:buFont typeface="Wingdings" pitchFamily="2" charset="2"/>
                  <a:buChar char="Ø"/>
                </a:pPr>
                <a:r>
                  <a:rPr lang="en-US" sz="5000" u="sng" dirty="0" smtClean="0">
                    <a:solidFill>
                      <a:prstClr val="black"/>
                    </a:solidFill>
                    <a:latin typeface="Baskerville Old Face" panose="02020602080505020303" pitchFamily="18" charset="0"/>
                  </a:rPr>
                  <a:t>Solution </a:t>
                </a:r>
              </a:p>
              <a:p>
                <a:pPr lvl="0">
                  <a:lnSpc>
                    <a:spcPct val="150000"/>
                  </a:lnSpc>
                  <a:buClr>
                    <a:srgbClr val="FEB80A"/>
                  </a:buClr>
                  <a:buFont typeface="Wingdings" pitchFamily="2" charset="2"/>
                  <a:buChar char="Ø"/>
                </a:pPr>
                <a:r>
                  <a:rPr lang="en-US" sz="5000" dirty="0">
                    <a:solidFill>
                      <a:prstClr val="black"/>
                    </a:solidFill>
                    <a:latin typeface="Baskerville Old Face" panose="02020602080505020303" pitchFamily="18" charset="0"/>
                  </a:rPr>
                  <a:t>Number of ways = </a:t>
                </a:r>
                <a:r>
                  <a:rPr lang="en-US" sz="5000" dirty="0" smtClean="0">
                    <a:solidFill>
                      <a:prstClr val="black"/>
                    </a:solidFill>
                    <a:latin typeface="Baskerville Old Face" panose="02020602080505020303" pitchFamily="18" charset="0"/>
                  </a:rPr>
                  <a:t>       1 * C(14, 3) </a:t>
                </a:r>
                <a:r>
                  <a:rPr lang="en-US" sz="5000" dirty="0">
                    <a:solidFill>
                      <a:prstClr val="black"/>
                    </a:solidFill>
                    <a:latin typeface="Baskerville Old Face" panose="02020602080505020303" pitchFamily="18" charset="0"/>
                  </a:rPr>
                  <a:t>=</a:t>
                </a:r>
              </a:p>
              <a:p>
                <a:pPr lvl="0">
                  <a:lnSpc>
                    <a:spcPct val="150000"/>
                  </a:lnSpc>
                  <a:buClr>
                    <a:srgbClr val="FEB80A"/>
                  </a:buClr>
                  <a:buFont typeface="Wingdings" pitchFamily="2" charset="2"/>
                  <a:buChar char="Ø"/>
                </a:pPr>
                <a14:m>
                  <m:oMath xmlns:m="http://schemas.openxmlformats.org/officeDocument/2006/math">
                    <m:r>
                      <a:rPr lang="en-US" sz="5000" b="0" i="1" smtClean="0">
                        <a:solidFill>
                          <a:prstClr val="black"/>
                        </a:solidFill>
                        <a:latin typeface="Cambria Math"/>
                      </a:rPr>
                      <m:t>1∗</m:t>
                    </m:r>
                    <m:f>
                      <m:fPr>
                        <m:ctrlPr>
                          <a:rPr lang="en-US" sz="5000" i="1">
                            <a:solidFill>
                              <a:prstClr val="black"/>
                            </a:solidFill>
                            <a:latin typeface="Cambria Math"/>
                          </a:rPr>
                        </m:ctrlPr>
                      </m:fPr>
                      <m:num>
                        <m:r>
                          <a:rPr lang="en-US" sz="5000" b="0" i="1" smtClean="0">
                            <a:solidFill>
                              <a:prstClr val="black"/>
                            </a:solidFill>
                            <a:latin typeface="Cambria Math"/>
                          </a:rPr>
                          <m:t>14</m:t>
                        </m:r>
                        <m:r>
                          <a:rPr lang="en-US" sz="5000" i="1">
                            <a:solidFill>
                              <a:prstClr val="black"/>
                            </a:solidFill>
                            <a:latin typeface="Cambria Math"/>
                          </a:rPr>
                          <m:t>!</m:t>
                        </m:r>
                      </m:num>
                      <m:den>
                        <m:d>
                          <m:dPr>
                            <m:ctrlPr>
                              <a:rPr lang="en-US" sz="5000" i="1">
                                <a:solidFill>
                                  <a:prstClr val="black"/>
                                </a:solidFill>
                                <a:latin typeface="Cambria Math"/>
                              </a:rPr>
                            </m:ctrlPr>
                          </m:dPr>
                          <m:e>
                            <m:r>
                              <a:rPr lang="en-US" sz="5000" b="0" i="1" smtClean="0">
                                <a:solidFill>
                                  <a:prstClr val="black"/>
                                </a:solidFill>
                                <a:latin typeface="Cambria Math"/>
                              </a:rPr>
                              <m:t>14</m:t>
                            </m:r>
                            <m:r>
                              <a:rPr lang="en-US" sz="5000" i="1">
                                <a:solidFill>
                                  <a:prstClr val="black"/>
                                </a:solidFill>
                                <a:latin typeface="Cambria Math"/>
                              </a:rPr>
                              <m:t>−</m:t>
                            </m:r>
                            <m:r>
                              <a:rPr lang="en-US" sz="5000" b="0" i="1" smtClean="0">
                                <a:solidFill>
                                  <a:prstClr val="black"/>
                                </a:solidFill>
                                <a:latin typeface="Cambria Math"/>
                              </a:rPr>
                              <m:t>3</m:t>
                            </m:r>
                          </m:e>
                        </m:d>
                        <m:r>
                          <a:rPr lang="en-US" sz="5000" i="1">
                            <a:solidFill>
                              <a:prstClr val="black"/>
                            </a:solidFill>
                            <a:latin typeface="Cambria Math"/>
                          </a:rPr>
                          <m:t>!∗</m:t>
                        </m:r>
                        <m:r>
                          <a:rPr lang="en-US" sz="5000" b="0" i="1" smtClean="0">
                            <a:solidFill>
                              <a:prstClr val="black"/>
                            </a:solidFill>
                            <a:latin typeface="Cambria Math"/>
                          </a:rPr>
                          <m:t>3</m:t>
                        </m:r>
                        <m:r>
                          <a:rPr lang="en-US" sz="5000" i="1">
                            <a:solidFill>
                              <a:prstClr val="black"/>
                            </a:solidFill>
                            <a:latin typeface="Cambria Math"/>
                          </a:rPr>
                          <m:t>!</m:t>
                        </m:r>
                      </m:den>
                    </m:f>
                  </m:oMath>
                </a14:m>
                <a:r>
                  <a:rPr lang="en-US" sz="5000" dirty="0">
                    <a:solidFill>
                      <a:prstClr val="black"/>
                    </a:solidFill>
                    <a:latin typeface="Baskerville Old Face" panose="02020602080505020303" pitchFamily="18" charset="0"/>
                  </a:rPr>
                  <a:t> =</a:t>
                </a:r>
              </a:p>
              <a:p>
                <a:pPr lvl="0">
                  <a:lnSpc>
                    <a:spcPct val="150000"/>
                  </a:lnSpc>
                  <a:buClr>
                    <a:srgbClr val="FEB80A"/>
                  </a:buClr>
                  <a:buFont typeface="Wingdings" pitchFamily="2" charset="2"/>
                  <a:buChar char="Ø"/>
                </a:pPr>
                <a14:m>
                  <m:oMath xmlns:m="http://schemas.openxmlformats.org/officeDocument/2006/math">
                    <m:f>
                      <m:fPr>
                        <m:ctrlPr>
                          <a:rPr lang="en-US" sz="5000" i="1">
                            <a:solidFill>
                              <a:prstClr val="black"/>
                            </a:solidFill>
                            <a:latin typeface="Cambria Math"/>
                          </a:rPr>
                        </m:ctrlPr>
                      </m:fPr>
                      <m:num>
                        <m:r>
                          <a:rPr lang="en-US" sz="5000" b="0" i="1" smtClean="0">
                            <a:solidFill>
                              <a:prstClr val="black"/>
                            </a:solidFill>
                            <a:latin typeface="Cambria Math"/>
                          </a:rPr>
                          <m:t>14</m:t>
                        </m:r>
                        <m:r>
                          <a:rPr lang="en-US" sz="5000" i="1">
                            <a:solidFill>
                              <a:prstClr val="black"/>
                            </a:solidFill>
                            <a:latin typeface="Cambria Math"/>
                          </a:rPr>
                          <m:t>!</m:t>
                        </m:r>
                      </m:num>
                      <m:den>
                        <m:r>
                          <a:rPr lang="en-US" sz="5000" b="0" i="1" smtClean="0">
                            <a:solidFill>
                              <a:prstClr val="black"/>
                            </a:solidFill>
                            <a:latin typeface="Cambria Math"/>
                          </a:rPr>
                          <m:t>11</m:t>
                        </m:r>
                        <m:r>
                          <a:rPr lang="en-US" sz="5000" i="1">
                            <a:solidFill>
                              <a:prstClr val="black"/>
                            </a:solidFill>
                            <a:latin typeface="Cambria Math"/>
                          </a:rPr>
                          <m:t>!∗</m:t>
                        </m:r>
                        <m:r>
                          <a:rPr lang="en-US" sz="5000" b="0" i="1" smtClean="0">
                            <a:solidFill>
                              <a:prstClr val="black"/>
                            </a:solidFill>
                            <a:latin typeface="Cambria Math"/>
                          </a:rPr>
                          <m:t>3</m:t>
                        </m:r>
                        <m:r>
                          <a:rPr lang="en-US" sz="5000" i="1">
                            <a:solidFill>
                              <a:prstClr val="black"/>
                            </a:solidFill>
                            <a:latin typeface="Cambria Math"/>
                          </a:rPr>
                          <m:t>!</m:t>
                        </m:r>
                      </m:den>
                    </m:f>
                  </m:oMath>
                </a14:m>
                <a:r>
                  <a:rPr lang="en-US" sz="5000" dirty="0">
                    <a:solidFill>
                      <a:prstClr val="black"/>
                    </a:solidFill>
                    <a:latin typeface="Baskerville Old Face" panose="02020602080505020303" pitchFamily="18" charset="0"/>
                  </a:rPr>
                  <a:t> =</a:t>
                </a:r>
              </a:p>
              <a:p>
                <a:pPr lvl="0">
                  <a:lnSpc>
                    <a:spcPct val="150000"/>
                  </a:lnSpc>
                  <a:buClr>
                    <a:srgbClr val="FEB80A"/>
                  </a:buClr>
                  <a:buFont typeface="Wingdings" pitchFamily="2" charset="2"/>
                  <a:buChar char="Ø"/>
                </a:pPr>
                <a:r>
                  <a:rPr lang="en-US" sz="5000" dirty="0" smtClean="0">
                    <a:solidFill>
                      <a:prstClr val="black"/>
                    </a:solidFill>
                    <a:latin typeface="Baskerville Old Face" panose="02020602080505020303" pitchFamily="18" charset="0"/>
                  </a:rPr>
                  <a:t>364 </a:t>
                </a:r>
                <a:r>
                  <a:rPr lang="en-US" sz="5000" dirty="0">
                    <a:solidFill>
                      <a:prstClr val="black"/>
                    </a:solidFill>
                    <a:latin typeface="Baskerville Old Face" panose="02020602080505020303" pitchFamily="18" charset="0"/>
                  </a:rPr>
                  <a:t>ways</a:t>
                </a:r>
              </a:p>
              <a:p>
                <a:pPr>
                  <a:buFont typeface="Wingdings" pitchFamily="2" charset="2"/>
                  <a:buChar char="Ø"/>
                </a:pPr>
                <a:endParaRPr lang="en-US" dirty="0" smtClean="0"/>
              </a:p>
              <a:p>
                <a:pPr>
                  <a:buFont typeface="Wingdings" pitchFamily="2" charset="2"/>
                  <a:buChar char="Ø"/>
                </a:pPr>
                <a:endParaRPr lang="en-US" dirty="0"/>
              </a:p>
              <a:p>
                <a:pPr>
                  <a:buFont typeface="Wingdings" pitchFamily="2" charset="2"/>
                  <a:buChar char="Ø"/>
                </a:pPr>
                <a:endParaRPr lang="en-US" dirty="0" smtClean="0"/>
              </a:p>
              <a:p>
                <a:pPr marL="0" indent="0">
                  <a:buNone/>
                </a:pPr>
                <a:endParaRPr lang="en-US" dirty="0" smtClean="0"/>
              </a:p>
              <a:p>
                <a:endParaRPr lang="en-US" dirty="0"/>
              </a:p>
            </p:txBody>
          </p:sp>
        </mc:Choice>
        <mc:Fallback xmlns="">
          <p:sp>
            <p:nvSpPr>
              <p:cNvPr id="9" name="Content Placeholder 8"/>
              <p:cNvSpPr>
                <a:spLocks noGrp="1" noRot="1" noChangeAspect="1" noMove="1" noResize="1" noEditPoints="1" noAdjustHandles="1" noChangeArrowheads="1" noChangeShapeType="1" noTextEdit="1"/>
              </p:cNvSpPr>
              <p:nvPr>
                <p:ph sz="quarter" idx="2"/>
              </p:nvPr>
            </p:nvSpPr>
            <p:spPr>
              <a:xfrm>
                <a:off x="4495800" y="1752600"/>
                <a:ext cx="4235301" cy="4572000"/>
              </a:xfrm>
              <a:blipFill rotWithShape="1">
                <a:blip r:embed="rId3"/>
                <a:stretch>
                  <a:fillRect l="-862" t="-3191" b="-1463"/>
                </a:stretch>
              </a:blipFill>
              <a:ln w="12700" cmpd="dbl">
                <a:solidFill>
                  <a:schemeClr val="accent2">
                    <a:lumMod val="7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188784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fade">
                                      <p:cBhvr>
                                        <p:cTn id="19" dur="1000"/>
                                        <p:tgtEl>
                                          <p:spTgt spid="9">
                                            <p:txEl>
                                              <p:pRg st="2" end="2"/>
                                            </p:txEl>
                                          </p:spTgt>
                                        </p:tgtEl>
                                      </p:cBhvr>
                                    </p:animEffect>
                                    <p:anim calcmode="lin" valueType="num">
                                      <p:cBhvr>
                                        <p:cTn id="20"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animEffect transition="in" filter="fade">
                                      <p:cBhvr>
                                        <p:cTn id="24" dur="1000"/>
                                        <p:tgtEl>
                                          <p:spTgt spid="9">
                                            <p:txEl>
                                              <p:pRg st="3" end="3"/>
                                            </p:txEl>
                                          </p:spTgt>
                                        </p:tgtEl>
                                      </p:cBhvr>
                                    </p:animEffect>
                                    <p:anim calcmode="lin" valueType="num">
                                      <p:cBhvr>
                                        <p:cTn id="2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xEl>
                                              <p:pRg st="4" end="4"/>
                                            </p:txEl>
                                          </p:spTgt>
                                        </p:tgtEl>
                                        <p:attrNameLst>
                                          <p:attrName>style.visibility</p:attrName>
                                        </p:attrNameLst>
                                      </p:cBhvr>
                                      <p:to>
                                        <p:strVal val="visible"/>
                                      </p:to>
                                    </p:set>
                                    <p:animEffect transition="in" filter="fade">
                                      <p:cBhvr>
                                        <p:cTn id="29" dur="1000"/>
                                        <p:tgtEl>
                                          <p:spTgt spid="9">
                                            <p:txEl>
                                              <p:pRg st="4" end="4"/>
                                            </p:txEl>
                                          </p:spTgt>
                                        </p:tgtEl>
                                      </p:cBhvr>
                                    </p:animEffect>
                                    <p:anim calcmode="lin" valueType="num">
                                      <p:cBhvr>
                                        <p:cTn id="30"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smtClean="0"/>
              <a:t>Question 19</a:t>
            </a:r>
            <a:endParaRPr lang="en-US" dirty="0"/>
          </a:p>
        </p:txBody>
      </p:sp>
      <p:sp>
        <p:nvSpPr>
          <p:cNvPr id="3" name="Rectangle 2"/>
          <p:cNvSpPr>
            <a:spLocks noGrp="1"/>
          </p:cNvSpPr>
          <p:nvPr>
            <p:ph sz="quarter" idx="1"/>
          </p:nvPr>
        </p:nvSpPr>
        <p:spPr>
          <a:xfrm>
            <a:off x="609600" y="1752600"/>
            <a:ext cx="3886200" cy="4572000"/>
          </a:xfrm>
          <a:ln w="19050" cmpd="dbl">
            <a:solidFill>
              <a:schemeClr val="accent2">
                <a:lumMod val="75000"/>
              </a:schemeClr>
            </a:solidFill>
          </a:ln>
        </p:spPr>
        <p:txBody>
          <a:bodyPr>
            <a:noAutofit/>
          </a:bodyPr>
          <a:lstStyle/>
          <a:p>
            <a:pPr>
              <a:buFont typeface="Wingdings" pitchFamily="2" charset="2"/>
              <a:buChar char="Ø"/>
            </a:pPr>
            <a:r>
              <a:rPr lang="en-US" sz="2600" dirty="0" smtClean="0">
                <a:latin typeface="Bell MT" panose="02020503060305020303" pitchFamily="18" charset="0"/>
              </a:rPr>
              <a:t>15 applicants applied for 4 open jobs in a company. How many ways can the job be filled if the group of applicants includes 9 men and 6 women and at least 1 woman must be given a job ?      </a:t>
            </a:r>
          </a:p>
          <a:p>
            <a:pPr>
              <a:buFont typeface="Wingdings" pitchFamily="2" charset="2"/>
              <a:buChar char="Ø"/>
            </a:pPr>
            <a:r>
              <a:rPr lang="en-US" sz="2600" dirty="0" smtClean="0">
                <a:latin typeface="Bell MT" panose="02020503060305020303" pitchFamily="18" charset="0"/>
              </a:rPr>
              <a:t>This is a case of Combination </a:t>
            </a:r>
          </a:p>
        </p:txBody>
      </p:sp>
      <mc:AlternateContent xmlns:mc="http://schemas.openxmlformats.org/markup-compatibility/2006" xmlns:a14="http://schemas.microsoft.com/office/drawing/2010/main">
        <mc:Choice Requires="a14">
          <p:sp>
            <p:nvSpPr>
              <p:cNvPr id="9" name="Content Placeholder 8"/>
              <p:cNvSpPr>
                <a:spLocks noGrp="1"/>
              </p:cNvSpPr>
              <p:nvPr>
                <p:ph sz="quarter" idx="2"/>
              </p:nvPr>
            </p:nvSpPr>
            <p:spPr>
              <a:xfrm>
                <a:off x="4495800" y="1752600"/>
                <a:ext cx="4235301" cy="4572000"/>
              </a:xfrm>
              <a:ln w="12700" cmpd="dbl">
                <a:solidFill>
                  <a:schemeClr val="accent2">
                    <a:lumMod val="75000"/>
                  </a:schemeClr>
                </a:solidFill>
              </a:ln>
            </p:spPr>
            <p:txBody>
              <a:bodyPr>
                <a:normAutofit fontScale="47500" lnSpcReduction="20000"/>
              </a:bodyPr>
              <a:lstStyle/>
              <a:p>
                <a:pPr lvl="0">
                  <a:buClr>
                    <a:srgbClr val="FEB80A"/>
                  </a:buClr>
                  <a:buFont typeface="Wingdings" pitchFamily="2" charset="2"/>
                  <a:buChar char="Ø"/>
                </a:pPr>
                <a:r>
                  <a:rPr lang="en-US" sz="3200" u="sng" dirty="0" smtClean="0">
                    <a:solidFill>
                      <a:prstClr val="black"/>
                    </a:solidFill>
                    <a:latin typeface="Baskerville Old Face" panose="02020602080505020303" pitchFamily="18" charset="0"/>
                  </a:rPr>
                  <a:t>Solution </a:t>
                </a:r>
              </a:p>
              <a:p>
                <a:pPr lvl="0">
                  <a:lnSpc>
                    <a:spcPct val="160000"/>
                  </a:lnSpc>
                  <a:buClr>
                    <a:srgbClr val="FEB80A"/>
                  </a:buClr>
                  <a:buFont typeface="Wingdings" pitchFamily="2" charset="2"/>
                  <a:buChar char="Ø"/>
                </a:pPr>
                <a:r>
                  <a:rPr lang="en-US" sz="3200" dirty="0">
                    <a:solidFill>
                      <a:prstClr val="black"/>
                    </a:solidFill>
                    <a:latin typeface="Baskerville Old Face" panose="02020602080505020303" pitchFamily="18" charset="0"/>
                  </a:rPr>
                  <a:t>Number of ways = </a:t>
                </a:r>
                <a:r>
                  <a:rPr lang="en-US" sz="3200" dirty="0" smtClean="0">
                    <a:solidFill>
                      <a:prstClr val="black"/>
                    </a:solidFill>
                    <a:latin typeface="Baskerville Old Face" panose="02020602080505020303" pitchFamily="18" charset="0"/>
                  </a:rPr>
                  <a:t>[C(6, 1) </a:t>
                </a:r>
                <a:r>
                  <a:rPr lang="en-US" sz="3200" dirty="0">
                    <a:solidFill>
                      <a:prstClr val="black"/>
                    </a:solidFill>
                    <a:latin typeface="Baskerville Old Face" panose="02020602080505020303" pitchFamily="18" charset="0"/>
                  </a:rPr>
                  <a:t>* </a:t>
                </a:r>
                <a:r>
                  <a:rPr lang="en-US" sz="3200" dirty="0" smtClean="0">
                    <a:solidFill>
                      <a:prstClr val="black"/>
                    </a:solidFill>
                    <a:latin typeface="Baskerville Old Face" panose="02020602080505020303" pitchFamily="18" charset="0"/>
                  </a:rPr>
                  <a:t>C(9, 3)] + [C(6, 2) </a:t>
                </a:r>
                <a:r>
                  <a:rPr lang="en-US" sz="3200" dirty="0">
                    <a:solidFill>
                      <a:prstClr val="black"/>
                    </a:solidFill>
                    <a:latin typeface="Baskerville Old Face" panose="02020602080505020303" pitchFamily="18" charset="0"/>
                  </a:rPr>
                  <a:t>* </a:t>
                </a:r>
                <a:r>
                  <a:rPr lang="en-US" sz="3200" dirty="0" smtClean="0">
                    <a:solidFill>
                      <a:prstClr val="black"/>
                    </a:solidFill>
                    <a:latin typeface="Baskerville Old Face" panose="02020602080505020303" pitchFamily="18" charset="0"/>
                  </a:rPr>
                  <a:t>C(9, 2)] + [C(6, 3) * C(9, 1)] + [C(6, 4) * C(9, 0)] </a:t>
                </a:r>
                <a:endParaRPr lang="en-US" sz="3200" dirty="0">
                  <a:solidFill>
                    <a:prstClr val="black"/>
                  </a:solidFill>
                  <a:latin typeface="Baskerville Old Face" panose="02020602080505020303" pitchFamily="18" charset="0"/>
                </a:endParaRPr>
              </a:p>
              <a:p>
                <a:pPr lvl="0">
                  <a:lnSpc>
                    <a:spcPct val="160000"/>
                  </a:lnSpc>
                  <a:buClr>
                    <a:srgbClr val="FEB80A"/>
                  </a:buClr>
                  <a:buFont typeface="Wingdings" pitchFamily="2" charset="2"/>
                  <a:buChar char="Ø"/>
                </a:pPr>
                <a14:m>
                  <m:oMath xmlns:m="http://schemas.openxmlformats.org/officeDocument/2006/math">
                    <m:d>
                      <m:dPr>
                        <m:begChr m:val="["/>
                        <m:endChr m:val="]"/>
                        <m:ctrlPr>
                          <a:rPr lang="en-US" sz="3200" b="0" i="1" smtClean="0">
                            <a:solidFill>
                              <a:prstClr val="black"/>
                            </a:solidFill>
                            <a:latin typeface="Cambria Math"/>
                          </a:rPr>
                        </m:ctrlPr>
                      </m:dPr>
                      <m:e>
                        <m:f>
                          <m:fPr>
                            <m:ctrlPr>
                              <a:rPr lang="en-US" sz="3200" i="1">
                                <a:solidFill>
                                  <a:prstClr val="black"/>
                                </a:solidFill>
                                <a:latin typeface="Cambria Math"/>
                              </a:rPr>
                            </m:ctrlPr>
                          </m:fPr>
                          <m:num>
                            <m:r>
                              <a:rPr lang="en-US" sz="3200" b="0" i="1" smtClean="0">
                                <a:solidFill>
                                  <a:prstClr val="black"/>
                                </a:solidFill>
                                <a:latin typeface="Cambria Math"/>
                              </a:rPr>
                              <m:t>6</m:t>
                            </m:r>
                            <m:r>
                              <a:rPr lang="en-US" sz="3200" i="1">
                                <a:solidFill>
                                  <a:prstClr val="black"/>
                                </a:solidFill>
                                <a:latin typeface="Cambria Math"/>
                              </a:rPr>
                              <m:t>!</m:t>
                            </m:r>
                          </m:num>
                          <m:den>
                            <m:d>
                              <m:dPr>
                                <m:ctrlPr>
                                  <a:rPr lang="en-US" sz="3200" i="1">
                                    <a:solidFill>
                                      <a:prstClr val="black"/>
                                    </a:solidFill>
                                    <a:latin typeface="Cambria Math"/>
                                  </a:rPr>
                                </m:ctrlPr>
                              </m:dPr>
                              <m:e>
                                <m:r>
                                  <a:rPr lang="en-US" sz="3200" b="0" i="1" smtClean="0">
                                    <a:solidFill>
                                      <a:prstClr val="black"/>
                                    </a:solidFill>
                                    <a:latin typeface="Cambria Math"/>
                                  </a:rPr>
                                  <m:t>6</m:t>
                                </m:r>
                                <m:r>
                                  <a:rPr lang="en-US" sz="3200" i="1">
                                    <a:solidFill>
                                      <a:prstClr val="black"/>
                                    </a:solidFill>
                                    <a:latin typeface="Cambria Math"/>
                                  </a:rPr>
                                  <m:t>−</m:t>
                                </m:r>
                                <m:r>
                                  <a:rPr lang="en-US" sz="3200" b="0" i="1" smtClean="0">
                                    <a:solidFill>
                                      <a:prstClr val="black"/>
                                    </a:solidFill>
                                    <a:latin typeface="Cambria Math"/>
                                  </a:rPr>
                                  <m:t>1</m:t>
                                </m:r>
                              </m:e>
                            </m:d>
                            <m:r>
                              <a:rPr lang="en-US" sz="3200" i="1">
                                <a:solidFill>
                                  <a:prstClr val="black"/>
                                </a:solidFill>
                                <a:latin typeface="Cambria Math"/>
                              </a:rPr>
                              <m:t>!∗</m:t>
                            </m:r>
                            <m:r>
                              <a:rPr lang="en-US" sz="3200" b="0" i="1" smtClean="0">
                                <a:solidFill>
                                  <a:prstClr val="black"/>
                                </a:solidFill>
                                <a:latin typeface="Cambria Math"/>
                              </a:rPr>
                              <m:t>1</m:t>
                            </m:r>
                            <m:r>
                              <a:rPr lang="en-US" sz="3200" i="1">
                                <a:solidFill>
                                  <a:prstClr val="black"/>
                                </a:solidFill>
                                <a:latin typeface="Cambria Math"/>
                              </a:rPr>
                              <m:t>!</m:t>
                            </m:r>
                          </m:den>
                        </m:f>
                        <m:r>
                          <a:rPr lang="en-US" sz="3200" i="1">
                            <a:solidFill>
                              <a:prstClr val="black"/>
                            </a:solidFill>
                            <a:latin typeface="Cambria Math"/>
                          </a:rPr>
                          <m:t>∗</m:t>
                        </m:r>
                        <m:f>
                          <m:fPr>
                            <m:ctrlPr>
                              <a:rPr lang="en-US" sz="3200" i="1">
                                <a:solidFill>
                                  <a:prstClr val="black"/>
                                </a:solidFill>
                                <a:latin typeface="Cambria Math"/>
                              </a:rPr>
                            </m:ctrlPr>
                          </m:fPr>
                          <m:num>
                            <m:r>
                              <a:rPr lang="en-US" sz="3200" b="0" i="1" smtClean="0">
                                <a:solidFill>
                                  <a:prstClr val="black"/>
                                </a:solidFill>
                                <a:latin typeface="Cambria Math"/>
                              </a:rPr>
                              <m:t>9</m:t>
                            </m:r>
                            <m:r>
                              <a:rPr lang="en-US" sz="3200" i="1">
                                <a:solidFill>
                                  <a:prstClr val="black"/>
                                </a:solidFill>
                                <a:latin typeface="Cambria Math"/>
                              </a:rPr>
                              <m:t>!</m:t>
                            </m:r>
                          </m:num>
                          <m:den>
                            <m:d>
                              <m:dPr>
                                <m:ctrlPr>
                                  <a:rPr lang="en-US" sz="3200" i="1">
                                    <a:solidFill>
                                      <a:prstClr val="black"/>
                                    </a:solidFill>
                                    <a:latin typeface="Cambria Math"/>
                                  </a:rPr>
                                </m:ctrlPr>
                              </m:dPr>
                              <m:e>
                                <m:r>
                                  <a:rPr lang="en-US" sz="3200" b="0" i="1" smtClean="0">
                                    <a:solidFill>
                                      <a:prstClr val="black"/>
                                    </a:solidFill>
                                    <a:latin typeface="Cambria Math"/>
                                  </a:rPr>
                                  <m:t>9</m:t>
                                </m:r>
                                <m:r>
                                  <a:rPr lang="en-US" sz="3200" i="1">
                                    <a:solidFill>
                                      <a:prstClr val="black"/>
                                    </a:solidFill>
                                    <a:latin typeface="Cambria Math"/>
                                  </a:rPr>
                                  <m:t>−</m:t>
                                </m:r>
                                <m:r>
                                  <a:rPr lang="en-US" sz="3200" b="0" i="1" smtClean="0">
                                    <a:solidFill>
                                      <a:prstClr val="black"/>
                                    </a:solidFill>
                                    <a:latin typeface="Cambria Math"/>
                                  </a:rPr>
                                  <m:t>3</m:t>
                                </m:r>
                              </m:e>
                            </m:d>
                            <m:r>
                              <a:rPr lang="en-US" sz="3200" i="1">
                                <a:solidFill>
                                  <a:prstClr val="black"/>
                                </a:solidFill>
                                <a:latin typeface="Cambria Math"/>
                              </a:rPr>
                              <m:t>!∗</m:t>
                            </m:r>
                            <m:r>
                              <a:rPr lang="en-US" sz="3200" b="0" i="1" smtClean="0">
                                <a:solidFill>
                                  <a:prstClr val="black"/>
                                </a:solidFill>
                                <a:latin typeface="Cambria Math"/>
                              </a:rPr>
                              <m:t>3</m:t>
                            </m:r>
                            <m:r>
                              <a:rPr lang="en-US" sz="3200" i="1">
                                <a:solidFill>
                                  <a:prstClr val="black"/>
                                </a:solidFill>
                                <a:latin typeface="Cambria Math"/>
                              </a:rPr>
                              <m:t>!</m:t>
                            </m:r>
                          </m:den>
                        </m:f>
                      </m:e>
                    </m:d>
                    <m:r>
                      <a:rPr lang="en-US" sz="3200" b="0" i="1" smtClean="0">
                        <a:solidFill>
                          <a:prstClr val="black"/>
                        </a:solidFill>
                        <a:latin typeface="Cambria Math"/>
                      </a:rPr>
                      <m:t>+</m:t>
                    </m:r>
                    <m:d>
                      <m:dPr>
                        <m:begChr m:val="["/>
                        <m:endChr m:val="]"/>
                        <m:ctrlPr>
                          <a:rPr lang="en-US" sz="3200" b="0" i="1" smtClean="0">
                            <a:solidFill>
                              <a:prstClr val="black"/>
                            </a:solidFill>
                            <a:latin typeface="Cambria Math"/>
                          </a:rPr>
                        </m:ctrlPr>
                      </m:dPr>
                      <m:e>
                        <m:f>
                          <m:fPr>
                            <m:ctrlPr>
                              <a:rPr lang="en-US" sz="3200" i="1">
                                <a:solidFill>
                                  <a:prstClr val="black"/>
                                </a:solidFill>
                                <a:latin typeface="Cambria Math"/>
                              </a:rPr>
                            </m:ctrlPr>
                          </m:fPr>
                          <m:num>
                            <m:r>
                              <a:rPr lang="en-US" sz="3200" b="0" i="1" smtClean="0">
                                <a:solidFill>
                                  <a:prstClr val="black"/>
                                </a:solidFill>
                                <a:latin typeface="Cambria Math"/>
                              </a:rPr>
                              <m:t>6</m:t>
                            </m:r>
                            <m:r>
                              <a:rPr lang="en-US" sz="3200" i="1">
                                <a:solidFill>
                                  <a:prstClr val="black"/>
                                </a:solidFill>
                                <a:latin typeface="Cambria Math"/>
                              </a:rPr>
                              <m:t>!</m:t>
                            </m:r>
                          </m:num>
                          <m:den>
                            <m:d>
                              <m:dPr>
                                <m:ctrlPr>
                                  <a:rPr lang="en-US" sz="3200" i="1">
                                    <a:solidFill>
                                      <a:prstClr val="black"/>
                                    </a:solidFill>
                                    <a:latin typeface="Cambria Math"/>
                                  </a:rPr>
                                </m:ctrlPr>
                              </m:dPr>
                              <m:e>
                                <m:r>
                                  <a:rPr lang="en-US" sz="3200" b="0" i="1" smtClean="0">
                                    <a:solidFill>
                                      <a:prstClr val="black"/>
                                    </a:solidFill>
                                    <a:latin typeface="Cambria Math"/>
                                  </a:rPr>
                                  <m:t>6</m:t>
                                </m:r>
                                <m:r>
                                  <a:rPr lang="en-US" sz="3200" i="1">
                                    <a:solidFill>
                                      <a:prstClr val="black"/>
                                    </a:solidFill>
                                    <a:latin typeface="Cambria Math"/>
                                  </a:rPr>
                                  <m:t>−</m:t>
                                </m:r>
                                <m:r>
                                  <a:rPr lang="en-US" sz="3200" b="0" i="1" smtClean="0">
                                    <a:solidFill>
                                      <a:prstClr val="black"/>
                                    </a:solidFill>
                                    <a:latin typeface="Cambria Math"/>
                                  </a:rPr>
                                  <m:t>2</m:t>
                                </m:r>
                              </m:e>
                            </m:d>
                            <m:r>
                              <a:rPr lang="en-US" sz="3200" i="1">
                                <a:solidFill>
                                  <a:prstClr val="black"/>
                                </a:solidFill>
                                <a:latin typeface="Cambria Math"/>
                              </a:rPr>
                              <m:t>!∗</m:t>
                            </m:r>
                            <m:r>
                              <a:rPr lang="en-US" sz="3200" b="0" i="1" smtClean="0">
                                <a:solidFill>
                                  <a:prstClr val="black"/>
                                </a:solidFill>
                                <a:latin typeface="Cambria Math"/>
                              </a:rPr>
                              <m:t>2</m:t>
                            </m:r>
                            <m:r>
                              <a:rPr lang="en-US" sz="3200" i="1">
                                <a:solidFill>
                                  <a:prstClr val="black"/>
                                </a:solidFill>
                                <a:latin typeface="Cambria Math"/>
                              </a:rPr>
                              <m:t>!</m:t>
                            </m:r>
                          </m:den>
                        </m:f>
                        <m:r>
                          <a:rPr lang="en-US" sz="3200" i="1">
                            <a:solidFill>
                              <a:prstClr val="black"/>
                            </a:solidFill>
                            <a:latin typeface="Cambria Math"/>
                          </a:rPr>
                          <m:t>∗</m:t>
                        </m:r>
                        <m:f>
                          <m:fPr>
                            <m:ctrlPr>
                              <a:rPr lang="en-US" sz="3200" i="1">
                                <a:solidFill>
                                  <a:prstClr val="black"/>
                                </a:solidFill>
                                <a:latin typeface="Cambria Math"/>
                              </a:rPr>
                            </m:ctrlPr>
                          </m:fPr>
                          <m:num>
                            <m:r>
                              <a:rPr lang="en-US" sz="3200" b="0" i="1" smtClean="0">
                                <a:solidFill>
                                  <a:prstClr val="black"/>
                                </a:solidFill>
                                <a:latin typeface="Cambria Math"/>
                              </a:rPr>
                              <m:t>9</m:t>
                            </m:r>
                            <m:r>
                              <a:rPr lang="en-US" sz="3200" i="1">
                                <a:solidFill>
                                  <a:prstClr val="black"/>
                                </a:solidFill>
                                <a:latin typeface="Cambria Math"/>
                              </a:rPr>
                              <m:t>!</m:t>
                            </m:r>
                          </m:num>
                          <m:den>
                            <m:d>
                              <m:dPr>
                                <m:ctrlPr>
                                  <a:rPr lang="en-US" sz="3200" i="1">
                                    <a:solidFill>
                                      <a:prstClr val="black"/>
                                    </a:solidFill>
                                    <a:latin typeface="Cambria Math"/>
                                  </a:rPr>
                                </m:ctrlPr>
                              </m:dPr>
                              <m:e>
                                <m:r>
                                  <a:rPr lang="en-US" sz="3200" b="0" i="1" smtClean="0">
                                    <a:solidFill>
                                      <a:prstClr val="black"/>
                                    </a:solidFill>
                                    <a:latin typeface="Cambria Math"/>
                                  </a:rPr>
                                  <m:t>9</m:t>
                                </m:r>
                                <m:r>
                                  <a:rPr lang="en-US" sz="3200" i="1">
                                    <a:solidFill>
                                      <a:prstClr val="black"/>
                                    </a:solidFill>
                                    <a:latin typeface="Cambria Math"/>
                                  </a:rPr>
                                  <m:t>−</m:t>
                                </m:r>
                                <m:r>
                                  <a:rPr lang="en-US" sz="3200" b="0" i="1" smtClean="0">
                                    <a:solidFill>
                                      <a:prstClr val="black"/>
                                    </a:solidFill>
                                    <a:latin typeface="Cambria Math"/>
                                  </a:rPr>
                                  <m:t>2</m:t>
                                </m:r>
                              </m:e>
                            </m:d>
                            <m:r>
                              <a:rPr lang="en-US" sz="3200" i="1">
                                <a:solidFill>
                                  <a:prstClr val="black"/>
                                </a:solidFill>
                                <a:latin typeface="Cambria Math"/>
                              </a:rPr>
                              <m:t>!∗</m:t>
                            </m:r>
                            <m:r>
                              <a:rPr lang="en-US" sz="3200" b="0" i="1" smtClean="0">
                                <a:solidFill>
                                  <a:prstClr val="black"/>
                                </a:solidFill>
                                <a:latin typeface="Cambria Math"/>
                              </a:rPr>
                              <m:t>2</m:t>
                            </m:r>
                            <m:r>
                              <a:rPr lang="en-US" sz="3200" i="1">
                                <a:solidFill>
                                  <a:prstClr val="black"/>
                                </a:solidFill>
                                <a:latin typeface="Cambria Math"/>
                              </a:rPr>
                              <m:t>!</m:t>
                            </m:r>
                          </m:den>
                        </m:f>
                      </m:e>
                    </m:d>
                    <m:r>
                      <a:rPr lang="en-US" sz="3200" i="1">
                        <a:solidFill>
                          <a:prstClr val="black"/>
                        </a:solidFill>
                        <a:latin typeface="Cambria Math"/>
                      </a:rPr>
                      <m:t>+</m:t>
                    </m:r>
                    <m:d>
                      <m:dPr>
                        <m:begChr m:val="["/>
                        <m:endChr m:val="]"/>
                        <m:ctrlPr>
                          <a:rPr lang="en-US" sz="3200" b="0" i="1" smtClean="0">
                            <a:solidFill>
                              <a:prstClr val="black"/>
                            </a:solidFill>
                            <a:latin typeface="Cambria Math"/>
                          </a:rPr>
                        </m:ctrlPr>
                      </m:dPr>
                      <m:e>
                        <m:f>
                          <m:fPr>
                            <m:ctrlPr>
                              <a:rPr lang="en-US" sz="3200" i="1">
                                <a:solidFill>
                                  <a:prstClr val="black"/>
                                </a:solidFill>
                                <a:latin typeface="Cambria Math"/>
                              </a:rPr>
                            </m:ctrlPr>
                          </m:fPr>
                          <m:num>
                            <m:r>
                              <a:rPr lang="en-US" sz="3200" b="0" i="1" smtClean="0">
                                <a:solidFill>
                                  <a:prstClr val="black"/>
                                </a:solidFill>
                                <a:latin typeface="Cambria Math"/>
                              </a:rPr>
                              <m:t>6</m:t>
                            </m:r>
                            <m:r>
                              <a:rPr lang="en-US" sz="3200" i="1">
                                <a:solidFill>
                                  <a:prstClr val="black"/>
                                </a:solidFill>
                                <a:latin typeface="Cambria Math"/>
                              </a:rPr>
                              <m:t>!</m:t>
                            </m:r>
                          </m:num>
                          <m:den>
                            <m:d>
                              <m:dPr>
                                <m:ctrlPr>
                                  <a:rPr lang="en-US" sz="3200" i="1">
                                    <a:solidFill>
                                      <a:prstClr val="black"/>
                                    </a:solidFill>
                                    <a:latin typeface="Cambria Math"/>
                                  </a:rPr>
                                </m:ctrlPr>
                              </m:dPr>
                              <m:e>
                                <m:r>
                                  <a:rPr lang="en-US" sz="3200" b="0" i="1" smtClean="0">
                                    <a:solidFill>
                                      <a:prstClr val="black"/>
                                    </a:solidFill>
                                    <a:latin typeface="Cambria Math"/>
                                  </a:rPr>
                                  <m:t>6</m:t>
                                </m:r>
                                <m:r>
                                  <a:rPr lang="en-US" sz="3200" i="1">
                                    <a:solidFill>
                                      <a:prstClr val="black"/>
                                    </a:solidFill>
                                    <a:latin typeface="Cambria Math"/>
                                  </a:rPr>
                                  <m:t>−</m:t>
                                </m:r>
                                <m:r>
                                  <a:rPr lang="en-US" sz="3200" b="0" i="1" smtClean="0">
                                    <a:solidFill>
                                      <a:prstClr val="black"/>
                                    </a:solidFill>
                                    <a:latin typeface="Cambria Math"/>
                                  </a:rPr>
                                  <m:t>3</m:t>
                                </m:r>
                              </m:e>
                            </m:d>
                            <m:r>
                              <a:rPr lang="en-US" sz="3200" i="1">
                                <a:solidFill>
                                  <a:prstClr val="black"/>
                                </a:solidFill>
                                <a:latin typeface="Cambria Math"/>
                              </a:rPr>
                              <m:t>!∗</m:t>
                            </m:r>
                            <m:r>
                              <a:rPr lang="en-US" sz="3200" b="0" i="1" smtClean="0">
                                <a:solidFill>
                                  <a:prstClr val="black"/>
                                </a:solidFill>
                                <a:latin typeface="Cambria Math"/>
                              </a:rPr>
                              <m:t>3</m:t>
                            </m:r>
                            <m:r>
                              <a:rPr lang="en-US" sz="3200" i="1">
                                <a:solidFill>
                                  <a:prstClr val="black"/>
                                </a:solidFill>
                                <a:latin typeface="Cambria Math"/>
                              </a:rPr>
                              <m:t>!</m:t>
                            </m:r>
                          </m:den>
                        </m:f>
                        <m:r>
                          <a:rPr lang="en-US" sz="3200" b="0" i="1" smtClean="0">
                            <a:solidFill>
                              <a:prstClr val="black"/>
                            </a:solidFill>
                            <a:latin typeface="Cambria Math"/>
                          </a:rPr>
                          <m:t>∗</m:t>
                        </m:r>
                        <m:f>
                          <m:fPr>
                            <m:ctrlPr>
                              <a:rPr lang="en-US" sz="3200" i="1">
                                <a:solidFill>
                                  <a:prstClr val="black"/>
                                </a:solidFill>
                                <a:latin typeface="Cambria Math"/>
                              </a:rPr>
                            </m:ctrlPr>
                          </m:fPr>
                          <m:num>
                            <m:r>
                              <a:rPr lang="en-US" sz="3200" i="1">
                                <a:solidFill>
                                  <a:prstClr val="black"/>
                                </a:solidFill>
                                <a:latin typeface="Cambria Math"/>
                              </a:rPr>
                              <m:t>9!</m:t>
                            </m:r>
                          </m:num>
                          <m:den>
                            <m:d>
                              <m:dPr>
                                <m:ctrlPr>
                                  <a:rPr lang="en-US" sz="3200" i="1">
                                    <a:solidFill>
                                      <a:prstClr val="black"/>
                                    </a:solidFill>
                                    <a:latin typeface="Cambria Math"/>
                                  </a:rPr>
                                </m:ctrlPr>
                              </m:dPr>
                              <m:e>
                                <m:r>
                                  <a:rPr lang="en-US" sz="3200" i="1">
                                    <a:solidFill>
                                      <a:prstClr val="black"/>
                                    </a:solidFill>
                                    <a:latin typeface="Cambria Math"/>
                                  </a:rPr>
                                  <m:t>9−</m:t>
                                </m:r>
                                <m:r>
                                  <a:rPr lang="en-US" sz="3200" b="0" i="1" smtClean="0">
                                    <a:solidFill>
                                      <a:prstClr val="black"/>
                                    </a:solidFill>
                                    <a:latin typeface="Cambria Math"/>
                                  </a:rPr>
                                  <m:t>1</m:t>
                                </m:r>
                              </m:e>
                            </m:d>
                            <m:r>
                              <a:rPr lang="en-US" sz="3200" i="1">
                                <a:solidFill>
                                  <a:prstClr val="black"/>
                                </a:solidFill>
                                <a:latin typeface="Cambria Math"/>
                              </a:rPr>
                              <m:t>!∗</m:t>
                            </m:r>
                            <m:r>
                              <a:rPr lang="en-US" sz="3200" b="0" i="1" smtClean="0">
                                <a:solidFill>
                                  <a:prstClr val="black"/>
                                </a:solidFill>
                                <a:latin typeface="Cambria Math"/>
                              </a:rPr>
                              <m:t>1</m:t>
                            </m:r>
                            <m:r>
                              <a:rPr lang="en-US" sz="3200" i="1">
                                <a:solidFill>
                                  <a:prstClr val="black"/>
                                </a:solidFill>
                                <a:latin typeface="Cambria Math"/>
                              </a:rPr>
                              <m:t>!</m:t>
                            </m:r>
                          </m:den>
                        </m:f>
                      </m:e>
                    </m:d>
                    <m:r>
                      <a:rPr lang="en-US" sz="3200" b="0" i="1" smtClean="0">
                        <a:solidFill>
                          <a:prstClr val="black"/>
                        </a:solidFill>
                        <a:latin typeface="Cambria Math"/>
                      </a:rPr>
                      <m:t>+</m:t>
                    </m:r>
                    <m:d>
                      <m:dPr>
                        <m:begChr m:val="["/>
                        <m:endChr m:val="]"/>
                        <m:ctrlPr>
                          <a:rPr lang="en-US" sz="3200" i="1">
                            <a:solidFill>
                              <a:prstClr val="black"/>
                            </a:solidFill>
                            <a:latin typeface="Cambria Math"/>
                          </a:rPr>
                        </m:ctrlPr>
                      </m:dPr>
                      <m:e>
                        <m:f>
                          <m:fPr>
                            <m:ctrlPr>
                              <a:rPr lang="en-US" sz="3200" i="1">
                                <a:solidFill>
                                  <a:prstClr val="black"/>
                                </a:solidFill>
                                <a:latin typeface="Cambria Math"/>
                              </a:rPr>
                            </m:ctrlPr>
                          </m:fPr>
                          <m:num>
                            <m:r>
                              <a:rPr lang="en-US" sz="3200" i="1">
                                <a:solidFill>
                                  <a:prstClr val="black"/>
                                </a:solidFill>
                                <a:latin typeface="Cambria Math"/>
                              </a:rPr>
                              <m:t>6!</m:t>
                            </m:r>
                          </m:num>
                          <m:den>
                            <m:d>
                              <m:dPr>
                                <m:ctrlPr>
                                  <a:rPr lang="en-US" sz="3200" i="1">
                                    <a:solidFill>
                                      <a:prstClr val="black"/>
                                    </a:solidFill>
                                    <a:latin typeface="Cambria Math"/>
                                  </a:rPr>
                                </m:ctrlPr>
                              </m:dPr>
                              <m:e>
                                <m:r>
                                  <a:rPr lang="en-US" sz="3200" i="1">
                                    <a:solidFill>
                                      <a:prstClr val="black"/>
                                    </a:solidFill>
                                    <a:latin typeface="Cambria Math"/>
                                  </a:rPr>
                                  <m:t>6−</m:t>
                                </m:r>
                                <m:r>
                                  <a:rPr lang="en-US" sz="3200" b="0" i="1" smtClean="0">
                                    <a:solidFill>
                                      <a:prstClr val="black"/>
                                    </a:solidFill>
                                    <a:latin typeface="Cambria Math"/>
                                  </a:rPr>
                                  <m:t>4</m:t>
                                </m:r>
                              </m:e>
                            </m:d>
                            <m:r>
                              <a:rPr lang="en-US" sz="3200" i="1">
                                <a:solidFill>
                                  <a:prstClr val="black"/>
                                </a:solidFill>
                                <a:latin typeface="Cambria Math"/>
                              </a:rPr>
                              <m:t>!∗</m:t>
                            </m:r>
                            <m:r>
                              <a:rPr lang="en-US" sz="3200" b="0" i="1" smtClean="0">
                                <a:solidFill>
                                  <a:prstClr val="black"/>
                                </a:solidFill>
                                <a:latin typeface="Cambria Math"/>
                              </a:rPr>
                              <m:t>4</m:t>
                            </m:r>
                            <m:r>
                              <a:rPr lang="en-US" sz="3200" i="1">
                                <a:solidFill>
                                  <a:prstClr val="black"/>
                                </a:solidFill>
                                <a:latin typeface="Cambria Math"/>
                              </a:rPr>
                              <m:t>!</m:t>
                            </m:r>
                          </m:den>
                        </m:f>
                        <m:r>
                          <a:rPr lang="en-US" sz="3200" i="1">
                            <a:solidFill>
                              <a:prstClr val="black"/>
                            </a:solidFill>
                            <a:latin typeface="Cambria Math"/>
                          </a:rPr>
                          <m:t>∗</m:t>
                        </m:r>
                        <m:f>
                          <m:fPr>
                            <m:ctrlPr>
                              <a:rPr lang="en-US" sz="3200" i="1">
                                <a:solidFill>
                                  <a:prstClr val="black"/>
                                </a:solidFill>
                                <a:latin typeface="Cambria Math"/>
                              </a:rPr>
                            </m:ctrlPr>
                          </m:fPr>
                          <m:num>
                            <m:r>
                              <a:rPr lang="en-US" sz="3200" i="1">
                                <a:solidFill>
                                  <a:prstClr val="black"/>
                                </a:solidFill>
                                <a:latin typeface="Cambria Math"/>
                              </a:rPr>
                              <m:t>9!</m:t>
                            </m:r>
                          </m:num>
                          <m:den>
                            <m:d>
                              <m:dPr>
                                <m:ctrlPr>
                                  <a:rPr lang="en-US" sz="3200" i="1">
                                    <a:solidFill>
                                      <a:prstClr val="black"/>
                                    </a:solidFill>
                                    <a:latin typeface="Cambria Math"/>
                                  </a:rPr>
                                </m:ctrlPr>
                              </m:dPr>
                              <m:e>
                                <m:r>
                                  <a:rPr lang="en-US" sz="3200" i="1">
                                    <a:solidFill>
                                      <a:prstClr val="black"/>
                                    </a:solidFill>
                                    <a:latin typeface="Cambria Math"/>
                                  </a:rPr>
                                  <m:t>9−</m:t>
                                </m:r>
                                <m:r>
                                  <a:rPr lang="en-US" sz="3200" b="0" i="1" smtClean="0">
                                    <a:solidFill>
                                      <a:prstClr val="black"/>
                                    </a:solidFill>
                                    <a:latin typeface="Cambria Math"/>
                                  </a:rPr>
                                  <m:t>0</m:t>
                                </m:r>
                              </m:e>
                            </m:d>
                            <m:r>
                              <a:rPr lang="en-US" sz="3200" i="1">
                                <a:solidFill>
                                  <a:prstClr val="black"/>
                                </a:solidFill>
                                <a:latin typeface="Cambria Math"/>
                              </a:rPr>
                              <m:t>!∗</m:t>
                            </m:r>
                            <m:r>
                              <a:rPr lang="en-US" sz="3200" b="0" i="1" smtClean="0">
                                <a:solidFill>
                                  <a:prstClr val="black"/>
                                </a:solidFill>
                                <a:latin typeface="Cambria Math"/>
                              </a:rPr>
                              <m:t>0</m:t>
                            </m:r>
                            <m:r>
                              <a:rPr lang="en-US" sz="3200" i="1">
                                <a:solidFill>
                                  <a:prstClr val="black"/>
                                </a:solidFill>
                                <a:latin typeface="Cambria Math"/>
                              </a:rPr>
                              <m:t>!</m:t>
                            </m:r>
                          </m:den>
                        </m:f>
                      </m:e>
                    </m:d>
                  </m:oMath>
                </a14:m>
                <a:r>
                  <a:rPr lang="en-US" sz="3200" dirty="0" smtClean="0">
                    <a:solidFill>
                      <a:prstClr val="black"/>
                    </a:solidFill>
                    <a:latin typeface="Baskerville Old Face" panose="02020602080505020303" pitchFamily="18" charset="0"/>
                  </a:rPr>
                  <a:t> </a:t>
                </a:r>
                <a:r>
                  <a:rPr lang="en-US" sz="3200" dirty="0">
                    <a:solidFill>
                      <a:prstClr val="black"/>
                    </a:solidFill>
                    <a:latin typeface="Baskerville Old Face" panose="02020602080505020303" pitchFamily="18" charset="0"/>
                  </a:rPr>
                  <a:t>= </a:t>
                </a:r>
              </a:p>
              <a:p>
                <a:pPr lvl="0">
                  <a:lnSpc>
                    <a:spcPct val="160000"/>
                  </a:lnSpc>
                  <a:buClr>
                    <a:srgbClr val="FEB80A"/>
                  </a:buClr>
                  <a:buFont typeface="Wingdings" pitchFamily="2" charset="2"/>
                  <a:buChar char="Ø"/>
                </a:pPr>
                <a14:m>
                  <m:oMath xmlns:m="http://schemas.openxmlformats.org/officeDocument/2006/math">
                    <m:d>
                      <m:dPr>
                        <m:ctrlPr>
                          <a:rPr lang="en-US" sz="3200" b="0" i="1" smtClean="0">
                            <a:solidFill>
                              <a:prstClr val="black"/>
                            </a:solidFill>
                            <a:latin typeface="Cambria Math"/>
                          </a:rPr>
                        </m:ctrlPr>
                      </m:dPr>
                      <m:e>
                        <m:f>
                          <m:fPr>
                            <m:ctrlPr>
                              <a:rPr lang="en-US" sz="3200" i="1">
                                <a:solidFill>
                                  <a:prstClr val="black"/>
                                </a:solidFill>
                                <a:latin typeface="Cambria Math"/>
                              </a:rPr>
                            </m:ctrlPr>
                          </m:fPr>
                          <m:num>
                            <m:r>
                              <a:rPr lang="en-US" sz="3200" b="0" i="1" smtClean="0">
                                <a:solidFill>
                                  <a:prstClr val="black"/>
                                </a:solidFill>
                                <a:latin typeface="Cambria Math"/>
                              </a:rPr>
                              <m:t>6</m:t>
                            </m:r>
                            <m:r>
                              <a:rPr lang="en-US" sz="3200" i="1">
                                <a:solidFill>
                                  <a:prstClr val="black"/>
                                </a:solidFill>
                                <a:latin typeface="Cambria Math"/>
                              </a:rPr>
                              <m:t>!</m:t>
                            </m:r>
                          </m:num>
                          <m:den>
                            <m:r>
                              <a:rPr lang="en-US" sz="3200" b="0" i="1" smtClean="0">
                                <a:solidFill>
                                  <a:prstClr val="black"/>
                                </a:solidFill>
                                <a:latin typeface="Cambria Math"/>
                              </a:rPr>
                              <m:t>5</m:t>
                            </m:r>
                            <m:r>
                              <a:rPr lang="en-US" sz="3200" i="1">
                                <a:solidFill>
                                  <a:prstClr val="black"/>
                                </a:solidFill>
                                <a:latin typeface="Cambria Math"/>
                              </a:rPr>
                              <m:t>!∗</m:t>
                            </m:r>
                            <m:r>
                              <a:rPr lang="en-US" sz="3200" b="0" i="1" smtClean="0">
                                <a:solidFill>
                                  <a:prstClr val="black"/>
                                </a:solidFill>
                                <a:latin typeface="Cambria Math"/>
                              </a:rPr>
                              <m:t>1</m:t>
                            </m:r>
                            <m:r>
                              <a:rPr lang="en-US" sz="3200" i="1">
                                <a:solidFill>
                                  <a:prstClr val="black"/>
                                </a:solidFill>
                                <a:latin typeface="Cambria Math"/>
                              </a:rPr>
                              <m:t>!</m:t>
                            </m:r>
                          </m:den>
                        </m:f>
                        <m:r>
                          <a:rPr lang="en-US" sz="3200" i="1">
                            <a:solidFill>
                              <a:prstClr val="black"/>
                            </a:solidFill>
                            <a:latin typeface="Cambria Math"/>
                          </a:rPr>
                          <m:t>∗</m:t>
                        </m:r>
                        <m:f>
                          <m:fPr>
                            <m:ctrlPr>
                              <a:rPr lang="en-US" sz="3200" i="1">
                                <a:solidFill>
                                  <a:prstClr val="black"/>
                                </a:solidFill>
                                <a:latin typeface="Cambria Math"/>
                              </a:rPr>
                            </m:ctrlPr>
                          </m:fPr>
                          <m:num>
                            <m:r>
                              <a:rPr lang="en-US" sz="3200" b="0" i="1" smtClean="0">
                                <a:solidFill>
                                  <a:prstClr val="black"/>
                                </a:solidFill>
                                <a:latin typeface="Cambria Math"/>
                              </a:rPr>
                              <m:t>9</m:t>
                            </m:r>
                            <m:r>
                              <a:rPr lang="en-US" sz="3200" i="1">
                                <a:solidFill>
                                  <a:prstClr val="black"/>
                                </a:solidFill>
                                <a:latin typeface="Cambria Math"/>
                              </a:rPr>
                              <m:t>!</m:t>
                            </m:r>
                          </m:num>
                          <m:den>
                            <m:r>
                              <a:rPr lang="en-US" sz="3200" b="0" i="1" smtClean="0">
                                <a:solidFill>
                                  <a:prstClr val="black"/>
                                </a:solidFill>
                                <a:latin typeface="Cambria Math"/>
                              </a:rPr>
                              <m:t>6</m:t>
                            </m:r>
                            <m:r>
                              <a:rPr lang="en-US" sz="3200" i="1">
                                <a:solidFill>
                                  <a:prstClr val="black"/>
                                </a:solidFill>
                                <a:latin typeface="Cambria Math"/>
                              </a:rPr>
                              <m:t>!∗</m:t>
                            </m:r>
                            <m:r>
                              <a:rPr lang="en-US" sz="3200" b="0" i="1" smtClean="0">
                                <a:solidFill>
                                  <a:prstClr val="black"/>
                                </a:solidFill>
                                <a:latin typeface="Cambria Math"/>
                              </a:rPr>
                              <m:t>3</m:t>
                            </m:r>
                            <m:r>
                              <a:rPr lang="en-US" sz="3200" i="1">
                                <a:solidFill>
                                  <a:prstClr val="black"/>
                                </a:solidFill>
                                <a:latin typeface="Cambria Math"/>
                              </a:rPr>
                              <m:t>!</m:t>
                            </m:r>
                          </m:den>
                        </m:f>
                      </m:e>
                    </m:d>
                    <m:r>
                      <a:rPr lang="en-US" sz="3200" b="0" i="1" smtClean="0">
                        <a:solidFill>
                          <a:prstClr val="black"/>
                        </a:solidFill>
                        <a:latin typeface="Cambria Math"/>
                      </a:rPr>
                      <m:t>+</m:t>
                    </m:r>
                    <m:d>
                      <m:dPr>
                        <m:ctrlPr>
                          <a:rPr lang="en-US" sz="3200" b="0" i="1" smtClean="0">
                            <a:solidFill>
                              <a:prstClr val="black"/>
                            </a:solidFill>
                            <a:latin typeface="Cambria Math"/>
                          </a:rPr>
                        </m:ctrlPr>
                      </m:dPr>
                      <m:e>
                        <m:f>
                          <m:fPr>
                            <m:ctrlPr>
                              <a:rPr lang="en-US" sz="3200" i="1">
                                <a:solidFill>
                                  <a:prstClr val="black"/>
                                </a:solidFill>
                                <a:latin typeface="Cambria Math"/>
                              </a:rPr>
                            </m:ctrlPr>
                          </m:fPr>
                          <m:num>
                            <m:r>
                              <a:rPr lang="en-US" sz="3200" b="0" i="1" smtClean="0">
                                <a:solidFill>
                                  <a:prstClr val="black"/>
                                </a:solidFill>
                                <a:latin typeface="Cambria Math"/>
                              </a:rPr>
                              <m:t>6</m:t>
                            </m:r>
                            <m:r>
                              <a:rPr lang="en-US" sz="3200" i="1">
                                <a:solidFill>
                                  <a:prstClr val="black"/>
                                </a:solidFill>
                                <a:latin typeface="Cambria Math"/>
                              </a:rPr>
                              <m:t>!</m:t>
                            </m:r>
                          </m:num>
                          <m:den>
                            <m:r>
                              <a:rPr lang="en-US" sz="3200" i="1">
                                <a:solidFill>
                                  <a:prstClr val="black"/>
                                </a:solidFill>
                                <a:latin typeface="Cambria Math"/>
                              </a:rPr>
                              <m:t>4!∗</m:t>
                            </m:r>
                            <m:r>
                              <a:rPr lang="en-US" sz="3200" b="0" i="1" smtClean="0">
                                <a:solidFill>
                                  <a:prstClr val="black"/>
                                </a:solidFill>
                                <a:latin typeface="Cambria Math"/>
                              </a:rPr>
                              <m:t>2</m:t>
                            </m:r>
                            <m:r>
                              <a:rPr lang="en-US" sz="3200" i="1">
                                <a:solidFill>
                                  <a:prstClr val="black"/>
                                </a:solidFill>
                                <a:latin typeface="Cambria Math"/>
                              </a:rPr>
                              <m:t>!</m:t>
                            </m:r>
                          </m:den>
                        </m:f>
                        <m:r>
                          <a:rPr lang="en-US" sz="3200" i="1">
                            <a:solidFill>
                              <a:prstClr val="black"/>
                            </a:solidFill>
                            <a:latin typeface="Cambria Math"/>
                          </a:rPr>
                          <m:t>∗</m:t>
                        </m:r>
                        <m:f>
                          <m:fPr>
                            <m:ctrlPr>
                              <a:rPr lang="en-US" sz="3200" i="1">
                                <a:solidFill>
                                  <a:prstClr val="black"/>
                                </a:solidFill>
                                <a:latin typeface="Cambria Math"/>
                              </a:rPr>
                            </m:ctrlPr>
                          </m:fPr>
                          <m:num>
                            <m:r>
                              <a:rPr lang="en-US" sz="3200" b="0" i="1" smtClean="0">
                                <a:solidFill>
                                  <a:prstClr val="black"/>
                                </a:solidFill>
                                <a:latin typeface="Cambria Math"/>
                              </a:rPr>
                              <m:t>9</m:t>
                            </m:r>
                            <m:r>
                              <a:rPr lang="en-US" sz="3200" i="1">
                                <a:solidFill>
                                  <a:prstClr val="black"/>
                                </a:solidFill>
                                <a:latin typeface="Cambria Math"/>
                              </a:rPr>
                              <m:t>!</m:t>
                            </m:r>
                          </m:num>
                          <m:den>
                            <m:r>
                              <a:rPr lang="en-US" sz="3200" b="0" i="1" smtClean="0">
                                <a:solidFill>
                                  <a:prstClr val="black"/>
                                </a:solidFill>
                                <a:latin typeface="Cambria Math"/>
                              </a:rPr>
                              <m:t>7</m:t>
                            </m:r>
                            <m:r>
                              <a:rPr lang="en-US" sz="3200" i="1">
                                <a:solidFill>
                                  <a:prstClr val="black"/>
                                </a:solidFill>
                                <a:latin typeface="Cambria Math"/>
                              </a:rPr>
                              <m:t>!∗</m:t>
                            </m:r>
                            <m:r>
                              <a:rPr lang="en-US" sz="3200" b="0" i="1" smtClean="0">
                                <a:solidFill>
                                  <a:prstClr val="black"/>
                                </a:solidFill>
                                <a:latin typeface="Cambria Math"/>
                              </a:rPr>
                              <m:t>2</m:t>
                            </m:r>
                            <m:r>
                              <a:rPr lang="en-US" sz="3200" i="1">
                                <a:solidFill>
                                  <a:prstClr val="black"/>
                                </a:solidFill>
                                <a:latin typeface="Cambria Math"/>
                              </a:rPr>
                              <m:t>!</m:t>
                            </m:r>
                          </m:den>
                        </m:f>
                      </m:e>
                    </m:d>
                    <m:r>
                      <a:rPr lang="en-US" sz="3200" i="1">
                        <a:solidFill>
                          <a:prstClr val="black"/>
                        </a:solidFill>
                        <a:latin typeface="Cambria Math"/>
                      </a:rPr>
                      <m:t>+</m:t>
                    </m:r>
                    <m:d>
                      <m:dPr>
                        <m:ctrlPr>
                          <a:rPr lang="en-US" sz="3200" i="1">
                            <a:solidFill>
                              <a:prstClr val="black"/>
                            </a:solidFill>
                            <a:latin typeface="Cambria Math"/>
                          </a:rPr>
                        </m:ctrlPr>
                      </m:dPr>
                      <m:e>
                        <m:f>
                          <m:fPr>
                            <m:ctrlPr>
                              <a:rPr lang="en-US" sz="3200" i="1">
                                <a:solidFill>
                                  <a:prstClr val="black"/>
                                </a:solidFill>
                                <a:latin typeface="Cambria Math"/>
                              </a:rPr>
                            </m:ctrlPr>
                          </m:fPr>
                          <m:num>
                            <m:r>
                              <a:rPr lang="en-US" sz="3200" i="1">
                                <a:solidFill>
                                  <a:prstClr val="black"/>
                                </a:solidFill>
                                <a:latin typeface="Cambria Math"/>
                              </a:rPr>
                              <m:t>6!</m:t>
                            </m:r>
                          </m:num>
                          <m:den>
                            <m:r>
                              <a:rPr lang="en-US" sz="3200" b="0" i="1" smtClean="0">
                                <a:solidFill>
                                  <a:prstClr val="black"/>
                                </a:solidFill>
                                <a:latin typeface="Cambria Math"/>
                              </a:rPr>
                              <m:t>3</m:t>
                            </m:r>
                            <m:r>
                              <a:rPr lang="en-US" sz="3200" i="1">
                                <a:solidFill>
                                  <a:prstClr val="black"/>
                                </a:solidFill>
                                <a:latin typeface="Cambria Math"/>
                              </a:rPr>
                              <m:t>!∗</m:t>
                            </m:r>
                            <m:r>
                              <a:rPr lang="en-US" sz="3200" b="0" i="1" smtClean="0">
                                <a:solidFill>
                                  <a:prstClr val="black"/>
                                </a:solidFill>
                                <a:latin typeface="Cambria Math"/>
                              </a:rPr>
                              <m:t>3</m:t>
                            </m:r>
                            <m:r>
                              <a:rPr lang="en-US" sz="3200" i="1">
                                <a:solidFill>
                                  <a:prstClr val="black"/>
                                </a:solidFill>
                                <a:latin typeface="Cambria Math"/>
                              </a:rPr>
                              <m:t>!</m:t>
                            </m:r>
                          </m:den>
                        </m:f>
                        <m:r>
                          <a:rPr lang="en-US" sz="3200" i="1">
                            <a:solidFill>
                              <a:prstClr val="black"/>
                            </a:solidFill>
                            <a:latin typeface="Cambria Math"/>
                          </a:rPr>
                          <m:t>∗</m:t>
                        </m:r>
                        <m:f>
                          <m:fPr>
                            <m:ctrlPr>
                              <a:rPr lang="en-US" sz="3200" i="1">
                                <a:solidFill>
                                  <a:prstClr val="black"/>
                                </a:solidFill>
                                <a:latin typeface="Cambria Math"/>
                              </a:rPr>
                            </m:ctrlPr>
                          </m:fPr>
                          <m:num>
                            <m:r>
                              <a:rPr lang="en-US" sz="3200" i="1">
                                <a:solidFill>
                                  <a:prstClr val="black"/>
                                </a:solidFill>
                                <a:latin typeface="Cambria Math"/>
                              </a:rPr>
                              <m:t>9!</m:t>
                            </m:r>
                          </m:num>
                          <m:den>
                            <m:r>
                              <a:rPr lang="en-US" sz="3200" b="0" i="1" smtClean="0">
                                <a:solidFill>
                                  <a:prstClr val="black"/>
                                </a:solidFill>
                                <a:latin typeface="Cambria Math"/>
                              </a:rPr>
                              <m:t>7</m:t>
                            </m:r>
                            <m:r>
                              <a:rPr lang="en-US" sz="3200" i="1">
                                <a:solidFill>
                                  <a:prstClr val="black"/>
                                </a:solidFill>
                                <a:latin typeface="Cambria Math"/>
                              </a:rPr>
                              <m:t>!∗2!</m:t>
                            </m:r>
                          </m:den>
                        </m:f>
                      </m:e>
                    </m:d>
                    <m:r>
                      <a:rPr lang="en-US" sz="3200" b="0" i="1" smtClean="0">
                        <a:solidFill>
                          <a:prstClr val="black"/>
                        </a:solidFill>
                        <a:latin typeface="Cambria Math"/>
                      </a:rPr>
                      <m:t>+</m:t>
                    </m:r>
                    <m:d>
                      <m:dPr>
                        <m:ctrlPr>
                          <a:rPr lang="en-US" sz="3200" i="1">
                            <a:solidFill>
                              <a:prstClr val="black"/>
                            </a:solidFill>
                            <a:latin typeface="Cambria Math"/>
                          </a:rPr>
                        </m:ctrlPr>
                      </m:dPr>
                      <m:e>
                        <m:f>
                          <m:fPr>
                            <m:ctrlPr>
                              <a:rPr lang="en-US" sz="3200" i="1">
                                <a:solidFill>
                                  <a:prstClr val="black"/>
                                </a:solidFill>
                                <a:latin typeface="Cambria Math"/>
                              </a:rPr>
                            </m:ctrlPr>
                          </m:fPr>
                          <m:num>
                            <m:r>
                              <a:rPr lang="en-US" sz="3200" i="1">
                                <a:solidFill>
                                  <a:prstClr val="black"/>
                                </a:solidFill>
                                <a:latin typeface="Cambria Math"/>
                              </a:rPr>
                              <m:t>6!</m:t>
                            </m:r>
                          </m:num>
                          <m:den>
                            <m:r>
                              <a:rPr lang="en-US" sz="3200" b="0" i="1" smtClean="0">
                                <a:solidFill>
                                  <a:prstClr val="black"/>
                                </a:solidFill>
                                <a:latin typeface="Cambria Math"/>
                              </a:rPr>
                              <m:t>2</m:t>
                            </m:r>
                            <m:r>
                              <a:rPr lang="en-US" sz="3200" i="1">
                                <a:solidFill>
                                  <a:prstClr val="black"/>
                                </a:solidFill>
                                <a:latin typeface="Cambria Math"/>
                              </a:rPr>
                              <m:t>!∗</m:t>
                            </m:r>
                            <m:r>
                              <a:rPr lang="en-US" sz="3200" b="0" i="1" smtClean="0">
                                <a:solidFill>
                                  <a:prstClr val="black"/>
                                </a:solidFill>
                                <a:latin typeface="Cambria Math"/>
                              </a:rPr>
                              <m:t>4</m:t>
                            </m:r>
                            <m:r>
                              <a:rPr lang="en-US" sz="3200" i="1">
                                <a:solidFill>
                                  <a:prstClr val="black"/>
                                </a:solidFill>
                                <a:latin typeface="Cambria Math"/>
                              </a:rPr>
                              <m:t>!</m:t>
                            </m:r>
                          </m:den>
                        </m:f>
                        <m:r>
                          <a:rPr lang="en-US" sz="3200" i="1">
                            <a:solidFill>
                              <a:prstClr val="black"/>
                            </a:solidFill>
                            <a:latin typeface="Cambria Math"/>
                          </a:rPr>
                          <m:t>∗</m:t>
                        </m:r>
                        <m:f>
                          <m:fPr>
                            <m:ctrlPr>
                              <a:rPr lang="en-US" sz="3200" i="1">
                                <a:solidFill>
                                  <a:prstClr val="black"/>
                                </a:solidFill>
                                <a:latin typeface="Cambria Math"/>
                              </a:rPr>
                            </m:ctrlPr>
                          </m:fPr>
                          <m:num>
                            <m:r>
                              <a:rPr lang="en-US" sz="3200" i="1">
                                <a:solidFill>
                                  <a:prstClr val="black"/>
                                </a:solidFill>
                                <a:latin typeface="Cambria Math"/>
                              </a:rPr>
                              <m:t>9!</m:t>
                            </m:r>
                          </m:num>
                          <m:den>
                            <m:r>
                              <a:rPr lang="en-US" sz="3200" b="0" i="1" smtClean="0">
                                <a:solidFill>
                                  <a:prstClr val="black"/>
                                </a:solidFill>
                                <a:latin typeface="Cambria Math"/>
                              </a:rPr>
                              <m:t>9</m:t>
                            </m:r>
                            <m:r>
                              <a:rPr lang="en-US" sz="3200" i="1">
                                <a:solidFill>
                                  <a:prstClr val="black"/>
                                </a:solidFill>
                                <a:latin typeface="Cambria Math"/>
                              </a:rPr>
                              <m:t>!∗</m:t>
                            </m:r>
                            <m:r>
                              <a:rPr lang="en-US" sz="3200" b="0" i="1" smtClean="0">
                                <a:solidFill>
                                  <a:prstClr val="black"/>
                                </a:solidFill>
                                <a:latin typeface="Cambria Math"/>
                              </a:rPr>
                              <m:t>0</m:t>
                            </m:r>
                            <m:r>
                              <a:rPr lang="en-US" sz="3200" i="1">
                                <a:solidFill>
                                  <a:prstClr val="black"/>
                                </a:solidFill>
                                <a:latin typeface="Cambria Math"/>
                              </a:rPr>
                              <m:t>!</m:t>
                            </m:r>
                          </m:den>
                        </m:f>
                      </m:e>
                    </m:d>
                  </m:oMath>
                </a14:m>
                <a:r>
                  <a:rPr lang="en-US" sz="3200" dirty="0" smtClean="0">
                    <a:solidFill>
                      <a:prstClr val="black"/>
                    </a:solidFill>
                    <a:latin typeface="Baskerville Old Face" panose="02020602080505020303" pitchFamily="18" charset="0"/>
                  </a:rPr>
                  <a:t> =</a:t>
                </a:r>
              </a:p>
              <a:p>
                <a:pPr lvl="0">
                  <a:lnSpc>
                    <a:spcPct val="160000"/>
                  </a:lnSpc>
                  <a:buClr>
                    <a:srgbClr val="FEB80A"/>
                  </a:buClr>
                  <a:buFont typeface="Wingdings" pitchFamily="2" charset="2"/>
                  <a:buChar char="Ø"/>
                </a:pPr>
                <a:r>
                  <a:rPr lang="en-US" sz="3200" dirty="0" smtClean="0">
                    <a:solidFill>
                      <a:prstClr val="black"/>
                    </a:solidFill>
                    <a:latin typeface="Baskerville Old Face" panose="02020602080505020303" pitchFamily="18" charset="0"/>
                  </a:rPr>
                  <a:t>(6 * 84) + (15 * 36) + (20 * 9) + (15 * 1)</a:t>
                </a:r>
                <a:endParaRPr lang="en-US" sz="3200" dirty="0">
                  <a:solidFill>
                    <a:prstClr val="black"/>
                  </a:solidFill>
                  <a:latin typeface="Baskerville Old Face" panose="02020602080505020303" pitchFamily="18" charset="0"/>
                </a:endParaRPr>
              </a:p>
              <a:p>
                <a:pPr lvl="0">
                  <a:lnSpc>
                    <a:spcPct val="160000"/>
                  </a:lnSpc>
                  <a:buClr>
                    <a:srgbClr val="FEB80A"/>
                  </a:buClr>
                  <a:buFont typeface="Wingdings" pitchFamily="2" charset="2"/>
                  <a:buChar char="Ø"/>
                </a:pPr>
                <a:r>
                  <a:rPr lang="en-US" sz="3200" dirty="0" smtClean="0">
                    <a:solidFill>
                      <a:prstClr val="black"/>
                    </a:solidFill>
                    <a:latin typeface="Baskerville Old Face" panose="02020602080505020303" pitchFamily="18" charset="0"/>
                  </a:rPr>
                  <a:t>504 + 540 + 180 + 15 </a:t>
                </a:r>
                <a:r>
                  <a:rPr lang="en-US" sz="3200" dirty="0">
                    <a:solidFill>
                      <a:prstClr val="black"/>
                    </a:solidFill>
                    <a:latin typeface="Baskerville Old Face" panose="02020602080505020303" pitchFamily="18" charset="0"/>
                  </a:rPr>
                  <a:t>= </a:t>
                </a:r>
              </a:p>
              <a:p>
                <a:pPr lvl="0">
                  <a:lnSpc>
                    <a:spcPct val="160000"/>
                  </a:lnSpc>
                  <a:buClr>
                    <a:srgbClr val="FEB80A"/>
                  </a:buClr>
                  <a:buFont typeface="Wingdings" pitchFamily="2" charset="2"/>
                  <a:buChar char="Ø"/>
                </a:pPr>
                <a:r>
                  <a:rPr lang="en-US" sz="3200" dirty="0" smtClean="0">
                    <a:solidFill>
                      <a:prstClr val="black"/>
                    </a:solidFill>
                    <a:latin typeface="Baskerville Old Face" panose="02020602080505020303" pitchFamily="18" charset="0"/>
                  </a:rPr>
                  <a:t>1239 </a:t>
                </a:r>
                <a:r>
                  <a:rPr lang="en-US" sz="3200" dirty="0">
                    <a:solidFill>
                      <a:prstClr val="black"/>
                    </a:solidFill>
                    <a:latin typeface="Baskerville Old Face" panose="02020602080505020303" pitchFamily="18" charset="0"/>
                  </a:rPr>
                  <a:t>ways</a:t>
                </a:r>
              </a:p>
              <a:p>
                <a:pPr>
                  <a:buFont typeface="Wingdings" pitchFamily="2" charset="2"/>
                  <a:buChar char="Ø"/>
                </a:pPr>
                <a:endParaRPr lang="en-US" dirty="0" smtClean="0"/>
              </a:p>
              <a:p>
                <a:pPr>
                  <a:buFont typeface="Wingdings" pitchFamily="2" charset="2"/>
                  <a:buChar char="Ø"/>
                </a:pPr>
                <a:endParaRPr lang="en-US" dirty="0"/>
              </a:p>
              <a:p>
                <a:pPr>
                  <a:buFont typeface="Wingdings" pitchFamily="2" charset="2"/>
                  <a:buChar char="Ø"/>
                </a:pPr>
                <a:endParaRPr lang="en-US" dirty="0" smtClean="0"/>
              </a:p>
              <a:p>
                <a:pPr marL="0" indent="0">
                  <a:buNone/>
                </a:pPr>
                <a:endParaRPr lang="en-US" dirty="0" smtClean="0"/>
              </a:p>
              <a:p>
                <a:endParaRPr lang="en-US" dirty="0"/>
              </a:p>
            </p:txBody>
          </p:sp>
        </mc:Choice>
        <mc:Fallback xmlns="">
          <p:sp>
            <p:nvSpPr>
              <p:cNvPr id="9" name="Content Placeholder 8"/>
              <p:cNvSpPr>
                <a:spLocks noGrp="1" noRot="1" noChangeAspect="1" noMove="1" noResize="1" noEditPoints="1" noAdjustHandles="1" noChangeArrowheads="1" noChangeShapeType="1" noTextEdit="1"/>
              </p:cNvSpPr>
              <p:nvPr>
                <p:ph sz="quarter" idx="2"/>
              </p:nvPr>
            </p:nvSpPr>
            <p:spPr>
              <a:xfrm>
                <a:off x="4495800" y="1752600"/>
                <a:ext cx="4235301" cy="4572000"/>
              </a:xfrm>
              <a:blipFill rotWithShape="1">
                <a:blip r:embed="rId3"/>
                <a:stretch>
                  <a:fillRect t="-931" r="-144"/>
                </a:stretch>
              </a:blipFill>
              <a:ln w="12700" cmpd="dbl">
                <a:solidFill>
                  <a:schemeClr val="accent2">
                    <a:lumMod val="7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1967591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fade">
                                      <p:cBhvr>
                                        <p:cTn id="19" dur="1000"/>
                                        <p:tgtEl>
                                          <p:spTgt spid="9">
                                            <p:txEl>
                                              <p:pRg st="2" end="2"/>
                                            </p:txEl>
                                          </p:spTgt>
                                        </p:tgtEl>
                                      </p:cBhvr>
                                    </p:animEffect>
                                    <p:anim calcmode="lin" valueType="num">
                                      <p:cBhvr>
                                        <p:cTn id="20"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animEffect transition="in" filter="fade">
                                      <p:cBhvr>
                                        <p:cTn id="24" dur="1000"/>
                                        <p:tgtEl>
                                          <p:spTgt spid="9">
                                            <p:txEl>
                                              <p:pRg st="3" end="3"/>
                                            </p:txEl>
                                          </p:spTgt>
                                        </p:tgtEl>
                                      </p:cBhvr>
                                    </p:animEffect>
                                    <p:anim calcmode="lin" valueType="num">
                                      <p:cBhvr>
                                        <p:cTn id="2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xEl>
                                              <p:pRg st="4" end="4"/>
                                            </p:txEl>
                                          </p:spTgt>
                                        </p:tgtEl>
                                        <p:attrNameLst>
                                          <p:attrName>style.visibility</p:attrName>
                                        </p:attrNameLst>
                                      </p:cBhvr>
                                      <p:to>
                                        <p:strVal val="visible"/>
                                      </p:to>
                                    </p:set>
                                    <p:animEffect transition="in" filter="fade">
                                      <p:cBhvr>
                                        <p:cTn id="29" dur="1000"/>
                                        <p:tgtEl>
                                          <p:spTgt spid="9">
                                            <p:txEl>
                                              <p:pRg st="4" end="4"/>
                                            </p:txEl>
                                          </p:spTgt>
                                        </p:tgtEl>
                                      </p:cBhvr>
                                    </p:animEffect>
                                    <p:anim calcmode="lin" valueType="num">
                                      <p:cBhvr>
                                        <p:cTn id="30"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9">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9">
                                            <p:txEl>
                                              <p:pRg st="5" end="5"/>
                                            </p:txEl>
                                          </p:spTgt>
                                        </p:tgtEl>
                                        <p:attrNameLst>
                                          <p:attrName>style.visibility</p:attrName>
                                        </p:attrNameLst>
                                      </p:cBhvr>
                                      <p:to>
                                        <p:strVal val="visible"/>
                                      </p:to>
                                    </p:set>
                                    <p:animEffect transition="in" filter="fade">
                                      <p:cBhvr>
                                        <p:cTn id="34" dur="1000"/>
                                        <p:tgtEl>
                                          <p:spTgt spid="9">
                                            <p:txEl>
                                              <p:pRg st="5" end="5"/>
                                            </p:txEl>
                                          </p:spTgt>
                                        </p:tgtEl>
                                      </p:cBhvr>
                                    </p:animEffect>
                                    <p:anim calcmode="lin" valueType="num">
                                      <p:cBhvr>
                                        <p:cTn id="35"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9">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9">
                                            <p:txEl>
                                              <p:pRg st="6" end="6"/>
                                            </p:txEl>
                                          </p:spTgt>
                                        </p:tgtEl>
                                        <p:attrNameLst>
                                          <p:attrName>style.visibility</p:attrName>
                                        </p:attrNameLst>
                                      </p:cBhvr>
                                      <p:to>
                                        <p:strVal val="visible"/>
                                      </p:to>
                                    </p:set>
                                    <p:animEffect transition="in" filter="fade">
                                      <p:cBhvr>
                                        <p:cTn id="39" dur="1000"/>
                                        <p:tgtEl>
                                          <p:spTgt spid="9">
                                            <p:txEl>
                                              <p:pRg st="6" end="6"/>
                                            </p:txEl>
                                          </p:spTgt>
                                        </p:tgtEl>
                                      </p:cBhvr>
                                    </p:animEffect>
                                    <p:anim calcmode="lin" valueType="num">
                                      <p:cBhvr>
                                        <p:cTn id="40"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9">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smtClean="0"/>
              <a:t>Question 20</a:t>
            </a:r>
            <a:endParaRPr lang="en-US" dirty="0"/>
          </a:p>
        </p:txBody>
      </p:sp>
      <p:sp>
        <p:nvSpPr>
          <p:cNvPr id="3" name="Rectangle 2"/>
          <p:cNvSpPr>
            <a:spLocks noGrp="1"/>
          </p:cNvSpPr>
          <p:nvPr>
            <p:ph sz="quarter" idx="1"/>
          </p:nvPr>
        </p:nvSpPr>
        <p:spPr>
          <a:xfrm>
            <a:off x="609600" y="1752600"/>
            <a:ext cx="3886200" cy="4572000"/>
          </a:xfrm>
          <a:ln w="19050" cmpd="dbl">
            <a:solidFill>
              <a:schemeClr val="accent2">
                <a:lumMod val="75000"/>
              </a:schemeClr>
            </a:solidFill>
          </a:ln>
        </p:spPr>
        <p:txBody>
          <a:bodyPr>
            <a:noAutofit/>
          </a:bodyPr>
          <a:lstStyle/>
          <a:p>
            <a:pPr>
              <a:buFont typeface="Wingdings" pitchFamily="2" charset="2"/>
              <a:buChar char="Ø"/>
            </a:pPr>
            <a:r>
              <a:rPr lang="en-US" sz="2400" dirty="0" smtClean="0">
                <a:latin typeface="Bell MT" panose="02020503060305020303" pitchFamily="18" charset="0"/>
              </a:rPr>
              <a:t>A state Motor Vehicle Department requires learners to pass a written test. The test consists of 20 true-or-false questions. At least 18 must be answered correctly to qualify for a permit. In how ways can a learner qualify for a permit?  </a:t>
            </a:r>
          </a:p>
          <a:p>
            <a:pPr>
              <a:buFont typeface="Wingdings" pitchFamily="2" charset="2"/>
              <a:buChar char="Ø"/>
            </a:pPr>
            <a:r>
              <a:rPr lang="en-US" sz="2400" dirty="0" smtClean="0">
                <a:latin typeface="Bell MT" panose="02020503060305020303" pitchFamily="18" charset="0"/>
              </a:rPr>
              <a:t>This is a case of Combination </a:t>
            </a:r>
          </a:p>
        </p:txBody>
      </p:sp>
      <mc:AlternateContent xmlns:mc="http://schemas.openxmlformats.org/markup-compatibility/2006" xmlns:a14="http://schemas.microsoft.com/office/drawing/2010/main">
        <mc:Choice Requires="a14">
          <p:sp>
            <p:nvSpPr>
              <p:cNvPr id="9" name="Content Placeholder 8"/>
              <p:cNvSpPr>
                <a:spLocks noGrp="1"/>
              </p:cNvSpPr>
              <p:nvPr>
                <p:ph sz="quarter" idx="2"/>
              </p:nvPr>
            </p:nvSpPr>
            <p:spPr>
              <a:xfrm>
                <a:off x="4495800" y="1752600"/>
                <a:ext cx="4235301" cy="4572000"/>
              </a:xfrm>
              <a:ln w="12700" cmpd="dbl">
                <a:solidFill>
                  <a:schemeClr val="accent2">
                    <a:lumMod val="75000"/>
                  </a:schemeClr>
                </a:solidFill>
              </a:ln>
            </p:spPr>
            <p:txBody>
              <a:bodyPr>
                <a:normAutofit fontScale="62500" lnSpcReduction="20000"/>
              </a:bodyPr>
              <a:lstStyle/>
              <a:p>
                <a:pPr lvl="0">
                  <a:buClr>
                    <a:srgbClr val="FEB80A"/>
                  </a:buClr>
                  <a:buFont typeface="Wingdings" pitchFamily="2" charset="2"/>
                  <a:buChar char="Ø"/>
                </a:pPr>
                <a:r>
                  <a:rPr lang="en-US" sz="3200" u="sng" dirty="0" smtClean="0">
                    <a:solidFill>
                      <a:prstClr val="black"/>
                    </a:solidFill>
                    <a:latin typeface="Baskerville Old Face" panose="02020602080505020303" pitchFamily="18" charset="0"/>
                  </a:rPr>
                  <a:t>Solution </a:t>
                </a:r>
              </a:p>
              <a:p>
                <a:pPr lvl="0">
                  <a:lnSpc>
                    <a:spcPct val="160000"/>
                  </a:lnSpc>
                  <a:buClr>
                    <a:srgbClr val="FEB80A"/>
                  </a:buClr>
                  <a:buFont typeface="Wingdings" pitchFamily="2" charset="2"/>
                  <a:buChar char="Ø"/>
                </a:pPr>
                <a:r>
                  <a:rPr lang="en-US" sz="3200" dirty="0">
                    <a:solidFill>
                      <a:prstClr val="black"/>
                    </a:solidFill>
                    <a:latin typeface="Baskerville Old Face" panose="02020602080505020303" pitchFamily="18" charset="0"/>
                  </a:rPr>
                  <a:t>Number of ways </a:t>
                </a:r>
                <a:r>
                  <a:rPr lang="en-US" sz="3200" dirty="0" smtClean="0">
                    <a:solidFill>
                      <a:prstClr val="black"/>
                    </a:solidFill>
                    <a:latin typeface="Baskerville Old Face" panose="02020602080505020303" pitchFamily="18" charset="0"/>
                  </a:rPr>
                  <a:t>=   C(20, 18) + C(20, 19) + C(20, 20) =</a:t>
                </a:r>
                <a:endParaRPr lang="en-US" sz="3200" dirty="0">
                  <a:solidFill>
                    <a:prstClr val="black"/>
                  </a:solidFill>
                  <a:latin typeface="Baskerville Old Face" panose="02020602080505020303" pitchFamily="18" charset="0"/>
                </a:endParaRPr>
              </a:p>
              <a:p>
                <a:pPr lvl="0">
                  <a:lnSpc>
                    <a:spcPct val="160000"/>
                  </a:lnSpc>
                  <a:buClr>
                    <a:srgbClr val="FEB80A"/>
                  </a:buClr>
                  <a:buFont typeface="Wingdings" pitchFamily="2" charset="2"/>
                  <a:buChar char="Ø"/>
                </a:pPr>
                <a14:m>
                  <m:oMath xmlns:m="http://schemas.openxmlformats.org/officeDocument/2006/math">
                    <m:f>
                      <m:fPr>
                        <m:ctrlPr>
                          <a:rPr lang="en-US" sz="3200" i="1">
                            <a:solidFill>
                              <a:prstClr val="black"/>
                            </a:solidFill>
                            <a:latin typeface="Cambria Math"/>
                          </a:rPr>
                        </m:ctrlPr>
                      </m:fPr>
                      <m:num>
                        <m:r>
                          <a:rPr lang="en-US" sz="3200" b="0" i="1" smtClean="0">
                            <a:solidFill>
                              <a:prstClr val="black"/>
                            </a:solidFill>
                            <a:latin typeface="Cambria Math"/>
                          </a:rPr>
                          <m:t>20</m:t>
                        </m:r>
                        <m:r>
                          <a:rPr lang="en-US" sz="3200" i="1">
                            <a:solidFill>
                              <a:prstClr val="black"/>
                            </a:solidFill>
                            <a:latin typeface="Cambria Math"/>
                          </a:rPr>
                          <m:t>!</m:t>
                        </m:r>
                      </m:num>
                      <m:den>
                        <m:d>
                          <m:dPr>
                            <m:ctrlPr>
                              <a:rPr lang="en-US" sz="3200" i="1">
                                <a:solidFill>
                                  <a:prstClr val="black"/>
                                </a:solidFill>
                                <a:latin typeface="Cambria Math"/>
                              </a:rPr>
                            </m:ctrlPr>
                          </m:dPr>
                          <m:e>
                            <m:r>
                              <a:rPr lang="en-US" sz="3200" b="0" i="1" smtClean="0">
                                <a:solidFill>
                                  <a:prstClr val="black"/>
                                </a:solidFill>
                                <a:latin typeface="Cambria Math"/>
                              </a:rPr>
                              <m:t>20</m:t>
                            </m:r>
                            <m:r>
                              <a:rPr lang="en-US" sz="3200" i="1">
                                <a:solidFill>
                                  <a:prstClr val="black"/>
                                </a:solidFill>
                                <a:latin typeface="Cambria Math"/>
                              </a:rPr>
                              <m:t>−</m:t>
                            </m:r>
                            <m:r>
                              <a:rPr lang="en-US" sz="3200" b="0" i="1" smtClean="0">
                                <a:solidFill>
                                  <a:prstClr val="black"/>
                                </a:solidFill>
                                <a:latin typeface="Cambria Math"/>
                              </a:rPr>
                              <m:t>18</m:t>
                            </m:r>
                          </m:e>
                        </m:d>
                        <m:r>
                          <a:rPr lang="en-US" sz="3200" i="1">
                            <a:solidFill>
                              <a:prstClr val="black"/>
                            </a:solidFill>
                            <a:latin typeface="Cambria Math"/>
                          </a:rPr>
                          <m:t>!∗</m:t>
                        </m:r>
                        <m:r>
                          <a:rPr lang="en-US" sz="3200" b="0" i="1" smtClean="0">
                            <a:solidFill>
                              <a:prstClr val="black"/>
                            </a:solidFill>
                            <a:latin typeface="Cambria Math"/>
                          </a:rPr>
                          <m:t>18</m:t>
                        </m:r>
                        <m:r>
                          <a:rPr lang="en-US" sz="3200" i="1">
                            <a:solidFill>
                              <a:prstClr val="black"/>
                            </a:solidFill>
                            <a:latin typeface="Cambria Math"/>
                          </a:rPr>
                          <m:t>!</m:t>
                        </m:r>
                      </m:den>
                    </m:f>
                    <m:r>
                      <a:rPr lang="en-US" sz="3200" b="0" i="1" smtClean="0">
                        <a:solidFill>
                          <a:prstClr val="black"/>
                        </a:solidFill>
                        <a:latin typeface="Cambria Math"/>
                      </a:rPr>
                      <m:t>+</m:t>
                    </m:r>
                    <m:f>
                      <m:fPr>
                        <m:ctrlPr>
                          <a:rPr lang="en-US" sz="3200" i="1">
                            <a:solidFill>
                              <a:prstClr val="black"/>
                            </a:solidFill>
                            <a:latin typeface="Cambria Math"/>
                          </a:rPr>
                        </m:ctrlPr>
                      </m:fPr>
                      <m:num>
                        <m:r>
                          <a:rPr lang="en-US" sz="3200" b="0" i="1" smtClean="0">
                            <a:solidFill>
                              <a:prstClr val="black"/>
                            </a:solidFill>
                            <a:latin typeface="Cambria Math"/>
                          </a:rPr>
                          <m:t>20</m:t>
                        </m:r>
                        <m:r>
                          <a:rPr lang="en-US" sz="3200" i="1">
                            <a:solidFill>
                              <a:prstClr val="black"/>
                            </a:solidFill>
                            <a:latin typeface="Cambria Math"/>
                          </a:rPr>
                          <m:t>!</m:t>
                        </m:r>
                      </m:num>
                      <m:den>
                        <m:d>
                          <m:dPr>
                            <m:ctrlPr>
                              <a:rPr lang="en-US" sz="3200" i="1">
                                <a:solidFill>
                                  <a:prstClr val="black"/>
                                </a:solidFill>
                                <a:latin typeface="Cambria Math"/>
                              </a:rPr>
                            </m:ctrlPr>
                          </m:dPr>
                          <m:e>
                            <m:r>
                              <a:rPr lang="en-US" sz="3200" b="0" i="1" smtClean="0">
                                <a:solidFill>
                                  <a:prstClr val="black"/>
                                </a:solidFill>
                                <a:latin typeface="Cambria Math"/>
                              </a:rPr>
                              <m:t>20</m:t>
                            </m:r>
                            <m:r>
                              <a:rPr lang="en-US" sz="3200" i="1">
                                <a:solidFill>
                                  <a:prstClr val="black"/>
                                </a:solidFill>
                                <a:latin typeface="Cambria Math"/>
                              </a:rPr>
                              <m:t>−</m:t>
                            </m:r>
                            <m:r>
                              <a:rPr lang="en-US" sz="3200" b="0" i="1" smtClean="0">
                                <a:solidFill>
                                  <a:prstClr val="black"/>
                                </a:solidFill>
                                <a:latin typeface="Cambria Math"/>
                              </a:rPr>
                              <m:t>19</m:t>
                            </m:r>
                          </m:e>
                        </m:d>
                        <m:r>
                          <a:rPr lang="en-US" sz="3200" i="1">
                            <a:solidFill>
                              <a:prstClr val="black"/>
                            </a:solidFill>
                            <a:latin typeface="Cambria Math"/>
                          </a:rPr>
                          <m:t>!∗</m:t>
                        </m:r>
                        <m:r>
                          <a:rPr lang="en-US" sz="3200" b="0" i="1" smtClean="0">
                            <a:solidFill>
                              <a:prstClr val="black"/>
                            </a:solidFill>
                            <a:latin typeface="Cambria Math"/>
                          </a:rPr>
                          <m:t>19</m:t>
                        </m:r>
                        <m:r>
                          <a:rPr lang="en-US" sz="3200" i="1">
                            <a:solidFill>
                              <a:prstClr val="black"/>
                            </a:solidFill>
                            <a:latin typeface="Cambria Math"/>
                          </a:rPr>
                          <m:t>!</m:t>
                        </m:r>
                      </m:den>
                    </m:f>
                    <m:r>
                      <a:rPr lang="en-US" sz="3200" b="0" i="1" smtClean="0">
                        <a:solidFill>
                          <a:prstClr val="black"/>
                        </a:solidFill>
                        <a:latin typeface="Cambria Math"/>
                      </a:rPr>
                      <m:t>+</m:t>
                    </m:r>
                    <m:f>
                      <m:fPr>
                        <m:ctrlPr>
                          <a:rPr lang="en-US" sz="3200" i="1">
                            <a:solidFill>
                              <a:prstClr val="black"/>
                            </a:solidFill>
                            <a:latin typeface="Cambria Math"/>
                          </a:rPr>
                        </m:ctrlPr>
                      </m:fPr>
                      <m:num>
                        <m:r>
                          <a:rPr lang="en-US" sz="3200" b="0" i="1" smtClean="0">
                            <a:solidFill>
                              <a:prstClr val="black"/>
                            </a:solidFill>
                            <a:latin typeface="Cambria Math"/>
                          </a:rPr>
                          <m:t>20</m:t>
                        </m:r>
                        <m:r>
                          <a:rPr lang="en-US" sz="3200" i="1">
                            <a:solidFill>
                              <a:prstClr val="black"/>
                            </a:solidFill>
                            <a:latin typeface="Cambria Math"/>
                          </a:rPr>
                          <m:t>!</m:t>
                        </m:r>
                      </m:num>
                      <m:den>
                        <m:d>
                          <m:dPr>
                            <m:ctrlPr>
                              <a:rPr lang="en-US" sz="3200" i="1">
                                <a:solidFill>
                                  <a:prstClr val="black"/>
                                </a:solidFill>
                                <a:latin typeface="Cambria Math"/>
                              </a:rPr>
                            </m:ctrlPr>
                          </m:dPr>
                          <m:e>
                            <m:r>
                              <a:rPr lang="en-US" sz="3200" b="0" i="1" smtClean="0">
                                <a:solidFill>
                                  <a:prstClr val="black"/>
                                </a:solidFill>
                                <a:latin typeface="Cambria Math"/>
                              </a:rPr>
                              <m:t>20</m:t>
                            </m:r>
                            <m:r>
                              <a:rPr lang="en-US" sz="3200" i="1">
                                <a:solidFill>
                                  <a:prstClr val="black"/>
                                </a:solidFill>
                                <a:latin typeface="Cambria Math"/>
                              </a:rPr>
                              <m:t>−</m:t>
                            </m:r>
                            <m:r>
                              <a:rPr lang="en-US" sz="3200" b="0" i="1" smtClean="0">
                                <a:solidFill>
                                  <a:prstClr val="black"/>
                                </a:solidFill>
                                <a:latin typeface="Cambria Math"/>
                              </a:rPr>
                              <m:t>20</m:t>
                            </m:r>
                          </m:e>
                        </m:d>
                        <m:r>
                          <a:rPr lang="en-US" sz="3200" i="1">
                            <a:solidFill>
                              <a:prstClr val="black"/>
                            </a:solidFill>
                            <a:latin typeface="Cambria Math"/>
                          </a:rPr>
                          <m:t>!∗</m:t>
                        </m:r>
                        <m:r>
                          <a:rPr lang="en-US" sz="3200" b="0" i="1" smtClean="0">
                            <a:solidFill>
                              <a:prstClr val="black"/>
                            </a:solidFill>
                            <a:latin typeface="Cambria Math"/>
                          </a:rPr>
                          <m:t>20</m:t>
                        </m:r>
                        <m:r>
                          <a:rPr lang="en-US" sz="3200" i="1">
                            <a:solidFill>
                              <a:prstClr val="black"/>
                            </a:solidFill>
                            <a:latin typeface="Cambria Math"/>
                          </a:rPr>
                          <m:t>!</m:t>
                        </m:r>
                      </m:den>
                    </m:f>
                  </m:oMath>
                </a14:m>
                <a:r>
                  <a:rPr lang="en-US" sz="3200" dirty="0" smtClean="0">
                    <a:solidFill>
                      <a:prstClr val="black"/>
                    </a:solidFill>
                    <a:latin typeface="Baskerville Old Face" panose="02020602080505020303" pitchFamily="18" charset="0"/>
                  </a:rPr>
                  <a:t>  = </a:t>
                </a:r>
                <a:endParaRPr lang="en-US" sz="3200" dirty="0">
                  <a:solidFill>
                    <a:prstClr val="black"/>
                  </a:solidFill>
                  <a:latin typeface="Baskerville Old Face" panose="02020602080505020303" pitchFamily="18" charset="0"/>
                </a:endParaRPr>
              </a:p>
              <a:p>
                <a:pPr lvl="0">
                  <a:lnSpc>
                    <a:spcPct val="160000"/>
                  </a:lnSpc>
                  <a:buClr>
                    <a:srgbClr val="FEB80A"/>
                  </a:buClr>
                  <a:buFont typeface="Wingdings" pitchFamily="2" charset="2"/>
                  <a:buChar char="Ø"/>
                </a:pPr>
                <a14:m>
                  <m:oMath xmlns:m="http://schemas.openxmlformats.org/officeDocument/2006/math">
                    <m:f>
                      <m:fPr>
                        <m:ctrlPr>
                          <a:rPr lang="en-US" sz="3200" i="1">
                            <a:solidFill>
                              <a:prstClr val="black"/>
                            </a:solidFill>
                            <a:latin typeface="Cambria Math"/>
                          </a:rPr>
                        </m:ctrlPr>
                      </m:fPr>
                      <m:num>
                        <m:r>
                          <a:rPr lang="en-US" sz="3200" b="0" i="1" smtClean="0">
                            <a:solidFill>
                              <a:prstClr val="black"/>
                            </a:solidFill>
                            <a:latin typeface="Cambria Math"/>
                          </a:rPr>
                          <m:t>20</m:t>
                        </m:r>
                        <m:r>
                          <a:rPr lang="en-US" sz="3200" i="1">
                            <a:solidFill>
                              <a:prstClr val="black"/>
                            </a:solidFill>
                            <a:latin typeface="Cambria Math"/>
                          </a:rPr>
                          <m:t>!</m:t>
                        </m:r>
                      </m:num>
                      <m:den>
                        <m:r>
                          <a:rPr lang="en-US" sz="3200" b="0" i="1" smtClean="0">
                            <a:solidFill>
                              <a:prstClr val="black"/>
                            </a:solidFill>
                            <a:latin typeface="Cambria Math"/>
                          </a:rPr>
                          <m:t>2</m:t>
                        </m:r>
                        <m:r>
                          <a:rPr lang="en-US" sz="3200" i="1">
                            <a:solidFill>
                              <a:prstClr val="black"/>
                            </a:solidFill>
                            <a:latin typeface="Cambria Math"/>
                          </a:rPr>
                          <m:t>!∗</m:t>
                        </m:r>
                        <m:r>
                          <a:rPr lang="en-US" sz="3200" b="0" i="1" smtClean="0">
                            <a:solidFill>
                              <a:prstClr val="black"/>
                            </a:solidFill>
                            <a:latin typeface="Cambria Math"/>
                          </a:rPr>
                          <m:t>18</m:t>
                        </m:r>
                        <m:r>
                          <a:rPr lang="en-US" sz="3200" i="1">
                            <a:solidFill>
                              <a:prstClr val="black"/>
                            </a:solidFill>
                            <a:latin typeface="Cambria Math"/>
                          </a:rPr>
                          <m:t>!</m:t>
                        </m:r>
                      </m:den>
                    </m:f>
                    <m:r>
                      <a:rPr lang="en-US" sz="3200" b="0" i="1" smtClean="0">
                        <a:solidFill>
                          <a:prstClr val="black"/>
                        </a:solidFill>
                        <a:latin typeface="Cambria Math"/>
                      </a:rPr>
                      <m:t>+</m:t>
                    </m:r>
                    <m:f>
                      <m:fPr>
                        <m:ctrlPr>
                          <a:rPr lang="en-US" sz="3200" i="1">
                            <a:solidFill>
                              <a:prstClr val="black"/>
                            </a:solidFill>
                            <a:latin typeface="Cambria Math"/>
                          </a:rPr>
                        </m:ctrlPr>
                      </m:fPr>
                      <m:num>
                        <m:r>
                          <a:rPr lang="en-US" sz="3200" b="0" i="1" smtClean="0">
                            <a:solidFill>
                              <a:prstClr val="black"/>
                            </a:solidFill>
                            <a:latin typeface="Cambria Math"/>
                          </a:rPr>
                          <m:t>20</m:t>
                        </m:r>
                        <m:r>
                          <a:rPr lang="en-US" sz="3200" i="1">
                            <a:solidFill>
                              <a:prstClr val="black"/>
                            </a:solidFill>
                            <a:latin typeface="Cambria Math"/>
                          </a:rPr>
                          <m:t>!</m:t>
                        </m:r>
                      </m:num>
                      <m:den>
                        <m:r>
                          <a:rPr lang="en-US" sz="3200" b="0" i="1" smtClean="0">
                            <a:solidFill>
                              <a:prstClr val="black"/>
                            </a:solidFill>
                            <a:latin typeface="Cambria Math"/>
                          </a:rPr>
                          <m:t>1</m:t>
                        </m:r>
                        <m:r>
                          <a:rPr lang="en-US" sz="3200" i="1">
                            <a:solidFill>
                              <a:prstClr val="black"/>
                            </a:solidFill>
                            <a:latin typeface="Cambria Math"/>
                          </a:rPr>
                          <m:t>!∗</m:t>
                        </m:r>
                        <m:r>
                          <a:rPr lang="en-US" sz="3200" b="0" i="1" smtClean="0">
                            <a:solidFill>
                              <a:prstClr val="black"/>
                            </a:solidFill>
                            <a:latin typeface="Cambria Math"/>
                          </a:rPr>
                          <m:t>19</m:t>
                        </m:r>
                        <m:r>
                          <a:rPr lang="en-US" sz="3200" i="1">
                            <a:solidFill>
                              <a:prstClr val="black"/>
                            </a:solidFill>
                            <a:latin typeface="Cambria Math"/>
                          </a:rPr>
                          <m:t>!</m:t>
                        </m:r>
                      </m:den>
                    </m:f>
                    <m:r>
                      <a:rPr lang="en-US" sz="3200" b="0" i="1" smtClean="0">
                        <a:solidFill>
                          <a:prstClr val="black"/>
                        </a:solidFill>
                        <a:latin typeface="Cambria Math"/>
                      </a:rPr>
                      <m:t>+</m:t>
                    </m:r>
                    <m:f>
                      <m:fPr>
                        <m:ctrlPr>
                          <a:rPr lang="en-US" sz="3200" i="1">
                            <a:solidFill>
                              <a:prstClr val="black"/>
                            </a:solidFill>
                            <a:latin typeface="Cambria Math"/>
                          </a:rPr>
                        </m:ctrlPr>
                      </m:fPr>
                      <m:num>
                        <m:r>
                          <a:rPr lang="en-US" sz="3200" b="0" i="1" smtClean="0">
                            <a:solidFill>
                              <a:prstClr val="black"/>
                            </a:solidFill>
                            <a:latin typeface="Cambria Math"/>
                          </a:rPr>
                          <m:t>20</m:t>
                        </m:r>
                        <m:r>
                          <a:rPr lang="en-US" sz="3200" i="1">
                            <a:solidFill>
                              <a:prstClr val="black"/>
                            </a:solidFill>
                            <a:latin typeface="Cambria Math"/>
                          </a:rPr>
                          <m:t>!</m:t>
                        </m:r>
                      </m:num>
                      <m:den>
                        <m:r>
                          <a:rPr lang="en-US" sz="3200" b="0" i="1" smtClean="0">
                            <a:solidFill>
                              <a:prstClr val="black"/>
                            </a:solidFill>
                            <a:latin typeface="Cambria Math"/>
                          </a:rPr>
                          <m:t>0</m:t>
                        </m:r>
                        <m:r>
                          <a:rPr lang="en-US" sz="3200" i="1">
                            <a:solidFill>
                              <a:prstClr val="black"/>
                            </a:solidFill>
                            <a:latin typeface="Cambria Math"/>
                          </a:rPr>
                          <m:t>!∗</m:t>
                        </m:r>
                        <m:r>
                          <a:rPr lang="en-US" sz="3200" b="0" i="1" smtClean="0">
                            <a:solidFill>
                              <a:prstClr val="black"/>
                            </a:solidFill>
                            <a:latin typeface="Cambria Math"/>
                          </a:rPr>
                          <m:t>20</m:t>
                        </m:r>
                        <m:r>
                          <a:rPr lang="en-US" sz="3200" i="1">
                            <a:solidFill>
                              <a:prstClr val="black"/>
                            </a:solidFill>
                            <a:latin typeface="Cambria Math"/>
                          </a:rPr>
                          <m:t>!</m:t>
                        </m:r>
                      </m:den>
                    </m:f>
                  </m:oMath>
                </a14:m>
                <a:r>
                  <a:rPr lang="en-US" sz="3200" dirty="0" smtClean="0">
                    <a:solidFill>
                      <a:prstClr val="black"/>
                    </a:solidFill>
                    <a:latin typeface="Baskerville Old Face" panose="02020602080505020303" pitchFamily="18" charset="0"/>
                  </a:rPr>
                  <a:t> </a:t>
                </a:r>
                <a:r>
                  <a:rPr lang="en-US" sz="3200" dirty="0">
                    <a:solidFill>
                      <a:prstClr val="black"/>
                    </a:solidFill>
                    <a:latin typeface="Baskerville Old Face" panose="02020602080505020303" pitchFamily="18" charset="0"/>
                  </a:rPr>
                  <a:t>=</a:t>
                </a:r>
              </a:p>
              <a:p>
                <a:pPr lvl="0">
                  <a:lnSpc>
                    <a:spcPct val="160000"/>
                  </a:lnSpc>
                  <a:buClr>
                    <a:srgbClr val="FEB80A"/>
                  </a:buClr>
                  <a:buFont typeface="Wingdings" pitchFamily="2" charset="2"/>
                  <a:buChar char="Ø"/>
                </a:pPr>
                <a:r>
                  <a:rPr lang="en-US" sz="3200" dirty="0" smtClean="0">
                    <a:solidFill>
                      <a:prstClr val="black"/>
                    </a:solidFill>
                    <a:latin typeface="Baskerville Old Face" panose="02020602080505020303" pitchFamily="18" charset="0"/>
                  </a:rPr>
                  <a:t>190 + 20 + 1 = </a:t>
                </a:r>
                <a:endParaRPr lang="en-US" sz="3200" dirty="0">
                  <a:solidFill>
                    <a:prstClr val="black"/>
                  </a:solidFill>
                  <a:latin typeface="Baskerville Old Face" panose="02020602080505020303" pitchFamily="18" charset="0"/>
                </a:endParaRPr>
              </a:p>
              <a:p>
                <a:pPr lvl="0">
                  <a:lnSpc>
                    <a:spcPct val="160000"/>
                  </a:lnSpc>
                  <a:buClr>
                    <a:srgbClr val="FEB80A"/>
                  </a:buClr>
                  <a:buFont typeface="Wingdings" pitchFamily="2" charset="2"/>
                  <a:buChar char="Ø"/>
                </a:pPr>
                <a:r>
                  <a:rPr lang="en-US" sz="3200" dirty="0" smtClean="0">
                    <a:solidFill>
                      <a:prstClr val="black"/>
                    </a:solidFill>
                    <a:latin typeface="Baskerville Old Face" panose="02020602080505020303" pitchFamily="18" charset="0"/>
                  </a:rPr>
                  <a:t>211 </a:t>
                </a:r>
                <a:r>
                  <a:rPr lang="en-US" sz="3200" dirty="0">
                    <a:solidFill>
                      <a:prstClr val="black"/>
                    </a:solidFill>
                    <a:latin typeface="Baskerville Old Face" panose="02020602080505020303" pitchFamily="18" charset="0"/>
                  </a:rPr>
                  <a:t>ways</a:t>
                </a:r>
              </a:p>
              <a:p>
                <a:pPr>
                  <a:buFont typeface="Wingdings" pitchFamily="2" charset="2"/>
                  <a:buChar char="Ø"/>
                </a:pPr>
                <a:endParaRPr lang="en-US" dirty="0" smtClean="0"/>
              </a:p>
              <a:p>
                <a:pPr>
                  <a:buFont typeface="Wingdings" pitchFamily="2" charset="2"/>
                  <a:buChar char="Ø"/>
                </a:pPr>
                <a:endParaRPr lang="en-US" dirty="0"/>
              </a:p>
              <a:p>
                <a:pPr>
                  <a:buFont typeface="Wingdings" pitchFamily="2" charset="2"/>
                  <a:buChar char="Ø"/>
                </a:pPr>
                <a:endParaRPr lang="en-US" dirty="0" smtClean="0"/>
              </a:p>
              <a:p>
                <a:pPr marL="0" indent="0">
                  <a:buNone/>
                </a:pPr>
                <a:endParaRPr lang="en-US" dirty="0" smtClean="0"/>
              </a:p>
              <a:p>
                <a:endParaRPr lang="en-US" dirty="0"/>
              </a:p>
            </p:txBody>
          </p:sp>
        </mc:Choice>
        <mc:Fallback xmlns="">
          <p:sp>
            <p:nvSpPr>
              <p:cNvPr id="9" name="Content Placeholder 8"/>
              <p:cNvSpPr>
                <a:spLocks noGrp="1" noRot="1" noChangeAspect="1" noMove="1" noResize="1" noEditPoints="1" noAdjustHandles="1" noChangeArrowheads="1" noChangeShapeType="1" noTextEdit="1"/>
              </p:cNvSpPr>
              <p:nvPr>
                <p:ph sz="quarter" idx="2"/>
              </p:nvPr>
            </p:nvSpPr>
            <p:spPr>
              <a:xfrm>
                <a:off x="4495800" y="1752600"/>
                <a:ext cx="4235301" cy="4572000"/>
              </a:xfrm>
              <a:blipFill rotWithShape="1">
                <a:blip r:embed="rId3"/>
                <a:stretch>
                  <a:fillRect t="-1729"/>
                </a:stretch>
              </a:blipFill>
              <a:ln w="12700" cmpd="dbl">
                <a:solidFill>
                  <a:schemeClr val="accent2">
                    <a:lumMod val="7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4056062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fade">
                                      <p:cBhvr>
                                        <p:cTn id="19" dur="1000"/>
                                        <p:tgtEl>
                                          <p:spTgt spid="9">
                                            <p:txEl>
                                              <p:pRg st="2" end="2"/>
                                            </p:txEl>
                                          </p:spTgt>
                                        </p:tgtEl>
                                      </p:cBhvr>
                                    </p:animEffect>
                                    <p:anim calcmode="lin" valueType="num">
                                      <p:cBhvr>
                                        <p:cTn id="20"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animEffect transition="in" filter="fade">
                                      <p:cBhvr>
                                        <p:cTn id="24" dur="1000"/>
                                        <p:tgtEl>
                                          <p:spTgt spid="9">
                                            <p:txEl>
                                              <p:pRg st="3" end="3"/>
                                            </p:txEl>
                                          </p:spTgt>
                                        </p:tgtEl>
                                      </p:cBhvr>
                                    </p:animEffect>
                                    <p:anim calcmode="lin" valueType="num">
                                      <p:cBhvr>
                                        <p:cTn id="2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xEl>
                                              <p:pRg st="4" end="4"/>
                                            </p:txEl>
                                          </p:spTgt>
                                        </p:tgtEl>
                                        <p:attrNameLst>
                                          <p:attrName>style.visibility</p:attrName>
                                        </p:attrNameLst>
                                      </p:cBhvr>
                                      <p:to>
                                        <p:strVal val="visible"/>
                                      </p:to>
                                    </p:set>
                                    <p:animEffect transition="in" filter="fade">
                                      <p:cBhvr>
                                        <p:cTn id="29" dur="1000"/>
                                        <p:tgtEl>
                                          <p:spTgt spid="9">
                                            <p:txEl>
                                              <p:pRg st="4" end="4"/>
                                            </p:txEl>
                                          </p:spTgt>
                                        </p:tgtEl>
                                      </p:cBhvr>
                                    </p:animEffect>
                                    <p:anim calcmode="lin" valueType="num">
                                      <p:cBhvr>
                                        <p:cTn id="30"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9">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9">
                                            <p:txEl>
                                              <p:pRg st="5" end="5"/>
                                            </p:txEl>
                                          </p:spTgt>
                                        </p:tgtEl>
                                        <p:attrNameLst>
                                          <p:attrName>style.visibility</p:attrName>
                                        </p:attrNameLst>
                                      </p:cBhvr>
                                      <p:to>
                                        <p:strVal val="visible"/>
                                      </p:to>
                                    </p:set>
                                    <p:animEffect transition="in" filter="fade">
                                      <p:cBhvr>
                                        <p:cTn id="34" dur="1000"/>
                                        <p:tgtEl>
                                          <p:spTgt spid="9">
                                            <p:txEl>
                                              <p:pRg st="5" end="5"/>
                                            </p:txEl>
                                          </p:spTgt>
                                        </p:tgtEl>
                                      </p:cBhvr>
                                    </p:animEffect>
                                    <p:anim calcmode="lin" valueType="num">
                                      <p:cBhvr>
                                        <p:cTn id="35"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 </a:t>
            </a:r>
            <a:endParaRPr lang="en-US" dirty="0"/>
          </a:p>
        </p:txBody>
      </p:sp>
      <p:sp>
        <p:nvSpPr>
          <p:cNvPr id="3" name="Content Placeholder 2"/>
          <p:cNvSpPr>
            <a:spLocks noGrp="1"/>
          </p:cNvSpPr>
          <p:nvPr>
            <p:ph sz="quarter" idx="1"/>
          </p:nvPr>
        </p:nvSpPr>
        <p:spPr>
          <a:xfrm>
            <a:off x="609600" y="1589567"/>
            <a:ext cx="8001000" cy="4572000"/>
          </a:xfrm>
        </p:spPr>
        <p:txBody>
          <a:bodyPr/>
          <a:lstStyle/>
          <a:p>
            <a:pPr lvl="0">
              <a:lnSpc>
                <a:spcPct val="160000"/>
              </a:lnSpc>
              <a:buClr>
                <a:srgbClr val="FEB80A"/>
              </a:buClr>
              <a:buFont typeface="Wingdings" pitchFamily="2" charset="2"/>
              <a:buChar char="Ø"/>
            </a:pPr>
            <a:r>
              <a:rPr lang="en-US" dirty="0" smtClean="0">
                <a:solidFill>
                  <a:prstClr val="black"/>
                </a:solidFill>
              </a:rPr>
              <a:t>Blitzer</a:t>
            </a:r>
            <a:r>
              <a:rPr lang="en-US" dirty="0">
                <a:solidFill>
                  <a:prstClr val="black"/>
                </a:solidFill>
              </a:rPr>
              <a:t>, R. (2015). </a:t>
            </a:r>
            <a:r>
              <a:rPr lang="en-US" i="1" dirty="0">
                <a:solidFill>
                  <a:prstClr val="black"/>
                </a:solidFill>
              </a:rPr>
              <a:t>Thinking Mathematically Plus New </a:t>
            </a:r>
            <a:r>
              <a:rPr lang="en-US" i="1" dirty="0" err="1">
                <a:solidFill>
                  <a:prstClr val="black"/>
                </a:solidFill>
              </a:rPr>
              <a:t>Mymathlab</a:t>
            </a:r>
            <a:r>
              <a:rPr lang="en-US" i="1" dirty="0">
                <a:solidFill>
                  <a:prstClr val="black"/>
                </a:solidFill>
              </a:rPr>
              <a:t> With Pearson </a:t>
            </a:r>
            <a:r>
              <a:rPr lang="en-US" i="1" dirty="0" err="1">
                <a:solidFill>
                  <a:prstClr val="black"/>
                </a:solidFill>
              </a:rPr>
              <a:t>Etext</a:t>
            </a:r>
            <a:r>
              <a:rPr lang="en-US" i="1" dirty="0">
                <a:solidFill>
                  <a:prstClr val="black"/>
                </a:solidFill>
              </a:rPr>
              <a:t> Access Card.</a:t>
            </a:r>
            <a:r>
              <a:rPr lang="en-US" dirty="0">
                <a:solidFill>
                  <a:prstClr val="black"/>
                </a:solidFill>
              </a:rPr>
              <a:t> Pearson College Div. </a:t>
            </a:r>
          </a:p>
          <a:p>
            <a:pPr lvl="0">
              <a:lnSpc>
                <a:spcPct val="160000"/>
              </a:lnSpc>
              <a:buClr>
                <a:srgbClr val="FEB80A"/>
              </a:buClr>
              <a:buFont typeface="Wingdings" pitchFamily="2" charset="2"/>
              <a:buChar char="Ø"/>
            </a:pPr>
            <a:r>
              <a:rPr lang="en-US" dirty="0">
                <a:solidFill>
                  <a:prstClr val="black"/>
                </a:solidFill>
              </a:rPr>
              <a:t>Tan, S. (2015). </a:t>
            </a:r>
            <a:r>
              <a:rPr lang="en-US" i="1" dirty="0">
                <a:solidFill>
                  <a:prstClr val="black"/>
                </a:solidFill>
              </a:rPr>
              <a:t>Finite mathematics for the managerial, life, and social sciences</a:t>
            </a:r>
            <a:r>
              <a:rPr lang="en-US" dirty="0">
                <a:solidFill>
                  <a:prstClr val="black"/>
                </a:solidFill>
              </a:rPr>
              <a:t> (11th ed.). </a:t>
            </a:r>
          </a:p>
          <a:p>
            <a:endParaRPr lang="en-US" dirty="0"/>
          </a:p>
        </p:txBody>
      </p:sp>
    </p:spTree>
    <p:extLst>
      <p:ext uri="{BB962C8B-B14F-4D97-AF65-F5344CB8AC3E}">
        <p14:creationId xmlns:p14="http://schemas.microsoft.com/office/powerpoint/2010/main" val="252454955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Academic presentation for college course (paper and pencil design)">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F7B6A5FA-AEDC-493D-A38F-607DB1F3875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Academic presentation for college course (paper and pencil design)</Template>
  <TotalTime>0</TotalTime>
  <Words>2021</Words>
  <Application>Microsoft Office PowerPoint</Application>
  <PresentationFormat>On-screen Show (4:3)</PresentationFormat>
  <Paragraphs>306</Paragraphs>
  <Slides>24</Slides>
  <Notes>23</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Academic presentation for college course (paper and pencil design)</vt:lpstr>
      <vt:lpstr>Permutations (Perm) and combinations (comb) – part 2</vt:lpstr>
      <vt:lpstr>Objectives</vt:lpstr>
      <vt:lpstr>Question 1</vt:lpstr>
      <vt:lpstr>Question 2</vt:lpstr>
      <vt:lpstr>Question 3</vt:lpstr>
      <vt:lpstr>Question 4</vt:lpstr>
      <vt:lpstr>Question 5</vt:lpstr>
      <vt:lpstr>Question 6</vt:lpstr>
      <vt:lpstr>Question 7</vt:lpstr>
      <vt:lpstr>Question 8</vt:lpstr>
      <vt:lpstr>Question 9</vt:lpstr>
      <vt:lpstr>Question 10</vt:lpstr>
      <vt:lpstr>Question 11</vt:lpstr>
      <vt:lpstr>Question 11 (2nd Method)</vt:lpstr>
      <vt:lpstr>Question 12</vt:lpstr>
      <vt:lpstr>Question 13</vt:lpstr>
      <vt:lpstr>Question 14</vt:lpstr>
      <vt:lpstr>Question 15</vt:lpstr>
      <vt:lpstr>Question 16</vt:lpstr>
      <vt:lpstr>Question 17</vt:lpstr>
      <vt:lpstr>Question 18</vt:lpstr>
      <vt:lpstr>Question 19</vt:lpstr>
      <vt:lpstr>Question 20</vt:lpstr>
      <vt:lpstr>References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2014-11-06T16:14:16Z</dcterms:created>
  <dcterms:modified xsi:type="dcterms:W3CDTF">2014-11-09T03:25:01Z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TC101671251033</vt:lpwstr>
  </property>
</Properties>
</file>