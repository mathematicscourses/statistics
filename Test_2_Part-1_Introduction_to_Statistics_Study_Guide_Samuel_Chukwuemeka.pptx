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28"/>
  </p:notesMasterIdLst>
  <p:handoutMasterIdLst>
    <p:handoutMasterId r:id="rId29"/>
  </p:handoutMasterIdLst>
  <p:sldIdLst>
    <p:sldId id="258" r:id="rId3"/>
    <p:sldId id="25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177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1ECB5-9450-48C1-BC8B-02C838CDE6B9}" type="datetimeFigureOut">
              <a:rPr lang="en-US"/>
              <a:t>3/11/2016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2BE9C-E2E4-43F3-8D67-E9DB812BB9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579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0964-1A1C-492A-8ABB-97C526CFCDFB}" type="datetimeFigureOut">
              <a:rPr lang="en-US"/>
              <a:t>3/11/2016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6ED93-11B9-488C-8E71-3FBEB8F36D4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63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1905000" y="1464287"/>
            <a:ext cx="8382000" cy="2729554"/>
          </a:xfrm>
        </p:spPr>
        <p:txBody>
          <a:bodyPr tIns="0" bIns="0" anchor="b"/>
          <a:lstStyle>
            <a:lvl1pPr algn="l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4193840"/>
            <a:ext cx="8382000" cy="1108883"/>
          </a:xfrm>
        </p:spPr>
        <p:txBody>
          <a:bodyPr tIns="0" bIns="0"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162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1200">
          <p15:clr>
            <a:srgbClr val="5ACBF0"/>
          </p15:clr>
        </p15:guide>
        <p15:guide id="2" pos="6480">
          <p15:clr>
            <a:srgbClr val="5ACBF0"/>
          </p15:clr>
        </p15:guide>
        <p15:guide id="3" orient="horz" pos="2160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513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1609724" y="1686073"/>
            <a:ext cx="8982076" cy="2081276"/>
          </a:xfrm>
        </p:spPr>
        <p:txBody>
          <a:bodyPr tIns="0" bIns="0" anchor="b">
            <a:normAutofit/>
          </a:bodyPr>
          <a:lstStyle>
            <a:lvl1pPr>
              <a:defRPr sz="48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9724" y="3767351"/>
            <a:ext cx="8982076" cy="1080448"/>
          </a:xfrm>
        </p:spPr>
        <p:txBody>
          <a:bodyPr tIns="0" bIns="0"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167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9724" y="1686073"/>
            <a:ext cx="8982076" cy="2081276"/>
          </a:xfrm>
        </p:spPr>
        <p:txBody>
          <a:bodyPr tIns="0" bIns="0"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609724" y="3767351"/>
            <a:ext cx="8982076" cy="1080448"/>
          </a:xfrm>
        </p:spPr>
        <p:txBody>
          <a:bodyPr tIns="0" bIns="0"/>
          <a:lstStyle>
            <a:lvl1pPr marL="0" indent="0">
              <a:buNone/>
              <a:defRPr sz="240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283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00200" y="2171699"/>
            <a:ext cx="4419600" cy="40052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71699"/>
            <a:ext cx="4419600" cy="40052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70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9723" y="1681163"/>
            <a:ext cx="441655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09723" y="2505075"/>
            <a:ext cx="441655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419600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41960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475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596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7DAC9ED-883A-4295-875C-D653C1FCD32D}" type="datetimeFigureOut">
              <a:rPr lang="en-US"/>
              <a:pPr/>
              <a:t>3/11/2016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9927BEA-0E01-4643-B2DE-F82012A02F2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697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171700"/>
            <a:ext cx="5707038" cy="40005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09895" y="2171700"/>
            <a:ext cx="3081905" cy="40005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515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00200" y="2171700"/>
            <a:ext cx="5707039" cy="4000500"/>
          </a:xfrm>
          <a:solidFill>
            <a:schemeClr val="bg1">
              <a:lumMod val="75000"/>
            </a:schemeClr>
          </a:solidFill>
          <a:ln w="63500">
            <a:solidFill>
              <a:schemeClr val="tx1">
                <a:lumMod val="50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09895" y="2171700"/>
            <a:ext cx="3081905" cy="40005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937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7918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91800" y="685799"/>
            <a:ext cx="1409700" cy="5491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85799"/>
            <a:ext cx="9038544" cy="54911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24627" y="6511119"/>
            <a:ext cx="2651162" cy="275839"/>
          </a:xfrm>
        </p:spPr>
        <p:txBody>
          <a:bodyPr/>
          <a:lstStyle/>
          <a:p>
            <a:fld id="{17DAC9ED-883A-4295-875C-D653C1FCD32D}" type="datetimeFigureOut">
              <a:rPr lang="en-US"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511119"/>
            <a:ext cx="5157725" cy="275839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4490" y="6511119"/>
            <a:ext cx="1115786" cy="275839"/>
          </a:xfrm>
        </p:spPr>
        <p:txBody>
          <a:bodyPr/>
          <a:lstStyle/>
          <a:p>
            <a:fld id="{29927BEA-0E01-4643-B2DE-F82012A02F2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18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600200" y="295562"/>
            <a:ext cx="8991600" cy="100824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9725" y="2171700"/>
            <a:ext cx="8991600" cy="40005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6151" y="6511119"/>
            <a:ext cx="2651162" cy="275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7DAC9ED-883A-4295-875C-D653C1FCD32D}" type="datetimeFigureOut">
              <a:rPr lang="en-US"/>
              <a:pPr/>
              <a:t>3/11/2016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9724" y="6511119"/>
            <a:ext cx="5157725" cy="275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6014" y="6511119"/>
            <a:ext cx="1115786" cy="2758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9927BEA-0E01-4643-B2DE-F82012A02F29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522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10312" indent="-210312" algn="l" defTabSz="914400" rtl="0" eaLnBrk="1" latinLnBrk="0" hangingPunct="1">
        <a:lnSpc>
          <a:spcPct val="100000"/>
        </a:lnSpc>
        <a:spcBef>
          <a:spcPts val="1200"/>
        </a:spcBef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675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24712" indent="-155448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581912" indent="-155448" algn="l" defTabSz="914400" rtl="0" eaLnBrk="1" latinLnBrk="0" hangingPunct="1">
        <a:lnSpc>
          <a:spcPct val="10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391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4963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535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107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67912" indent="-155448" algn="l" defTabSz="914400" rtl="0" eaLnBrk="1" latinLnBrk="0" hangingPunct="1">
        <a:lnSpc>
          <a:spcPct val="100000"/>
        </a:lnSpc>
        <a:spcBef>
          <a:spcPts val="600"/>
        </a:spcBef>
        <a:buSzPct val="80000"/>
        <a:buFont typeface="Wingdings" panose="05000000000000000000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6672">
          <p15:clr>
            <a:srgbClr val="F26B43"/>
          </p15:clr>
        </p15:guide>
        <p15:guide id="3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amuelchukwuemeka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playlist?feature=edit_ok&amp;list=PLjyyswMG9g9ABGozDjAziFm20IgOQSSy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464287"/>
            <a:ext cx="8382000" cy="1649616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Test 2 Study Guide – Part 1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3402227"/>
            <a:ext cx="8382000" cy="200179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 smtClean="0">
                <a:latin typeface="Vani" panose="020B0502040204020203" pitchFamily="34" charset="0"/>
                <a:cs typeface="Vani" panose="020B0502040204020203" pitchFamily="34" charset="0"/>
              </a:rPr>
              <a:t>Samuel Chukwuemeka</a:t>
            </a:r>
            <a:r>
              <a:rPr lang="en-US" dirty="0">
                <a:latin typeface="Vani" panose="020B0502040204020203" pitchFamily="34" charset="0"/>
                <a:cs typeface="Vani" panose="020B0502040204020203" pitchFamily="34" charset="0"/>
              </a:rPr>
              <a:t>	</a:t>
            </a: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	</a:t>
            </a:r>
            <a:r>
              <a:rPr lang="en-US" sz="2000" dirty="0" smtClean="0">
                <a:latin typeface="Vani" panose="020B0502040204020203" pitchFamily="34" charset="0"/>
                <a:cs typeface="Vani" panose="020B0502040204020203" pitchFamily="34" charset="0"/>
              </a:rPr>
              <a:t>B.Eng., A.A.T, M.Ed., M.S</a:t>
            </a:r>
          </a:p>
          <a:p>
            <a:pPr>
              <a:lnSpc>
                <a:spcPct val="200000"/>
              </a:lnSpc>
            </a:pPr>
            <a:r>
              <a:rPr lang="en-US" sz="1900" dirty="0" smtClean="0">
                <a:latin typeface="Vani" panose="020B0502040204020203" pitchFamily="34" charset="0"/>
                <a:cs typeface="Vani" panose="020B0502040204020203" pitchFamily="34" charset="0"/>
              </a:rPr>
              <a:t>“The Joy of a Teacher is the Success of his Students.” – Samuel Chukwuemeka</a:t>
            </a:r>
          </a:p>
          <a:p>
            <a:pPr>
              <a:lnSpc>
                <a:spcPct val="20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  <a:hlinkClick r:id="rId2"/>
              </a:rPr>
              <a:t>www.samuelchukwuemeka.com</a:t>
            </a:r>
            <a:endParaRPr lang="en-US" dirty="0">
              <a:latin typeface="Vani" panose="020B0502040204020203" pitchFamily="34" charset="0"/>
              <a:cs typeface="Van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2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Objectives and Pre-requisites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0" y="1738184"/>
            <a:ext cx="12192000" cy="5119816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Students will: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Determine the probability of an event.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Determine the probabilities of independent events.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Determine the probabilities of dependent events.</a:t>
            </a:r>
            <a:endParaRPr lang="en-US" dirty="0">
              <a:latin typeface="Vani" panose="020B0502040204020203" pitchFamily="34" charset="0"/>
              <a:cs typeface="Vani" panose="020B0502040204020203" pitchFamily="34" charset="0"/>
            </a:endParaRP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Determine the probabilities of mutually exclusive events.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Determine the probabilities of complementary events.</a:t>
            </a:r>
          </a:p>
          <a:p>
            <a:pPr>
              <a:lnSpc>
                <a:spcPct val="170000"/>
              </a:lnSpc>
            </a:pPr>
            <a:r>
              <a:rPr lang="en-US" u="sng" dirty="0" smtClean="0">
                <a:latin typeface="Vani" panose="020B0502040204020203" pitchFamily="34" charset="0"/>
                <a:cs typeface="Vani" panose="020B0502040204020203" pitchFamily="34" charset="0"/>
              </a:rPr>
              <a:t>Pre-requisite videos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  <a:hlinkClick r:id="rId2"/>
              </a:rPr>
              <a:t>Probability</a:t>
            </a: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 (all)</a:t>
            </a:r>
          </a:p>
          <a:p>
            <a:pPr>
              <a:lnSpc>
                <a:spcPct val="170000"/>
              </a:lnSpc>
            </a:pPr>
            <a:r>
              <a:rPr lang="en-US" dirty="0" smtClean="0">
                <a:solidFill>
                  <a:srgbClr val="FF0000"/>
                </a:solidFill>
                <a:latin typeface="Vani" panose="020B0502040204020203" pitchFamily="34" charset="0"/>
                <a:cs typeface="Vani" panose="020B0502040204020203" pitchFamily="34" charset="0"/>
              </a:rPr>
              <a:t>View the video for the verbal explanations</a:t>
            </a:r>
            <a:r>
              <a:rPr lang="en-US" dirty="0" smtClean="0">
                <a:latin typeface="Vani" panose="020B0502040204020203" pitchFamily="34" charset="0"/>
                <a:cs typeface="Vani" panose="020B0502040204020203" pitchFamily="34" charset="0"/>
              </a:rPr>
              <a:t>.</a:t>
            </a:r>
          </a:p>
          <a:p>
            <a:endParaRPr lang="en-US" dirty="0" smtClean="0">
              <a:latin typeface="Vani" panose="020B0502040204020203" pitchFamily="34" charset="0"/>
              <a:cs typeface="Vani" panose="020B0502040204020203" pitchFamily="34" charset="0"/>
            </a:endParaRPr>
          </a:p>
          <a:p>
            <a:endParaRPr lang="en-US" dirty="0" smtClean="0">
              <a:latin typeface="Vani" panose="020B0502040204020203" pitchFamily="34" charset="0"/>
              <a:cs typeface="Vani" panose="020B0502040204020203" pitchFamily="34" charset="0"/>
            </a:endParaRPr>
          </a:p>
          <a:p>
            <a:endParaRPr dirty="0">
              <a:latin typeface="Vani" panose="020B0502040204020203" pitchFamily="34" charset="0"/>
              <a:cs typeface="Van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43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1-1.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(1.)</a:t>
                </a:r>
                <a:r>
                  <a:rPr lang="en-US" sz="28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11 of the 50 laptops sold in a certain store on Black Friday were defective. Find the probability of randomly selecting a non-defective laptop.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Let Defective = D 	and	Non-defective = ND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𝐷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=11        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𝑁𝐷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=50−11=39                 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=50</m:t>
                    </m:r>
                  </m:oMath>
                </a14:m>
                <a:endParaRPr lang="en-US" sz="28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𝑁𝐷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𝑁𝐷</m:t>
                            </m:r>
                          </m:e>
                        </m:d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39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50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0</m:t>
                    </m:r>
                    <m: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.78</m:t>
                    </m:r>
                  </m:oMath>
                </a14:m>
                <a:endParaRPr lang="en-US" sz="2800" b="0" dirty="0" smtClean="0">
                  <a:solidFill>
                    <a:srgbClr val="FF0000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8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8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600" r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13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2-1.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5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(2.)</a:t>
                </a: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A modified roulette wheel has 44 slots. One slot is 0, another is 00, and the others are numbered 1 through 42, respectively. In a roulette, 0 and 00 are neither odd nor even. Timothy went to the casino and placed a bet that the outcome is an odd number.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500" b="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(a.)</a:t>
                </a:r>
                <a:r>
                  <a:rPr lang="en-US" sz="25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What is Timothy’s probability of winning?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=44                  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𝑜𝑑𝑑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𝑛𝑢𝑚𝑏𝑒𝑟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=21                   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𝑒𝑣𝑒𝑛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𝑛𝑢𝑚𝑏𝑒𝑟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=21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𝑛𝑒𝑖𝑡h𝑒𝑟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𝑒𝑣𝑒𝑛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𝑛𝑜𝑟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𝑜𝑑𝑑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0, 00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𝑜𝑑𝑑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𝑛𝑢𝑚𝑏𝑒𝑟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𝑜𝑑𝑑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 </m:t>
                            </m:r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𝑛𝑢𝑚𝑏𝑒𝑟</m:t>
                            </m:r>
                          </m:e>
                        </m:d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21</m:t>
                        </m:r>
                      </m:num>
                      <m:den>
                        <m:r>
                          <a:rPr lang="en-US" sz="2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44</m:t>
                        </m:r>
                      </m:den>
                    </m:f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70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2-2.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500" b="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(b.)</a:t>
                </a:r>
                <a:r>
                  <a:rPr lang="en-US" sz="25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What are Timothy’s odds against winning?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𝐴𝑔𝑎𝑖𝑛𝑠𝑡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𝐸𝑣𝑒𝑛𝑡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𝑢𝑛𝑓𝑎𝑣𝑜𝑟𝑎𝑏𝑙𝑒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𝑜𝑢𝑡𝑐𝑜𝑚𝑒𝑠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:  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𝑓𝑎𝑣𝑜𝑟𝑎𝑏𝑙𝑒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𝑜𝑢𝑡𝑐𝑜𝑚𝑒𝑠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In this scenario, odd numbers are the favorable outcomes because Timothy wants an odd number. Even numbers, 0, and 00 are unfavorable outcomes.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𝐴𝑔𝑎𝑖𝑛𝑠𝑡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𝑒𝑣𝑒𝑛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𝑛𝑢𝑚𝑏𝑒𝑟𝑠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, 0,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𝑎𝑛𝑑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00</m:t>
                        </m:r>
                      </m:e>
                    </m:d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:  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(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𝑜𝑑𝑑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𝑛𝑢𝑚𝑏𝑒𝑟𝑠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𝑒𝑣𝑒𝑛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𝑛𝑢𝑚𝑏𝑒𝑟𝑠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, 0, 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𝑎𝑛𝑑</m:t>
                        </m:r>
                        <m:r>
                          <a:rPr lang="en-US" sz="25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00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=21+1+1=23</m:t>
                    </m:r>
                  </m:oMath>
                </a14:m>
                <a:endParaRPr lang="en-US" sz="25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i="1">
                        <a:solidFill>
                          <a:srgbClr val="115981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i="1">
                        <a:solidFill>
                          <a:srgbClr val="115981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i="1">
                        <a:solidFill>
                          <a:srgbClr val="115981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𝐴𝑔𝑎𝑖𝑛𝑠𝑡</m:t>
                    </m:r>
                    <m:r>
                      <a:rPr lang="en-US" sz="2500" i="1">
                        <a:solidFill>
                          <a:srgbClr val="115981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=23   :   21</m:t>
                    </m:r>
                  </m:oMath>
                </a14:m>
                <a:endParaRPr lang="en-US" sz="2500" dirty="0">
                  <a:solidFill>
                    <a:srgbClr val="115981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450" r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22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2-3.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500" b="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(c.)</a:t>
                </a:r>
                <a:r>
                  <a:rPr lang="en-US" sz="25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The payoff odds for an odd number are 1:1. How much profit would Timothy make if he bets $16 and wins?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𝑃𝑎𝑦𝑜𝑓𝑓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𝐴𝑔𝑎𝑖𝑛𝑠𝑡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𝐸𝑣𝑒𝑛𝑡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𝑝𝑟𝑜𝑓𝑖𝑡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:  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𝑎𝑚𝑜𝑢𝑛𝑡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𝑏𝑒𝑡</m:t>
                    </m:r>
                  </m:oMath>
                </a14:m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1   :   1=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𝑝𝑟𝑜𝑓𝑖𝑡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:   16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𝑛𝑒𝑡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𝑝𝑟𝑜𝑓𝑖𝑡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US" sz="2500" b="0" dirty="0" smtClean="0">
                  <a:latin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1∗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𝑝𝑟𝑜𝑓𝑖𝑡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=1∗16</m:t>
                    </m:r>
                  </m:oMath>
                </a14:m>
                <a:endParaRPr lang="en-US" sz="2500" b="0" dirty="0" smtClean="0">
                  <a:latin typeface="Vani" panose="020B0502040204020203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𝑛𝑒𝑡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𝑝𝑟𝑜𝑓𝑖𝑡</m:t>
                    </m:r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16∗1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5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$16</m:t>
                    </m:r>
                  </m:oMath>
                </a14:m>
                <a:endParaRPr lang="en-US" sz="2500" b="0" dirty="0" smtClean="0">
                  <a:solidFill>
                    <a:srgbClr val="FF0000"/>
                  </a:solidFill>
                  <a:latin typeface="Vani" panose="020B0502040204020203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 r="-1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4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2-4.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500" b="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(d.)</a:t>
                </a:r>
                <a:r>
                  <a:rPr lang="en-US" sz="25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If Timothy convinces the casino to change its payoff odds to be the same as the actual odds against winning, how much profit would he make on the $16 bet?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5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In this scenario, Timothy wants the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𝑃𝑎𝑦𝑜𝑓𝑓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𝑓𝑜𝑟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𝑡h𝑒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$16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𝑏𝑒𝑡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𝐴𝑔𝑎𝑖𝑛𝑠𝑡</m:t>
                    </m:r>
                    <m:r>
                      <a:rPr lang="en-US" sz="25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𝑂𝑏𝑡𝑎𝑖𝑛𝑖𝑛𝑔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𝑎𝑛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𝑂𝑑𝑑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𝑁𝑢𝑚𝑏𝑒𝑟</m:t>
                    </m:r>
                  </m:oMath>
                </a14:m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𝑛𝑒𝑤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𝑝𝑟𝑜𝑓𝑖𝑡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:   16=23   :   21</m:t>
                    </m:r>
                  </m:oMath>
                </a14:m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𝑛𝑒𝑤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𝑛𝑒𝑡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𝑝𝑟𝑜𝑓𝑖𝑡</m:t>
                        </m:r>
                      </m:num>
                      <m:den>
                        <m:r>
                          <a:rPr lang="en-US" sz="2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endParaRPr lang="en-US" sz="2500" b="0" dirty="0" smtClean="0">
                  <a:latin typeface="Vani" panose="020B0502040204020203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𝑛𝑒𝑤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𝑛𝑒𝑡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𝑝𝑟𝑜𝑓𝑖𝑡</m:t>
                    </m:r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23∗16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368</m:t>
                        </m:r>
                      </m:num>
                      <m:den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5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$17.52</m:t>
                    </m:r>
                  </m:oMath>
                </a14:m>
                <a:endParaRPr lang="en-US" sz="2500" b="0" dirty="0" smtClean="0">
                  <a:solidFill>
                    <a:srgbClr val="FF0000"/>
                  </a:solidFill>
                  <a:latin typeface="Vani" panose="020B0502040204020203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5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 r="-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762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3-1.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7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(3.)</a:t>
                </a:r>
                <a:r>
                  <a:rPr lang="en-US" sz="27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A group of airline passengers responded to a question about their favorite seat on a plane. 501 passengers chose the window seat, 10 chose the middle seat, and 297 chose the aisle seat.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7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(a.)	Determine the probability that a passenger prefers the middle </a:t>
                </a:r>
                <a:r>
                  <a:rPr lang="en-US" sz="2700" dirty="0">
                    <a:latin typeface="Vani" panose="020B0502040204020203" pitchFamily="34" charset="0"/>
                    <a:cs typeface="Vani" panose="020B0502040204020203" pitchFamily="34" charset="0"/>
                  </a:rPr>
                  <a:t>seat. Round your answer to three decimal places as needed.</a:t>
                </a:r>
                <a:endParaRPr lang="en-US" sz="27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𝐿𝑒𝑡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𝑤𝑖𝑛𝑑𝑜𝑤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𝑠𝑒𝑎𝑡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𝑊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   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𝑚𝑖𝑑𝑑𝑙𝑒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𝑠𝑒𝑎𝑡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𝑀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     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𝑎𝑖𝑠𝑙𝑒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𝑠𝑒𝑎𝑡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</m:t>
                    </m:r>
                  </m:oMath>
                </a14:m>
                <a:endParaRPr lang="en-US" sz="27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𝑊</m:t>
                        </m:r>
                      </m:e>
                    </m:d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=501                 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𝑀</m:t>
                        </m:r>
                      </m:e>
                    </m:d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=10                      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=297                </m:t>
                    </m:r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=501+10+297=808</m:t>
                    </m:r>
                  </m:oMath>
                </a14:m>
                <a:endParaRPr lang="en-US" sz="27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𝑀</m:t>
                        </m:r>
                      </m:e>
                    </m:d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10</m:t>
                        </m:r>
                      </m:num>
                      <m:den>
                        <m:r>
                          <a:rPr lang="en-US" sz="27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808</m:t>
                        </m:r>
                      </m:den>
                    </m:f>
                    <m:r>
                      <a:rPr lang="en-US" sz="27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7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0.012</m:t>
                    </m:r>
                  </m:oMath>
                </a14:m>
                <a:endParaRPr lang="en-US" sz="2700" b="0" dirty="0">
                  <a:solidFill>
                    <a:srgbClr val="FF0000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1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 r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6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3-2.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0" y="1738184"/>
            <a:ext cx="12192000" cy="51198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>
                <a:latin typeface="Vani" panose="020B0502040204020203" pitchFamily="34" charset="0"/>
                <a:cs typeface="Vani" panose="020B0502040204020203" pitchFamily="34" charset="0"/>
              </a:rPr>
              <a:t>(b.)	Is it unlikely for a passenger to prefer the middle seat? Why?</a:t>
            </a:r>
          </a:p>
          <a:p>
            <a:pPr>
              <a:lnSpc>
                <a:spcPct val="150000"/>
              </a:lnSpc>
            </a:pPr>
            <a:r>
              <a:rPr lang="en-US" sz="2500" dirty="0" smtClean="0">
                <a:solidFill>
                  <a:srgbClr val="FF0000"/>
                </a:solidFill>
                <a:latin typeface="Vani" panose="020B0502040204020203" pitchFamily="34" charset="0"/>
                <a:cs typeface="Vani" panose="020B0502040204020203" pitchFamily="34" charset="0"/>
              </a:rPr>
              <a:t>Yes, it is unlikely for a passenger to prefer the middle seat because the probability that a passenger prefers the middle seat (0.012) is less than 0.05. </a:t>
            </a:r>
          </a:p>
          <a:p>
            <a:pPr>
              <a:lnSpc>
                <a:spcPct val="150000"/>
              </a:lnSpc>
            </a:pPr>
            <a:endParaRPr lang="en-US" sz="2500" dirty="0" smtClean="0">
              <a:solidFill>
                <a:srgbClr val="FF0000"/>
              </a:solidFill>
              <a:latin typeface="Vani" panose="020B0502040204020203" pitchFamily="34" charset="0"/>
              <a:cs typeface="Van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500" dirty="0" smtClean="0">
                <a:solidFill>
                  <a:srgbClr val="FF0000"/>
                </a:solidFill>
                <a:latin typeface="Vani" panose="020B0502040204020203" pitchFamily="34" charset="0"/>
                <a:cs typeface="Vani" panose="020B0502040204020203" pitchFamily="34" charset="0"/>
              </a:rPr>
              <a:t>This may be due to the fact that the middle seat lacks: easy access to the aisle and an outside view, among others.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100" b="0" dirty="0" smtClean="0">
              <a:latin typeface="Vani" panose="020B0502040204020203" pitchFamily="34" charset="0"/>
              <a:cs typeface="Van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21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4-1.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(4.)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A family that resides in the City of Truth or Consequences, New Mexico are planning to have four children. Assume boys and girls are equally likely.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(a.)	Determine the probability that the couple will have at least a boy.</a:t>
                </a:r>
                <a:endParaRPr lang="en-US" sz="2300" b="0" i="1" dirty="0" smtClean="0">
                  <a:latin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𝐿𝑒𝑡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𝑏𝑜𝑦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𝐵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𝑔𝑖𝑟𝑙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𝐺</m:t>
                    </m:r>
                  </m:oMath>
                </a14:m>
                <a:endParaRPr lang="en-US" sz="2300" b="0" i="1" dirty="0" smtClean="0">
                  <a:latin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𝐵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2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𝐺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2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   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=4</m:t>
                    </m:r>
                  </m:oMath>
                </a14:m>
                <a:endParaRPr lang="en-US" sz="2300" b="0" i="1" dirty="0" smtClean="0">
                  <a:latin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𝐴𝑡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𝑙𝑒𝑎𝑠𝑡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1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𝑏𝑜𝑦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𝑚𝑒𝑎𝑛𝑠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≥1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𝑏𝑜𝑦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We shall solve this question in two ways. You choose whichever you like best.</a:t>
                </a: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 r="-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196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4-2.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u="sng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1</a:t>
                </a:r>
                <a:r>
                  <a:rPr lang="en-US" sz="2300" u="sng" baseline="300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st</a:t>
                </a:r>
                <a:r>
                  <a:rPr lang="en-US" sz="2300" u="sng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Method (less work)</a:t>
                </a:r>
                <a:endParaRPr lang="en-US" sz="2300" u="sng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𝑎𝑡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𝑙𝑒𝑎𝑠𝑡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1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𝑏𝑜𝑦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=1−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𝑎𝑙𝑙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𝑔𝑖𝑟𝑙𝑠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  </m:t>
                    </m:r>
                  </m:oMath>
                </a14:m>
                <a:r>
                  <a:rPr lang="en-US" sz="2300" i="1" dirty="0">
                    <a:latin typeface="Cambria Math" panose="02040503050406030204" pitchFamily="18" charset="0"/>
                    <a:cs typeface="Vani" panose="020B0502040204020203" pitchFamily="34" charset="0"/>
                  </a:rPr>
                  <a:t>		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Complementary Rule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𝑎𝑡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𝑙𝑒𝑎𝑠𝑡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1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𝑏𝑜𝑦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=1−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(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𝐺𝐺𝐺𝐺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100" dirty="0">
                    <a:latin typeface="Vani" panose="020B0502040204020203" pitchFamily="34" charset="0"/>
                    <a:cs typeface="Vani" panose="020B0502040204020203" pitchFamily="34" charset="0"/>
                  </a:rPr>
                  <a:t>		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𝑎𝑡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𝑙𝑒𝑎𝑠𝑡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1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𝑏𝑜𝑦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=1−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∗</m:t>
                        </m:r>
                        <m:f>
                          <m:f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=1−</m:t>
                    </m:r>
                    <m:sSup>
                      <m:sSup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300" b="0" i="1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300" b="0" i="1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4</m:t>
                        </m:r>
                      </m:sup>
                    </m:sSup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=1−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15</m:t>
                        </m:r>
                      </m:num>
                      <m:den>
                        <m:r>
                          <a:rPr lang="en-US" sz="23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u="sng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2</a:t>
                </a:r>
                <a:r>
                  <a:rPr lang="en-US" sz="2300" u="sng" baseline="300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nd</a:t>
                </a:r>
                <a:r>
                  <a:rPr lang="en-US" sz="2300" u="sng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Method (more work!)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Let us list all the possibilities of getting at least a boy out of 4 children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𝑊𝑒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𝑐𝑜𝑢𝑙𝑑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h𝑎𝑣𝑒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:</m:t>
                    </m:r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1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</a:t>
                </a:r>
                <a:endParaRPr lang="en-US" sz="21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64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4-3.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60000"/>
                  </a:lnSpc>
                </a:pP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𝐸𝑣𝑒𝑟𝑦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𝑝𝑜𝑠𝑠𝑖𝑏𝑖𝑙𝑖𝑡𝑦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h𝑎𝑠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</m:t>
                    </m:r>
                    <m:f>
                      <m:fPr>
                        <m:ctrlPr>
                          <a:rPr lang="en-US" sz="2300" b="0" i="1" dirty="0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dirty="0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300" b="0" i="1" dirty="0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𝑐h𝑎𝑛𝑐𝑒</m:t>
                    </m:r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𝑜𝑓</m:t>
                    </m:r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𝑜𝑐𝑐𝑢𝑟𝑟𝑖𝑛𝑔</m:t>
                    </m:r>
                    <m:r>
                      <a:rPr lang="en-US" sz="2300" b="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.</m:t>
                    </m:r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It is very likely that the couple will have at least a boy if they have 4 children because the probability,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15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is close to 1.</a:t>
                </a:r>
                <a:r>
                  <a:rPr lang="en-US" sz="21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endParaRPr lang="en-US" sz="21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r="-1000" b="-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623381"/>
                  </p:ext>
                </p:extLst>
              </p:nvPr>
            </p:nvGraphicFramePr>
            <p:xfrm>
              <a:off x="0" y="1614617"/>
              <a:ext cx="12192000" cy="39047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  <a:gridCol w="3048000"/>
                    <a:gridCol w="3048000"/>
                  </a:tblGrid>
                  <a:tr h="425087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Boys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3 Boys</a:t>
                          </a:r>
                          <a:r>
                            <a:rPr lang="en-US" baseline="0" dirty="0" smtClean="0"/>
                            <a:t> and 1 Girl          OR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2 Boys and 2 Girls        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 Boy and 3 Girls</a:t>
                          </a:r>
                          <a:r>
                            <a:rPr lang="en-US" baseline="0" dirty="0" smtClean="0"/>
                            <a:t>        </a:t>
                          </a:r>
                          <a:endParaRPr lang="en-US" dirty="0" smtClean="0"/>
                        </a:p>
                      </a:txBody>
                      <a:tcPr/>
                    </a:tc>
                  </a:tr>
                  <a:tr h="67403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𝐵𝐵𝐵𝐵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𝐵𝐵𝐵𝐺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𝐵𝐵𝐺𝐺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𝐵𝐺𝐺𝐺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𝐵𝐵𝐺𝐵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𝐵𝐺𝐵𝐵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𝐺𝐵𝐺𝐺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𝐵𝐺𝐵𝐵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𝐵𝐺𝐺𝐵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𝐺𝐺𝐵𝐺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𝐺𝐵𝐵𝐵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𝐺𝐺𝐵𝐵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𝐺𝐺𝐺𝐵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𝐺𝐵𝐺𝐵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𝐺𝐵𝐵𝐺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80174">
                    <a:tc gridSpan="4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𝑙𝑒𝑎𝑠𝑡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𝑏𝑜𝑦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∗15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𝑝𝑜𝑠𝑠𝑖𝑏𝑖𝑙𝑖𝑡𝑖𝑒𝑠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0623381"/>
                  </p:ext>
                </p:extLst>
              </p:nvPr>
            </p:nvGraphicFramePr>
            <p:xfrm>
              <a:off x="0" y="1614617"/>
              <a:ext cx="12192000" cy="390473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48000"/>
                    <a:gridCol w="3048000"/>
                    <a:gridCol w="3048000"/>
                    <a:gridCol w="3048000"/>
                  </a:tblGrid>
                  <a:tr h="425087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 Boys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3 Boys</a:t>
                          </a:r>
                          <a:r>
                            <a:rPr lang="en-US" baseline="0" dirty="0" smtClean="0"/>
                            <a:t> and 1 Girl          OR</a:t>
                          </a:r>
                          <a:endParaRPr lang="en-US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2 Boys and 2 Girls        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smtClean="0"/>
                            <a:t>1 Boy and 3 Girls</a:t>
                          </a:r>
                          <a:r>
                            <a:rPr lang="en-US" baseline="0" dirty="0" smtClean="0"/>
                            <a:t>        </a:t>
                          </a:r>
                          <a:endParaRPr lang="en-US" dirty="0" smtClean="0"/>
                        </a:p>
                      </a:txBody>
                      <a:tcPr/>
                    </a:tc>
                  </a:tr>
                  <a:tr h="6740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" t="-67568" r="-301000" b="-417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0" t="-67568" r="-201000" b="-417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67568" r="-101000" b="-4171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400" t="-67568" r="-1000" b="-417117"/>
                          </a:stretch>
                        </a:blipFill>
                      </a:tcPr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0" t="-265714" r="-201000" b="-56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265714" r="-101000" b="-56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400" t="-265714" r="-1000" b="-561429"/>
                          </a:stretch>
                        </a:blipFill>
                      </a:tcPr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0" t="-371014" r="-201000" b="-4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371014" r="-101000" b="-4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400" t="-371014" r="-1000" b="-469565"/>
                          </a:stretch>
                        </a:blipFill>
                      </a:tcPr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00" t="-464286" r="-201000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464286" r="-101000" b="-3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400" t="-464286" r="-1000" b="-362857"/>
                          </a:stretch>
                        </a:blipFill>
                      </a:tcPr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564286" r="-101000" b="-2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42508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400" t="-664286" r="-101000" b="-16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680174"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" t="-477679" r="-250" b="-178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5225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5-1.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(5.)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The table below shows the results of 928 pedestrian deaths caused by accidents. </a:t>
                </a: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If one of the pedestrian deaths is randomly selected, what is the probability that the pedestrian was intoxicated or the driver was intoxicated? Round to 3 </a:t>
                </a:r>
                <a:r>
                  <a:rPr lang="en-US" sz="2300" dirty="0" err="1" smtClean="0">
                    <a:latin typeface="Vani" panose="020B0502040204020203" pitchFamily="34" charset="0"/>
                    <a:cs typeface="Vani" panose="020B0502040204020203" pitchFamily="34" charset="0"/>
                  </a:rPr>
                  <a:t>d.p.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as needed.</a:t>
                </a: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=52+56+260+560=928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𝑖𝑛𝑡𝑜𝑥𝑖𝑐𝑎𝑡𝑒𝑑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𝑝𝑒𝑑𝑒𝑠𝑡𝑟𝑖𝑎𝑛𝑠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=52+260=312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𝑖𝑛𝑡𝑜𝑥𝑖𝑐𝑎𝑡𝑒𝑑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𝑑𝑟𝑖𝑣𝑒𝑟𝑠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=52+56=108</m:t>
                    </m:r>
                  </m:oMath>
                </a14:m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596984"/>
              </p:ext>
            </p:extLst>
          </p:nvPr>
        </p:nvGraphicFramePr>
        <p:xfrm>
          <a:off x="0" y="2276617"/>
          <a:ext cx="12192000" cy="14833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048000"/>
                <a:gridCol w="3048000"/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Vani" panose="020B0502040204020203" pitchFamily="34" charset="0"/>
                          <a:cs typeface="Vani" panose="020B0502040204020203" pitchFamily="34" charset="0"/>
                        </a:rPr>
                        <a:t>Pedestrian</a:t>
                      </a:r>
                      <a:r>
                        <a:rPr lang="en-US" dirty="0" smtClean="0"/>
                        <a:t> 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Intoxicated 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intoxicated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Vani" panose="020B0502040204020203" pitchFamily="34" charset="0"/>
                          <a:cs typeface="Vani" panose="020B0502040204020203" pitchFamily="34" charset="0"/>
                        </a:rPr>
                        <a:t>Driver </a:t>
                      </a:r>
                      <a:endParaRPr lang="en-US" b="1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Intoxicated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52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56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intoxicated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260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560</a:t>
                      </a:r>
                      <a:endParaRPr lang="en-US" dirty="0">
                        <a:latin typeface="Vani" panose="020B0502040204020203" pitchFamily="34" charset="0"/>
                        <a:cs typeface="Vani" panose="020B0502040204020203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72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5-2.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𝑖𝑛𝑡𝑜𝑥𝑖𝑐𝑎𝑡𝑒𝑑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𝑝𝑒𝑑𝑒𝑠𝑡𝑟𝑎𝑖𝑛𝑠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𝑎𝑛𝑑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𝑑𝑟𝑖𝑣𝑒𝑟𝑠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=52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𝐴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𝐵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𝐴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𝐵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𝐴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sz="2300" b="0" dirty="0" smtClean="0">
                    <a:latin typeface="Vani" panose="020B0502040204020203" pitchFamily="34" charset="0"/>
                    <a:ea typeface="Cambria Math" panose="02040503050406030204" pitchFamily="18" charset="0"/>
                    <a:cs typeface="Vani" panose="020B0502040204020203" pitchFamily="34" charset="0"/>
                  </a:rPr>
                  <a:t>				Addition Rule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ea typeface="Cambria Math" panose="02040503050406030204" pitchFamily="18" charset="0"/>
                    <a:cs typeface="Vani" panose="020B0502040204020203" pitchFamily="34" charset="0"/>
                  </a:rPr>
                  <a:t>Similarly, </a:t>
                </a:r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∪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𝐼𝑃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∩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𝐼𝐷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	Addition Rule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 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𝐼𝑃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∪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𝐼𝐷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312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928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108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928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52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928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312+108−52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928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368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928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0.397</m:t>
                    </m:r>
                  </m:oMath>
                </a14:m>
                <a:endParaRPr lang="en-US" sz="2300" dirty="0" smtClean="0">
                  <a:solidFill>
                    <a:srgbClr val="FF0000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74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6-1.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(6.)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The table shows the results of people within several age groups who responded, and who refused to respond to a particular survey.</a:t>
                </a: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(a.)	Determine the probability that a randomly selected person refused to respond.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𝑅𝑒𝑠𝑝𝑜𝑛𝑑𝑒𝑑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=71+253+243+134+136+200=1037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𝑅𝑒𝑓𝑢𝑠𝑒𝑑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=13+22+35+28+37+59=194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=1037+194=1231</m:t>
                    </m:r>
                  </m:oMath>
                </a14:m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6166953"/>
                  </p:ext>
                </p:extLst>
              </p:nvPr>
            </p:nvGraphicFramePr>
            <p:xfrm>
              <a:off x="2" y="2814732"/>
              <a:ext cx="1219199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/>
                    <a:gridCol w="1741714"/>
                    <a:gridCol w="1741714"/>
                    <a:gridCol w="1741714"/>
                    <a:gridCol w="1741714"/>
                    <a:gridCol w="1741714"/>
                    <a:gridCol w="174171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𝐴𝑔𝑒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18−21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22−29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30−39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40−49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50−59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60 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𝑎𝑛𝑑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𝑜𝑣𝑒𝑟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𝑅𝑒𝑠𝑝𝑜𝑛𝑑𝑒𝑑</m:t>
                                </m:r>
                                <m:r>
                                  <a:rPr lang="en-US" i="1" baseline="0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253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134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136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𝑅𝑒𝑓𝑢𝑠𝑒𝑑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6166953"/>
                  </p:ext>
                </p:extLst>
              </p:nvPr>
            </p:nvGraphicFramePr>
            <p:xfrm>
              <a:off x="2" y="2814732"/>
              <a:ext cx="12191998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/>
                    <a:gridCol w="1741714"/>
                    <a:gridCol w="1741714"/>
                    <a:gridCol w="1741714"/>
                    <a:gridCol w="1741714"/>
                    <a:gridCol w="1741714"/>
                    <a:gridCol w="1741714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6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6803" t="-1639" r="-292" b="-3147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1053" t="-100000" r="-503158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50" t="-100000" r="-401399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50" t="-100000" r="-301399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350" t="-100000" r="-201399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105" t="-100000" r="-102105" b="-2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00000" t="-100000" r="-1748" b="-20967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99" t="-203279" r="-601049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1053" t="-203279" r="-503158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50" t="-203279" r="-401399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50" t="-203279" r="-301399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350" t="-203279" r="-201399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105" t="-203279" r="-102105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00000" t="-203279" r="-1748" b="-113115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99" t="-303279" r="-60104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1053" t="-303279" r="-503158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50" t="-303279" r="-4013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50" t="-303279" r="-3013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00350" t="-303279" r="-201399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2105" t="-303279" r="-102105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600000" t="-303279" r="-1748" b="-1311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6054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6-2.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𝑅𝑒𝑓𝑢𝑠𝑒𝑑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𝑅𝑒𝑓𝑢𝑠𝑒𝑑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194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1231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0.158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 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𝑤h𝑒𝑛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𝑟𝑜𝑢𝑛𝑑𝑒𝑑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𝑡𝑜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3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𝑑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.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𝑝</m:t>
                        </m:r>
                      </m:e>
                    </m:d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(b.)	Does the probability value suggest that refusals are a problem for pollsters?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solidFill>
                      <a:srgbClr val="FF000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Yes, the probability value suggests that refusals to participate in surveys are a problem for pollsters. This is because a high refusal rate results in a sample that is not necessarily a representative of the population.</a:t>
                </a: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392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7-1.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0" y="1738184"/>
            <a:ext cx="12192000" cy="51198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 smtClean="0">
                <a:solidFill>
                  <a:srgbClr val="7030A0"/>
                </a:solidFill>
                <a:latin typeface="Vani" panose="020B0502040204020203" pitchFamily="34" charset="0"/>
                <a:cs typeface="Vani" panose="020B0502040204020203" pitchFamily="34" charset="0"/>
              </a:rPr>
              <a:t>(7.)</a:t>
            </a:r>
            <a:r>
              <a:rPr lang="en-US" sz="2300" dirty="0">
                <a:latin typeface="Vani" panose="020B0502040204020203" pitchFamily="34" charset="0"/>
                <a:cs typeface="Vani" panose="020B0502040204020203" pitchFamily="34" charset="0"/>
              </a:rPr>
              <a:t>	</a:t>
            </a: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A drug testing company tested several job applicants for marijuana.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146 applicants tested positive, but among them were 26 false positive results.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160 applicants tested negative, but among them were 3 false negative.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(a.)	Represent this information in a table.</a:t>
            </a:r>
          </a:p>
          <a:p>
            <a:pPr>
              <a:lnSpc>
                <a:spcPct val="150000"/>
              </a:lnSpc>
            </a:pPr>
            <a:r>
              <a:rPr lang="en-US" sz="2300" u="sng" dirty="0" smtClean="0">
                <a:latin typeface="Vani" panose="020B0502040204020203" pitchFamily="34" charset="0"/>
                <a:cs typeface="Vani" panose="020B0502040204020203" pitchFamily="34" charset="0"/>
              </a:rPr>
              <a:t>Let us define some of these terms</a:t>
            </a: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A false positive means that the applicant does not use marijuana but tested positive for it.</a:t>
            </a:r>
          </a:p>
          <a:p>
            <a:pPr>
              <a:lnSpc>
                <a:spcPct val="150000"/>
              </a:lnSpc>
            </a:pP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A false negative means that applicant used marijuana but tested negative for it.</a:t>
            </a:r>
          </a:p>
          <a:p>
            <a:pPr>
              <a:lnSpc>
                <a:spcPct val="150000"/>
              </a:lnSpc>
            </a:pPr>
            <a:endParaRPr lang="en-US" sz="2300" dirty="0">
              <a:latin typeface="Vani" panose="020B0502040204020203" pitchFamily="34" charset="0"/>
              <a:cs typeface="Van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300" dirty="0" smtClean="0">
              <a:latin typeface="Vani" panose="020B0502040204020203" pitchFamily="34" charset="0"/>
              <a:cs typeface="Van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72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𝐿𝑒𝑡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𝑃𝑜𝑠𝑖𝑡𝑖𝑣𝑒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;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𝑇𝑟𝑢𝑒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𝑃𝑜𝑠𝑖𝑡𝑖𝑣𝑒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𝑇𝑃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;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𝐹𝑎𝑙𝑠𝑒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𝑃𝑜𝑠𝑖𝑡𝑖𝑣𝑒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𝐹𝑃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;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𝑁𝑒𝑔𝑎𝑡𝑖𝑣𝑒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𝑁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;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𝑇𝑟𝑢𝑒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𝑁𝑒𝑔𝑎𝑡𝑖𝑣𝑒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𝑇𝑁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;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𝐹𝑎𝑙𝑠𝑒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𝑁𝑒𝑔𝑎𝑡𝑖𝑣𝑒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𝐹𝑁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=146  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=26  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𝑇𝑃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=146−26=120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=160  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=3                            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𝑇𝑁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=160−3=157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(b.) How many job applicants were tested?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=146+160=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306 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𝑎𝑝𝑝𝑙𝑖𝑐𝑎𝑛𝑡𝑠</m:t>
                    </m:r>
                  </m:oMath>
                </a14:m>
                <a:endParaRPr lang="en-US" sz="2300" dirty="0" smtClean="0">
                  <a:solidFill>
                    <a:srgbClr val="FF0000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979954"/>
                  </p:ext>
                </p:extLst>
              </p:nvPr>
            </p:nvGraphicFramePr>
            <p:xfrm>
              <a:off x="0" y="4163082"/>
              <a:ext cx="12192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/>
                    <a:gridCol w="4064000"/>
                    <a:gridCol w="4064000"/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Marijuana Use</a:t>
                          </a:r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True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False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Positive Result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120</m:t>
                                </m:r>
                              </m:oMath>
                            </m:oMathPara>
                          </a14:m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26</m:t>
                                </m:r>
                              </m:oMath>
                            </m:oMathPara>
                          </a14:m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Negative</a:t>
                          </a:r>
                          <a:r>
                            <a:rPr lang="en-US" b="1" baseline="0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 Result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157</m:t>
                                </m:r>
                              </m:oMath>
                            </m:oMathPara>
                          </a14:m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  <a:cs typeface="Vani" panose="020B0502040204020203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65979954"/>
                  </p:ext>
                </p:extLst>
              </p:nvPr>
            </p:nvGraphicFramePr>
            <p:xfrm>
              <a:off x="0" y="4163082"/>
              <a:ext cx="12192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0"/>
                    <a:gridCol w="4064000"/>
                    <a:gridCol w="4064000"/>
                  </a:tblGrid>
                  <a:tr h="37084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Marijuana Use</a:t>
                          </a:r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True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False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Positive Result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50" t="-209836" r="-100901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150" t="-209836" r="-750" b="-122951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Negative</a:t>
                          </a:r>
                          <a:r>
                            <a:rPr lang="en-US" b="1" baseline="0" dirty="0" smtClean="0">
                              <a:latin typeface="Vani" panose="020B0502040204020203" pitchFamily="34" charset="0"/>
                              <a:cs typeface="Vani" panose="020B0502040204020203" pitchFamily="34" charset="0"/>
                            </a:rPr>
                            <a:t> Result</a:t>
                          </a:r>
                          <a:endParaRPr lang="en-US" b="1" dirty="0">
                            <a:latin typeface="Vani" panose="020B0502040204020203" pitchFamily="34" charset="0"/>
                            <a:cs typeface="Vani" panose="020B05020402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450" t="-309836" r="-100901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150" t="-309836" r="-750" b="-22951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4774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7-3.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(c.)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How many applicants did not use marijuana?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𝑛𝑜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𝑚𝑎𝑟𝑖𝑗𝑢𝑎𝑛𝑎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𝑇𝑁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=157+26=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183 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𝑎𝑝𝑝𝑙𝑖𝑐𝑎𝑛𝑡𝑠</m:t>
                    </m:r>
                  </m:oMath>
                </a14:m>
                <a:endParaRPr lang="en-US" sz="2300" b="0" i="1" dirty="0" smtClean="0">
                  <a:solidFill>
                    <a:srgbClr val="FF0000"/>
                  </a:solidFill>
                  <a:latin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(d.)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How many applicants 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used 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marijuana?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𝑦𝑒𝑠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𝑚𝑎𝑟𝑖𝑗𝑢𝑎𝑛𝑎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𝑌𝑀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𝑇𝑃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𝐹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=1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20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3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1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2</m:t>
                    </m:r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3 </m:t>
                    </m:r>
                    <m:r>
                      <a:rPr lang="en-US" sz="23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𝑎𝑝𝑝𝑙𝑖𝑐𝑎𝑛𝑡𝑠</m:t>
                    </m:r>
                  </m:oMath>
                </a14:m>
                <a:endParaRPr lang="en-US" sz="2300" i="1" dirty="0">
                  <a:solidFill>
                    <a:srgbClr val="FF0000"/>
                  </a:solidFill>
                  <a:latin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(e.)	Determine the probability that a randomly selected applicant did not use marijuana.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𝑛𝑜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𝑚𝑎𝑟𝑖𝑗𝑢𝑎𝑛𝑎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𝑛𝑜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 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𝑚𝑎𝑟𝑖𝑗𝑢𝑎𝑛𝑎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183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0.598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𝑟𝑜𝑢𝑛𝑑𝑒𝑑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𝑡𝑜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3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𝑑𝑒𝑐𝑖𝑚𝑎𝑙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𝑝𝑙𝑎𝑐𝑒𝑠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0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7-4.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(f.)	Determine the probability that a randomly selected applicant used marijuana.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𝑦𝑒𝑠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𝑚𝑎𝑟𝑖𝑗𝑢𝑎𝑛𝑎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𝑌𝑀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𝑦𝑒𝑠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 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cs typeface="Vani" panose="020B0502040204020203" pitchFamily="34" charset="0"/>
                              </a:rPr>
                              <m:t>𝑚𝑎𝑟𝑖𝑗𝑢𝑎𝑛𝑎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123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0.402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𝑟𝑜𝑢𝑛𝑑𝑒𝑑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𝑡𝑜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3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𝑑𝑒𝑐𝑖𝑚𝑎𝑙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𝑝𝑙𝑎𝑐𝑒𝑠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)</m:t>
                    </m:r>
                  </m:oMath>
                </a14:m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(g.)	Determine the probability that a randomly selected applicant tested negative or did not use marijuana.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	Addition Rule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𝑁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∩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𝑁𝑀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𝑇𝑁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157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𝑁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160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</m:oMath>
                </a14:m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12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7-5.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	Addition Rule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𝑁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𝑁𝑀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160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183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157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160+183−157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186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0.608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(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𝑟𝑜𝑢𝑛𝑑𝑒𝑑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𝑡𝑜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3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𝑑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.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𝑝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.)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(h.)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Determine the probability that a randomly selected applicant 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had a false positive or a false negative result.</a:t>
                </a: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∩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</m:oMath>
                </a14:m>
                <a:r>
                  <a:rPr lang="en-US" sz="2300" b="0" dirty="0" smtClean="0">
                    <a:latin typeface="Vani" panose="020B0502040204020203" pitchFamily="34" charset="0"/>
                    <a:ea typeface="Cambria Math" panose="02040503050406030204" pitchFamily="18" charset="0"/>
                    <a:cs typeface="Vani" panose="020B0502040204020203" pitchFamily="34" charset="0"/>
                  </a:rPr>
                  <a:t>			Addition Rule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∪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𝐹𝑃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𝐹𝑁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(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)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𝐹𝑃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∩</m:t>
                            </m:r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𝐹𝑁</m:t>
                            </m:r>
                          </m:e>
                        </m:d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𝑛</m:t>
                        </m:r>
                        <m:d>
                          <m:d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𝑆</m:t>
                            </m:r>
                          </m:e>
                        </m:d>
                      </m:den>
                    </m:f>
                  </m:oMath>
                </a14:m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295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7-6.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𝐹𝑃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∪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𝐹𝑁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26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+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−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0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26+3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−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0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29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306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0.095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(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𝑟𝑜𝑢𝑛𝑑𝑒𝑑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𝑡𝑜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3 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.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𝑝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.)</m:t>
                    </m:r>
                  </m:oMath>
                </a14:m>
                <a:endParaRPr lang="en-US" sz="2300" dirty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</a:t>
                </a:r>
                <a:r>
                  <a:rPr lang="en-US" sz="2300" dirty="0" err="1" smtClean="0">
                    <a:latin typeface="Vani" panose="020B0502040204020203" pitchFamily="34" charset="0"/>
                    <a:cs typeface="Vani" panose="020B0502040204020203" pitchFamily="34" charset="0"/>
                  </a:rPr>
                  <a:t>i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Determine the 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error rate of the test results. What does the results suggest about the accuracy of the tests?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𝑇h𝑒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𝑒𝑟𝑟𝑜𝑟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𝑟𝑎𝑡𝑒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 = 0.095=0.095∗100=9.5%</m:t>
                    </m:r>
                  </m:oMath>
                </a14:m>
                <a:endParaRPr lang="en-US" sz="2300" dirty="0">
                  <a:solidFill>
                    <a:srgbClr val="FF0000"/>
                  </a:solidFill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b="0" dirty="0" smtClean="0">
                    <a:solidFill>
                      <a:srgbClr val="FF0000"/>
                    </a:solidFill>
                    <a:latin typeface="Vani" panose="020B0502040204020203" pitchFamily="34" charset="0"/>
                    <a:ea typeface="Cambria Math" panose="02040503050406030204" pitchFamily="18" charset="0"/>
                    <a:cs typeface="Vani" panose="020B0502040204020203" pitchFamily="34" charset="0"/>
                  </a:rPr>
                  <a:t>The test does not appear to be highly accurate due to an error rate of 9.5%</a:t>
                </a:r>
              </a:p>
              <a:p>
                <a:pPr>
                  <a:lnSpc>
                    <a:spcPct val="150000"/>
                  </a:lnSpc>
                </a:pPr>
                <a:endParaRPr lang="en-US" sz="2300" b="0" dirty="0" smtClean="0">
                  <a:latin typeface="Vani" panose="020B0502040204020203" pitchFamily="34" charset="0"/>
                  <a:ea typeface="Cambria Math" panose="02040503050406030204" pitchFamily="18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67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8-1.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solidFill>
                      <a:srgbClr val="7030A0"/>
                    </a:solidFill>
                    <a:latin typeface="Vani" panose="020B0502040204020203" pitchFamily="34" charset="0"/>
                    <a:cs typeface="Vani" panose="020B0502040204020203" pitchFamily="34" charset="0"/>
                  </a:rPr>
                  <a:t>(8.)</a:t>
                </a:r>
                <a:r>
                  <a:rPr lang="en-US" sz="2300" dirty="0">
                    <a:latin typeface="Vani" panose="020B0502040204020203" pitchFamily="34" charset="0"/>
                    <a:cs typeface="Vani" panose="020B0502040204020203" pitchFamily="34" charset="0"/>
                  </a:rPr>
                  <a:t>	</a:t>
                </a: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The table shows the blood group and rhesus factor of 224 patients.</a:t>
                </a: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𝑛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𝑆</m:t>
                        </m:r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=93+75+11+9+16+12+4+4=224</m:t>
                    </m:r>
                  </m:oMath>
                </a14:m>
                <a:endParaRPr lang="en-US" sz="2300" b="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(a.)	What is the probability that 2 randomly selected patients, selected with replacement are both group AB and type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sSup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𝑅h</m:t>
                        </m:r>
                      </m:e>
                      <m:sup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? Round to four decimal places as needed.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300" b="0" i="1" smtClean="0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𝐴𝐵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𝑅h</m:t>
                            </m:r>
                          </m:e>
                          <m:sup>
                            <m:r>
                              <a:rPr lang="en-US" sz="23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𝑤𝑖𝑡h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𝑟𝑒𝑝𝑙𝑎𝑐𝑒𝑚𝑒𝑛𝑡</m:t>
                    </m:r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224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∗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224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81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50176</m:t>
                        </m:r>
                      </m:den>
                    </m:f>
                    <m:r>
                      <a:rPr lang="en-US" sz="23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0.0016</m:t>
                    </m:r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</a:t>
                </a: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 l="-1350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658034"/>
                  </p:ext>
                </p:extLst>
              </p:nvPr>
            </p:nvGraphicFramePr>
            <p:xfrm>
              <a:off x="0" y="2334281"/>
              <a:ext cx="12192000" cy="1483360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2032000"/>
                    <a:gridCol w="2032000"/>
                    <a:gridCol w="2032000"/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𝑩𝒍𝒐𝒐𝒅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𝑮𝒓𝒐𝒖𝒑</m:t>
                                </m:r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 rowSpan="2"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𝑻𝒚𝒑𝒆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𝑅h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93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𝑅h</m:t>
                                    </m:r>
                                  </m:e>
                                  <m:sup>
                                    <m:r>
                                      <a:rPr lang="en-US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8658034"/>
                  </p:ext>
                </p:extLst>
              </p:nvPr>
            </p:nvGraphicFramePr>
            <p:xfrm>
              <a:off x="0" y="2334281"/>
              <a:ext cx="12192000" cy="1496568"/>
            </p:xfrm>
            <a:graphic>
              <a:graphicData uri="http://schemas.openxmlformats.org/drawingml/2006/table">
                <a:tbl>
                  <a:tblPr firstRow="1" bandRow="1">
                    <a:tableStyleId>{0E3FDE45-AF77-4B5C-9715-49D594BDF05E}</a:tableStyleId>
                  </a:tblPr>
                  <a:tblGrid>
                    <a:gridCol w="2032000"/>
                    <a:gridCol w="2032000"/>
                    <a:gridCol w="2032000"/>
                    <a:gridCol w="2032000"/>
                    <a:gridCol w="2032000"/>
                    <a:gridCol w="2032000"/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5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9976" t="-1639" r="-120" b="-30655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00" t="-101639" r="-300901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00" t="-101639" r="-200901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99102" t="-101639" r="-100299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601" t="-101639" r="-601" b="-206557"/>
                          </a:stretch>
                        </a:blipFill>
                      </a:tcPr>
                    </a:tc>
                  </a:tr>
                  <a:tr h="384048">
                    <a:tc row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t="-98400" r="-501201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9701" t="-192188" r="-399701" b="-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00" t="-192188" r="-300901" b="-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00" t="-192188" r="-200901" b="-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99102" t="-192188" r="-100299" b="-96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601" t="-192188" r="-601" b="-96875"/>
                          </a:stretch>
                        </a:blipFill>
                      </a:tcPr>
                    </a:tc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99701" t="-306557" r="-399701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200300" t="-306557" r="-300901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00300" t="-306557" r="-200901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399102" t="-306557" r="-100299" b="-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500601" t="-306557" r="-601" b="-16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899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Questions and Answers							8-2.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(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b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.)	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  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What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is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the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probability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that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2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randomly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selected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patients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,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selected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without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replacement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are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both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group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AB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and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type</m:t>
                    </m:r>
                    <m:r>
                      <m:rPr>
                        <m:nor/>
                      </m:rPr>
                      <a:rPr lang="en-US" sz="230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𝑅h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+</m:t>
                        </m:r>
                      </m:sup>
                    </m:sSup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? 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Round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four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decimal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places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as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2300" b="0" i="0" dirty="0" smtClean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needed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.</m:t>
                    </m:r>
                  </m:oMath>
                </a14:m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  <a:cs typeface="Vani" panose="020B0502040204020203" pitchFamily="34" charset="0"/>
                      </a:rPr>
                      <m:t>𝑃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𝐴𝐵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Vani" panose="020B0502040204020203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𝑅h</m:t>
                            </m:r>
                          </m:e>
                          <m:sup>
                            <m:r>
                              <a:rPr lang="en-US" sz="23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Vani" panose="020B0502040204020203" pitchFamily="34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𝑤𝑖𝑡h𝑜𝑢𝑡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 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𝑟𝑒𝑝𝑙𝑎𝑐𝑒𝑚𝑒𝑛𝑡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9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224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∗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8</m:t>
                        </m:r>
                      </m:num>
                      <m:den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22</m:t>
                        </m:r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3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f>
                      <m:f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</m:ctrlPr>
                      </m:fPr>
                      <m:num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72</m:t>
                        </m:r>
                      </m:num>
                      <m:den>
                        <m:r>
                          <a:rPr lang="en-US" sz="23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ani" panose="020B0502040204020203" pitchFamily="34" charset="0"/>
                          </a:rPr>
                          <m:t>49952</m:t>
                        </m:r>
                      </m:den>
                    </m:f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=</m:t>
                    </m:r>
                    <m:r>
                      <a:rPr lang="en-US" sz="23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0.001</m:t>
                    </m:r>
                    <m:r>
                      <a:rPr lang="en-US" sz="23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Vani" panose="020B0502040204020203" pitchFamily="34" charset="0"/>
                      </a:rPr>
                      <m:t>4</m:t>
                    </m:r>
                    <m:r>
                      <m:rPr>
                        <m:nor/>
                      </m:rPr>
                      <a:rPr lang="en-US" sz="2300" dirty="0">
                        <a:latin typeface="Vani" panose="020B0502040204020203" pitchFamily="34" charset="0"/>
                        <a:cs typeface="Vani" panose="020B0502040204020203" pitchFamily="34" charset="0"/>
                      </a:rPr>
                      <m:t>	</m:t>
                    </m:r>
                  </m:oMath>
                </a14:m>
                <a:r>
                  <a:rPr lang="en-US" sz="2300" dirty="0" smtClean="0">
                    <a:latin typeface="Vani" panose="020B0502040204020203" pitchFamily="34" charset="0"/>
                    <a:cs typeface="Vani" panose="020B0502040204020203" pitchFamily="34" charset="0"/>
                  </a:rPr>
                  <a:t>		</a:t>
                </a: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>
                  <a:latin typeface="Vani" panose="020B0502040204020203" pitchFamily="34" charset="0"/>
                  <a:cs typeface="Vani" panose="020B0502040204020203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2300" dirty="0" smtClean="0">
                  <a:latin typeface="Vani" panose="020B0502040204020203" pitchFamily="34" charset="0"/>
                  <a:cs typeface="Vani" panose="020B0502040204020203" pitchFamily="34" charset="0"/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738184"/>
                <a:ext cx="12192000" cy="5119816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48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0" y="295562"/>
            <a:ext cx="12192000" cy="1008247"/>
          </a:xfrm>
        </p:spPr>
        <p:txBody>
          <a:bodyPr/>
          <a:lstStyle/>
          <a:p>
            <a:r>
              <a:rPr lang="en-US" dirty="0" smtClean="0"/>
              <a:t>References </a:t>
            </a:r>
            <a:endParaRPr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0" y="1738184"/>
            <a:ext cx="12192000" cy="51198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Vani" panose="020B0502040204020203" pitchFamily="34" charset="0"/>
                <a:cs typeface="Vani" panose="020B0502040204020203" pitchFamily="34" charset="0"/>
              </a:rPr>
              <a:t>Chukwuemeka, S. D. (2016, </a:t>
            </a:r>
            <a:r>
              <a:rPr lang="en-US" sz="2300" dirty="0" smtClean="0">
                <a:latin typeface="Vani" panose="020B0502040204020203" pitchFamily="34" charset="0"/>
                <a:cs typeface="Vani" panose="020B0502040204020203" pitchFamily="34" charset="0"/>
              </a:rPr>
              <a:t>February 22). </a:t>
            </a:r>
            <a:r>
              <a:rPr lang="en-US" sz="2300" dirty="0">
                <a:latin typeface="Vani" panose="020B0502040204020203" pitchFamily="34" charset="0"/>
                <a:cs typeface="Vani" panose="020B0502040204020203" pitchFamily="34" charset="0"/>
              </a:rPr>
              <a:t>Samuel Chukwuemeka Tutorials – Math, Science, and Technology. Retrieved from http://www.samuelchukwuemeka.com/</a:t>
            </a:r>
          </a:p>
          <a:p>
            <a:pPr>
              <a:lnSpc>
                <a:spcPct val="150000"/>
              </a:lnSpc>
            </a:pPr>
            <a:endParaRPr lang="en-US" sz="2300" dirty="0">
              <a:latin typeface="Vani" panose="020B0502040204020203" pitchFamily="34" charset="0"/>
              <a:cs typeface="Vani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300" dirty="0">
                <a:latin typeface="Vani" panose="020B0502040204020203" pitchFamily="34" charset="0"/>
                <a:cs typeface="Vani" panose="020B0502040204020203" pitchFamily="34" charset="0"/>
              </a:rPr>
              <a:t> </a:t>
            </a:r>
            <a:r>
              <a:rPr lang="en-US" sz="2300" dirty="0" err="1">
                <a:latin typeface="Vani" panose="020B0502040204020203" pitchFamily="34" charset="0"/>
                <a:cs typeface="Vani" panose="020B0502040204020203" pitchFamily="34" charset="0"/>
              </a:rPr>
              <a:t>Triola</a:t>
            </a:r>
            <a:r>
              <a:rPr lang="en-US" sz="2300" dirty="0">
                <a:latin typeface="Vani" panose="020B0502040204020203" pitchFamily="34" charset="0"/>
                <a:cs typeface="Vani" panose="020B0502040204020203" pitchFamily="34" charset="0"/>
              </a:rPr>
              <a:t>, M. F. (2015). Frequency Distributions. In Elementary statistics using the TI-83/84 plus calculator (4th ed.). Pearson. </a:t>
            </a:r>
          </a:p>
          <a:p>
            <a:pPr>
              <a:lnSpc>
                <a:spcPct val="150000"/>
              </a:lnSpc>
            </a:pPr>
            <a:endParaRPr lang="en-US" sz="2300" dirty="0">
              <a:latin typeface="Vani" panose="020B0502040204020203" pitchFamily="34" charset="0"/>
              <a:cs typeface="Van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300" dirty="0" smtClean="0">
              <a:latin typeface="Vani" panose="020B0502040204020203" pitchFamily="34" charset="0"/>
              <a:cs typeface="Van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91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itched Border 16x9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4DB5B3F-8133-4C47-A120-6F3ACAE5D1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Stitched denim borders presentation (widescreen)</Template>
  <TotalTime>0</TotalTime>
  <Words>391</Words>
  <Application>Microsoft Office PowerPoint</Application>
  <PresentationFormat>Widescreen</PresentationFormat>
  <Paragraphs>248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Vani</vt:lpstr>
      <vt:lpstr>Wingdings</vt:lpstr>
      <vt:lpstr>Stitched Border 16x9</vt:lpstr>
      <vt:lpstr>Test 2 Study Guide – Part 1</vt:lpstr>
      <vt:lpstr>Objectives and Pre-requisites</vt:lpstr>
      <vt:lpstr>Questions and Answers       1-1.</vt:lpstr>
      <vt:lpstr>Questions and Answers       2-1.</vt:lpstr>
      <vt:lpstr>Questions and Answers       2-2.</vt:lpstr>
      <vt:lpstr>Questions and Answers       2-3.</vt:lpstr>
      <vt:lpstr>Questions and Answers       2-4.</vt:lpstr>
      <vt:lpstr>Questions and Answers       3-1.</vt:lpstr>
      <vt:lpstr>Questions and Answers       3-2.</vt:lpstr>
      <vt:lpstr>Questions and Answers       4-1.</vt:lpstr>
      <vt:lpstr>Questions and Answers       4-2.</vt:lpstr>
      <vt:lpstr>Questions and Answers       4-3.</vt:lpstr>
      <vt:lpstr>Questions and Answers       5-1.</vt:lpstr>
      <vt:lpstr>Questions and Answers       5-2.</vt:lpstr>
      <vt:lpstr>Questions and Answers       6-1.</vt:lpstr>
      <vt:lpstr>Questions and Answers       6-2.</vt:lpstr>
      <vt:lpstr>Questions and Answers       7-1.</vt:lpstr>
      <vt:lpstr>Questions and Answers       7-2.</vt:lpstr>
      <vt:lpstr>Questions and Answers       7-3.</vt:lpstr>
      <vt:lpstr>Questions and Answers       7-4.</vt:lpstr>
      <vt:lpstr>Questions and Answers       7-5.</vt:lpstr>
      <vt:lpstr>Questions and Answers       7-6.</vt:lpstr>
      <vt:lpstr>Questions and Answers       8-1.</vt:lpstr>
      <vt:lpstr>Questions and Answers       8-2.</vt:lpstr>
      <vt:lpstr>References 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2016-02-12T19:16:22Z</dcterms:created>
  <dcterms:modified xsi:type="dcterms:W3CDTF">2016-03-11T18:29:17Z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TC034313719991</vt:lpwstr>
  </property>
</Properties>
</file>